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58"/>
  </p:notesMasterIdLst>
  <p:sldIdLst>
    <p:sldId id="665" r:id="rId2"/>
    <p:sldId id="256" r:id="rId3"/>
    <p:sldId id="258" r:id="rId4"/>
    <p:sldId id="257" r:id="rId5"/>
    <p:sldId id="264" r:id="rId6"/>
    <p:sldId id="259" r:id="rId7"/>
    <p:sldId id="260" r:id="rId8"/>
    <p:sldId id="261" r:id="rId9"/>
    <p:sldId id="632" r:id="rId10"/>
    <p:sldId id="633" r:id="rId11"/>
    <p:sldId id="634" r:id="rId12"/>
    <p:sldId id="635" r:id="rId13"/>
    <p:sldId id="636" r:id="rId14"/>
    <p:sldId id="262" r:id="rId15"/>
    <p:sldId id="307" r:id="rId16"/>
    <p:sldId id="263" r:id="rId17"/>
    <p:sldId id="265" r:id="rId18"/>
    <p:sldId id="650" r:id="rId19"/>
    <p:sldId id="266" r:id="rId20"/>
    <p:sldId id="267" r:id="rId21"/>
    <p:sldId id="651" r:id="rId22"/>
    <p:sldId id="269" r:id="rId23"/>
    <p:sldId id="270" r:id="rId24"/>
    <p:sldId id="563" r:id="rId25"/>
    <p:sldId id="272" r:id="rId26"/>
    <p:sldId id="274" r:id="rId27"/>
    <p:sldId id="276" r:id="rId28"/>
    <p:sldId id="277" r:id="rId29"/>
    <p:sldId id="278" r:id="rId30"/>
    <p:sldId id="279" r:id="rId31"/>
    <p:sldId id="275" r:id="rId32"/>
    <p:sldId id="656" r:id="rId33"/>
    <p:sldId id="514" r:id="rId34"/>
    <p:sldId id="280" r:id="rId35"/>
    <p:sldId id="464" r:id="rId36"/>
    <p:sldId id="282" r:id="rId37"/>
    <p:sldId id="657" r:id="rId38"/>
    <p:sldId id="466" r:id="rId39"/>
    <p:sldId id="446" r:id="rId40"/>
    <p:sldId id="447" r:id="rId41"/>
    <p:sldId id="286" r:id="rId42"/>
    <p:sldId id="652" r:id="rId43"/>
    <p:sldId id="468" r:id="rId44"/>
    <p:sldId id="295" r:id="rId45"/>
    <p:sldId id="289" r:id="rId46"/>
    <p:sldId id="469" r:id="rId47"/>
    <p:sldId id="292" r:id="rId48"/>
    <p:sldId id="414" r:id="rId49"/>
    <p:sldId id="415" r:id="rId50"/>
    <p:sldId id="421" r:id="rId51"/>
    <p:sldId id="290" r:id="rId52"/>
    <p:sldId id="291" r:id="rId53"/>
    <p:sldId id="562" r:id="rId54"/>
    <p:sldId id="373" r:id="rId55"/>
    <p:sldId id="621" r:id="rId56"/>
    <p:sldId id="649" r:id="rId57"/>
    <p:sldId id="294" r:id="rId58"/>
    <p:sldId id="297" r:id="rId59"/>
    <p:sldId id="630" r:id="rId60"/>
    <p:sldId id="474" r:id="rId61"/>
    <p:sldId id="653" r:id="rId62"/>
    <p:sldId id="662" r:id="rId63"/>
    <p:sldId id="311" r:id="rId64"/>
    <p:sldId id="312" r:id="rId65"/>
    <p:sldId id="313" r:id="rId66"/>
    <p:sldId id="314" r:id="rId67"/>
    <p:sldId id="315" r:id="rId68"/>
    <p:sldId id="316" r:id="rId69"/>
    <p:sldId id="310" r:id="rId70"/>
    <p:sldId id="475" r:id="rId71"/>
    <p:sldId id="308" r:id="rId72"/>
    <p:sldId id="647" r:id="rId73"/>
    <p:sldId id="648" r:id="rId74"/>
    <p:sldId id="487" r:id="rId75"/>
    <p:sldId id="654" r:id="rId76"/>
    <p:sldId id="321" r:id="rId77"/>
    <p:sldId id="322" r:id="rId78"/>
    <p:sldId id="323" r:id="rId79"/>
    <p:sldId id="324" r:id="rId80"/>
    <p:sldId id="476" r:id="rId81"/>
    <p:sldId id="488" r:id="rId82"/>
    <p:sldId id="473" r:id="rId83"/>
    <p:sldId id="302" r:id="rId84"/>
    <p:sldId id="301" r:id="rId85"/>
    <p:sldId id="304" r:id="rId86"/>
    <p:sldId id="646" r:id="rId87"/>
    <p:sldId id="305" r:id="rId88"/>
    <p:sldId id="303" r:id="rId89"/>
    <p:sldId id="611" r:id="rId90"/>
    <p:sldId id="659" r:id="rId91"/>
    <p:sldId id="479" r:id="rId92"/>
    <p:sldId id="330" r:id="rId93"/>
    <p:sldId id="637" r:id="rId94"/>
    <p:sldId id="638" r:id="rId95"/>
    <p:sldId id="639" r:id="rId96"/>
    <p:sldId id="640" r:id="rId97"/>
    <p:sldId id="641" r:id="rId98"/>
    <p:sldId id="642" r:id="rId99"/>
    <p:sldId id="643" r:id="rId100"/>
    <p:sldId id="610" r:id="rId101"/>
    <p:sldId id="565" r:id="rId102"/>
    <p:sldId id="566" r:id="rId103"/>
    <p:sldId id="567" r:id="rId104"/>
    <p:sldId id="572" r:id="rId105"/>
    <p:sldId id="573" r:id="rId106"/>
    <p:sldId id="671" r:id="rId107"/>
    <p:sldId id="570" r:id="rId108"/>
    <p:sldId id="571" r:id="rId109"/>
    <p:sldId id="574" r:id="rId110"/>
    <p:sldId id="575" r:id="rId111"/>
    <p:sldId id="576" r:id="rId112"/>
    <p:sldId id="666" r:id="rId113"/>
    <p:sldId id="667" r:id="rId114"/>
    <p:sldId id="583" r:id="rId115"/>
    <p:sldId id="584" r:id="rId116"/>
    <p:sldId id="578" r:id="rId117"/>
    <p:sldId id="579" r:id="rId118"/>
    <p:sldId id="568" r:id="rId119"/>
    <p:sldId id="580" r:id="rId120"/>
    <p:sldId id="581" r:id="rId121"/>
    <p:sldId id="660" r:id="rId122"/>
    <p:sldId id="587" r:id="rId123"/>
    <p:sldId id="590" r:id="rId124"/>
    <p:sldId id="482" r:id="rId125"/>
    <p:sldId id="669" r:id="rId126"/>
    <p:sldId id="663" r:id="rId127"/>
    <p:sldId id="356" r:id="rId128"/>
    <p:sldId id="592" r:id="rId129"/>
    <p:sldId id="661" r:id="rId130"/>
    <p:sldId id="494" r:id="rId131"/>
    <p:sldId id="596" r:id="rId132"/>
    <p:sldId id="495" r:id="rId133"/>
    <p:sldId id="668" r:id="rId134"/>
    <p:sldId id="597" r:id="rId135"/>
    <p:sldId id="601" r:id="rId136"/>
    <p:sldId id="670" r:id="rId137"/>
    <p:sldId id="604" r:id="rId138"/>
    <p:sldId id="607" r:id="rId139"/>
    <p:sldId id="606" r:id="rId140"/>
    <p:sldId id="674" r:id="rId141"/>
    <p:sldId id="380" r:id="rId142"/>
    <p:sldId id="382" r:id="rId143"/>
    <p:sldId id="664" r:id="rId144"/>
    <p:sldId id="391" r:id="rId145"/>
    <p:sldId id="675" r:id="rId146"/>
    <p:sldId id="628" r:id="rId147"/>
    <p:sldId id="644" r:id="rId148"/>
    <p:sldId id="645" r:id="rId149"/>
    <p:sldId id="399" r:id="rId150"/>
    <p:sldId id="387" r:id="rId151"/>
    <p:sldId id="629" r:id="rId152"/>
    <p:sldId id="389" r:id="rId153"/>
    <p:sldId id="484" r:id="rId154"/>
    <p:sldId id="485" r:id="rId155"/>
    <p:sldId id="406" r:id="rId156"/>
    <p:sldId id="483" r:id="rId157"/>
  </p:sldIdLst>
  <p:sldSz cx="12192000" cy="6858000"/>
  <p:notesSz cx="6858000" cy="9144000"/>
  <p:embeddedFontLst>
    <p:embeddedFont>
      <p:font typeface="Cambria Math" panose="02040503050406030204" pitchFamily="18" charset="0"/>
      <p:regular r:id="rId1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4" roundtripDataSignature="AMtx7miD4CG9oKyNniVviS2juOF+PSF9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8C8A"/>
    <a:srgbClr val="FF9300"/>
    <a:srgbClr val="F2494C"/>
    <a:srgbClr val="BFBFBF"/>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B4756AE-ACC1-4F6F-B641-2C8A4B7F3228}">
  <a:tblStyle styleId="{FB4756AE-ACC1-4F6F-B641-2C8A4B7F3228}"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4"/>
    <p:restoredTop sz="75480"/>
  </p:normalViewPr>
  <p:slideViewPr>
    <p:cSldViewPr snapToGrid="0">
      <p:cViewPr varScale="1">
        <p:scale>
          <a:sx n="87" d="100"/>
          <a:sy n="87" d="100"/>
        </p:scale>
        <p:origin x="1816" y="18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font" Target="fonts/font1.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16" Type="http://schemas.openxmlformats.org/officeDocument/2006/relationships/viewProps" Target="view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217"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18"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14" Type="http://customschemas.google.com/relationships/presentationmetadata" Target="metadata"/><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15" Type="http://schemas.openxmlformats.org/officeDocument/2006/relationships/presProps" Target="presProp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8DDA184-F61C-AB4D-B747-5FDDBE988F4E}" type="doc">
      <dgm:prSet loTypeId="urn:microsoft.com/office/officeart/2005/8/layout/hProcess9" loCatId="" qsTypeId="urn:microsoft.com/office/officeart/2005/8/quickstyle/simple1" qsCatId="simple" csTypeId="urn:microsoft.com/office/officeart/2005/8/colors/accent1_2" csCatId="accent1" phldr="1"/>
      <dgm:spPr/>
    </dgm:pt>
    <dgm:pt modelId="{9E8D19AB-1AA4-9646-8737-32E0784DABD7}">
      <dgm:prSet phldrT="[Text]"/>
      <dgm:spPr>
        <a:solidFill>
          <a:schemeClr val="bg1"/>
        </a:solidFill>
        <a:ln>
          <a:solidFill>
            <a:schemeClr val="tx1"/>
          </a:solidFill>
        </a:ln>
      </dgm:spPr>
      <dgm:t>
        <a:bodyPr/>
        <a:lstStyle/>
        <a:p>
          <a:r>
            <a:rPr lang="en-US" b="1" dirty="0">
              <a:solidFill>
                <a:srgbClr val="468C8A"/>
              </a:solidFill>
            </a:rPr>
            <a:t>Step 1</a:t>
          </a:r>
        </a:p>
        <a:p>
          <a:r>
            <a:rPr lang="en-US" dirty="0">
              <a:solidFill>
                <a:schemeClr val="tx1"/>
              </a:solidFill>
            </a:rPr>
            <a:t>Estimate the RIF in the unconditional outcome distribution</a:t>
          </a:r>
        </a:p>
      </dgm:t>
    </dgm:pt>
    <dgm:pt modelId="{519D4CB2-B1E9-C648-A5E0-E8A507133762}" type="parTrans" cxnId="{0B374564-1CEE-674C-AEBE-0BF85D801DD2}">
      <dgm:prSet/>
      <dgm:spPr/>
      <dgm:t>
        <a:bodyPr/>
        <a:lstStyle/>
        <a:p>
          <a:endParaRPr lang="en-US"/>
        </a:p>
      </dgm:t>
    </dgm:pt>
    <dgm:pt modelId="{837C1D90-20C6-8647-8DF7-450D05A5A6D5}" type="sibTrans" cxnId="{0B374564-1CEE-674C-AEBE-0BF85D801DD2}">
      <dgm:prSet/>
      <dgm:spPr/>
      <dgm:t>
        <a:bodyPr/>
        <a:lstStyle/>
        <a:p>
          <a:endParaRPr lang="en-US"/>
        </a:p>
      </dgm:t>
    </dgm:pt>
    <dgm:pt modelId="{6FB63087-817E-2A47-ADC8-A7B32B53171B}">
      <dgm:prSet phldrT="[Text]"/>
      <dgm:spPr>
        <a:solidFill>
          <a:schemeClr val="bg1"/>
        </a:solidFill>
        <a:ln>
          <a:solidFill>
            <a:schemeClr val="tx1"/>
          </a:solidFill>
        </a:ln>
      </dgm:spPr>
      <dgm:t>
        <a:bodyPr/>
        <a:lstStyle/>
        <a:p>
          <a:r>
            <a:rPr lang="en-US" b="1" dirty="0">
              <a:solidFill>
                <a:srgbClr val="468C8A"/>
              </a:solidFill>
            </a:rPr>
            <a:t>Step 2</a:t>
          </a:r>
        </a:p>
        <a:p>
          <a:r>
            <a:rPr lang="en-US" dirty="0">
              <a:solidFill>
                <a:schemeClr val="tx1"/>
              </a:solidFill>
            </a:rPr>
            <a:t>Regress RIF on exposure + covariates</a:t>
          </a:r>
        </a:p>
      </dgm:t>
    </dgm:pt>
    <dgm:pt modelId="{C029D5B9-4E59-134E-8E17-FE8E0745FB14}" type="parTrans" cxnId="{48477235-16FA-DC4B-A045-D7D27D5FE454}">
      <dgm:prSet/>
      <dgm:spPr/>
      <dgm:t>
        <a:bodyPr/>
        <a:lstStyle/>
        <a:p>
          <a:endParaRPr lang="en-US"/>
        </a:p>
      </dgm:t>
    </dgm:pt>
    <dgm:pt modelId="{74A24398-7045-CB4A-B153-610343B68BEC}" type="sibTrans" cxnId="{48477235-16FA-DC4B-A045-D7D27D5FE454}">
      <dgm:prSet/>
      <dgm:spPr/>
      <dgm:t>
        <a:bodyPr/>
        <a:lstStyle/>
        <a:p>
          <a:endParaRPr lang="en-US"/>
        </a:p>
      </dgm:t>
    </dgm:pt>
    <dgm:pt modelId="{FFCBC91D-FDEC-224E-88E8-4ED21BB8E159}">
      <dgm:prSet phldrT="[Text]"/>
      <dgm:spPr>
        <a:solidFill>
          <a:schemeClr val="bg1"/>
        </a:solidFill>
        <a:ln>
          <a:solidFill>
            <a:schemeClr val="tx1"/>
          </a:solidFill>
        </a:ln>
      </dgm:spPr>
      <dgm:t>
        <a:bodyPr/>
        <a:lstStyle/>
        <a:p>
          <a:r>
            <a:rPr lang="en-US" b="1" dirty="0">
              <a:solidFill>
                <a:srgbClr val="468C8A"/>
              </a:solidFill>
            </a:rPr>
            <a:t>Step 3</a:t>
          </a:r>
        </a:p>
        <a:p>
          <a:r>
            <a:rPr lang="en-US" dirty="0">
              <a:solidFill>
                <a:schemeClr val="tx1"/>
              </a:solidFill>
            </a:rPr>
            <a:t>Estimate standard errors using bootstrap or sandwich estimator</a:t>
          </a:r>
        </a:p>
      </dgm:t>
    </dgm:pt>
    <dgm:pt modelId="{DCCF3076-8003-AF45-9A3B-42ACD9D77710}" type="parTrans" cxnId="{C1A8405F-548C-7E41-B7CB-C6EBCDF0C1E4}">
      <dgm:prSet/>
      <dgm:spPr/>
      <dgm:t>
        <a:bodyPr/>
        <a:lstStyle/>
        <a:p>
          <a:endParaRPr lang="en-US"/>
        </a:p>
      </dgm:t>
    </dgm:pt>
    <dgm:pt modelId="{FE2F6C7A-AFF4-2749-9A6E-B334DEC20049}" type="sibTrans" cxnId="{C1A8405F-548C-7E41-B7CB-C6EBCDF0C1E4}">
      <dgm:prSet/>
      <dgm:spPr/>
      <dgm:t>
        <a:bodyPr/>
        <a:lstStyle/>
        <a:p>
          <a:endParaRPr lang="en-US"/>
        </a:p>
      </dgm:t>
    </dgm:pt>
    <dgm:pt modelId="{115718AA-619A-1240-A1F2-FD9BD242BA5F}" type="pres">
      <dgm:prSet presAssocID="{08DDA184-F61C-AB4D-B747-5FDDBE988F4E}" presName="CompostProcess" presStyleCnt="0">
        <dgm:presLayoutVars>
          <dgm:dir/>
          <dgm:resizeHandles val="exact"/>
        </dgm:presLayoutVars>
      </dgm:prSet>
      <dgm:spPr/>
    </dgm:pt>
    <dgm:pt modelId="{04AA8BC3-E610-7549-BDB8-FF12963AA35F}" type="pres">
      <dgm:prSet presAssocID="{08DDA184-F61C-AB4D-B747-5FDDBE988F4E}" presName="arrow" presStyleLbl="bgShp" presStyleIdx="0" presStyleCnt="1"/>
      <dgm:spPr>
        <a:solidFill>
          <a:srgbClr val="FF9300">
            <a:alpha val="33991"/>
          </a:srgbClr>
        </a:solidFill>
      </dgm:spPr>
    </dgm:pt>
    <dgm:pt modelId="{C9DF4332-0394-D242-8FA7-9012C0636874}" type="pres">
      <dgm:prSet presAssocID="{08DDA184-F61C-AB4D-B747-5FDDBE988F4E}" presName="linearProcess" presStyleCnt="0"/>
      <dgm:spPr/>
    </dgm:pt>
    <dgm:pt modelId="{F5117614-8C57-FA42-B6D2-85F0CEB2D848}" type="pres">
      <dgm:prSet presAssocID="{9E8D19AB-1AA4-9646-8737-32E0784DABD7}" presName="textNode" presStyleLbl="node1" presStyleIdx="0" presStyleCnt="3">
        <dgm:presLayoutVars>
          <dgm:bulletEnabled val="1"/>
        </dgm:presLayoutVars>
      </dgm:prSet>
      <dgm:spPr/>
    </dgm:pt>
    <dgm:pt modelId="{32A90F9E-B80A-374B-A6BE-30A2C1A980F4}" type="pres">
      <dgm:prSet presAssocID="{837C1D90-20C6-8647-8DF7-450D05A5A6D5}" presName="sibTrans" presStyleCnt="0"/>
      <dgm:spPr/>
    </dgm:pt>
    <dgm:pt modelId="{5FC15EF7-A71C-1C45-9DE5-2840C96ABD64}" type="pres">
      <dgm:prSet presAssocID="{6FB63087-817E-2A47-ADC8-A7B32B53171B}" presName="textNode" presStyleLbl="node1" presStyleIdx="1" presStyleCnt="3">
        <dgm:presLayoutVars>
          <dgm:bulletEnabled val="1"/>
        </dgm:presLayoutVars>
      </dgm:prSet>
      <dgm:spPr/>
    </dgm:pt>
    <dgm:pt modelId="{27EE2A9A-4058-6E4A-95D3-D9F9A688AF07}" type="pres">
      <dgm:prSet presAssocID="{74A24398-7045-CB4A-B153-610343B68BEC}" presName="sibTrans" presStyleCnt="0"/>
      <dgm:spPr/>
    </dgm:pt>
    <dgm:pt modelId="{D35BDA2C-7F35-CC49-B067-A80FBD1957C0}" type="pres">
      <dgm:prSet presAssocID="{FFCBC91D-FDEC-224E-88E8-4ED21BB8E159}" presName="textNode" presStyleLbl="node1" presStyleIdx="2" presStyleCnt="3">
        <dgm:presLayoutVars>
          <dgm:bulletEnabled val="1"/>
        </dgm:presLayoutVars>
      </dgm:prSet>
      <dgm:spPr/>
    </dgm:pt>
  </dgm:ptLst>
  <dgm:cxnLst>
    <dgm:cxn modelId="{ACAC6E25-3A53-1540-A6FF-334AA2049804}" type="presOf" srcId="{9E8D19AB-1AA4-9646-8737-32E0784DABD7}" destId="{F5117614-8C57-FA42-B6D2-85F0CEB2D848}" srcOrd="0" destOrd="0" presId="urn:microsoft.com/office/officeart/2005/8/layout/hProcess9"/>
    <dgm:cxn modelId="{48477235-16FA-DC4B-A045-D7D27D5FE454}" srcId="{08DDA184-F61C-AB4D-B747-5FDDBE988F4E}" destId="{6FB63087-817E-2A47-ADC8-A7B32B53171B}" srcOrd="1" destOrd="0" parTransId="{C029D5B9-4E59-134E-8E17-FE8E0745FB14}" sibTransId="{74A24398-7045-CB4A-B153-610343B68BEC}"/>
    <dgm:cxn modelId="{3135A94D-DBA7-E048-A2ED-B1148A8FBEF3}" type="presOf" srcId="{08DDA184-F61C-AB4D-B747-5FDDBE988F4E}" destId="{115718AA-619A-1240-A1F2-FD9BD242BA5F}" srcOrd="0" destOrd="0" presId="urn:microsoft.com/office/officeart/2005/8/layout/hProcess9"/>
    <dgm:cxn modelId="{C1A8405F-548C-7E41-B7CB-C6EBCDF0C1E4}" srcId="{08DDA184-F61C-AB4D-B747-5FDDBE988F4E}" destId="{FFCBC91D-FDEC-224E-88E8-4ED21BB8E159}" srcOrd="2" destOrd="0" parTransId="{DCCF3076-8003-AF45-9A3B-42ACD9D77710}" sibTransId="{FE2F6C7A-AFF4-2749-9A6E-B334DEC20049}"/>
    <dgm:cxn modelId="{0B374564-1CEE-674C-AEBE-0BF85D801DD2}" srcId="{08DDA184-F61C-AB4D-B747-5FDDBE988F4E}" destId="{9E8D19AB-1AA4-9646-8737-32E0784DABD7}" srcOrd="0" destOrd="0" parTransId="{519D4CB2-B1E9-C648-A5E0-E8A507133762}" sibTransId="{837C1D90-20C6-8647-8DF7-450D05A5A6D5}"/>
    <dgm:cxn modelId="{FAE74383-C657-B840-BEAD-A22EA9818DE2}" type="presOf" srcId="{FFCBC91D-FDEC-224E-88E8-4ED21BB8E159}" destId="{D35BDA2C-7F35-CC49-B067-A80FBD1957C0}" srcOrd="0" destOrd="0" presId="urn:microsoft.com/office/officeart/2005/8/layout/hProcess9"/>
    <dgm:cxn modelId="{8AE01BFA-FBF6-AE4B-83FB-2C5655B812D2}" type="presOf" srcId="{6FB63087-817E-2A47-ADC8-A7B32B53171B}" destId="{5FC15EF7-A71C-1C45-9DE5-2840C96ABD64}" srcOrd="0" destOrd="0" presId="urn:microsoft.com/office/officeart/2005/8/layout/hProcess9"/>
    <dgm:cxn modelId="{FBC12DFA-517D-2B4A-BC11-3EFA61F06004}" type="presParOf" srcId="{115718AA-619A-1240-A1F2-FD9BD242BA5F}" destId="{04AA8BC3-E610-7549-BDB8-FF12963AA35F}" srcOrd="0" destOrd="0" presId="urn:microsoft.com/office/officeart/2005/8/layout/hProcess9"/>
    <dgm:cxn modelId="{FFC00D92-BCE0-3848-BA15-D08E89AB2011}" type="presParOf" srcId="{115718AA-619A-1240-A1F2-FD9BD242BA5F}" destId="{C9DF4332-0394-D242-8FA7-9012C0636874}" srcOrd="1" destOrd="0" presId="urn:microsoft.com/office/officeart/2005/8/layout/hProcess9"/>
    <dgm:cxn modelId="{F59F95CD-5E6A-1A49-8162-E734AF70683B}" type="presParOf" srcId="{C9DF4332-0394-D242-8FA7-9012C0636874}" destId="{F5117614-8C57-FA42-B6D2-85F0CEB2D848}" srcOrd="0" destOrd="0" presId="urn:microsoft.com/office/officeart/2005/8/layout/hProcess9"/>
    <dgm:cxn modelId="{43B7BE8C-9ADE-984E-A280-05D0FACB40A5}" type="presParOf" srcId="{C9DF4332-0394-D242-8FA7-9012C0636874}" destId="{32A90F9E-B80A-374B-A6BE-30A2C1A980F4}" srcOrd="1" destOrd="0" presId="urn:microsoft.com/office/officeart/2005/8/layout/hProcess9"/>
    <dgm:cxn modelId="{0416FEEB-5822-E14F-B75D-1F53408B4B78}" type="presParOf" srcId="{C9DF4332-0394-D242-8FA7-9012C0636874}" destId="{5FC15EF7-A71C-1C45-9DE5-2840C96ABD64}" srcOrd="2" destOrd="0" presId="urn:microsoft.com/office/officeart/2005/8/layout/hProcess9"/>
    <dgm:cxn modelId="{B27AC57C-E599-724A-961E-7C044A3E77D0}" type="presParOf" srcId="{C9DF4332-0394-D242-8FA7-9012C0636874}" destId="{27EE2A9A-4058-6E4A-95D3-D9F9A688AF07}" srcOrd="3" destOrd="0" presId="urn:microsoft.com/office/officeart/2005/8/layout/hProcess9"/>
    <dgm:cxn modelId="{D3DC6253-FD1A-C347-9683-185CDC982845}" type="presParOf" srcId="{C9DF4332-0394-D242-8FA7-9012C0636874}" destId="{D35BDA2C-7F35-CC49-B067-A80FBD1957C0}"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8DDA184-F61C-AB4D-B747-5FDDBE988F4E}" type="doc">
      <dgm:prSet loTypeId="urn:microsoft.com/office/officeart/2005/8/layout/hProcess9" loCatId="" qsTypeId="urn:microsoft.com/office/officeart/2005/8/quickstyle/simple1" qsCatId="simple" csTypeId="urn:microsoft.com/office/officeart/2005/8/colors/accent1_2" csCatId="accent1" phldr="1"/>
      <dgm:spPr/>
    </dgm:pt>
    <dgm:pt modelId="{9E8D19AB-1AA4-9646-8737-32E0784DABD7}">
      <dgm:prSet phldrT="[Text]"/>
      <dgm:spPr>
        <a:solidFill>
          <a:schemeClr val="bg1"/>
        </a:solidFill>
        <a:ln>
          <a:solidFill>
            <a:schemeClr val="tx1"/>
          </a:solidFill>
        </a:ln>
      </dgm:spPr>
      <dgm:t>
        <a:bodyPr/>
        <a:lstStyle/>
        <a:p>
          <a:r>
            <a:rPr lang="en-US" b="1" dirty="0">
              <a:solidFill>
                <a:srgbClr val="468C8A"/>
              </a:solidFill>
            </a:rPr>
            <a:t>Step 1</a:t>
          </a:r>
        </a:p>
        <a:p>
          <a:r>
            <a:rPr lang="en-US" dirty="0">
              <a:solidFill>
                <a:schemeClr val="tx1"/>
              </a:solidFill>
            </a:rPr>
            <a:t>Estimate the RIF in the unconditional outcome distribution</a:t>
          </a:r>
        </a:p>
      </dgm:t>
    </dgm:pt>
    <dgm:pt modelId="{519D4CB2-B1E9-C648-A5E0-E8A507133762}" type="parTrans" cxnId="{0B374564-1CEE-674C-AEBE-0BF85D801DD2}">
      <dgm:prSet/>
      <dgm:spPr/>
      <dgm:t>
        <a:bodyPr/>
        <a:lstStyle/>
        <a:p>
          <a:endParaRPr lang="en-US"/>
        </a:p>
      </dgm:t>
    </dgm:pt>
    <dgm:pt modelId="{837C1D90-20C6-8647-8DF7-450D05A5A6D5}" type="sibTrans" cxnId="{0B374564-1CEE-674C-AEBE-0BF85D801DD2}">
      <dgm:prSet/>
      <dgm:spPr/>
      <dgm:t>
        <a:bodyPr/>
        <a:lstStyle/>
        <a:p>
          <a:endParaRPr lang="en-US"/>
        </a:p>
      </dgm:t>
    </dgm:pt>
    <dgm:pt modelId="{6FB63087-817E-2A47-ADC8-A7B32B53171B}">
      <dgm:prSet phldrT="[Text]"/>
      <dgm:spPr>
        <a:solidFill>
          <a:schemeClr val="bg1"/>
        </a:solidFill>
        <a:ln>
          <a:solidFill>
            <a:schemeClr val="tx1"/>
          </a:solidFill>
        </a:ln>
      </dgm:spPr>
      <dgm:t>
        <a:bodyPr/>
        <a:lstStyle/>
        <a:p>
          <a:r>
            <a:rPr lang="en-US" b="1" dirty="0">
              <a:solidFill>
                <a:schemeClr val="bg1">
                  <a:lumMod val="75000"/>
                </a:schemeClr>
              </a:solidFill>
            </a:rPr>
            <a:t>Step 2</a:t>
          </a:r>
        </a:p>
        <a:p>
          <a:r>
            <a:rPr lang="en-US" dirty="0">
              <a:solidFill>
                <a:schemeClr val="bg1">
                  <a:lumMod val="75000"/>
                </a:schemeClr>
              </a:solidFill>
            </a:rPr>
            <a:t>Regress RIF on exposure + covariates</a:t>
          </a:r>
        </a:p>
      </dgm:t>
    </dgm:pt>
    <dgm:pt modelId="{C029D5B9-4E59-134E-8E17-FE8E0745FB14}" type="parTrans" cxnId="{48477235-16FA-DC4B-A045-D7D27D5FE454}">
      <dgm:prSet/>
      <dgm:spPr/>
      <dgm:t>
        <a:bodyPr/>
        <a:lstStyle/>
        <a:p>
          <a:endParaRPr lang="en-US"/>
        </a:p>
      </dgm:t>
    </dgm:pt>
    <dgm:pt modelId="{74A24398-7045-CB4A-B153-610343B68BEC}" type="sibTrans" cxnId="{48477235-16FA-DC4B-A045-D7D27D5FE454}">
      <dgm:prSet/>
      <dgm:spPr/>
      <dgm:t>
        <a:bodyPr/>
        <a:lstStyle/>
        <a:p>
          <a:endParaRPr lang="en-US"/>
        </a:p>
      </dgm:t>
    </dgm:pt>
    <dgm:pt modelId="{FFCBC91D-FDEC-224E-88E8-4ED21BB8E159}">
      <dgm:prSet phldrT="[Text]"/>
      <dgm:spPr>
        <a:solidFill>
          <a:schemeClr val="bg1"/>
        </a:solidFill>
        <a:ln>
          <a:solidFill>
            <a:schemeClr val="tx1"/>
          </a:solidFill>
        </a:ln>
      </dgm:spPr>
      <dgm:t>
        <a:bodyPr/>
        <a:lstStyle/>
        <a:p>
          <a:r>
            <a:rPr lang="en-US" b="1" dirty="0">
              <a:solidFill>
                <a:schemeClr val="bg1">
                  <a:lumMod val="75000"/>
                </a:schemeClr>
              </a:solidFill>
            </a:rPr>
            <a:t>Step 3</a:t>
          </a:r>
        </a:p>
        <a:p>
          <a:r>
            <a:rPr lang="en-US" dirty="0">
              <a:solidFill>
                <a:schemeClr val="bg1">
                  <a:lumMod val="75000"/>
                </a:schemeClr>
              </a:solidFill>
            </a:rPr>
            <a:t>Estimate standard errors using bootstrap or sandwich estimator</a:t>
          </a:r>
        </a:p>
      </dgm:t>
    </dgm:pt>
    <dgm:pt modelId="{DCCF3076-8003-AF45-9A3B-42ACD9D77710}" type="parTrans" cxnId="{C1A8405F-548C-7E41-B7CB-C6EBCDF0C1E4}">
      <dgm:prSet/>
      <dgm:spPr/>
      <dgm:t>
        <a:bodyPr/>
        <a:lstStyle/>
        <a:p>
          <a:endParaRPr lang="en-US"/>
        </a:p>
      </dgm:t>
    </dgm:pt>
    <dgm:pt modelId="{FE2F6C7A-AFF4-2749-9A6E-B334DEC20049}" type="sibTrans" cxnId="{C1A8405F-548C-7E41-B7CB-C6EBCDF0C1E4}">
      <dgm:prSet/>
      <dgm:spPr/>
      <dgm:t>
        <a:bodyPr/>
        <a:lstStyle/>
        <a:p>
          <a:endParaRPr lang="en-US"/>
        </a:p>
      </dgm:t>
    </dgm:pt>
    <dgm:pt modelId="{115718AA-619A-1240-A1F2-FD9BD242BA5F}" type="pres">
      <dgm:prSet presAssocID="{08DDA184-F61C-AB4D-B747-5FDDBE988F4E}" presName="CompostProcess" presStyleCnt="0">
        <dgm:presLayoutVars>
          <dgm:dir/>
          <dgm:resizeHandles val="exact"/>
        </dgm:presLayoutVars>
      </dgm:prSet>
      <dgm:spPr/>
    </dgm:pt>
    <dgm:pt modelId="{04AA8BC3-E610-7549-BDB8-FF12963AA35F}" type="pres">
      <dgm:prSet presAssocID="{08DDA184-F61C-AB4D-B747-5FDDBE988F4E}" presName="arrow" presStyleLbl="bgShp" presStyleIdx="0" presStyleCnt="1"/>
      <dgm:spPr>
        <a:solidFill>
          <a:srgbClr val="FF9300">
            <a:alpha val="33991"/>
          </a:srgbClr>
        </a:solidFill>
      </dgm:spPr>
    </dgm:pt>
    <dgm:pt modelId="{C9DF4332-0394-D242-8FA7-9012C0636874}" type="pres">
      <dgm:prSet presAssocID="{08DDA184-F61C-AB4D-B747-5FDDBE988F4E}" presName="linearProcess" presStyleCnt="0"/>
      <dgm:spPr/>
    </dgm:pt>
    <dgm:pt modelId="{F5117614-8C57-FA42-B6D2-85F0CEB2D848}" type="pres">
      <dgm:prSet presAssocID="{9E8D19AB-1AA4-9646-8737-32E0784DABD7}" presName="textNode" presStyleLbl="node1" presStyleIdx="0" presStyleCnt="3">
        <dgm:presLayoutVars>
          <dgm:bulletEnabled val="1"/>
        </dgm:presLayoutVars>
      </dgm:prSet>
      <dgm:spPr/>
    </dgm:pt>
    <dgm:pt modelId="{32A90F9E-B80A-374B-A6BE-30A2C1A980F4}" type="pres">
      <dgm:prSet presAssocID="{837C1D90-20C6-8647-8DF7-450D05A5A6D5}" presName="sibTrans" presStyleCnt="0"/>
      <dgm:spPr/>
    </dgm:pt>
    <dgm:pt modelId="{5FC15EF7-A71C-1C45-9DE5-2840C96ABD64}" type="pres">
      <dgm:prSet presAssocID="{6FB63087-817E-2A47-ADC8-A7B32B53171B}" presName="textNode" presStyleLbl="node1" presStyleIdx="1" presStyleCnt="3">
        <dgm:presLayoutVars>
          <dgm:bulletEnabled val="1"/>
        </dgm:presLayoutVars>
      </dgm:prSet>
      <dgm:spPr/>
    </dgm:pt>
    <dgm:pt modelId="{27EE2A9A-4058-6E4A-95D3-D9F9A688AF07}" type="pres">
      <dgm:prSet presAssocID="{74A24398-7045-CB4A-B153-610343B68BEC}" presName="sibTrans" presStyleCnt="0"/>
      <dgm:spPr/>
    </dgm:pt>
    <dgm:pt modelId="{D35BDA2C-7F35-CC49-B067-A80FBD1957C0}" type="pres">
      <dgm:prSet presAssocID="{FFCBC91D-FDEC-224E-88E8-4ED21BB8E159}" presName="textNode" presStyleLbl="node1" presStyleIdx="2" presStyleCnt="3">
        <dgm:presLayoutVars>
          <dgm:bulletEnabled val="1"/>
        </dgm:presLayoutVars>
      </dgm:prSet>
      <dgm:spPr/>
    </dgm:pt>
  </dgm:ptLst>
  <dgm:cxnLst>
    <dgm:cxn modelId="{ACAC6E25-3A53-1540-A6FF-334AA2049804}" type="presOf" srcId="{9E8D19AB-1AA4-9646-8737-32E0784DABD7}" destId="{F5117614-8C57-FA42-B6D2-85F0CEB2D848}" srcOrd="0" destOrd="0" presId="urn:microsoft.com/office/officeart/2005/8/layout/hProcess9"/>
    <dgm:cxn modelId="{48477235-16FA-DC4B-A045-D7D27D5FE454}" srcId="{08DDA184-F61C-AB4D-B747-5FDDBE988F4E}" destId="{6FB63087-817E-2A47-ADC8-A7B32B53171B}" srcOrd="1" destOrd="0" parTransId="{C029D5B9-4E59-134E-8E17-FE8E0745FB14}" sibTransId="{74A24398-7045-CB4A-B153-610343B68BEC}"/>
    <dgm:cxn modelId="{3135A94D-DBA7-E048-A2ED-B1148A8FBEF3}" type="presOf" srcId="{08DDA184-F61C-AB4D-B747-5FDDBE988F4E}" destId="{115718AA-619A-1240-A1F2-FD9BD242BA5F}" srcOrd="0" destOrd="0" presId="urn:microsoft.com/office/officeart/2005/8/layout/hProcess9"/>
    <dgm:cxn modelId="{C1A8405F-548C-7E41-B7CB-C6EBCDF0C1E4}" srcId="{08DDA184-F61C-AB4D-B747-5FDDBE988F4E}" destId="{FFCBC91D-FDEC-224E-88E8-4ED21BB8E159}" srcOrd="2" destOrd="0" parTransId="{DCCF3076-8003-AF45-9A3B-42ACD9D77710}" sibTransId="{FE2F6C7A-AFF4-2749-9A6E-B334DEC20049}"/>
    <dgm:cxn modelId="{0B374564-1CEE-674C-AEBE-0BF85D801DD2}" srcId="{08DDA184-F61C-AB4D-B747-5FDDBE988F4E}" destId="{9E8D19AB-1AA4-9646-8737-32E0784DABD7}" srcOrd="0" destOrd="0" parTransId="{519D4CB2-B1E9-C648-A5E0-E8A507133762}" sibTransId="{837C1D90-20C6-8647-8DF7-450D05A5A6D5}"/>
    <dgm:cxn modelId="{FAE74383-C657-B840-BEAD-A22EA9818DE2}" type="presOf" srcId="{FFCBC91D-FDEC-224E-88E8-4ED21BB8E159}" destId="{D35BDA2C-7F35-CC49-B067-A80FBD1957C0}" srcOrd="0" destOrd="0" presId="urn:microsoft.com/office/officeart/2005/8/layout/hProcess9"/>
    <dgm:cxn modelId="{8AE01BFA-FBF6-AE4B-83FB-2C5655B812D2}" type="presOf" srcId="{6FB63087-817E-2A47-ADC8-A7B32B53171B}" destId="{5FC15EF7-A71C-1C45-9DE5-2840C96ABD64}" srcOrd="0" destOrd="0" presId="urn:microsoft.com/office/officeart/2005/8/layout/hProcess9"/>
    <dgm:cxn modelId="{FBC12DFA-517D-2B4A-BC11-3EFA61F06004}" type="presParOf" srcId="{115718AA-619A-1240-A1F2-FD9BD242BA5F}" destId="{04AA8BC3-E610-7549-BDB8-FF12963AA35F}" srcOrd="0" destOrd="0" presId="urn:microsoft.com/office/officeart/2005/8/layout/hProcess9"/>
    <dgm:cxn modelId="{FFC00D92-BCE0-3848-BA15-D08E89AB2011}" type="presParOf" srcId="{115718AA-619A-1240-A1F2-FD9BD242BA5F}" destId="{C9DF4332-0394-D242-8FA7-9012C0636874}" srcOrd="1" destOrd="0" presId="urn:microsoft.com/office/officeart/2005/8/layout/hProcess9"/>
    <dgm:cxn modelId="{F59F95CD-5E6A-1A49-8162-E734AF70683B}" type="presParOf" srcId="{C9DF4332-0394-D242-8FA7-9012C0636874}" destId="{F5117614-8C57-FA42-B6D2-85F0CEB2D848}" srcOrd="0" destOrd="0" presId="urn:microsoft.com/office/officeart/2005/8/layout/hProcess9"/>
    <dgm:cxn modelId="{43B7BE8C-9ADE-984E-A280-05D0FACB40A5}" type="presParOf" srcId="{C9DF4332-0394-D242-8FA7-9012C0636874}" destId="{32A90F9E-B80A-374B-A6BE-30A2C1A980F4}" srcOrd="1" destOrd="0" presId="urn:microsoft.com/office/officeart/2005/8/layout/hProcess9"/>
    <dgm:cxn modelId="{0416FEEB-5822-E14F-B75D-1F53408B4B78}" type="presParOf" srcId="{C9DF4332-0394-D242-8FA7-9012C0636874}" destId="{5FC15EF7-A71C-1C45-9DE5-2840C96ABD64}" srcOrd="2" destOrd="0" presId="urn:microsoft.com/office/officeart/2005/8/layout/hProcess9"/>
    <dgm:cxn modelId="{B27AC57C-E599-724A-961E-7C044A3E77D0}" type="presParOf" srcId="{C9DF4332-0394-D242-8FA7-9012C0636874}" destId="{27EE2A9A-4058-6E4A-95D3-D9F9A688AF07}" srcOrd="3" destOrd="0" presId="urn:microsoft.com/office/officeart/2005/8/layout/hProcess9"/>
    <dgm:cxn modelId="{D3DC6253-FD1A-C347-9683-185CDC982845}" type="presParOf" srcId="{C9DF4332-0394-D242-8FA7-9012C0636874}" destId="{D35BDA2C-7F35-CC49-B067-A80FBD1957C0}"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8DDA184-F61C-AB4D-B747-5FDDBE988F4E}" type="doc">
      <dgm:prSet loTypeId="urn:microsoft.com/office/officeart/2005/8/layout/hProcess9" loCatId="" qsTypeId="urn:microsoft.com/office/officeart/2005/8/quickstyle/simple1" qsCatId="simple" csTypeId="urn:microsoft.com/office/officeart/2005/8/colors/accent1_2" csCatId="accent1" phldr="1"/>
      <dgm:spPr/>
    </dgm:pt>
    <dgm:pt modelId="{9E8D19AB-1AA4-9646-8737-32E0784DABD7}">
      <dgm:prSet phldrT="[Text]"/>
      <dgm:spPr>
        <a:solidFill>
          <a:schemeClr val="bg1"/>
        </a:solidFill>
        <a:ln>
          <a:solidFill>
            <a:schemeClr val="tx1"/>
          </a:solidFill>
        </a:ln>
      </dgm:spPr>
      <dgm:t>
        <a:bodyPr/>
        <a:lstStyle/>
        <a:p>
          <a:r>
            <a:rPr lang="en-US" b="1" dirty="0">
              <a:solidFill>
                <a:schemeClr val="bg1">
                  <a:lumMod val="75000"/>
                </a:schemeClr>
              </a:solidFill>
            </a:rPr>
            <a:t>Step 1</a:t>
          </a:r>
        </a:p>
        <a:p>
          <a:r>
            <a:rPr lang="en-US" dirty="0">
              <a:solidFill>
                <a:schemeClr val="bg1">
                  <a:lumMod val="75000"/>
                </a:schemeClr>
              </a:solidFill>
            </a:rPr>
            <a:t>Estimate the RIF in the unconditional outcome distribution</a:t>
          </a:r>
        </a:p>
      </dgm:t>
    </dgm:pt>
    <dgm:pt modelId="{519D4CB2-B1E9-C648-A5E0-E8A507133762}" type="parTrans" cxnId="{0B374564-1CEE-674C-AEBE-0BF85D801DD2}">
      <dgm:prSet/>
      <dgm:spPr/>
      <dgm:t>
        <a:bodyPr/>
        <a:lstStyle/>
        <a:p>
          <a:endParaRPr lang="en-US"/>
        </a:p>
      </dgm:t>
    </dgm:pt>
    <dgm:pt modelId="{837C1D90-20C6-8647-8DF7-450D05A5A6D5}" type="sibTrans" cxnId="{0B374564-1CEE-674C-AEBE-0BF85D801DD2}">
      <dgm:prSet/>
      <dgm:spPr/>
      <dgm:t>
        <a:bodyPr/>
        <a:lstStyle/>
        <a:p>
          <a:endParaRPr lang="en-US"/>
        </a:p>
      </dgm:t>
    </dgm:pt>
    <dgm:pt modelId="{6FB63087-817E-2A47-ADC8-A7B32B53171B}">
      <dgm:prSet phldrT="[Text]"/>
      <dgm:spPr>
        <a:solidFill>
          <a:schemeClr val="bg1"/>
        </a:solidFill>
        <a:ln>
          <a:solidFill>
            <a:schemeClr val="tx1"/>
          </a:solidFill>
        </a:ln>
      </dgm:spPr>
      <dgm:t>
        <a:bodyPr/>
        <a:lstStyle/>
        <a:p>
          <a:r>
            <a:rPr lang="en-US" b="1" dirty="0">
              <a:solidFill>
                <a:srgbClr val="468C8A"/>
              </a:solidFill>
            </a:rPr>
            <a:t>Step 2</a:t>
          </a:r>
        </a:p>
        <a:p>
          <a:r>
            <a:rPr lang="en-US" dirty="0">
              <a:solidFill>
                <a:schemeClr val="tx1"/>
              </a:solidFill>
            </a:rPr>
            <a:t>Regress RIF on exposure + covariates</a:t>
          </a:r>
        </a:p>
      </dgm:t>
    </dgm:pt>
    <dgm:pt modelId="{C029D5B9-4E59-134E-8E17-FE8E0745FB14}" type="parTrans" cxnId="{48477235-16FA-DC4B-A045-D7D27D5FE454}">
      <dgm:prSet/>
      <dgm:spPr/>
      <dgm:t>
        <a:bodyPr/>
        <a:lstStyle/>
        <a:p>
          <a:endParaRPr lang="en-US"/>
        </a:p>
      </dgm:t>
    </dgm:pt>
    <dgm:pt modelId="{74A24398-7045-CB4A-B153-610343B68BEC}" type="sibTrans" cxnId="{48477235-16FA-DC4B-A045-D7D27D5FE454}">
      <dgm:prSet/>
      <dgm:spPr/>
      <dgm:t>
        <a:bodyPr/>
        <a:lstStyle/>
        <a:p>
          <a:endParaRPr lang="en-US"/>
        </a:p>
      </dgm:t>
    </dgm:pt>
    <dgm:pt modelId="{FFCBC91D-FDEC-224E-88E8-4ED21BB8E159}">
      <dgm:prSet phldrT="[Text]"/>
      <dgm:spPr>
        <a:solidFill>
          <a:schemeClr val="bg1"/>
        </a:solidFill>
        <a:ln>
          <a:solidFill>
            <a:schemeClr val="tx1"/>
          </a:solidFill>
        </a:ln>
      </dgm:spPr>
      <dgm:t>
        <a:bodyPr/>
        <a:lstStyle/>
        <a:p>
          <a:r>
            <a:rPr lang="en-US" b="1" dirty="0">
              <a:solidFill>
                <a:schemeClr val="bg1">
                  <a:lumMod val="75000"/>
                </a:schemeClr>
              </a:solidFill>
            </a:rPr>
            <a:t>Step 3</a:t>
          </a:r>
        </a:p>
        <a:p>
          <a:r>
            <a:rPr lang="en-US" dirty="0">
              <a:solidFill>
                <a:schemeClr val="bg1">
                  <a:lumMod val="75000"/>
                </a:schemeClr>
              </a:solidFill>
            </a:rPr>
            <a:t>Estimate standard errors using bootstrap or sandwich estimator</a:t>
          </a:r>
        </a:p>
      </dgm:t>
    </dgm:pt>
    <dgm:pt modelId="{DCCF3076-8003-AF45-9A3B-42ACD9D77710}" type="parTrans" cxnId="{C1A8405F-548C-7E41-B7CB-C6EBCDF0C1E4}">
      <dgm:prSet/>
      <dgm:spPr/>
      <dgm:t>
        <a:bodyPr/>
        <a:lstStyle/>
        <a:p>
          <a:endParaRPr lang="en-US"/>
        </a:p>
      </dgm:t>
    </dgm:pt>
    <dgm:pt modelId="{FE2F6C7A-AFF4-2749-9A6E-B334DEC20049}" type="sibTrans" cxnId="{C1A8405F-548C-7E41-B7CB-C6EBCDF0C1E4}">
      <dgm:prSet/>
      <dgm:spPr/>
      <dgm:t>
        <a:bodyPr/>
        <a:lstStyle/>
        <a:p>
          <a:endParaRPr lang="en-US"/>
        </a:p>
      </dgm:t>
    </dgm:pt>
    <dgm:pt modelId="{115718AA-619A-1240-A1F2-FD9BD242BA5F}" type="pres">
      <dgm:prSet presAssocID="{08DDA184-F61C-AB4D-B747-5FDDBE988F4E}" presName="CompostProcess" presStyleCnt="0">
        <dgm:presLayoutVars>
          <dgm:dir/>
          <dgm:resizeHandles val="exact"/>
        </dgm:presLayoutVars>
      </dgm:prSet>
      <dgm:spPr/>
    </dgm:pt>
    <dgm:pt modelId="{04AA8BC3-E610-7549-BDB8-FF12963AA35F}" type="pres">
      <dgm:prSet presAssocID="{08DDA184-F61C-AB4D-B747-5FDDBE988F4E}" presName="arrow" presStyleLbl="bgShp" presStyleIdx="0" presStyleCnt="1"/>
      <dgm:spPr>
        <a:solidFill>
          <a:srgbClr val="FF9300">
            <a:alpha val="33991"/>
          </a:srgbClr>
        </a:solidFill>
      </dgm:spPr>
    </dgm:pt>
    <dgm:pt modelId="{C9DF4332-0394-D242-8FA7-9012C0636874}" type="pres">
      <dgm:prSet presAssocID="{08DDA184-F61C-AB4D-B747-5FDDBE988F4E}" presName="linearProcess" presStyleCnt="0"/>
      <dgm:spPr/>
    </dgm:pt>
    <dgm:pt modelId="{F5117614-8C57-FA42-B6D2-85F0CEB2D848}" type="pres">
      <dgm:prSet presAssocID="{9E8D19AB-1AA4-9646-8737-32E0784DABD7}" presName="textNode" presStyleLbl="node1" presStyleIdx="0" presStyleCnt="3">
        <dgm:presLayoutVars>
          <dgm:bulletEnabled val="1"/>
        </dgm:presLayoutVars>
      </dgm:prSet>
      <dgm:spPr/>
    </dgm:pt>
    <dgm:pt modelId="{32A90F9E-B80A-374B-A6BE-30A2C1A980F4}" type="pres">
      <dgm:prSet presAssocID="{837C1D90-20C6-8647-8DF7-450D05A5A6D5}" presName="sibTrans" presStyleCnt="0"/>
      <dgm:spPr/>
    </dgm:pt>
    <dgm:pt modelId="{5FC15EF7-A71C-1C45-9DE5-2840C96ABD64}" type="pres">
      <dgm:prSet presAssocID="{6FB63087-817E-2A47-ADC8-A7B32B53171B}" presName="textNode" presStyleLbl="node1" presStyleIdx="1" presStyleCnt="3">
        <dgm:presLayoutVars>
          <dgm:bulletEnabled val="1"/>
        </dgm:presLayoutVars>
      </dgm:prSet>
      <dgm:spPr/>
    </dgm:pt>
    <dgm:pt modelId="{27EE2A9A-4058-6E4A-95D3-D9F9A688AF07}" type="pres">
      <dgm:prSet presAssocID="{74A24398-7045-CB4A-B153-610343B68BEC}" presName="sibTrans" presStyleCnt="0"/>
      <dgm:spPr/>
    </dgm:pt>
    <dgm:pt modelId="{D35BDA2C-7F35-CC49-B067-A80FBD1957C0}" type="pres">
      <dgm:prSet presAssocID="{FFCBC91D-FDEC-224E-88E8-4ED21BB8E159}" presName="textNode" presStyleLbl="node1" presStyleIdx="2" presStyleCnt="3">
        <dgm:presLayoutVars>
          <dgm:bulletEnabled val="1"/>
        </dgm:presLayoutVars>
      </dgm:prSet>
      <dgm:spPr/>
    </dgm:pt>
  </dgm:ptLst>
  <dgm:cxnLst>
    <dgm:cxn modelId="{ACAC6E25-3A53-1540-A6FF-334AA2049804}" type="presOf" srcId="{9E8D19AB-1AA4-9646-8737-32E0784DABD7}" destId="{F5117614-8C57-FA42-B6D2-85F0CEB2D848}" srcOrd="0" destOrd="0" presId="urn:microsoft.com/office/officeart/2005/8/layout/hProcess9"/>
    <dgm:cxn modelId="{48477235-16FA-DC4B-A045-D7D27D5FE454}" srcId="{08DDA184-F61C-AB4D-B747-5FDDBE988F4E}" destId="{6FB63087-817E-2A47-ADC8-A7B32B53171B}" srcOrd="1" destOrd="0" parTransId="{C029D5B9-4E59-134E-8E17-FE8E0745FB14}" sibTransId="{74A24398-7045-CB4A-B153-610343B68BEC}"/>
    <dgm:cxn modelId="{3135A94D-DBA7-E048-A2ED-B1148A8FBEF3}" type="presOf" srcId="{08DDA184-F61C-AB4D-B747-5FDDBE988F4E}" destId="{115718AA-619A-1240-A1F2-FD9BD242BA5F}" srcOrd="0" destOrd="0" presId="urn:microsoft.com/office/officeart/2005/8/layout/hProcess9"/>
    <dgm:cxn modelId="{C1A8405F-548C-7E41-B7CB-C6EBCDF0C1E4}" srcId="{08DDA184-F61C-AB4D-B747-5FDDBE988F4E}" destId="{FFCBC91D-FDEC-224E-88E8-4ED21BB8E159}" srcOrd="2" destOrd="0" parTransId="{DCCF3076-8003-AF45-9A3B-42ACD9D77710}" sibTransId="{FE2F6C7A-AFF4-2749-9A6E-B334DEC20049}"/>
    <dgm:cxn modelId="{0B374564-1CEE-674C-AEBE-0BF85D801DD2}" srcId="{08DDA184-F61C-AB4D-B747-5FDDBE988F4E}" destId="{9E8D19AB-1AA4-9646-8737-32E0784DABD7}" srcOrd="0" destOrd="0" parTransId="{519D4CB2-B1E9-C648-A5E0-E8A507133762}" sibTransId="{837C1D90-20C6-8647-8DF7-450D05A5A6D5}"/>
    <dgm:cxn modelId="{FAE74383-C657-B840-BEAD-A22EA9818DE2}" type="presOf" srcId="{FFCBC91D-FDEC-224E-88E8-4ED21BB8E159}" destId="{D35BDA2C-7F35-CC49-B067-A80FBD1957C0}" srcOrd="0" destOrd="0" presId="urn:microsoft.com/office/officeart/2005/8/layout/hProcess9"/>
    <dgm:cxn modelId="{8AE01BFA-FBF6-AE4B-83FB-2C5655B812D2}" type="presOf" srcId="{6FB63087-817E-2A47-ADC8-A7B32B53171B}" destId="{5FC15EF7-A71C-1C45-9DE5-2840C96ABD64}" srcOrd="0" destOrd="0" presId="urn:microsoft.com/office/officeart/2005/8/layout/hProcess9"/>
    <dgm:cxn modelId="{FBC12DFA-517D-2B4A-BC11-3EFA61F06004}" type="presParOf" srcId="{115718AA-619A-1240-A1F2-FD9BD242BA5F}" destId="{04AA8BC3-E610-7549-BDB8-FF12963AA35F}" srcOrd="0" destOrd="0" presId="urn:microsoft.com/office/officeart/2005/8/layout/hProcess9"/>
    <dgm:cxn modelId="{FFC00D92-BCE0-3848-BA15-D08E89AB2011}" type="presParOf" srcId="{115718AA-619A-1240-A1F2-FD9BD242BA5F}" destId="{C9DF4332-0394-D242-8FA7-9012C0636874}" srcOrd="1" destOrd="0" presId="urn:microsoft.com/office/officeart/2005/8/layout/hProcess9"/>
    <dgm:cxn modelId="{F59F95CD-5E6A-1A49-8162-E734AF70683B}" type="presParOf" srcId="{C9DF4332-0394-D242-8FA7-9012C0636874}" destId="{F5117614-8C57-FA42-B6D2-85F0CEB2D848}" srcOrd="0" destOrd="0" presId="urn:microsoft.com/office/officeart/2005/8/layout/hProcess9"/>
    <dgm:cxn modelId="{43B7BE8C-9ADE-984E-A280-05D0FACB40A5}" type="presParOf" srcId="{C9DF4332-0394-D242-8FA7-9012C0636874}" destId="{32A90F9E-B80A-374B-A6BE-30A2C1A980F4}" srcOrd="1" destOrd="0" presId="urn:microsoft.com/office/officeart/2005/8/layout/hProcess9"/>
    <dgm:cxn modelId="{0416FEEB-5822-E14F-B75D-1F53408B4B78}" type="presParOf" srcId="{C9DF4332-0394-D242-8FA7-9012C0636874}" destId="{5FC15EF7-A71C-1C45-9DE5-2840C96ABD64}" srcOrd="2" destOrd="0" presId="urn:microsoft.com/office/officeart/2005/8/layout/hProcess9"/>
    <dgm:cxn modelId="{B27AC57C-E599-724A-961E-7C044A3E77D0}" type="presParOf" srcId="{C9DF4332-0394-D242-8FA7-9012C0636874}" destId="{27EE2A9A-4058-6E4A-95D3-D9F9A688AF07}" srcOrd="3" destOrd="0" presId="urn:microsoft.com/office/officeart/2005/8/layout/hProcess9"/>
    <dgm:cxn modelId="{D3DC6253-FD1A-C347-9683-185CDC982845}" type="presParOf" srcId="{C9DF4332-0394-D242-8FA7-9012C0636874}" destId="{D35BDA2C-7F35-CC49-B067-A80FBD1957C0}"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8DDA184-F61C-AB4D-B747-5FDDBE988F4E}" type="doc">
      <dgm:prSet loTypeId="urn:microsoft.com/office/officeart/2005/8/layout/hProcess9" loCatId="" qsTypeId="urn:microsoft.com/office/officeart/2005/8/quickstyle/simple1" qsCatId="simple" csTypeId="urn:microsoft.com/office/officeart/2005/8/colors/accent1_2" csCatId="accent1" phldr="1"/>
      <dgm:spPr/>
    </dgm:pt>
    <dgm:pt modelId="{9E8D19AB-1AA4-9646-8737-32E0784DABD7}">
      <dgm:prSet phldrT="[Text]"/>
      <dgm:spPr>
        <a:solidFill>
          <a:schemeClr val="bg1"/>
        </a:solidFill>
        <a:ln>
          <a:solidFill>
            <a:schemeClr val="tx1"/>
          </a:solidFill>
        </a:ln>
      </dgm:spPr>
      <dgm:t>
        <a:bodyPr/>
        <a:lstStyle/>
        <a:p>
          <a:r>
            <a:rPr lang="en-US" b="1" dirty="0">
              <a:solidFill>
                <a:schemeClr val="bg1">
                  <a:lumMod val="75000"/>
                </a:schemeClr>
              </a:solidFill>
            </a:rPr>
            <a:t>Step 1</a:t>
          </a:r>
        </a:p>
        <a:p>
          <a:r>
            <a:rPr lang="en-US" dirty="0">
              <a:solidFill>
                <a:schemeClr val="bg1">
                  <a:lumMod val="75000"/>
                </a:schemeClr>
              </a:solidFill>
            </a:rPr>
            <a:t>Estimate the RIF in the unconditional outcome distribution</a:t>
          </a:r>
        </a:p>
      </dgm:t>
    </dgm:pt>
    <dgm:pt modelId="{519D4CB2-B1E9-C648-A5E0-E8A507133762}" type="parTrans" cxnId="{0B374564-1CEE-674C-AEBE-0BF85D801DD2}">
      <dgm:prSet/>
      <dgm:spPr/>
      <dgm:t>
        <a:bodyPr/>
        <a:lstStyle/>
        <a:p>
          <a:endParaRPr lang="en-US"/>
        </a:p>
      </dgm:t>
    </dgm:pt>
    <dgm:pt modelId="{837C1D90-20C6-8647-8DF7-450D05A5A6D5}" type="sibTrans" cxnId="{0B374564-1CEE-674C-AEBE-0BF85D801DD2}">
      <dgm:prSet/>
      <dgm:spPr/>
      <dgm:t>
        <a:bodyPr/>
        <a:lstStyle/>
        <a:p>
          <a:endParaRPr lang="en-US"/>
        </a:p>
      </dgm:t>
    </dgm:pt>
    <dgm:pt modelId="{6FB63087-817E-2A47-ADC8-A7B32B53171B}">
      <dgm:prSet phldrT="[Text]"/>
      <dgm:spPr>
        <a:solidFill>
          <a:schemeClr val="bg1"/>
        </a:solidFill>
        <a:ln>
          <a:solidFill>
            <a:schemeClr val="tx1"/>
          </a:solidFill>
        </a:ln>
      </dgm:spPr>
      <dgm:t>
        <a:bodyPr/>
        <a:lstStyle/>
        <a:p>
          <a:r>
            <a:rPr lang="en-US" b="1" dirty="0">
              <a:solidFill>
                <a:schemeClr val="bg1">
                  <a:lumMod val="75000"/>
                </a:schemeClr>
              </a:solidFill>
            </a:rPr>
            <a:t>Step 2</a:t>
          </a:r>
        </a:p>
        <a:p>
          <a:r>
            <a:rPr lang="en-US" dirty="0">
              <a:solidFill>
                <a:schemeClr val="bg1">
                  <a:lumMod val="75000"/>
                </a:schemeClr>
              </a:solidFill>
            </a:rPr>
            <a:t>Regress RIF on exposure + covariates</a:t>
          </a:r>
        </a:p>
      </dgm:t>
    </dgm:pt>
    <dgm:pt modelId="{C029D5B9-4E59-134E-8E17-FE8E0745FB14}" type="parTrans" cxnId="{48477235-16FA-DC4B-A045-D7D27D5FE454}">
      <dgm:prSet/>
      <dgm:spPr/>
      <dgm:t>
        <a:bodyPr/>
        <a:lstStyle/>
        <a:p>
          <a:endParaRPr lang="en-US"/>
        </a:p>
      </dgm:t>
    </dgm:pt>
    <dgm:pt modelId="{74A24398-7045-CB4A-B153-610343B68BEC}" type="sibTrans" cxnId="{48477235-16FA-DC4B-A045-D7D27D5FE454}">
      <dgm:prSet/>
      <dgm:spPr/>
      <dgm:t>
        <a:bodyPr/>
        <a:lstStyle/>
        <a:p>
          <a:endParaRPr lang="en-US"/>
        </a:p>
      </dgm:t>
    </dgm:pt>
    <dgm:pt modelId="{FFCBC91D-FDEC-224E-88E8-4ED21BB8E159}">
      <dgm:prSet phldrT="[Text]"/>
      <dgm:spPr>
        <a:solidFill>
          <a:schemeClr val="bg1"/>
        </a:solidFill>
        <a:ln>
          <a:solidFill>
            <a:schemeClr val="tx1"/>
          </a:solidFill>
        </a:ln>
      </dgm:spPr>
      <dgm:t>
        <a:bodyPr/>
        <a:lstStyle/>
        <a:p>
          <a:r>
            <a:rPr lang="en-US" b="1" dirty="0">
              <a:solidFill>
                <a:srgbClr val="468C8A"/>
              </a:solidFill>
            </a:rPr>
            <a:t>Step 3</a:t>
          </a:r>
        </a:p>
        <a:p>
          <a:r>
            <a:rPr lang="en-US" dirty="0">
              <a:solidFill>
                <a:schemeClr val="tx1"/>
              </a:solidFill>
            </a:rPr>
            <a:t>Estimate standard errors using bootstrap or sandwich estimator</a:t>
          </a:r>
        </a:p>
      </dgm:t>
    </dgm:pt>
    <dgm:pt modelId="{DCCF3076-8003-AF45-9A3B-42ACD9D77710}" type="parTrans" cxnId="{C1A8405F-548C-7E41-B7CB-C6EBCDF0C1E4}">
      <dgm:prSet/>
      <dgm:spPr/>
      <dgm:t>
        <a:bodyPr/>
        <a:lstStyle/>
        <a:p>
          <a:endParaRPr lang="en-US"/>
        </a:p>
      </dgm:t>
    </dgm:pt>
    <dgm:pt modelId="{FE2F6C7A-AFF4-2749-9A6E-B334DEC20049}" type="sibTrans" cxnId="{C1A8405F-548C-7E41-B7CB-C6EBCDF0C1E4}">
      <dgm:prSet/>
      <dgm:spPr/>
      <dgm:t>
        <a:bodyPr/>
        <a:lstStyle/>
        <a:p>
          <a:endParaRPr lang="en-US"/>
        </a:p>
      </dgm:t>
    </dgm:pt>
    <dgm:pt modelId="{115718AA-619A-1240-A1F2-FD9BD242BA5F}" type="pres">
      <dgm:prSet presAssocID="{08DDA184-F61C-AB4D-B747-5FDDBE988F4E}" presName="CompostProcess" presStyleCnt="0">
        <dgm:presLayoutVars>
          <dgm:dir/>
          <dgm:resizeHandles val="exact"/>
        </dgm:presLayoutVars>
      </dgm:prSet>
      <dgm:spPr/>
    </dgm:pt>
    <dgm:pt modelId="{04AA8BC3-E610-7549-BDB8-FF12963AA35F}" type="pres">
      <dgm:prSet presAssocID="{08DDA184-F61C-AB4D-B747-5FDDBE988F4E}" presName="arrow" presStyleLbl="bgShp" presStyleIdx="0" presStyleCnt="1"/>
      <dgm:spPr>
        <a:solidFill>
          <a:srgbClr val="FF9300">
            <a:alpha val="33991"/>
          </a:srgbClr>
        </a:solidFill>
      </dgm:spPr>
    </dgm:pt>
    <dgm:pt modelId="{C9DF4332-0394-D242-8FA7-9012C0636874}" type="pres">
      <dgm:prSet presAssocID="{08DDA184-F61C-AB4D-B747-5FDDBE988F4E}" presName="linearProcess" presStyleCnt="0"/>
      <dgm:spPr/>
    </dgm:pt>
    <dgm:pt modelId="{F5117614-8C57-FA42-B6D2-85F0CEB2D848}" type="pres">
      <dgm:prSet presAssocID="{9E8D19AB-1AA4-9646-8737-32E0784DABD7}" presName="textNode" presStyleLbl="node1" presStyleIdx="0" presStyleCnt="3">
        <dgm:presLayoutVars>
          <dgm:bulletEnabled val="1"/>
        </dgm:presLayoutVars>
      </dgm:prSet>
      <dgm:spPr/>
    </dgm:pt>
    <dgm:pt modelId="{32A90F9E-B80A-374B-A6BE-30A2C1A980F4}" type="pres">
      <dgm:prSet presAssocID="{837C1D90-20C6-8647-8DF7-450D05A5A6D5}" presName="sibTrans" presStyleCnt="0"/>
      <dgm:spPr/>
    </dgm:pt>
    <dgm:pt modelId="{5FC15EF7-A71C-1C45-9DE5-2840C96ABD64}" type="pres">
      <dgm:prSet presAssocID="{6FB63087-817E-2A47-ADC8-A7B32B53171B}" presName="textNode" presStyleLbl="node1" presStyleIdx="1" presStyleCnt="3">
        <dgm:presLayoutVars>
          <dgm:bulletEnabled val="1"/>
        </dgm:presLayoutVars>
      </dgm:prSet>
      <dgm:spPr/>
    </dgm:pt>
    <dgm:pt modelId="{27EE2A9A-4058-6E4A-95D3-D9F9A688AF07}" type="pres">
      <dgm:prSet presAssocID="{74A24398-7045-CB4A-B153-610343B68BEC}" presName="sibTrans" presStyleCnt="0"/>
      <dgm:spPr/>
    </dgm:pt>
    <dgm:pt modelId="{D35BDA2C-7F35-CC49-B067-A80FBD1957C0}" type="pres">
      <dgm:prSet presAssocID="{FFCBC91D-FDEC-224E-88E8-4ED21BB8E159}" presName="textNode" presStyleLbl="node1" presStyleIdx="2" presStyleCnt="3">
        <dgm:presLayoutVars>
          <dgm:bulletEnabled val="1"/>
        </dgm:presLayoutVars>
      </dgm:prSet>
      <dgm:spPr/>
    </dgm:pt>
  </dgm:ptLst>
  <dgm:cxnLst>
    <dgm:cxn modelId="{ACAC6E25-3A53-1540-A6FF-334AA2049804}" type="presOf" srcId="{9E8D19AB-1AA4-9646-8737-32E0784DABD7}" destId="{F5117614-8C57-FA42-B6D2-85F0CEB2D848}" srcOrd="0" destOrd="0" presId="urn:microsoft.com/office/officeart/2005/8/layout/hProcess9"/>
    <dgm:cxn modelId="{48477235-16FA-DC4B-A045-D7D27D5FE454}" srcId="{08DDA184-F61C-AB4D-B747-5FDDBE988F4E}" destId="{6FB63087-817E-2A47-ADC8-A7B32B53171B}" srcOrd="1" destOrd="0" parTransId="{C029D5B9-4E59-134E-8E17-FE8E0745FB14}" sibTransId="{74A24398-7045-CB4A-B153-610343B68BEC}"/>
    <dgm:cxn modelId="{3135A94D-DBA7-E048-A2ED-B1148A8FBEF3}" type="presOf" srcId="{08DDA184-F61C-AB4D-B747-5FDDBE988F4E}" destId="{115718AA-619A-1240-A1F2-FD9BD242BA5F}" srcOrd="0" destOrd="0" presId="urn:microsoft.com/office/officeart/2005/8/layout/hProcess9"/>
    <dgm:cxn modelId="{C1A8405F-548C-7E41-B7CB-C6EBCDF0C1E4}" srcId="{08DDA184-F61C-AB4D-B747-5FDDBE988F4E}" destId="{FFCBC91D-FDEC-224E-88E8-4ED21BB8E159}" srcOrd="2" destOrd="0" parTransId="{DCCF3076-8003-AF45-9A3B-42ACD9D77710}" sibTransId="{FE2F6C7A-AFF4-2749-9A6E-B334DEC20049}"/>
    <dgm:cxn modelId="{0B374564-1CEE-674C-AEBE-0BF85D801DD2}" srcId="{08DDA184-F61C-AB4D-B747-5FDDBE988F4E}" destId="{9E8D19AB-1AA4-9646-8737-32E0784DABD7}" srcOrd="0" destOrd="0" parTransId="{519D4CB2-B1E9-C648-A5E0-E8A507133762}" sibTransId="{837C1D90-20C6-8647-8DF7-450D05A5A6D5}"/>
    <dgm:cxn modelId="{FAE74383-C657-B840-BEAD-A22EA9818DE2}" type="presOf" srcId="{FFCBC91D-FDEC-224E-88E8-4ED21BB8E159}" destId="{D35BDA2C-7F35-CC49-B067-A80FBD1957C0}" srcOrd="0" destOrd="0" presId="urn:microsoft.com/office/officeart/2005/8/layout/hProcess9"/>
    <dgm:cxn modelId="{8AE01BFA-FBF6-AE4B-83FB-2C5655B812D2}" type="presOf" srcId="{6FB63087-817E-2A47-ADC8-A7B32B53171B}" destId="{5FC15EF7-A71C-1C45-9DE5-2840C96ABD64}" srcOrd="0" destOrd="0" presId="urn:microsoft.com/office/officeart/2005/8/layout/hProcess9"/>
    <dgm:cxn modelId="{FBC12DFA-517D-2B4A-BC11-3EFA61F06004}" type="presParOf" srcId="{115718AA-619A-1240-A1F2-FD9BD242BA5F}" destId="{04AA8BC3-E610-7549-BDB8-FF12963AA35F}" srcOrd="0" destOrd="0" presId="urn:microsoft.com/office/officeart/2005/8/layout/hProcess9"/>
    <dgm:cxn modelId="{FFC00D92-BCE0-3848-BA15-D08E89AB2011}" type="presParOf" srcId="{115718AA-619A-1240-A1F2-FD9BD242BA5F}" destId="{C9DF4332-0394-D242-8FA7-9012C0636874}" srcOrd="1" destOrd="0" presId="urn:microsoft.com/office/officeart/2005/8/layout/hProcess9"/>
    <dgm:cxn modelId="{F59F95CD-5E6A-1A49-8162-E734AF70683B}" type="presParOf" srcId="{C9DF4332-0394-D242-8FA7-9012C0636874}" destId="{F5117614-8C57-FA42-B6D2-85F0CEB2D848}" srcOrd="0" destOrd="0" presId="urn:microsoft.com/office/officeart/2005/8/layout/hProcess9"/>
    <dgm:cxn modelId="{43B7BE8C-9ADE-984E-A280-05D0FACB40A5}" type="presParOf" srcId="{C9DF4332-0394-D242-8FA7-9012C0636874}" destId="{32A90F9E-B80A-374B-A6BE-30A2C1A980F4}" srcOrd="1" destOrd="0" presId="urn:microsoft.com/office/officeart/2005/8/layout/hProcess9"/>
    <dgm:cxn modelId="{0416FEEB-5822-E14F-B75D-1F53408B4B78}" type="presParOf" srcId="{C9DF4332-0394-D242-8FA7-9012C0636874}" destId="{5FC15EF7-A71C-1C45-9DE5-2840C96ABD64}" srcOrd="2" destOrd="0" presId="urn:microsoft.com/office/officeart/2005/8/layout/hProcess9"/>
    <dgm:cxn modelId="{B27AC57C-E599-724A-961E-7C044A3E77D0}" type="presParOf" srcId="{C9DF4332-0394-D242-8FA7-9012C0636874}" destId="{27EE2A9A-4058-6E4A-95D3-D9F9A688AF07}" srcOrd="3" destOrd="0" presId="urn:microsoft.com/office/officeart/2005/8/layout/hProcess9"/>
    <dgm:cxn modelId="{D3DC6253-FD1A-C347-9683-185CDC982845}" type="presParOf" srcId="{C9DF4332-0394-D242-8FA7-9012C0636874}" destId="{D35BDA2C-7F35-CC49-B067-A80FBD1957C0}"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AA8BC3-E610-7549-BDB8-FF12963AA35F}">
      <dsp:nvSpPr>
        <dsp:cNvPr id="0" name=""/>
        <dsp:cNvSpPr/>
      </dsp:nvSpPr>
      <dsp:spPr>
        <a:xfrm>
          <a:off x="720366" y="0"/>
          <a:ext cx="8164155" cy="5985185"/>
        </a:xfrm>
        <a:prstGeom prst="rightArrow">
          <a:avLst/>
        </a:prstGeom>
        <a:solidFill>
          <a:srgbClr val="FF9300">
            <a:alpha val="33991"/>
          </a:srgbClr>
        </a:solidFill>
        <a:ln>
          <a:noFill/>
        </a:ln>
        <a:effectLst/>
      </dsp:spPr>
      <dsp:style>
        <a:lnRef idx="0">
          <a:scrgbClr r="0" g="0" b="0"/>
        </a:lnRef>
        <a:fillRef idx="1">
          <a:scrgbClr r="0" g="0" b="0"/>
        </a:fillRef>
        <a:effectRef idx="0">
          <a:scrgbClr r="0" g="0" b="0"/>
        </a:effectRef>
        <a:fontRef idx="minor"/>
      </dsp:style>
    </dsp:sp>
    <dsp:sp modelId="{F5117614-8C57-FA42-B6D2-85F0CEB2D848}">
      <dsp:nvSpPr>
        <dsp:cNvPr id="0" name=""/>
        <dsp:cNvSpPr/>
      </dsp:nvSpPr>
      <dsp:spPr>
        <a:xfrm>
          <a:off x="10317" y="1795555"/>
          <a:ext cx="3091573" cy="2394074"/>
        </a:xfrm>
        <a:prstGeom prst="roundRect">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rgbClr val="468C8A"/>
              </a:solidFill>
            </a:rPr>
            <a:t>Step 1</a:t>
          </a:r>
        </a:p>
        <a:p>
          <a:pPr marL="0" lvl="0" indent="0" algn="ctr" defTabSz="1066800">
            <a:lnSpc>
              <a:spcPct val="90000"/>
            </a:lnSpc>
            <a:spcBef>
              <a:spcPct val="0"/>
            </a:spcBef>
            <a:spcAft>
              <a:spcPct val="35000"/>
            </a:spcAft>
            <a:buNone/>
          </a:pPr>
          <a:r>
            <a:rPr lang="en-US" sz="2400" kern="1200" dirty="0">
              <a:solidFill>
                <a:schemeClr val="tx1"/>
              </a:solidFill>
            </a:rPr>
            <a:t>Estimate the RIF in the unconditional outcome distribution</a:t>
          </a:r>
        </a:p>
      </dsp:txBody>
      <dsp:txXfrm>
        <a:off x="127186" y="1912424"/>
        <a:ext cx="2857835" cy="2160336"/>
      </dsp:txXfrm>
    </dsp:sp>
    <dsp:sp modelId="{5FC15EF7-A71C-1C45-9DE5-2840C96ABD64}">
      <dsp:nvSpPr>
        <dsp:cNvPr id="0" name=""/>
        <dsp:cNvSpPr/>
      </dsp:nvSpPr>
      <dsp:spPr>
        <a:xfrm>
          <a:off x="3256657" y="1795555"/>
          <a:ext cx="3091573" cy="2394074"/>
        </a:xfrm>
        <a:prstGeom prst="roundRect">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rgbClr val="468C8A"/>
              </a:solidFill>
            </a:rPr>
            <a:t>Step 2</a:t>
          </a:r>
        </a:p>
        <a:p>
          <a:pPr marL="0" lvl="0" indent="0" algn="ctr" defTabSz="1066800">
            <a:lnSpc>
              <a:spcPct val="90000"/>
            </a:lnSpc>
            <a:spcBef>
              <a:spcPct val="0"/>
            </a:spcBef>
            <a:spcAft>
              <a:spcPct val="35000"/>
            </a:spcAft>
            <a:buNone/>
          </a:pPr>
          <a:r>
            <a:rPr lang="en-US" sz="2400" kern="1200" dirty="0">
              <a:solidFill>
                <a:schemeClr val="tx1"/>
              </a:solidFill>
            </a:rPr>
            <a:t>Regress RIF on exposure + covariates</a:t>
          </a:r>
        </a:p>
      </dsp:txBody>
      <dsp:txXfrm>
        <a:off x="3373526" y="1912424"/>
        <a:ext cx="2857835" cy="2160336"/>
      </dsp:txXfrm>
    </dsp:sp>
    <dsp:sp modelId="{D35BDA2C-7F35-CC49-B067-A80FBD1957C0}">
      <dsp:nvSpPr>
        <dsp:cNvPr id="0" name=""/>
        <dsp:cNvSpPr/>
      </dsp:nvSpPr>
      <dsp:spPr>
        <a:xfrm>
          <a:off x="6502997" y="1795555"/>
          <a:ext cx="3091573" cy="2394074"/>
        </a:xfrm>
        <a:prstGeom prst="roundRect">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rgbClr val="468C8A"/>
              </a:solidFill>
            </a:rPr>
            <a:t>Step 3</a:t>
          </a:r>
        </a:p>
        <a:p>
          <a:pPr marL="0" lvl="0" indent="0" algn="ctr" defTabSz="1066800">
            <a:lnSpc>
              <a:spcPct val="90000"/>
            </a:lnSpc>
            <a:spcBef>
              <a:spcPct val="0"/>
            </a:spcBef>
            <a:spcAft>
              <a:spcPct val="35000"/>
            </a:spcAft>
            <a:buNone/>
          </a:pPr>
          <a:r>
            <a:rPr lang="en-US" sz="2400" kern="1200" dirty="0">
              <a:solidFill>
                <a:schemeClr val="tx1"/>
              </a:solidFill>
            </a:rPr>
            <a:t>Estimate standard errors using bootstrap or sandwich estimator</a:t>
          </a:r>
        </a:p>
      </dsp:txBody>
      <dsp:txXfrm>
        <a:off x="6619866" y="1912424"/>
        <a:ext cx="2857835" cy="21603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AA8BC3-E610-7549-BDB8-FF12963AA35F}">
      <dsp:nvSpPr>
        <dsp:cNvPr id="0" name=""/>
        <dsp:cNvSpPr/>
      </dsp:nvSpPr>
      <dsp:spPr>
        <a:xfrm>
          <a:off x="720366" y="0"/>
          <a:ext cx="8164155" cy="5985185"/>
        </a:xfrm>
        <a:prstGeom prst="rightArrow">
          <a:avLst/>
        </a:prstGeom>
        <a:solidFill>
          <a:srgbClr val="FF9300">
            <a:alpha val="33991"/>
          </a:srgbClr>
        </a:solidFill>
        <a:ln>
          <a:noFill/>
        </a:ln>
        <a:effectLst/>
      </dsp:spPr>
      <dsp:style>
        <a:lnRef idx="0">
          <a:scrgbClr r="0" g="0" b="0"/>
        </a:lnRef>
        <a:fillRef idx="1">
          <a:scrgbClr r="0" g="0" b="0"/>
        </a:fillRef>
        <a:effectRef idx="0">
          <a:scrgbClr r="0" g="0" b="0"/>
        </a:effectRef>
        <a:fontRef idx="minor"/>
      </dsp:style>
    </dsp:sp>
    <dsp:sp modelId="{F5117614-8C57-FA42-B6D2-85F0CEB2D848}">
      <dsp:nvSpPr>
        <dsp:cNvPr id="0" name=""/>
        <dsp:cNvSpPr/>
      </dsp:nvSpPr>
      <dsp:spPr>
        <a:xfrm>
          <a:off x="10317" y="1795555"/>
          <a:ext cx="3091573" cy="2394074"/>
        </a:xfrm>
        <a:prstGeom prst="roundRect">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rgbClr val="468C8A"/>
              </a:solidFill>
            </a:rPr>
            <a:t>Step 1</a:t>
          </a:r>
        </a:p>
        <a:p>
          <a:pPr marL="0" lvl="0" indent="0" algn="ctr" defTabSz="1066800">
            <a:lnSpc>
              <a:spcPct val="90000"/>
            </a:lnSpc>
            <a:spcBef>
              <a:spcPct val="0"/>
            </a:spcBef>
            <a:spcAft>
              <a:spcPct val="35000"/>
            </a:spcAft>
            <a:buNone/>
          </a:pPr>
          <a:r>
            <a:rPr lang="en-US" sz="2400" kern="1200" dirty="0">
              <a:solidFill>
                <a:schemeClr val="tx1"/>
              </a:solidFill>
            </a:rPr>
            <a:t>Estimate the RIF in the unconditional outcome distribution</a:t>
          </a:r>
        </a:p>
      </dsp:txBody>
      <dsp:txXfrm>
        <a:off x="127186" y="1912424"/>
        <a:ext cx="2857835" cy="2160336"/>
      </dsp:txXfrm>
    </dsp:sp>
    <dsp:sp modelId="{5FC15EF7-A71C-1C45-9DE5-2840C96ABD64}">
      <dsp:nvSpPr>
        <dsp:cNvPr id="0" name=""/>
        <dsp:cNvSpPr/>
      </dsp:nvSpPr>
      <dsp:spPr>
        <a:xfrm>
          <a:off x="3256657" y="1795555"/>
          <a:ext cx="3091573" cy="2394074"/>
        </a:xfrm>
        <a:prstGeom prst="roundRect">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bg1">
                  <a:lumMod val="75000"/>
                </a:schemeClr>
              </a:solidFill>
            </a:rPr>
            <a:t>Step 2</a:t>
          </a:r>
        </a:p>
        <a:p>
          <a:pPr marL="0" lvl="0" indent="0" algn="ctr" defTabSz="1066800">
            <a:lnSpc>
              <a:spcPct val="90000"/>
            </a:lnSpc>
            <a:spcBef>
              <a:spcPct val="0"/>
            </a:spcBef>
            <a:spcAft>
              <a:spcPct val="35000"/>
            </a:spcAft>
            <a:buNone/>
          </a:pPr>
          <a:r>
            <a:rPr lang="en-US" sz="2400" kern="1200" dirty="0">
              <a:solidFill>
                <a:schemeClr val="bg1">
                  <a:lumMod val="75000"/>
                </a:schemeClr>
              </a:solidFill>
            </a:rPr>
            <a:t>Regress RIF on exposure + covariates</a:t>
          </a:r>
        </a:p>
      </dsp:txBody>
      <dsp:txXfrm>
        <a:off x="3373526" y="1912424"/>
        <a:ext cx="2857835" cy="2160336"/>
      </dsp:txXfrm>
    </dsp:sp>
    <dsp:sp modelId="{D35BDA2C-7F35-CC49-B067-A80FBD1957C0}">
      <dsp:nvSpPr>
        <dsp:cNvPr id="0" name=""/>
        <dsp:cNvSpPr/>
      </dsp:nvSpPr>
      <dsp:spPr>
        <a:xfrm>
          <a:off x="6502997" y="1795555"/>
          <a:ext cx="3091573" cy="2394074"/>
        </a:xfrm>
        <a:prstGeom prst="roundRect">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bg1">
                  <a:lumMod val="75000"/>
                </a:schemeClr>
              </a:solidFill>
            </a:rPr>
            <a:t>Step 3</a:t>
          </a:r>
        </a:p>
        <a:p>
          <a:pPr marL="0" lvl="0" indent="0" algn="ctr" defTabSz="1066800">
            <a:lnSpc>
              <a:spcPct val="90000"/>
            </a:lnSpc>
            <a:spcBef>
              <a:spcPct val="0"/>
            </a:spcBef>
            <a:spcAft>
              <a:spcPct val="35000"/>
            </a:spcAft>
            <a:buNone/>
          </a:pPr>
          <a:r>
            <a:rPr lang="en-US" sz="2400" kern="1200" dirty="0">
              <a:solidFill>
                <a:schemeClr val="bg1">
                  <a:lumMod val="75000"/>
                </a:schemeClr>
              </a:solidFill>
            </a:rPr>
            <a:t>Estimate standard errors using bootstrap or sandwich estimator</a:t>
          </a:r>
        </a:p>
      </dsp:txBody>
      <dsp:txXfrm>
        <a:off x="6619866" y="1912424"/>
        <a:ext cx="2857835" cy="216033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AA8BC3-E610-7549-BDB8-FF12963AA35F}">
      <dsp:nvSpPr>
        <dsp:cNvPr id="0" name=""/>
        <dsp:cNvSpPr/>
      </dsp:nvSpPr>
      <dsp:spPr>
        <a:xfrm>
          <a:off x="720366" y="0"/>
          <a:ext cx="8164155" cy="5985185"/>
        </a:xfrm>
        <a:prstGeom prst="rightArrow">
          <a:avLst/>
        </a:prstGeom>
        <a:solidFill>
          <a:srgbClr val="FF9300">
            <a:alpha val="33991"/>
          </a:srgbClr>
        </a:solidFill>
        <a:ln>
          <a:noFill/>
        </a:ln>
        <a:effectLst/>
      </dsp:spPr>
      <dsp:style>
        <a:lnRef idx="0">
          <a:scrgbClr r="0" g="0" b="0"/>
        </a:lnRef>
        <a:fillRef idx="1">
          <a:scrgbClr r="0" g="0" b="0"/>
        </a:fillRef>
        <a:effectRef idx="0">
          <a:scrgbClr r="0" g="0" b="0"/>
        </a:effectRef>
        <a:fontRef idx="minor"/>
      </dsp:style>
    </dsp:sp>
    <dsp:sp modelId="{F5117614-8C57-FA42-B6D2-85F0CEB2D848}">
      <dsp:nvSpPr>
        <dsp:cNvPr id="0" name=""/>
        <dsp:cNvSpPr/>
      </dsp:nvSpPr>
      <dsp:spPr>
        <a:xfrm>
          <a:off x="10317" y="1795555"/>
          <a:ext cx="3091573" cy="2394074"/>
        </a:xfrm>
        <a:prstGeom prst="roundRect">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bg1">
                  <a:lumMod val="75000"/>
                </a:schemeClr>
              </a:solidFill>
            </a:rPr>
            <a:t>Step 1</a:t>
          </a:r>
        </a:p>
        <a:p>
          <a:pPr marL="0" lvl="0" indent="0" algn="ctr" defTabSz="1066800">
            <a:lnSpc>
              <a:spcPct val="90000"/>
            </a:lnSpc>
            <a:spcBef>
              <a:spcPct val="0"/>
            </a:spcBef>
            <a:spcAft>
              <a:spcPct val="35000"/>
            </a:spcAft>
            <a:buNone/>
          </a:pPr>
          <a:r>
            <a:rPr lang="en-US" sz="2400" kern="1200" dirty="0">
              <a:solidFill>
                <a:schemeClr val="bg1">
                  <a:lumMod val="75000"/>
                </a:schemeClr>
              </a:solidFill>
            </a:rPr>
            <a:t>Estimate the RIF in the unconditional outcome distribution</a:t>
          </a:r>
        </a:p>
      </dsp:txBody>
      <dsp:txXfrm>
        <a:off x="127186" y="1912424"/>
        <a:ext cx="2857835" cy="2160336"/>
      </dsp:txXfrm>
    </dsp:sp>
    <dsp:sp modelId="{5FC15EF7-A71C-1C45-9DE5-2840C96ABD64}">
      <dsp:nvSpPr>
        <dsp:cNvPr id="0" name=""/>
        <dsp:cNvSpPr/>
      </dsp:nvSpPr>
      <dsp:spPr>
        <a:xfrm>
          <a:off x="3256657" y="1795555"/>
          <a:ext cx="3091573" cy="2394074"/>
        </a:xfrm>
        <a:prstGeom prst="roundRect">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rgbClr val="468C8A"/>
              </a:solidFill>
            </a:rPr>
            <a:t>Step 2</a:t>
          </a:r>
        </a:p>
        <a:p>
          <a:pPr marL="0" lvl="0" indent="0" algn="ctr" defTabSz="1066800">
            <a:lnSpc>
              <a:spcPct val="90000"/>
            </a:lnSpc>
            <a:spcBef>
              <a:spcPct val="0"/>
            </a:spcBef>
            <a:spcAft>
              <a:spcPct val="35000"/>
            </a:spcAft>
            <a:buNone/>
          </a:pPr>
          <a:r>
            <a:rPr lang="en-US" sz="2400" kern="1200" dirty="0">
              <a:solidFill>
                <a:schemeClr val="tx1"/>
              </a:solidFill>
            </a:rPr>
            <a:t>Regress RIF on exposure + covariates</a:t>
          </a:r>
        </a:p>
      </dsp:txBody>
      <dsp:txXfrm>
        <a:off x="3373526" y="1912424"/>
        <a:ext cx="2857835" cy="2160336"/>
      </dsp:txXfrm>
    </dsp:sp>
    <dsp:sp modelId="{D35BDA2C-7F35-CC49-B067-A80FBD1957C0}">
      <dsp:nvSpPr>
        <dsp:cNvPr id="0" name=""/>
        <dsp:cNvSpPr/>
      </dsp:nvSpPr>
      <dsp:spPr>
        <a:xfrm>
          <a:off x="6502997" y="1795555"/>
          <a:ext cx="3091573" cy="2394074"/>
        </a:xfrm>
        <a:prstGeom prst="roundRect">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bg1">
                  <a:lumMod val="75000"/>
                </a:schemeClr>
              </a:solidFill>
            </a:rPr>
            <a:t>Step 3</a:t>
          </a:r>
        </a:p>
        <a:p>
          <a:pPr marL="0" lvl="0" indent="0" algn="ctr" defTabSz="1066800">
            <a:lnSpc>
              <a:spcPct val="90000"/>
            </a:lnSpc>
            <a:spcBef>
              <a:spcPct val="0"/>
            </a:spcBef>
            <a:spcAft>
              <a:spcPct val="35000"/>
            </a:spcAft>
            <a:buNone/>
          </a:pPr>
          <a:r>
            <a:rPr lang="en-US" sz="2400" kern="1200" dirty="0">
              <a:solidFill>
                <a:schemeClr val="bg1">
                  <a:lumMod val="75000"/>
                </a:schemeClr>
              </a:solidFill>
            </a:rPr>
            <a:t>Estimate standard errors using bootstrap or sandwich estimator</a:t>
          </a:r>
        </a:p>
      </dsp:txBody>
      <dsp:txXfrm>
        <a:off x="6619866" y="1912424"/>
        <a:ext cx="2857835" cy="216033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AA8BC3-E610-7549-BDB8-FF12963AA35F}">
      <dsp:nvSpPr>
        <dsp:cNvPr id="0" name=""/>
        <dsp:cNvSpPr/>
      </dsp:nvSpPr>
      <dsp:spPr>
        <a:xfrm>
          <a:off x="720366" y="0"/>
          <a:ext cx="8164155" cy="5985185"/>
        </a:xfrm>
        <a:prstGeom prst="rightArrow">
          <a:avLst/>
        </a:prstGeom>
        <a:solidFill>
          <a:srgbClr val="FF9300">
            <a:alpha val="33991"/>
          </a:srgbClr>
        </a:solidFill>
        <a:ln>
          <a:noFill/>
        </a:ln>
        <a:effectLst/>
      </dsp:spPr>
      <dsp:style>
        <a:lnRef idx="0">
          <a:scrgbClr r="0" g="0" b="0"/>
        </a:lnRef>
        <a:fillRef idx="1">
          <a:scrgbClr r="0" g="0" b="0"/>
        </a:fillRef>
        <a:effectRef idx="0">
          <a:scrgbClr r="0" g="0" b="0"/>
        </a:effectRef>
        <a:fontRef idx="minor"/>
      </dsp:style>
    </dsp:sp>
    <dsp:sp modelId="{F5117614-8C57-FA42-B6D2-85F0CEB2D848}">
      <dsp:nvSpPr>
        <dsp:cNvPr id="0" name=""/>
        <dsp:cNvSpPr/>
      </dsp:nvSpPr>
      <dsp:spPr>
        <a:xfrm>
          <a:off x="10317" y="1795555"/>
          <a:ext cx="3091573" cy="2394074"/>
        </a:xfrm>
        <a:prstGeom prst="roundRect">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bg1">
                  <a:lumMod val="75000"/>
                </a:schemeClr>
              </a:solidFill>
            </a:rPr>
            <a:t>Step 1</a:t>
          </a:r>
        </a:p>
        <a:p>
          <a:pPr marL="0" lvl="0" indent="0" algn="ctr" defTabSz="1066800">
            <a:lnSpc>
              <a:spcPct val="90000"/>
            </a:lnSpc>
            <a:spcBef>
              <a:spcPct val="0"/>
            </a:spcBef>
            <a:spcAft>
              <a:spcPct val="35000"/>
            </a:spcAft>
            <a:buNone/>
          </a:pPr>
          <a:r>
            <a:rPr lang="en-US" sz="2400" kern="1200" dirty="0">
              <a:solidFill>
                <a:schemeClr val="bg1">
                  <a:lumMod val="75000"/>
                </a:schemeClr>
              </a:solidFill>
            </a:rPr>
            <a:t>Estimate the RIF in the unconditional outcome distribution</a:t>
          </a:r>
        </a:p>
      </dsp:txBody>
      <dsp:txXfrm>
        <a:off x="127186" y="1912424"/>
        <a:ext cx="2857835" cy="2160336"/>
      </dsp:txXfrm>
    </dsp:sp>
    <dsp:sp modelId="{5FC15EF7-A71C-1C45-9DE5-2840C96ABD64}">
      <dsp:nvSpPr>
        <dsp:cNvPr id="0" name=""/>
        <dsp:cNvSpPr/>
      </dsp:nvSpPr>
      <dsp:spPr>
        <a:xfrm>
          <a:off x="3256657" y="1795555"/>
          <a:ext cx="3091573" cy="2394074"/>
        </a:xfrm>
        <a:prstGeom prst="roundRect">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bg1">
                  <a:lumMod val="75000"/>
                </a:schemeClr>
              </a:solidFill>
            </a:rPr>
            <a:t>Step 2</a:t>
          </a:r>
        </a:p>
        <a:p>
          <a:pPr marL="0" lvl="0" indent="0" algn="ctr" defTabSz="1066800">
            <a:lnSpc>
              <a:spcPct val="90000"/>
            </a:lnSpc>
            <a:spcBef>
              <a:spcPct val="0"/>
            </a:spcBef>
            <a:spcAft>
              <a:spcPct val="35000"/>
            </a:spcAft>
            <a:buNone/>
          </a:pPr>
          <a:r>
            <a:rPr lang="en-US" sz="2400" kern="1200" dirty="0">
              <a:solidFill>
                <a:schemeClr val="bg1">
                  <a:lumMod val="75000"/>
                </a:schemeClr>
              </a:solidFill>
            </a:rPr>
            <a:t>Regress RIF on exposure + covariates</a:t>
          </a:r>
        </a:p>
      </dsp:txBody>
      <dsp:txXfrm>
        <a:off x="3373526" y="1912424"/>
        <a:ext cx="2857835" cy="2160336"/>
      </dsp:txXfrm>
    </dsp:sp>
    <dsp:sp modelId="{D35BDA2C-7F35-CC49-B067-A80FBD1957C0}">
      <dsp:nvSpPr>
        <dsp:cNvPr id="0" name=""/>
        <dsp:cNvSpPr/>
      </dsp:nvSpPr>
      <dsp:spPr>
        <a:xfrm>
          <a:off x="6502997" y="1795555"/>
          <a:ext cx="3091573" cy="2394074"/>
        </a:xfrm>
        <a:prstGeom prst="roundRect">
          <a:avLst/>
        </a:prstGeom>
        <a:solidFill>
          <a:schemeClr val="bg1"/>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rgbClr val="468C8A"/>
              </a:solidFill>
            </a:rPr>
            <a:t>Step 3</a:t>
          </a:r>
        </a:p>
        <a:p>
          <a:pPr marL="0" lvl="0" indent="0" algn="ctr" defTabSz="1066800">
            <a:lnSpc>
              <a:spcPct val="90000"/>
            </a:lnSpc>
            <a:spcBef>
              <a:spcPct val="0"/>
            </a:spcBef>
            <a:spcAft>
              <a:spcPct val="35000"/>
            </a:spcAft>
            <a:buNone/>
          </a:pPr>
          <a:r>
            <a:rPr lang="en-US" sz="2400" kern="1200" dirty="0">
              <a:solidFill>
                <a:schemeClr val="tx1"/>
              </a:solidFill>
            </a:rPr>
            <a:t>Estimate standard errors using bootstrap or sandwich estimator</a:t>
          </a:r>
        </a:p>
      </dsp:txBody>
      <dsp:txXfrm>
        <a:off x="6619866" y="1912424"/>
        <a:ext cx="2857835" cy="2160336"/>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a:extLst>
            <a:ext uri="{FF2B5EF4-FFF2-40B4-BE49-F238E27FC236}">
              <a16:creationId xmlns:a16="http://schemas.microsoft.com/office/drawing/2014/main" id="{2C46D62E-58A2-4ADD-CC6C-CF7CE8EBF2CD}"/>
            </a:ext>
          </a:extLst>
        </p:cNvPr>
        <p:cNvGrpSpPr/>
        <p:nvPr/>
      </p:nvGrpSpPr>
      <p:grpSpPr>
        <a:xfrm>
          <a:off x="0" y="0"/>
          <a:ext cx="0" cy="0"/>
          <a:chOff x="0" y="0"/>
          <a:chExt cx="0" cy="0"/>
        </a:xfrm>
      </p:grpSpPr>
      <p:sp>
        <p:nvSpPr>
          <p:cNvPr id="349" name="Google Shape;349;p130:notes">
            <a:extLst>
              <a:ext uri="{FF2B5EF4-FFF2-40B4-BE49-F238E27FC236}">
                <a16:creationId xmlns:a16="http://schemas.microsoft.com/office/drawing/2014/main" id="{288E00A5-9B93-EFDD-7F1B-AA76B59CE00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0" name="Google Shape;350;p130:notes">
            <a:extLst>
              <a:ext uri="{FF2B5EF4-FFF2-40B4-BE49-F238E27FC236}">
                <a16:creationId xmlns:a16="http://schemas.microsoft.com/office/drawing/2014/main" id="{653F207A-2002-4AFD-1C35-860AD70BB87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6543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2" name="Google Shape;9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5" name="Google Shape;145;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BUY-</a:t>
            </a:r>
            <a:r>
              <a:rPr lang="en-US" dirty="0" err="1"/>
              <a:t>erlin</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813313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crossing 0</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796912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147602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5" name="Google Shape;485;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20 mmHg change from 120-140 is an increase of 32 in absolute risk, but a 20mmHg change from 160-280 is an increase of 128 (double) of absolute risk</a:t>
            </a:r>
            <a:endParaRPr dirty="0"/>
          </a:p>
        </p:txBody>
      </p:sp>
      <p:sp>
        <p:nvSpPr>
          <p:cNvPr id="486" name="Google Shape;486;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CODE!!!!! Switch to R to show data and summary</a:t>
            </a:r>
            <a:endParaRPr dirty="0"/>
          </a:p>
        </p:txBody>
      </p:sp>
      <p:sp>
        <p:nvSpPr>
          <p:cNvPr id="136" name="Google Shape;13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14336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54683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 name="Google Shape;190;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Intro – Jilly, 1 – Amanda; 2 – Jilly; 3 – Jilly; 4 – Amanda; 5 – Amanda; 6 </a:t>
            </a:r>
            <a:r>
              <a:rPr lang="en-US"/>
              <a:t>– Amanda</a:t>
            </a:r>
            <a:endParaRPr dirty="0"/>
          </a:p>
        </p:txBody>
      </p:sp>
      <p:sp>
        <p:nvSpPr>
          <p:cNvPr id="191" name="Google Shape;191;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19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56" name="Google Shape;1156;p1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21258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7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Amanda</a:t>
            </a:r>
            <a:endParaRPr dirty="0"/>
          </a:p>
        </p:txBody>
      </p:sp>
      <p:sp>
        <p:nvSpPr>
          <p:cNvPr id="206" name="Google Shape;206;p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7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8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Say you were given this dataset and there’s a study participant that you don’t have SBP data for, but you do know how many years of schooling they had. What would you guess their SBP would be?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One way to summarize the relationship between education and SBP would be just to calculate the mean value of SBP at each value of </a:t>
            </a:r>
            <a:r>
              <a:rPr lang="en-US" dirty="0" err="1"/>
              <a:t>schlyrs</a:t>
            </a:r>
            <a:r>
              <a:rPr lang="en-US" dirty="0"/>
              <a:t> – but this gives us a lot of numbers. What we really want is a way to summarize the data with a single line</a:t>
            </a:r>
          </a:p>
        </p:txBody>
      </p:sp>
      <p:sp>
        <p:nvSpPr>
          <p:cNvPr id="236" name="Google Shape;236;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CEF = E[Y|X] </a:t>
            </a:r>
          </a:p>
          <a:p>
            <a:pPr marL="0" lvl="0" indent="0" algn="l" rtl="0">
              <a:spcBef>
                <a:spcPts val="0"/>
              </a:spcBef>
              <a:spcAft>
                <a:spcPts val="0"/>
              </a:spcAft>
              <a:buNone/>
            </a:pPr>
            <a:r>
              <a:rPr lang="en-US" dirty="0"/>
              <a:t>In this case, we only have points at whole numbers of schooling. This line would allow us to estimate what a participant’s SBP would be if they have, say, 7.5 years of education</a:t>
            </a:r>
          </a:p>
        </p:txBody>
      </p:sp>
      <p:sp>
        <p:nvSpPr>
          <p:cNvPr id="243" name="Google Shape;243;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8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Linear regression is the best approximation to the CEF – best-fit line through the CEF and is much simpler</a:t>
            </a:r>
            <a:endParaRPr dirty="0"/>
          </a:p>
        </p:txBody>
      </p:sp>
      <p:sp>
        <p:nvSpPr>
          <p:cNvPr id="250" name="Google Shape;250;p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8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Talk about how the CEF is represented on left-hand side, and slope of the line is defined by beta1</a:t>
            </a:r>
            <a:endParaRPr dirty="0"/>
          </a:p>
        </p:txBody>
      </p:sp>
      <p:sp>
        <p:nvSpPr>
          <p:cNvPr id="257" name="Google Shape;257;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7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Switch to R here (show unadjusted then adjusted</a:t>
            </a:r>
          </a:p>
        </p:txBody>
      </p:sp>
      <p:sp>
        <p:nvSpPr>
          <p:cNvPr id="229" name="Google Shape;229;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54812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a:extLst>
            <a:ext uri="{FF2B5EF4-FFF2-40B4-BE49-F238E27FC236}">
              <a16:creationId xmlns:a16="http://schemas.microsoft.com/office/drawing/2014/main" id="{AF5611E2-8A93-C3F5-AF70-EE09061FB6B2}"/>
            </a:ext>
          </a:extLst>
        </p:cNvPr>
        <p:cNvGrpSpPr/>
        <p:nvPr/>
      </p:nvGrpSpPr>
      <p:grpSpPr>
        <a:xfrm>
          <a:off x="0" y="0"/>
          <a:ext cx="0" cy="0"/>
          <a:chOff x="0" y="0"/>
          <a:chExt cx="0" cy="0"/>
        </a:xfrm>
      </p:grpSpPr>
      <p:sp>
        <p:nvSpPr>
          <p:cNvPr id="349" name="Google Shape;349;p130:notes">
            <a:extLst>
              <a:ext uri="{FF2B5EF4-FFF2-40B4-BE49-F238E27FC236}">
                <a16:creationId xmlns:a16="http://schemas.microsoft.com/office/drawing/2014/main" id="{FD98A06F-3212-62BD-6EE4-55D5CDE62CD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50" name="Google Shape;350;p130:notes">
            <a:extLst>
              <a:ext uri="{FF2B5EF4-FFF2-40B4-BE49-F238E27FC236}">
                <a16:creationId xmlns:a16="http://schemas.microsoft.com/office/drawing/2014/main" id="{5DA1C74A-E980-7FF1-634F-4DB3B76B220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83177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hats, which tell us that all of these parameters are referring to the sample population and not the total population that we’re hoping we can extrapolate to</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33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195214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8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1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50" name="Google Shape;350;p1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38372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2b790785aef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2b790785aef_0_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Switch to R here (show CQR adjusted)</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err="1"/>
              <a:t>Quantreg</a:t>
            </a:r>
            <a:r>
              <a:rPr lang="en-US" dirty="0"/>
              <a:t> package, </a:t>
            </a:r>
            <a:r>
              <a:rPr lang="en-US" dirty="0" err="1"/>
              <a:t>rq</a:t>
            </a:r>
            <a:r>
              <a:rPr lang="en-US" dirty="0"/>
              <a:t>() </a:t>
            </a:r>
          </a:p>
          <a:p>
            <a:pPr marL="0" lvl="0" indent="0" algn="l" rtl="0">
              <a:spcBef>
                <a:spcPts val="0"/>
              </a:spcBef>
              <a:spcAft>
                <a:spcPts val="0"/>
              </a:spcAft>
              <a:buNone/>
            </a:pPr>
            <a:endParaRPr dirty="0"/>
          </a:p>
        </p:txBody>
      </p:sp>
      <p:sp>
        <p:nvSpPr>
          <p:cNvPr id="284" name="Google Shape;284;g2b790785aef_0_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36</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a:extLst>
            <a:ext uri="{FF2B5EF4-FFF2-40B4-BE49-F238E27FC236}">
              <a16:creationId xmlns:a16="http://schemas.microsoft.com/office/drawing/2014/main" id="{86451F5D-BB40-E6C1-8B27-84C6D5648EDB}"/>
            </a:ext>
          </a:extLst>
        </p:cNvPr>
        <p:cNvGrpSpPr/>
        <p:nvPr/>
      </p:nvGrpSpPr>
      <p:grpSpPr>
        <a:xfrm>
          <a:off x="0" y="0"/>
          <a:ext cx="0" cy="0"/>
          <a:chOff x="0" y="0"/>
          <a:chExt cx="0" cy="0"/>
        </a:xfrm>
      </p:grpSpPr>
      <p:sp>
        <p:nvSpPr>
          <p:cNvPr id="349" name="Google Shape;349;p130:notes">
            <a:extLst>
              <a:ext uri="{FF2B5EF4-FFF2-40B4-BE49-F238E27FC236}">
                <a16:creationId xmlns:a16="http://schemas.microsoft.com/office/drawing/2014/main" id="{F71038A5-A356-E3D0-F6E1-2B8F99EDA3B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0" name="Google Shape;350;p130:notes">
            <a:extLst>
              <a:ext uri="{FF2B5EF4-FFF2-40B4-BE49-F238E27FC236}">
                <a16:creationId xmlns:a16="http://schemas.microsoft.com/office/drawing/2014/main" id="{4F0825AC-DD1E-2B00-9EC2-A06DA3B61D4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01622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8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Congratulations, you fit your first CQR!</a:t>
            </a:r>
            <a:endParaRPr dirty="0"/>
          </a:p>
        </p:txBody>
      </p:sp>
      <p:sp>
        <p:nvSpPr>
          <p:cNvPr id="268" name="Google Shape;268;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50194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4"/>
        <p:cNvGrpSpPr/>
        <p:nvPr/>
      </p:nvGrpSpPr>
      <p:grpSpPr>
        <a:xfrm>
          <a:off x="0" y="0"/>
          <a:ext cx="0" cy="0"/>
          <a:chOff x="0" y="0"/>
          <a:chExt cx="0" cy="0"/>
        </a:xfrm>
      </p:grpSpPr>
      <p:sp>
        <p:nvSpPr>
          <p:cNvPr id="1595" name="Google Shape;1595;p2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96" name="Google Shape;1596;p2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79601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1"/>
        <p:cNvGrpSpPr/>
        <p:nvPr/>
      </p:nvGrpSpPr>
      <p:grpSpPr>
        <a:xfrm>
          <a:off x="0" y="0"/>
          <a:ext cx="0" cy="0"/>
          <a:chOff x="0" y="0"/>
          <a:chExt cx="0" cy="0"/>
        </a:xfrm>
      </p:grpSpPr>
      <p:sp>
        <p:nvSpPr>
          <p:cNvPr id="1602" name="Google Shape;1602;p2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3" name="Google Shape;1603;p2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118866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2b790785aef_0_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15" name="Google Shape;315;g2b790785aef_0_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8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What are the similarities/differences you see between this equation and the linear regression equation?</a:t>
            </a:r>
          </a:p>
          <a:p>
            <a:pPr marL="0" lvl="0" indent="0" algn="l" rtl="0">
              <a:spcBef>
                <a:spcPts val="0"/>
              </a:spcBef>
              <a:spcAft>
                <a:spcPts val="0"/>
              </a:spcAft>
              <a:buNone/>
            </a:pPr>
            <a:r>
              <a:rPr lang="en-US" dirty="0"/>
              <a:t>Diff - adding </a:t>
            </a:r>
            <a:r>
              <a:rPr lang="en-US" dirty="0" err="1"/>
              <a:t>taus</a:t>
            </a:r>
            <a:r>
              <a:rPr lang="en-US" dirty="0"/>
              <a:t> – with CQR we want to be specific about what our quantile of interest is. We don’t need to do this with linear regression because there’s no ambiguity about what we’re estimating – always the mean</a:t>
            </a:r>
            <a:endParaRPr dirty="0"/>
          </a:p>
        </p:txBody>
      </p:sp>
      <p:sp>
        <p:nvSpPr>
          <p:cNvPr id="257" name="Google Shape;257;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707256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8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173821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1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If X= {0,1} – if you have a binary predictor variable, there’s a different interpretation: different between the outcome between the two states. For example, if we had another variable for whether a respondent attended a public school, then alpha 1 tau would be the estimated different in Y at the </a:t>
            </a:r>
            <a:r>
              <a:rPr lang="en-US" dirty="0" err="1"/>
              <a:t>tauth</a:t>
            </a:r>
            <a:r>
              <a:rPr lang="en-US" dirty="0"/>
              <a:t> quantile for those who attended public school vs. those who didn’t</a:t>
            </a:r>
            <a:endParaRPr dirty="0"/>
          </a:p>
        </p:txBody>
      </p:sp>
      <p:sp>
        <p:nvSpPr>
          <p:cNvPr id="390" name="Google Shape;390;p1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1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3" name="Google Shape;343;p1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2b790785aef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2b790785aef_0_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Switch to R here (q25 adjusted model)</a:t>
            </a:r>
          </a:p>
          <a:p>
            <a:pPr marL="0" lvl="0" indent="0" algn="l" rtl="0">
              <a:spcBef>
                <a:spcPts val="0"/>
              </a:spcBef>
              <a:spcAft>
                <a:spcPts val="0"/>
              </a:spcAft>
              <a:buNone/>
            </a:pPr>
            <a:endParaRPr dirty="0"/>
          </a:p>
        </p:txBody>
      </p:sp>
      <p:sp>
        <p:nvSpPr>
          <p:cNvPr id="284" name="Google Shape;284;g2b790785aef_0_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46</a:t>
            </a:fld>
            <a:endParaRPr/>
          </a:p>
        </p:txBody>
      </p:sp>
    </p:spTree>
    <p:extLst>
      <p:ext uri="{BB962C8B-B14F-4D97-AF65-F5344CB8AC3E}">
        <p14:creationId xmlns:p14="http://schemas.microsoft.com/office/powerpoint/2010/main" val="291247092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1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1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here we’re referring to the larger population that we’re hoping to extrapolate to: no hats </a:t>
            </a:r>
          </a:p>
          <a:p>
            <a:r>
              <a:rPr lang="en-US" dirty="0"/>
              <a:t>Yi is each respondent’s observed value</a:t>
            </a:r>
          </a:p>
          <a:p>
            <a:r>
              <a:rPr lang="en-US" dirty="0"/>
              <a:t>Want to see how far away each point is from the regression line, so subtract out the parameters of the regression like, b0 and b1</a:t>
            </a:r>
          </a:p>
          <a:p>
            <a:r>
              <a:rPr lang="en-US" dirty="0"/>
              <a:t>Square because we want all the numbers to be positive b/c we’re minimizing</a:t>
            </a:r>
          </a:p>
        </p:txBody>
      </p:sp>
      <p:sp>
        <p:nvSpPr>
          <p:cNvPr id="4" name="Slide Number Placeholder 3"/>
          <p:cNvSpPr>
            <a:spLocks noGrp="1"/>
          </p:cNvSpPr>
          <p:nvPr>
            <p:ph type="sldNum" sz="quarter" idx="5"/>
          </p:nvPr>
        </p:nvSpPr>
        <p:spPr/>
        <p:txBody>
          <a:bodyPr/>
          <a:lstStyle/>
          <a:p>
            <a:fld id="{6711637D-B411-49B1-8A49-CDD8C038141F}" type="slidenum">
              <a:rPr lang="en-US" smtClean="0"/>
              <a:t>48</a:t>
            </a:fld>
            <a:endParaRPr lang="en-US"/>
          </a:p>
        </p:txBody>
      </p:sp>
    </p:spTree>
    <p:extLst>
      <p:ext uri="{BB962C8B-B14F-4D97-AF65-F5344CB8AC3E}">
        <p14:creationId xmlns:p14="http://schemas.microsoft.com/office/powerpoint/2010/main" val="2893459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Incomplete list!</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6047456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1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0" name="Google Shape;350;p1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400589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1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6" name="Google Shape;356;p1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Over 17k citations</a:t>
            </a:r>
          </a:p>
          <a:p>
            <a:pPr marL="0" lvl="0" indent="0" algn="l" rtl="0">
              <a:spcBef>
                <a:spcPts val="0"/>
              </a:spcBef>
              <a:spcAft>
                <a:spcPts val="0"/>
              </a:spcAft>
              <a:buNone/>
            </a:pPr>
            <a:r>
              <a:rPr lang="en-US" dirty="0"/>
              <a:t>2 econometricians – not surprising they would develop this since a lot of economists study what happens at the tails of the distributions &amp; skewed distributions – e.g., income</a:t>
            </a:r>
            <a:endParaRPr dirty="0"/>
          </a:p>
        </p:txBody>
      </p:sp>
      <p:sp>
        <p:nvSpPr>
          <p:cNvPr id="357" name="Google Shape;357;p1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52</a:t>
            </a:fld>
            <a:endParaRPr/>
          </a:p>
        </p:txBody>
      </p:sp>
    </p:spTree>
    <p:extLst>
      <p:ext uri="{BB962C8B-B14F-4D97-AF65-F5344CB8AC3E}">
        <p14:creationId xmlns:p14="http://schemas.microsoft.com/office/powerpoint/2010/main" val="266842209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1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5" name="Google Shape;375;p1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Differences? </a:t>
            </a:r>
            <a:endParaRPr dirty="0"/>
          </a:p>
        </p:txBody>
      </p:sp>
      <p:sp>
        <p:nvSpPr>
          <p:cNvPr id="376" name="Google Shape;376;p1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53</a:t>
            </a:fld>
            <a:endParaRPr/>
          </a:p>
        </p:txBody>
      </p:sp>
    </p:spTree>
    <p:extLst>
      <p:ext uri="{BB962C8B-B14F-4D97-AF65-F5344CB8AC3E}">
        <p14:creationId xmlns:p14="http://schemas.microsoft.com/office/powerpoint/2010/main" val="146711696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line: rho tau is a function of the error term where the error term will be multiplied by one of 2 values depending on the indicator function I</a:t>
            </a:r>
          </a:p>
          <a:p>
            <a:r>
              <a:rPr lang="en-US" dirty="0"/>
              <a:t>Rho of error term = function</a:t>
            </a:r>
          </a:p>
          <a:p>
            <a:r>
              <a:rPr lang="en-US" dirty="0"/>
              <a:t>Bottom line – if you want to write all out you can, this is what it’s looks like as one equation – one side of the equation will drop out depending on whether error is above or below 0</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966791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we calculate the coefficients of q0.5 </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0548044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up with 0.75 * summation of the absolute values of the error terms for those with errors &lt;0, and 0.25 * summation of the absolute values of the error terms for those with errors &gt;=0</a:t>
            </a:r>
          </a:p>
          <a:p>
            <a:endParaRPr lang="en-US" dirty="0"/>
          </a:p>
          <a:p>
            <a:r>
              <a:rPr lang="en-US" dirty="0"/>
              <a:t>K is indicating all of the people whose errors were &lt;0, k+1 to N is indicating all of the people whose errors were &gt;=0</a:t>
            </a:r>
          </a:p>
          <a:p>
            <a:endParaRPr lang="en-US" dirty="0"/>
          </a:p>
          <a:p>
            <a:r>
              <a:rPr lang="en-US" dirty="0"/>
              <a:t>To clarify, this is what the equation looks like for the median as well, but the multiplier is 0.5 for both error indicators, which is why it simplifies to the sum of all individuals in the sample</a:t>
            </a:r>
          </a:p>
          <a:p>
            <a:endParaRPr lang="en-US" dirty="0"/>
          </a:p>
          <a:p>
            <a:r>
              <a:rPr lang="en-US" dirty="0"/>
              <a:t>You’ll never need to do this by hand, but just to show you how the coefficients are calculated behind the scenes</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9303719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1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3" name="Google Shape;383;p1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2bdc77260b5_0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5" name="Google Shape;405;g2bdc77260b5_0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err="1"/>
              <a:t>Iid</a:t>
            </a:r>
            <a:r>
              <a:rPr lang="en-US" dirty="0"/>
              <a:t> = independent and identically distributed (independent from each other, identically distributed = homoskedasticity)</a:t>
            </a:r>
          </a:p>
          <a:p>
            <a:pPr marL="0" lvl="0" indent="0" algn="l" rtl="0">
              <a:spcBef>
                <a:spcPts val="0"/>
              </a:spcBef>
              <a:spcAft>
                <a:spcPts val="0"/>
              </a:spcAft>
              <a:buNone/>
            </a:pPr>
            <a:r>
              <a:rPr lang="en-US" dirty="0"/>
              <a:t>We’ll talk more about this when we talk about standard errors – more to come!</a:t>
            </a:r>
            <a:endParaRPr dirty="0"/>
          </a:p>
        </p:txBody>
      </p:sp>
      <p:sp>
        <p:nvSpPr>
          <p:cNvPr id="406" name="Google Shape;406;g2bdc77260b5_0_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58</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1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So, if it is that easy to evaluate the relationship at other parts of the distribution...</a:t>
            </a:r>
          </a:p>
          <a:p>
            <a:pPr marL="0" lvl="0" indent="0" algn="l" rtl="0">
              <a:spcBef>
                <a:spcPts val="0"/>
              </a:spcBef>
              <a:spcAft>
                <a:spcPts val="0"/>
              </a:spcAft>
              <a:buNone/>
            </a:pPr>
            <a:r>
              <a:rPr lang="en-US" dirty="0"/>
              <a:t>Have poll everywhere for responses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Mean models can give us an incomplete picture of the relationship between an exposure and outcome; when are mean models appropriate? </a:t>
            </a:r>
          </a:p>
        </p:txBody>
      </p:sp>
      <p:sp>
        <p:nvSpPr>
          <p:cNvPr id="350" name="Google Shape;350;p1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468283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1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0" name="Google Shape;350;p1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36652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Beyerlein example</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61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3317659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Differences and they were in opposite directions – what this is capturing is that there’s a change in the distribution of the outcome in response to the exposure</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62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9940242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Think about how the distribution itself is impacted by an exposure – 2 ways it can change, can be uniform shift or scale shift</a:t>
            </a:r>
            <a:endParaRPr dirty="0"/>
          </a:p>
        </p:txBody>
      </p:sp>
      <p:sp>
        <p:nvSpPr>
          <p:cNvPr id="521" name="Google Shape;52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8" name="Google Shape;528;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6" name="Google Shape;536;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5" name="Google Shape;545;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2" name="Google Shape;552;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9" name="Google Shape;559;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5" name="Google Shape;515;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1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And in turn the effect associated with a change in our exposure?</a:t>
            </a:r>
            <a:endParaRPr dirty="0"/>
          </a:p>
        </p:txBody>
      </p:sp>
      <p:sp>
        <p:nvSpPr>
          <p:cNvPr id="350" name="Google Shape;350;p1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856737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2b790785aef_0_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8" name="Google Shape;498;g2b790785aef_0_10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99" name="Google Shape;499;g2b790785aef_0_10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71</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2b790785aef_0_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8" name="Google Shape;498;g2b790785aef_0_10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Uniform change of -0.77mmHg (which comes from the coefficient from the adjusted OLS model)</a:t>
            </a:r>
          </a:p>
          <a:p>
            <a:pPr marL="0" lvl="0" indent="0" algn="l" rtl="0">
              <a:spcBef>
                <a:spcPts val="0"/>
              </a:spcBef>
              <a:spcAft>
                <a:spcPts val="0"/>
              </a:spcAft>
              <a:buNone/>
            </a:pPr>
            <a:r>
              <a:rPr lang="en-US" dirty="0"/>
              <a:t>Will go over how to create this graphic later</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-0.77mmHg coefficient is for 12 years only, not the original coefficient we went over for the entire sample which was -0.8mmHg)</a:t>
            </a:r>
            <a:endParaRPr dirty="0"/>
          </a:p>
        </p:txBody>
      </p:sp>
      <p:sp>
        <p:nvSpPr>
          <p:cNvPr id="499" name="Google Shape;499;g2b790785aef_0_10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72</a:t>
            </a:fld>
            <a:endParaRPr/>
          </a:p>
        </p:txBody>
      </p:sp>
    </p:spTree>
    <p:extLst>
      <p:ext uri="{BB962C8B-B14F-4D97-AF65-F5344CB8AC3E}">
        <p14:creationId xmlns:p14="http://schemas.microsoft.com/office/powerpoint/2010/main" val="120573790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2b790785aef_0_1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2b790785aef_0_1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Non uniform change</a:t>
            </a:r>
            <a:endParaRPr dirty="0"/>
          </a:p>
        </p:txBody>
      </p:sp>
      <p:sp>
        <p:nvSpPr>
          <p:cNvPr id="507" name="Google Shape;507;g2b790785aef_0_1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73</a:t>
            </a:fld>
            <a:endParaRPr/>
          </a:p>
        </p:txBody>
      </p:sp>
    </p:spTree>
    <p:extLst>
      <p:ext uri="{BB962C8B-B14F-4D97-AF65-F5344CB8AC3E}">
        <p14:creationId xmlns:p14="http://schemas.microsoft.com/office/powerpoint/2010/main" val="92249181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1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And in turn the effect associated with a change in our exposure?</a:t>
            </a:r>
            <a:endParaRPr dirty="0"/>
          </a:p>
        </p:txBody>
      </p:sp>
      <p:sp>
        <p:nvSpPr>
          <p:cNvPr id="350" name="Google Shape;350;p1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520255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5" name="Google Shape;485;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Empirical reality; why we want to know about how an exposure might affect difference parts of a distribution. (would really want to impact the higher quantiles of outcome)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20 mmHg change from 120-140 is an increase of 32 in absolute risk, but a 20mmHg change from 160-280 is an increase of 128 (double) of absolute risk</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Can mention other examples like birth weight, econometrics stuff like wages etc.</a:t>
            </a:r>
            <a:endParaRPr dirty="0"/>
          </a:p>
        </p:txBody>
      </p:sp>
      <p:sp>
        <p:nvSpPr>
          <p:cNvPr id="486" name="Google Shape;486;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75</a:t>
            </a:fld>
            <a:endParaRPr/>
          </a:p>
        </p:txBody>
      </p:sp>
    </p:spTree>
    <p:extLst>
      <p:ext uri="{BB962C8B-B14F-4D97-AF65-F5344CB8AC3E}">
        <p14:creationId xmlns:p14="http://schemas.microsoft.com/office/powerpoint/2010/main" val="391760229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9" name="Google Shape;599;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Now, HOW we address what happens in those tails may change depending on what lens we’re viewing things through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Geoffrey Rose – highly influential paper, talked about the need to have a population approach for prevention of disease rather than the high-risk approach that is more common in the clinical setting.</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Note: The title of this slide is also the title of a 1992 commentary on Rose’s work. Link: https://</a:t>
            </a:r>
            <a:r>
              <a:rPr lang="en-US" dirty="0" err="1"/>
              <a:t>www.ncbi.nlm.nih.gov</a:t>
            </a:r>
            <a:r>
              <a:rPr lang="en-US" dirty="0"/>
              <a:t>/</a:t>
            </a:r>
            <a:r>
              <a:rPr lang="en-US" dirty="0" err="1"/>
              <a:t>pmc</a:t>
            </a:r>
            <a:r>
              <a:rPr lang="en-US" dirty="0"/>
              <a:t>/articles/PMC1884728/pdf/bmj00105-0011.pdf</a:t>
            </a:r>
            <a:endParaRPr dirty="0"/>
          </a:p>
        </p:txBody>
      </p:sp>
      <p:sp>
        <p:nvSpPr>
          <p:cNvPr id="600" name="Google Shape;600;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76</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9" name="Google Shape;609;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16" name="Google Shape;616;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23" name="Google Shape;623;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1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1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919945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1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This is of particular importance in this political moment when research that’s explicitly about minoritized group may be penalized, not funded, etc. This can be kind of a “backdoor” approach</a:t>
            </a:r>
            <a:endParaRPr dirty="0"/>
          </a:p>
        </p:txBody>
      </p:sp>
      <p:sp>
        <p:nvSpPr>
          <p:cNvPr id="368" name="Google Shape;368;p1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495154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1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0" name="Google Shape;350;p1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05758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1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Statistical properties</a:t>
            </a:r>
            <a:endParaRPr dirty="0"/>
          </a:p>
        </p:txBody>
      </p:sp>
      <p:sp>
        <p:nvSpPr>
          <p:cNvPr id="445" name="Google Shape;445;p1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2b790785aef_0_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2b790785aef_0_9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8" name="Google Shape;438;g2b790785aef_0_9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84</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Incidentally, may notice quite a few people with SBP above 150</a:t>
            </a:r>
            <a:r>
              <a:rPr lang="en-US" dirty="0">
                <a:sym typeface="Wingdings" pitchFamily="2" charset="2"/>
              </a:rPr>
              <a:t> what if we wanted to top code this?</a:t>
            </a:r>
            <a:endParaRPr dirty="0"/>
          </a:p>
        </p:txBody>
      </p:sp>
      <p:sp>
        <p:nvSpPr>
          <p:cNvPr id="461" name="Google Shape;461;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R code: fit top/bottom boded version of data and compare how the coefficients change</a:t>
            </a:r>
            <a:endParaRPr/>
          </a:p>
        </p:txBody>
      </p:sp>
      <p:sp>
        <p:nvSpPr>
          <p:cNvPr id="461" name="Google Shape;461;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521598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Because the quantiles aren’t changing, you can make the argument that the associated estimate on school years would be the same for quantile regression at the 75</a:t>
            </a:r>
            <a:r>
              <a:rPr lang="en-US" baseline="30000" dirty="0"/>
              <a:t>th</a:t>
            </a:r>
            <a:r>
              <a:rPr lang="en-US" dirty="0"/>
              <a:t> quantile, but a linear regression estimate would change/be skewed due to the change at the mean when including an outlier or top coding</a:t>
            </a:r>
            <a:endParaRPr dirty="0"/>
          </a:p>
        </p:txBody>
      </p:sp>
      <p:sp>
        <p:nvSpPr>
          <p:cNvPr id="469" name="Google Shape;469;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Log(127.6) = 4.85 (but mean of log transformed distribution is 4.84); would be a larger change if we transformed a variable with a skewed distribution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Log(138.5) = 4.93 (75th quantile of the log transformed distribution)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Why do you think this is important? Extrapolation </a:t>
            </a:r>
            <a:endParaRPr dirty="0"/>
          </a:p>
        </p:txBody>
      </p:sp>
      <p:sp>
        <p:nvSpPr>
          <p:cNvPr id="452" name="Google Shape;452;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g2b9424a3ee5_0_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82" name="Google Shape;1082;g2b9424a3ee5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631208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a:extLst>
            <a:ext uri="{FF2B5EF4-FFF2-40B4-BE49-F238E27FC236}">
              <a16:creationId xmlns:a16="http://schemas.microsoft.com/office/drawing/2014/main" id="{805C4312-1261-D7CF-F535-E0E173F054A2}"/>
            </a:ext>
          </a:extLst>
        </p:cNvPr>
        <p:cNvGrpSpPr/>
        <p:nvPr/>
      </p:nvGrpSpPr>
      <p:grpSpPr>
        <a:xfrm>
          <a:off x="0" y="0"/>
          <a:ext cx="0" cy="0"/>
          <a:chOff x="0" y="0"/>
          <a:chExt cx="0" cy="0"/>
        </a:xfrm>
      </p:grpSpPr>
      <p:sp>
        <p:nvSpPr>
          <p:cNvPr id="349" name="Google Shape;349;p130:notes">
            <a:extLst>
              <a:ext uri="{FF2B5EF4-FFF2-40B4-BE49-F238E27FC236}">
                <a16:creationId xmlns:a16="http://schemas.microsoft.com/office/drawing/2014/main" id="{A9B7E705-F625-99A3-140F-058B5D2B15C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Up to this point we’ve been talking about CQR, but we’ve also mentioned another type of QR, UQR. As a starting guess, we don’t expect you to know the answer</a:t>
            </a:r>
            <a:endParaRPr dirty="0"/>
          </a:p>
        </p:txBody>
      </p:sp>
      <p:sp>
        <p:nvSpPr>
          <p:cNvPr id="350" name="Google Shape;350;p130:notes">
            <a:extLst>
              <a:ext uri="{FF2B5EF4-FFF2-40B4-BE49-F238E27FC236}">
                <a16:creationId xmlns:a16="http://schemas.microsoft.com/office/drawing/2014/main" id="{5B739F61-7413-B5D0-A23C-8B69844FAF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10547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p1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Technically possible under certain conditions, not always</a:t>
            </a:r>
            <a:endParaRPr dirty="0"/>
          </a:p>
        </p:txBody>
      </p:sp>
      <p:sp>
        <p:nvSpPr>
          <p:cNvPr id="671" name="Google Shape;671;p1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295097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p1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1" name="Google Shape;671;p1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we’re wrapping up the CQR section, let’s take a look at an example of when using CQR is not appropriate</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8635318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6488998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graph shows 2 different models the authors ran, just differing in terms of what covariates they included, but same exposure/outcome. In both cases, shows that at low quantiles of wages, each additional child decreases the mother’s wages more compared to the effect sizes in the mid- to high quantiles</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2344708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Would recommend this commentary especially in trying to understand these methods from a non-technical perspective and when to use conditional vs. unconditional QR</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2791940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side they reproduced the Budig and Hodges results to be able to directly compare their own results. Then they did same analysis with UQR and found that mothers in the middle of the wage distribution actually had the largest penalty.</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0108312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in mind as we go through UQR, that they are estimating different things</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3380194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p1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Jilly</a:t>
            </a:r>
            <a:endParaRPr dirty="0"/>
          </a:p>
        </p:txBody>
      </p:sp>
      <p:sp>
        <p:nvSpPr>
          <p:cNvPr id="678" name="Google Shape;678;p1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p1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cap="none" dirty="0">
                <a:solidFill>
                  <a:schemeClr val="dk1"/>
                </a:solidFill>
                <a:effectLst/>
                <a:latin typeface="Calibri"/>
                <a:ea typeface="Calibri"/>
                <a:cs typeface="Calibri"/>
                <a:sym typeface="Calibri"/>
              </a:rPr>
              <a:t>Many estimators have been developed to quantify the relationship between an exposure and quantiles of the marginal outcome distribution:</a:t>
            </a:r>
          </a:p>
          <a:p>
            <a:pPr marL="0" lvl="0" indent="0" algn="l" rtl="0">
              <a:spcBef>
                <a:spcPts val="0"/>
              </a:spcBef>
              <a:spcAft>
                <a:spcPts val="0"/>
              </a:spcAft>
              <a:buNone/>
            </a:pPr>
            <a:endParaRPr lang="en-US" sz="1200" b="0" i="0" u="none" strike="noStrike" cap="none" dirty="0">
              <a:solidFill>
                <a:schemeClr val="dk1"/>
              </a:solidFill>
              <a:effectLst/>
              <a:latin typeface="Calibri"/>
              <a:cs typeface="Calibri"/>
              <a:sym typeface="Calibri"/>
            </a:endParaRPr>
          </a:p>
          <a:p>
            <a:pPr marL="0" lvl="0" indent="0" algn="l" rtl="0">
              <a:spcBef>
                <a:spcPts val="0"/>
              </a:spcBef>
              <a:spcAft>
                <a:spcPts val="0"/>
              </a:spcAft>
              <a:buNone/>
            </a:pPr>
            <a:r>
              <a:rPr lang="en-US" sz="1200" b="0" i="0" u="none" strike="noStrike" cap="none" dirty="0">
                <a:solidFill>
                  <a:schemeClr val="dk1"/>
                </a:solidFill>
                <a:effectLst/>
                <a:latin typeface="Calibri"/>
                <a:cs typeface="Calibri"/>
                <a:sym typeface="Calibri"/>
              </a:rPr>
              <a:t>1. Identification of unconditional partial effects in </a:t>
            </a:r>
            <a:r>
              <a:rPr lang="en-US" sz="1200" b="0" i="0" u="none" strike="noStrike" cap="none" dirty="0" err="1">
                <a:solidFill>
                  <a:schemeClr val="dk1"/>
                </a:solidFill>
                <a:effectLst/>
                <a:latin typeface="Calibri"/>
                <a:cs typeface="Calibri"/>
                <a:sym typeface="Calibri"/>
              </a:rPr>
              <a:t>nonseparable</a:t>
            </a:r>
            <a:r>
              <a:rPr lang="en-US" sz="1200" b="0" i="0" u="none" strike="noStrike" cap="none" dirty="0">
                <a:solidFill>
                  <a:schemeClr val="dk1"/>
                </a:solidFill>
                <a:effectLst/>
                <a:latin typeface="Calibri"/>
                <a:cs typeface="Calibri"/>
                <a:sym typeface="Calibri"/>
              </a:rPr>
              <a:t> models – Christoph Rothe (2010)</a:t>
            </a:r>
          </a:p>
          <a:p>
            <a:pPr marL="0" lvl="0" indent="0" algn="l" rtl="0">
              <a:spcBef>
                <a:spcPts val="0"/>
              </a:spcBef>
              <a:spcAft>
                <a:spcPts val="0"/>
              </a:spcAft>
              <a:buNone/>
            </a:pPr>
            <a:r>
              <a:rPr lang="en-US" u="none" dirty="0">
                <a:solidFill>
                  <a:schemeClr val="tx1"/>
                </a:solidFill>
              </a:rPr>
              <a:t>2. Identification and Estimation of Triangular Simultaneous Equations Models Without Additivity - Guido W. </a:t>
            </a:r>
            <a:r>
              <a:rPr lang="en-US" u="none" dirty="0" err="1">
                <a:solidFill>
                  <a:schemeClr val="tx1"/>
                </a:solidFill>
              </a:rPr>
              <a:t>Imbens</a:t>
            </a:r>
            <a:r>
              <a:rPr lang="en-US" u="none" dirty="0">
                <a:solidFill>
                  <a:schemeClr val="tx1"/>
                </a:solidFill>
              </a:rPr>
              <a:t> and Whitney K. Newey (2009)</a:t>
            </a:r>
          </a:p>
          <a:p>
            <a:pPr marL="0" lvl="0" indent="0" algn="l" rtl="0">
              <a:spcBef>
                <a:spcPts val="0"/>
              </a:spcBef>
              <a:spcAft>
                <a:spcPts val="0"/>
              </a:spcAft>
              <a:buNone/>
            </a:pPr>
            <a:r>
              <a:rPr lang="en-US" sz="1200" b="0" i="0" u="none" strike="noStrike" cap="none" dirty="0">
                <a:solidFill>
                  <a:schemeClr val="dk1"/>
                </a:solidFill>
                <a:effectLst/>
                <a:latin typeface="Calibri"/>
                <a:ea typeface="Calibri"/>
                <a:cs typeface="Calibri"/>
                <a:sym typeface="Calibri"/>
              </a:rPr>
              <a:t>3. Efficient Semiparametric Estimation of Quantile Treatment Effects - Firpo (2007)</a:t>
            </a:r>
            <a:endParaRPr u="none" dirty="0">
              <a:solidFill>
                <a:schemeClr val="tx1"/>
              </a:solidFill>
            </a:endParaRPr>
          </a:p>
        </p:txBody>
      </p:sp>
      <p:sp>
        <p:nvSpPr>
          <p:cNvPr id="685" name="Google Shape;685;p1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p1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98" name="Google Shape;698;p1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p16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0" name="Google Shape;740;p1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p16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6" name="Google Shape;746;p1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p17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9" name="Google Shape;759;p1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a:extLst>
            <a:ext uri="{FF2B5EF4-FFF2-40B4-BE49-F238E27FC236}">
              <a16:creationId xmlns:a16="http://schemas.microsoft.com/office/drawing/2014/main" id="{4A45F668-7611-4017-ABD1-8AD757F986FA}"/>
            </a:ext>
          </a:extLst>
        </p:cNvPr>
        <p:cNvGrpSpPr/>
        <p:nvPr/>
      </p:nvGrpSpPr>
      <p:grpSpPr>
        <a:xfrm>
          <a:off x="0" y="0"/>
          <a:ext cx="0" cy="0"/>
          <a:chOff x="0" y="0"/>
          <a:chExt cx="0" cy="0"/>
        </a:xfrm>
      </p:grpSpPr>
      <p:sp>
        <p:nvSpPr>
          <p:cNvPr id="710" name="Google Shape;710;p164:notes">
            <a:extLst>
              <a:ext uri="{FF2B5EF4-FFF2-40B4-BE49-F238E27FC236}">
                <a16:creationId xmlns:a16="http://schemas.microsoft.com/office/drawing/2014/main" id="{D0451F5E-706E-2D88-192E-C59C4F2924B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1" name="Google Shape;711;p164:notes">
            <a:extLst>
              <a:ext uri="{FF2B5EF4-FFF2-40B4-BE49-F238E27FC236}">
                <a16:creationId xmlns:a16="http://schemas.microsoft.com/office/drawing/2014/main" id="{FBDCD6C4-DCAD-65D1-860A-D4CC827583D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Change like adding a new observation</a:t>
            </a:r>
          </a:p>
          <a:p>
            <a:pPr marL="0" lvl="0" indent="0" algn="l" rtl="0">
              <a:spcBef>
                <a:spcPts val="0"/>
              </a:spcBef>
              <a:spcAft>
                <a:spcPts val="0"/>
              </a:spcAft>
              <a:buNone/>
            </a:pPr>
            <a:r>
              <a:rPr lang="en-US" dirty="0"/>
              <a:t>Mean, Gini coefficient</a:t>
            </a:r>
            <a:endParaRPr dirty="0"/>
          </a:p>
        </p:txBody>
      </p:sp>
      <p:sp>
        <p:nvSpPr>
          <p:cNvPr id="712" name="Google Shape;712;p164:notes">
            <a:extLst>
              <a:ext uri="{FF2B5EF4-FFF2-40B4-BE49-F238E27FC236}">
                <a16:creationId xmlns:a16="http://schemas.microsoft.com/office/drawing/2014/main" id="{64B835D7-2F93-8C0A-6F6D-52E72051EC5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106</a:t>
            </a:fld>
            <a:endParaRPr/>
          </a:p>
        </p:txBody>
      </p:sp>
    </p:spTree>
    <p:extLst>
      <p:ext uri="{BB962C8B-B14F-4D97-AF65-F5344CB8AC3E}">
        <p14:creationId xmlns:p14="http://schemas.microsoft.com/office/powerpoint/2010/main" val="279604633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16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26" name="Google Shape;726;p1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p16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r>
              <a:rPr lang="en-US" dirty="0"/>
              <a:t>** Distribute expectation over q(t) and IF</a:t>
            </a:r>
            <a:endParaRPr dirty="0"/>
          </a:p>
        </p:txBody>
      </p:sp>
      <p:sp>
        <p:nvSpPr>
          <p:cNvPr id="733" name="Google Shape;733;p1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p17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2" name="Google Shape;772;p1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17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0" name="Google Shape;780;p1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p17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Moving from continuous distribution to a binary distribution, where the RIF will take on one value for those who fall below and another for those above.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But how does this binary distribution (right) capture a continuous distribution (left)?</a:t>
            </a:r>
            <a:endParaRPr dirty="0"/>
          </a:p>
        </p:txBody>
      </p:sp>
      <p:sp>
        <p:nvSpPr>
          <p:cNvPr id="791" name="Google Shape;791;p1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a:extLst>
            <a:ext uri="{FF2B5EF4-FFF2-40B4-BE49-F238E27FC236}">
              <a16:creationId xmlns:a16="http://schemas.microsoft.com/office/drawing/2014/main" id="{F977079F-101A-C4D1-D370-061E8B262D41}"/>
            </a:ext>
          </a:extLst>
        </p:cNvPr>
        <p:cNvGrpSpPr/>
        <p:nvPr/>
      </p:nvGrpSpPr>
      <p:grpSpPr>
        <a:xfrm>
          <a:off x="0" y="0"/>
          <a:ext cx="0" cy="0"/>
          <a:chOff x="0" y="0"/>
          <a:chExt cx="0" cy="0"/>
        </a:xfrm>
      </p:grpSpPr>
      <p:sp>
        <p:nvSpPr>
          <p:cNvPr id="732" name="Google Shape;732;p167:notes">
            <a:extLst>
              <a:ext uri="{FF2B5EF4-FFF2-40B4-BE49-F238E27FC236}">
                <a16:creationId xmlns:a16="http://schemas.microsoft.com/office/drawing/2014/main" id="{4FB57641-2373-5B71-0204-3FE0746DCC8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 Distribute expectation over q(t) and IF</a:t>
            </a:r>
            <a:endParaRPr dirty="0"/>
          </a:p>
        </p:txBody>
      </p:sp>
      <p:sp>
        <p:nvSpPr>
          <p:cNvPr id="733" name="Google Shape;733;p167:notes">
            <a:extLst>
              <a:ext uri="{FF2B5EF4-FFF2-40B4-BE49-F238E27FC236}">
                <a16:creationId xmlns:a16="http://schemas.microsoft.com/office/drawing/2014/main" id="{3E1BBDB6-FC1E-8B7A-C3F7-35092DEF6AE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33778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a:extLst>
            <a:ext uri="{FF2B5EF4-FFF2-40B4-BE49-F238E27FC236}">
              <a16:creationId xmlns:a16="http://schemas.microsoft.com/office/drawing/2014/main" id="{75D93377-BFCD-F433-C8B3-6FD211A19762}"/>
            </a:ext>
          </a:extLst>
        </p:cNvPr>
        <p:cNvGrpSpPr/>
        <p:nvPr/>
      </p:nvGrpSpPr>
      <p:grpSpPr>
        <a:xfrm>
          <a:off x="0" y="0"/>
          <a:ext cx="0" cy="0"/>
          <a:chOff x="0" y="0"/>
          <a:chExt cx="0" cy="0"/>
        </a:xfrm>
      </p:grpSpPr>
      <p:sp>
        <p:nvSpPr>
          <p:cNvPr id="800" name="Google Shape;800;p174:notes">
            <a:extLst>
              <a:ext uri="{FF2B5EF4-FFF2-40B4-BE49-F238E27FC236}">
                <a16:creationId xmlns:a16="http://schemas.microsoft.com/office/drawing/2014/main" id="{72180F7F-A826-7AD3-AE9D-36927B2449A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01" name="Google Shape;801;p174:notes">
            <a:extLst>
              <a:ext uri="{FF2B5EF4-FFF2-40B4-BE49-F238E27FC236}">
                <a16:creationId xmlns:a16="http://schemas.microsoft.com/office/drawing/2014/main" id="{C6745F26-CE89-03E8-2A37-01BC503921C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2332916"/>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p18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9" name="Google Shape;869;p1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p18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6" name="Google Shape;876;p1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p17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RIF only takes on 2 values regardless of which quantile we’re evaluating</a:t>
            </a:r>
          </a:p>
          <a:p>
            <a:pPr marL="0" lvl="0" indent="0" algn="l" rtl="0">
              <a:spcBef>
                <a:spcPts val="0"/>
              </a:spcBef>
              <a:spcAft>
                <a:spcPts val="0"/>
              </a:spcAft>
              <a:buNone/>
            </a:pPr>
            <a:r>
              <a:rPr lang="en-US" dirty="0"/>
              <a:t>proportion of participants falling in each bin corresponds to the quantile</a:t>
            </a:r>
            <a:endParaRPr dirty="0"/>
          </a:p>
        </p:txBody>
      </p:sp>
      <p:sp>
        <p:nvSpPr>
          <p:cNvPr id="813" name="Google Shape;813;p1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p17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4" name="Google Shape;824;p1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p1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1" name="Google Shape;711;p1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12" name="Google Shape;712;p16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118</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
        <p:cNvGrpSpPr/>
        <p:nvPr/>
      </p:nvGrpSpPr>
      <p:grpSpPr>
        <a:xfrm>
          <a:off x="0" y="0"/>
          <a:ext cx="0" cy="0"/>
          <a:chOff x="0" y="0"/>
          <a:chExt cx="0" cy="0"/>
        </a:xfrm>
      </p:grpSpPr>
      <p:sp>
        <p:nvSpPr>
          <p:cNvPr id="836" name="Google Shape;836;p17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Equation is to isolate the indicator function since we use it in 2 &amp; 3</a:t>
            </a:r>
          </a:p>
          <a:p>
            <a:pPr marL="0" lvl="0" indent="0" algn="l" rtl="0">
              <a:spcBef>
                <a:spcPts val="0"/>
              </a:spcBef>
              <a:spcAft>
                <a:spcPts val="0"/>
              </a:spcAft>
              <a:buNone/>
            </a:pPr>
            <a:r>
              <a:rPr lang="en-US" dirty="0"/>
              <a:t>End up modeling the indicator function, density is a constant, indicator function will vary (either 1 or 0), q tau and 1- tau are fixed – only source of variation is indicator </a:t>
            </a:r>
            <a:r>
              <a:rPr lang="en-US" dirty="0" err="1"/>
              <a:t>fxn</a:t>
            </a:r>
            <a:r>
              <a:rPr lang="en-US" dirty="0"/>
              <a:t>, regression equations are about modeling variation in the outcome = could model directly instead of using OLS on RIF</a:t>
            </a:r>
            <a:endParaRPr dirty="0"/>
          </a:p>
        </p:txBody>
      </p:sp>
      <p:sp>
        <p:nvSpPr>
          <p:cNvPr id="837" name="Google Shape;837;p1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p1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4" name="Google Shape;844;p17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First thing we do is take expectation of both sides to get rid of x and c on the left-hand side of the equation.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As we showed in step 1, the expectation of the RIF is equal to the distributional statistic itself (q tau)</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And now we interpret the beta estimate</a:t>
            </a:r>
          </a:p>
          <a:p>
            <a:pPr marL="0" lvl="0" indent="0" algn="l" rtl="0">
              <a:spcBef>
                <a:spcPts val="0"/>
              </a:spcBef>
              <a:spcAft>
                <a:spcPts val="0"/>
              </a:spcAft>
              <a:buNone/>
            </a:pPr>
            <a:endParaRPr dirty="0"/>
          </a:p>
        </p:txBody>
      </p:sp>
      <p:sp>
        <p:nvSpPr>
          <p:cNvPr id="845" name="Google Shape;845;p17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120</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a:extLst>
            <a:ext uri="{FF2B5EF4-FFF2-40B4-BE49-F238E27FC236}">
              <a16:creationId xmlns:a16="http://schemas.microsoft.com/office/drawing/2014/main" id="{38EA7F2E-B1AA-2089-1E56-F4B5B3D45BA6}"/>
            </a:ext>
          </a:extLst>
        </p:cNvPr>
        <p:cNvGrpSpPr/>
        <p:nvPr/>
      </p:nvGrpSpPr>
      <p:grpSpPr>
        <a:xfrm>
          <a:off x="0" y="0"/>
          <a:ext cx="0" cy="0"/>
          <a:chOff x="0" y="0"/>
          <a:chExt cx="0" cy="0"/>
        </a:xfrm>
      </p:grpSpPr>
      <p:sp>
        <p:nvSpPr>
          <p:cNvPr id="349" name="Google Shape;349;p130:notes">
            <a:extLst>
              <a:ext uri="{FF2B5EF4-FFF2-40B4-BE49-F238E27FC236}">
                <a16:creationId xmlns:a16="http://schemas.microsoft.com/office/drawing/2014/main" id="{28277F76-AA98-9E46-763A-8680DE44C44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0" name="Google Shape;350;p130:notes">
            <a:extLst>
              <a:ext uri="{FF2B5EF4-FFF2-40B4-BE49-F238E27FC236}">
                <a16:creationId xmlns:a16="http://schemas.microsoft.com/office/drawing/2014/main" id="{4F9C7A9A-4031-9D0D-B5BF-2EC20BA5314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2679079"/>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p1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6" name="Google Shape;896;p1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97" name="Google Shape;897;p19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123</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p10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68" name="Google Shape;1068;p1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3722737"/>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a:extLst>
            <a:ext uri="{FF2B5EF4-FFF2-40B4-BE49-F238E27FC236}">
              <a16:creationId xmlns:a16="http://schemas.microsoft.com/office/drawing/2014/main" id="{7B876642-8149-DB10-EBC1-66F7A8BBE2F9}"/>
            </a:ext>
          </a:extLst>
        </p:cNvPr>
        <p:cNvGrpSpPr/>
        <p:nvPr/>
      </p:nvGrpSpPr>
      <p:grpSpPr>
        <a:xfrm>
          <a:off x="0" y="0"/>
          <a:ext cx="0" cy="0"/>
          <a:chOff x="0" y="0"/>
          <a:chExt cx="0" cy="0"/>
        </a:xfrm>
      </p:grpSpPr>
      <p:sp>
        <p:nvSpPr>
          <p:cNvPr id="823" name="Google Shape;823;p176:notes">
            <a:extLst>
              <a:ext uri="{FF2B5EF4-FFF2-40B4-BE49-F238E27FC236}">
                <a16:creationId xmlns:a16="http://schemas.microsoft.com/office/drawing/2014/main" id="{ACE186C9-4234-6454-A496-548514B196A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4" name="Google Shape;824;p176:notes">
            <a:extLst>
              <a:ext uri="{FF2B5EF4-FFF2-40B4-BE49-F238E27FC236}">
                <a16:creationId xmlns:a16="http://schemas.microsoft.com/office/drawing/2014/main" id="{F19D9F22-EB75-9277-BE45-1C39884548E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487643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a:extLst>
            <a:ext uri="{FF2B5EF4-FFF2-40B4-BE49-F238E27FC236}">
              <a16:creationId xmlns:a16="http://schemas.microsoft.com/office/drawing/2014/main" id="{DBB5438F-6D5B-F4D1-F19D-FAB95EEF8F13}"/>
            </a:ext>
          </a:extLst>
        </p:cNvPr>
        <p:cNvGrpSpPr/>
        <p:nvPr/>
      </p:nvGrpSpPr>
      <p:grpSpPr>
        <a:xfrm>
          <a:off x="0" y="0"/>
          <a:ext cx="0" cy="0"/>
          <a:chOff x="0" y="0"/>
          <a:chExt cx="0" cy="0"/>
        </a:xfrm>
      </p:grpSpPr>
      <p:sp>
        <p:nvSpPr>
          <p:cNvPr id="1081" name="Google Shape;1081;g2b9424a3ee5_0_7:notes">
            <a:extLst>
              <a:ext uri="{FF2B5EF4-FFF2-40B4-BE49-F238E27FC236}">
                <a16:creationId xmlns:a16="http://schemas.microsoft.com/office/drawing/2014/main" id="{DA1AA11C-E13A-B502-1833-0BD13FBF8973}"/>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2" name="Google Shape;1082;g2b9424a3ee5_0_7:notes">
            <a:extLst>
              <a:ext uri="{FF2B5EF4-FFF2-40B4-BE49-F238E27FC236}">
                <a16:creationId xmlns:a16="http://schemas.microsoft.com/office/drawing/2014/main" id="{D30BAF2E-0AC0-9159-B50D-A6F5AB66F9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2352903"/>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2b790785aef_0_7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Jilly</a:t>
            </a:r>
            <a:endParaRPr dirty="0"/>
          </a:p>
        </p:txBody>
      </p:sp>
      <p:sp>
        <p:nvSpPr>
          <p:cNvPr id="903" name="Google Shape;903;g2b790785aef_0_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6" name="Google Shape;916;p9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17" name="Google Shape;917;p9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128</a:t>
            </a:fld>
            <a:endParaRPr/>
          </a:p>
        </p:txBody>
      </p:sp>
    </p:spTree>
    <p:extLst>
      <p:ext uri="{BB962C8B-B14F-4D97-AF65-F5344CB8AC3E}">
        <p14:creationId xmlns:p14="http://schemas.microsoft.com/office/powerpoint/2010/main" val="1239185506"/>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a:extLst>
            <a:ext uri="{FF2B5EF4-FFF2-40B4-BE49-F238E27FC236}">
              <a16:creationId xmlns:a16="http://schemas.microsoft.com/office/drawing/2014/main" id="{791886C7-3CBE-BF4C-BF92-D52E47E2F074}"/>
            </a:ext>
          </a:extLst>
        </p:cNvPr>
        <p:cNvGrpSpPr/>
        <p:nvPr/>
      </p:nvGrpSpPr>
      <p:grpSpPr>
        <a:xfrm>
          <a:off x="0" y="0"/>
          <a:ext cx="0" cy="0"/>
          <a:chOff x="0" y="0"/>
          <a:chExt cx="0" cy="0"/>
        </a:xfrm>
      </p:grpSpPr>
      <p:sp>
        <p:nvSpPr>
          <p:cNvPr id="349" name="Google Shape;349;p130:notes">
            <a:extLst>
              <a:ext uri="{FF2B5EF4-FFF2-40B4-BE49-F238E27FC236}">
                <a16:creationId xmlns:a16="http://schemas.microsoft.com/office/drawing/2014/main" id="{2DF2B78F-7E7C-E271-507B-1531732349E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0" name="Google Shape;350;p130:notes">
            <a:extLst>
              <a:ext uri="{FF2B5EF4-FFF2-40B4-BE49-F238E27FC236}">
                <a16:creationId xmlns:a16="http://schemas.microsoft.com/office/drawing/2014/main" id="{CAEBE720-4734-B369-5B31-DAA6E607A38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9954389"/>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6" name="Google Shape;916;p9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(For OLS)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Where (X’X)-1 is the inverse of the product of the design matrix (X) and its transpose (X’) – the predictor variables in the model</a:t>
            </a:r>
          </a:p>
        </p:txBody>
      </p:sp>
      <p:sp>
        <p:nvSpPr>
          <p:cNvPr id="917" name="Google Shape;917;p9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130</a:t>
            </a:fld>
            <a:endParaRPr/>
          </a:p>
        </p:txBody>
      </p:sp>
    </p:spTree>
    <p:extLst>
      <p:ext uri="{BB962C8B-B14F-4D97-AF65-F5344CB8AC3E}">
        <p14:creationId xmlns:p14="http://schemas.microsoft.com/office/powerpoint/2010/main" val="1660116406"/>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p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1" name="Google Shape;931;p9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32" name="Google Shape;932;p9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131</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p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1" name="Google Shape;931;p9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Lots of assumptions, mostly violated</a:t>
            </a:r>
            <a:endParaRPr dirty="0"/>
          </a:p>
        </p:txBody>
      </p:sp>
      <p:sp>
        <p:nvSpPr>
          <p:cNvPr id="932" name="Google Shape;932;p9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132</a:t>
            </a:fld>
            <a:endParaRPr/>
          </a:p>
        </p:txBody>
      </p:sp>
    </p:spTree>
    <p:extLst>
      <p:ext uri="{BB962C8B-B14F-4D97-AF65-F5344CB8AC3E}">
        <p14:creationId xmlns:p14="http://schemas.microsoft.com/office/powerpoint/2010/main" val="3317385817"/>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a:extLst>
            <a:ext uri="{FF2B5EF4-FFF2-40B4-BE49-F238E27FC236}">
              <a16:creationId xmlns:a16="http://schemas.microsoft.com/office/drawing/2014/main" id="{211756C8-BBCF-D049-7951-5FAF0E350556}"/>
            </a:ext>
          </a:extLst>
        </p:cNvPr>
        <p:cNvGrpSpPr/>
        <p:nvPr/>
      </p:nvGrpSpPr>
      <p:grpSpPr>
        <a:xfrm>
          <a:off x="0" y="0"/>
          <a:ext cx="0" cy="0"/>
          <a:chOff x="0" y="0"/>
          <a:chExt cx="0" cy="0"/>
        </a:xfrm>
      </p:grpSpPr>
      <p:sp>
        <p:nvSpPr>
          <p:cNvPr id="221" name="Google Shape;221;p77:notes">
            <a:extLst>
              <a:ext uri="{FF2B5EF4-FFF2-40B4-BE49-F238E27FC236}">
                <a16:creationId xmlns:a16="http://schemas.microsoft.com/office/drawing/2014/main" id="{399EF4DA-04C8-6AB2-6106-4B7D1342DD8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77:notes">
            <a:extLst>
              <a:ext uri="{FF2B5EF4-FFF2-40B4-BE49-F238E27FC236}">
                <a16:creationId xmlns:a16="http://schemas.microsoft.com/office/drawing/2014/main" id="{0797B5F0-BBED-F44B-C2C5-22293544706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2972779"/>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p16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9" name="Google Shape;719;p1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53523218"/>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2c03590cb7c_0_2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Still have a version of the predictor design matrix, but now the matrix “sandwiches” omega, a matrix of the estimated variance-covariance matrix of residuals. </a:t>
            </a:r>
            <a:r>
              <a:rPr lang="en-US" sz="1200" b="0" i="0" u="none" strike="noStrike" cap="none" dirty="0">
                <a:solidFill>
                  <a:schemeClr val="dk1"/>
                </a:solidFill>
                <a:effectLst/>
                <a:latin typeface="Calibri"/>
                <a:ea typeface="Calibri"/>
                <a:cs typeface="Calibri"/>
                <a:sym typeface="Calibri"/>
              </a:rPr>
              <a:t>In standard (homoskedastic) regression, it's assumed to be the scalar, but in the robust version, it becomes a diagonal matrix with estimated variances for each observation, allowing each sample to have its own variance</a:t>
            </a:r>
            <a:endParaRPr dirty="0"/>
          </a:p>
        </p:txBody>
      </p:sp>
      <p:sp>
        <p:nvSpPr>
          <p:cNvPr id="1005" name="Google Shape;1005;g2c03590cb7c_0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a:extLst>
            <a:ext uri="{FF2B5EF4-FFF2-40B4-BE49-F238E27FC236}">
              <a16:creationId xmlns:a16="http://schemas.microsoft.com/office/drawing/2014/main" id="{DF3B999F-4CA7-5BE3-5627-5925AC6B0F90}"/>
            </a:ext>
          </a:extLst>
        </p:cNvPr>
        <p:cNvGrpSpPr/>
        <p:nvPr/>
      </p:nvGrpSpPr>
      <p:grpSpPr>
        <a:xfrm>
          <a:off x="0" y="0"/>
          <a:ext cx="0" cy="0"/>
          <a:chOff x="0" y="0"/>
          <a:chExt cx="0" cy="0"/>
        </a:xfrm>
      </p:grpSpPr>
      <p:sp>
        <p:nvSpPr>
          <p:cNvPr id="1043" name="Google Shape;1043;p186:notes">
            <a:extLst>
              <a:ext uri="{FF2B5EF4-FFF2-40B4-BE49-F238E27FC236}">
                <a16:creationId xmlns:a16="http://schemas.microsoft.com/office/drawing/2014/main" id="{C9A3632F-078E-A3F0-BE97-72EDC81BEF2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4" name="Google Shape;1044;p186:notes">
            <a:extLst>
              <a:ext uri="{FF2B5EF4-FFF2-40B4-BE49-F238E27FC236}">
                <a16:creationId xmlns:a16="http://schemas.microsoft.com/office/drawing/2014/main" id="{A1FF64C6-0A6F-922F-7A41-00233E7F406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1045" name="Google Shape;1045;p186:notes">
            <a:extLst>
              <a:ext uri="{FF2B5EF4-FFF2-40B4-BE49-F238E27FC236}">
                <a16:creationId xmlns:a16="http://schemas.microsoft.com/office/drawing/2014/main" id="{2FE4A714-7E03-45C8-ADB2-865D34D9C03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136</a:t>
            </a:fld>
            <a:endParaRPr/>
          </a:p>
        </p:txBody>
      </p:sp>
    </p:spTree>
    <p:extLst>
      <p:ext uri="{BB962C8B-B14F-4D97-AF65-F5344CB8AC3E}">
        <p14:creationId xmlns:p14="http://schemas.microsoft.com/office/powerpoint/2010/main" val="2421353858"/>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0"/>
        <p:cNvGrpSpPr/>
        <p:nvPr/>
      </p:nvGrpSpPr>
      <p:grpSpPr>
        <a:xfrm>
          <a:off x="0" y="0"/>
          <a:ext cx="0" cy="0"/>
          <a:chOff x="0" y="0"/>
          <a:chExt cx="0" cy="0"/>
        </a:xfrm>
      </p:grpSpPr>
      <p:sp>
        <p:nvSpPr>
          <p:cNvPr id="1021" name="Google Shape;1021;p1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2" name="Google Shape;1022;p1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p1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7" name="Google Shape;1037;p1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8"/>
        <p:cNvGrpSpPr/>
        <p:nvPr/>
      </p:nvGrpSpPr>
      <p:grpSpPr>
        <a:xfrm>
          <a:off x="0" y="0"/>
          <a:ext cx="0" cy="0"/>
          <a:chOff x="0" y="0"/>
          <a:chExt cx="0" cy="0"/>
        </a:xfrm>
      </p:grpSpPr>
      <p:sp>
        <p:nvSpPr>
          <p:cNvPr id="1059" name="Google Shape;1059;p1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“by hand” – code a resample loop</a:t>
            </a:r>
            <a:endParaRPr dirty="0"/>
          </a:p>
        </p:txBody>
      </p:sp>
      <p:sp>
        <p:nvSpPr>
          <p:cNvPr id="1060" name="Google Shape;1060;p1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a:extLst>
            <a:ext uri="{FF2B5EF4-FFF2-40B4-BE49-F238E27FC236}">
              <a16:creationId xmlns:a16="http://schemas.microsoft.com/office/drawing/2014/main" id="{9D1A9F9E-8BDE-0211-25C8-652FEE7441CF}"/>
            </a:ext>
          </a:extLst>
        </p:cNvPr>
        <p:cNvGrpSpPr/>
        <p:nvPr/>
      </p:nvGrpSpPr>
      <p:grpSpPr>
        <a:xfrm>
          <a:off x="0" y="0"/>
          <a:ext cx="0" cy="0"/>
          <a:chOff x="0" y="0"/>
          <a:chExt cx="0" cy="0"/>
        </a:xfrm>
      </p:grpSpPr>
      <p:sp>
        <p:nvSpPr>
          <p:cNvPr id="1067" name="Google Shape;1067;p104:notes">
            <a:extLst>
              <a:ext uri="{FF2B5EF4-FFF2-40B4-BE49-F238E27FC236}">
                <a16:creationId xmlns:a16="http://schemas.microsoft.com/office/drawing/2014/main" id="{81FF8BBD-BAC0-C720-6211-9E7EC901ACB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68" name="Google Shape;1068;p104:notes">
            <a:extLst>
              <a:ext uri="{FF2B5EF4-FFF2-40B4-BE49-F238E27FC236}">
                <a16:creationId xmlns:a16="http://schemas.microsoft.com/office/drawing/2014/main" id="{0CCB709F-D59C-0382-C1F5-E1913762B33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9244375"/>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6"/>
        <p:cNvGrpSpPr/>
        <p:nvPr/>
      </p:nvGrpSpPr>
      <p:grpSpPr>
        <a:xfrm>
          <a:off x="0" y="0"/>
          <a:ext cx="0" cy="0"/>
          <a:chOff x="0" y="0"/>
          <a:chExt cx="0" cy="0"/>
        </a:xfrm>
      </p:grpSpPr>
      <p:sp>
        <p:nvSpPr>
          <p:cNvPr id="1087" name="Google Shape;1087;p18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Amanda</a:t>
            </a:r>
            <a:endParaRPr dirty="0"/>
          </a:p>
        </p:txBody>
      </p:sp>
      <p:sp>
        <p:nvSpPr>
          <p:cNvPr id="1088" name="Google Shape;1088;p1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p:cNvGrpSpPr/>
        <p:nvPr/>
      </p:nvGrpSpPr>
      <p:grpSpPr>
        <a:xfrm>
          <a:off x="0" y="0"/>
          <a:ext cx="0" cy="0"/>
          <a:chOff x="0" y="0"/>
          <a:chExt cx="0" cy="0"/>
        </a:xfrm>
      </p:grpSpPr>
      <p:sp>
        <p:nvSpPr>
          <p:cNvPr id="1102" name="Google Shape;1102;g2c2858bf369_0_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3" name="Google Shape;1103;g2c2858bf369_0_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4" name="Google Shape;1104;g2c2858bf369_0_3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142</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a:extLst>
            <a:ext uri="{FF2B5EF4-FFF2-40B4-BE49-F238E27FC236}">
              <a16:creationId xmlns:a16="http://schemas.microsoft.com/office/drawing/2014/main" id="{6E6E7379-63EF-81A6-4F5C-669BFDF50ECB}"/>
            </a:ext>
          </a:extLst>
        </p:cNvPr>
        <p:cNvGrpSpPr/>
        <p:nvPr/>
      </p:nvGrpSpPr>
      <p:grpSpPr>
        <a:xfrm>
          <a:off x="0" y="0"/>
          <a:ext cx="0" cy="0"/>
          <a:chOff x="0" y="0"/>
          <a:chExt cx="0" cy="0"/>
        </a:xfrm>
      </p:grpSpPr>
      <p:sp>
        <p:nvSpPr>
          <p:cNvPr id="1102" name="Google Shape;1102;g2c2858bf369_0_30:notes">
            <a:extLst>
              <a:ext uri="{FF2B5EF4-FFF2-40B4-BE49-F238E27FC236}">
                <a16:creationId xmlns:a16="http://schemas.microsoft.com/office/drawing/2014/main" id="{8A1BFE21-8C24-0302-A070-713DB7725D0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3" name="Google Shape;1103;g2c2858bf369_0_30:notes">
            <a:extLst>
              <a:ext uri="{FF2B5EF4-FFF2-40B4-BE49-F238E27FC236}">
                <a16:creationId xmlns:a16="http://schemas.microsoft.com/office/drawing/2014/main" id="{2E36E68C-3A43-8472-8263-565995479DF1}"/>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4" name="Google Shape;1104;g2c2858bf369_0_30:notes">
            <a:extLst>
              <a:ext uri="{FF2B5EF4-FFF2-40B4-BE49-F238E27FC236}">
                <a16:creationId xmlns:a16="http://schemas.microsoft.com/office/drawing/2014/main" id="{1952AB64-2078-7A6D-C9FE-721BFE88F653}"/>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143</a:t>
            </a:fld>
            <a:endParaRPr/>
          </a:p>
        </p:txBody>
      </p:sp>
    </p:spTree>
    <p:extLst>
      <p:ext uri="{BB962C8B-B14F-4D97-AF65-F5344CB8AC3E}">
        <p14:creationId xmlns:p14="http://schemas.microsoft.com/office/powerpoint/2010/main" val="1342454185"/>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9"/>
        <p:cNvGrpSpPr/>
        <p:nvPr/>
      </p:nvGrpSpPr>
      <p:grpSpPr>
        <a:xfrm>
          <a:off x="0" y="0"/>
          <a:ext cx="0" cy="0"/>
          <a:chOff x="0" y="0"/>
          <a:chExt cx="0" cy="0"/>
        </a:xfrm>
      </p:grpSpPr>
      <p:sp>
        <p:nvSpPr>
          <p:cNvPr id="1170" name="Google Shape;1170;g2c03590cb7c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1" name="Google Shape;1171;g2c03590cb7c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It would be helpful translate the beta coefficients into changes in the population distribution of the outcome. We can impose the estimated association between education and blood pressure at each quantile of blood pressure, we can use this to show one potential difference between the observed distribution of blood pressure and what it would have been if the average educational attainment of the population had increased by 1 year.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dirty="0"/>
          </a:p>
          <a:p>
            <a:pPr marL="0" lvl="0" indent="0" algn="l" rtl="0">
              <a:spcBef>
                <a:spcPts val="0"/>
              </a:spcBef>
              <a:spcAft>
                <a:spcPts val="0"/>
              </a:spcAft>
              <a:buNone/>
            </a:pPr>
            <a:r>
              <a:rPr lang="en-US" dirty="0"/>
              <a:t>From paper on how to create these plots – explained in appendix of AJE paper</a:t>
            </a:r>
          </a:p>
        </p:txBody>
      </p:sp>
      <p:sp>
        <p:nvSpPr>
          <p:cNvPr id="1172" name="Google Shape;1172;g2c03590cb7c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144</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p10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68" name="Google Shape;1068;p1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3722737"/>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7"/>
        <p:cNvGrpSpPr/>
        <p:nvPr/>
      </p:nvGrpSpPr>
      <p:grpSpPr>
        <a:xfrm>
          <a:off x="0" y="0"/>
          <a:ext cx="0" cy="0"/>
          <a:chOff x="0" y="0"/>
          <a:chExt cx="0" cy="0"/>
        </a:xfrm>
      </p:grpSpPr>
      <p:sp>
        <p:nvSpPr>
          <p:cNvPr id="1228" name="Google Shape;1228;p20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Amanda</a:t>
            </a:r>
            <a:endParaRPr dirty="0"/>
          </a:p>
        </p:txBody>
      </p:sp>
      <p:sp>
        <p:nvSpPr>
          <p:cNvPr id="1229" name="Google Shape;1229;p2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2910653"/>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147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13655284"/>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7"/>
        <p:cNvGrpSpPr/>
        <p:nvPr/>
      </p:nvGrpSpPr>
      <p:grpSpPr>
        <a:xfrm>
          <a:off x="0" y="0"/>
          <a:ext cx="0" cy="0"/>
          <a:chOff x="0" y="0"/>
          <a:chExt cx="0" cy="0"/>
        </a:xfrm>
      </p:grpSpPr>
      <p:sp>
        <p:nvSpPr>
          <p:cNvPr id="1148" name="Google Shape;1148;p19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49" name="Google Shape;1149;p1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7"/>
        <p:cNvGrpSpPr/>
        <p:nvPr/>
      </p:nvGrpSpPr>
      <p:grpSpPr>
        <a:xfrm>
          <a:off x="0" y="0"/>
          <a:ext cx="0" cy="0"/>
          <a:chOff x="0" y="0"/>
          <a:chExt cx="0" cy="0"/>
        </a:xfrm>
      </p:grpSpPr>
      <p:sp>
        <p:nvSpPr>
          <p:cNvPr id="1228" name="Google Shape;1228;p20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Jilly</a:t>
            </a:r>
            <a:endParaRPr dirty="0"/>
          </a:p>
        </p:txBody>
      </p:sp>
      <p:sp>
        <p:nvSpPr>
          <p:cNvPr id="1229" name="Google Shape;1229;p2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0"/>
        <p:cNvGrpSpPr/>
        <p:nvPr/>
      </p:nvGrpSpPr>
      <p:grpSpPr>
        <a:xfrm>
          <a:off x="0" y="0"/>
          <a:ext cx="0" cy="0"/>
          <a:chOff x="0" y="0"/>
          <a:chExt cx="0" cy="0"/>
        </a:xfrm>
      </p:grpSpPr>
      <p:sp>
        <p:nvSpPr>
          <p:cNvPr id="1141" name="Google Shape;1141;p19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2" name="Google Shape;1142;p1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7"/>
        <p:cNvGrpSpPr/>
        <p:nvPr/>
      </p:nvGrpSpPr>
      <p:grpSpPr>
        <a:xfrm>
          <a:off x="0" y="0"/>
          <a:ext cx="0" cy="0"/>
          <a:chOff x="0" y="0"/>
          <a:chExt cx="0" cy="0"/>
        </a:xfrm>
      </p:grpSpPr>
      <p:sp>
        <p:nvSpPr>
          <p:cNvPr id="1148" name="Google Shape;1148;p19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Use concrete example of adding sex to education-SBP example</a:t>
            </a:r>
            <a:endParaRPr dirty="0"/>
          </a:p>
        </p:txBody>
      </p:sp>
      <p:sp>
        <p:nvSpPr>
          <p:cNvPr id="1149" name="Google Shape;1149;p1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3863862"/>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19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Char char="•"/>
            </a:pPr>
            <a:r>
              <a:rPr lang="en-US" dirty="0"/>
              <a:t>May find your choice is limited by tools available, in which case you’ll want to be careful in how you interpret your coefficients</a:t>
            </a:r>
          </a:p>
          <a:p>
            <a:pPr marL="228600" lvl="0" indent="-228600" algn="l" rtl="0">
              <a:lnSpc>
                <a:spcPct val="90000"/>
              </a:lnSpc>
              <a:spcBef>
                <a:spcPts val="0"/>
              </a:spcBef>
              <a:spcAft>
                <a:spcPts val="0"/>
              </a:spcAft>
              <a:buClr>
                <a:schemeClr val="dk1"/>
              </a:buClr>
              <a:buSzPts val="2800"/>
              <a:buChar char="•"/>
            </a:pPr>
            <a:endParaRPr lang="en-US" dirty="0"/>
          </a:p>
          <a:p>
            <a:pPr marL="228600" lvl="0" indent="-228600" algn="l" rtl="0">
              <a:lnSpc>
                <a:spcPct val="90000"/>
              </a:lnSpc>
              <a:spcBef>
                <a:spcPts val="0"/>
              </a:spcBef>
              <a:spcAft>
                <a:spcPts val="0"/>
              </a:spcAft>
              <a:buClr>
                <a:schemeClr val="dk1"/>
              </a:buClr>
              <a:buSzPts val="2800"/>
              <a:buChar char="•"/>
            </a:pPr>
            <a:r>
              <a:rPr lang="en-US" dirty="0"/>
              <a:t>AI deleted this next point b/c don’t think it’s helpful, and the point about UQR and exogeneity b/c I think that’s still true for CQR??</a:t>
            </a:r>
          </a:p>
          <a:p>
            <a:pPr marL="228600" lvl="0" indent="-228600" algn="l" rtl="0">
              <a:lnSpc>
                <a:spcPct val="90000"/>
              </a:lnSpc>
              <a:spcBef>
                <a:spcPts val="0"/>
              </a:spcBef>
              <a:spcAft>
                <a:spcPts val="0"/>
              </a:spcAft>
              <a:buClr>
                <a:schemeClr val="dk1"/>
              </a:buClr>
              <a:buSzPts val="2800"/>
              <a:buChar char="•"/>
            </a:pPr>
            <a:r>
              <a:rPr lang="en-US" dirty="0"/>
              <a:t>What’s the data generating process?</a:t>
            </a:r>
          </a:p>
          <a:p>
            <a:pPr marL="685800" lvl="1" indent="-228600" algn="l" rtl="0">
              <a:lnSpc>
                <a:spcPct val="90000"/>
              </a:lnSpc>
              <a:spcBef>
                <a:spcPts val="500"/>
              </a:spcBef>
              <a:spcAft>
                <a:spcPts val="0"/>
              </a:spcAft>
              <a:buClr>
                <a:schemeClr val="dk1"/>
              </a:buClr>
              <a:buSzPts val="2400"/>
              <a:buChar char="•"/>
            </a:pPr>
            <a:r>
              <a:rPr lang="en-US" dirty="0"/>
              <a:t>Any </a:t>
            </a:r>
            <a:r>
              <a:rPr lang="en-US" dirty="0">
                <a:solidFill>
                  <a:srgbClr val="FF9300"/>
                </a:solidFill>
              </a:rPr>
              <a:t>interactions</a:t>
            </a:r>
            <a:r>
              <a:rPr lang="en-US" dirty="0"/>
              <a:t> between the exposure and covariates? If yes, CQR estimates do not generalize to quantiles of the unconditional outcome distribution</a:t>
            </a:r>
          </a:p>
          <a:p>
            <a:pPr marL="228600" lvl="0" indent="-228600" algn="l" rtl="0">
              <a:lnSpc>
                <a:spcPct val="90000"/>
              </a:lnSpc>
              <a:spcBef>
                <a:spcPts val="500"/>
              </a:spcBef>
              <a:spcAft>
                <a:spcPts val="0"/>
              </a:spcAft>
              <a:buClr>
                <a:schemeClr val="dk1"/>
              </a:buClr>
              <a:buSzPts val="2400"/>
              <a:buChar char="•"/>
            </a:pPr>
            <a:r>
              <a:rPr lang="en-US" dirty="0"/>
              <a:t>UQR assumes all covariates included in the model are exogenous (i.e., unconfounded)</a:t>
            </a:r>
          </a:p>
          <a:p>
            <a:pPr marL="685800" lvl="1" indent="-228600" algn="l" rtl="0">
              <a:lnSpc>
                <a:spcPct val="90000"/>
              </a:lnSpc>
              <a:spcBef>
                <a:spcPts val="500"/>
              </a:spcBef>
              <a:spcAft>
                <a:spcPts val="0"/>
              </a:spcAft>
              <a:buClr>
                <a:schemeClr val="dk1"/>
              </a:buClr>
              <a:buSzPts val="2400"/>
              <a:buChar char="•"/>
            </a:pPr>
            <a:endParaRPr lang="en-US" dirty="0"/>
          </a:p>
          <a:p>
            <a:pPr marL="0" lvl="0" indent="0" algn="l" rtl="0">
              <a:spcBef>
                <a:spcPts val="0"/>
              </a:spcBef>
              <a:spcAft>
                <a:spcPts val="0"/>
              </a:spcAft>
              <a:buNone/>
            </a:pPr>
            <a:endParaRPr dirty="0"/>
          </a:p>
        </p:txBody>
      </p:sp>
      <p:sp>
        <p:nvSpPr>
          <p:cNvPr id="1156" name="Google Shape;1156;p1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19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6" name="Google Shape;1156;p1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1517962"/>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p19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6" name="Google Shape;1156;p1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099295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0"/>
        <p:cNvGrpSpPr/>
        <p:nvPr/>
      </p:nvGrpSpPr>
      <p:grpSpPr>
        <a:xfrm>
          <a:off x="0" y="0"/>
          <a:ext cx="0" cy="0"/>
          <a:chOff x="0" y="0"/>
          <a:chExt cx="0" cy="0"/>
        </a:xfrm>
      </p:grpSpPr>
      <p:sp>
        <p:nvSpPr>
          <p:cNvPr id="1281" name="Google Shape;1281;p20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2" name="Google Shape;1282;p2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6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6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6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6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6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6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26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8"/>
        <p:cNvGrpSpPr/>
        <p:nvPr/>
      </p:nvGrpSpPr>
      <p:grpSpPr>
        <a:xfrm>
          <a:off x="0" y="0"/>
          <a:ext cx="0" cy="0"/>
          <a:chOff x="0" y="0"/>
          <a:chExt cx="0" cy="0"/>
        </a:xfrm>
      </p:grpSpPr>
      <p:sp>
        <p:nvSpPr>
          <p:cNvPr id="39" name="Google Shape;39;p2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27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27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27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27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27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7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27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27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27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7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7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7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7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74"/>
          <p:cNvSpPr>
            <a:spLocks noGrp="1"/>
          </p:cNvSpPr>
          <p:nvPr>
            <p:ph type="pic" idx="2"/>
          </p:nvPr>
        </p:nvSpPr>
        <p:spPr>
          <a:xfrm>
            <a:off x="5183188" y="987425"/>
            <a:ext cx="6172200" cy="4873625"/>
          </a:xfrm>
          <a:prstGeom prst="rect">
            <a:avLst/>
          </a:prstGeom>
          <a:noFill/>
          <a:ln>
            <a:noFill/>
          </a:ln>
        </p:spPr>
      </p:sp>
      <p:sp>
        <p:nvSpPr>
          <p:cNvPr id="68" name="Google Shape;68;p27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7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7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7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7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7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7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7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6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6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2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2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2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811.png"/></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10.png"/></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170.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18.jpg"/><Relationship Id="rId7" Type="http://schemas.openxmlformats.org/officeDocument/2006/relationships/image" Target="../media/image20.png"/><Relationship Id="rId2" Type="http://schemas.openxmlformats.org/officeDocument/2006/relationships/notesSlide" Target="../notesSlides/notesSlide49.xml"/><Relationship Id="rId1" Type="http://schemas.openxmlformats.org/officeDocument/2006/relationships/slideLayout" Target="../slideLayouts/slideLayout5.xml"/><Relationship Id="rId6" Type="http://schemas.openxmlformats.org/officeDocument/2006/relationships/hyperlink" Target="https://www.ucl.ac.uk/economics/news/2017/nov/roger-koenker-appointed-honorary-professor-ucl-department-economics" TargetMode="External"/><Relationship Id="rId5" Type="http://schemas.openxmlformats.org/officeDocument/2006/relationships/image" Target="../media/image19.jpg"/><Relationship Id="rId4" Type="http://schemas.openxmlformats.org/officeDocument/2006/relationships/hyperlink" Target="https://gib.people.uic.edu/" TargetMode="External"/></Relationships>
</file>

<file path=ppt/slides/_rels/slide53.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211.png"/></Relationships>
</file>

<file path=ppt/slides/_rels/slide5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73.xml"/><Relationship Id="rId1" Type="http://schemas.openxmlformats.org/officeDocument/2006/relationships/slideLayout" Target="../slideLayouts/slideLayout4.xml"/><Relationship Id="rId5" Type="http://schemas.openxmlformats.org/officeDocument/2006/relationships/hyperlink" Target="https://www.ncbi.nlm.nih.gov/pmc/articles/PMC1884728/pdf/bmj00105-0011.pdf" TargetMode="External"/><Relationship Id="rId4" Type="http://schemas.openxmlformats.org/officeDocument/2006/relationships/image" Target="../media/image32.png"/></Relationships>
</file>

<file path=ppt/slides/_rels/slide7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5.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94.xml"/><Relationship Id="rId1" Type="http://schemas.openxmlformats.org/officeDocument/2006/relationships/slideLayout" Target="../slideLayouts/slideLayout2.xml"/><Relationship Id="rId4" Type="http://schemas.openxmlformats.org/officeDocument/2006/relationships/image" Target="../media/image47.jpeg"/></Relationships>
</file>

<file path=ppt/slides/_rels/slide9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8" Type="http://schemas.openxmlformats.org/officeDocument/2006/relationships/hyperlink" Target="https://economics.ubc.ca/profile/nicole-fortin/" TargetMode="External"/><Relationship Id="rId3" Type="http://schemas.openxmlformats.org/officeDocument/2006/relationships/image" Target="../media/image49.png"/><Relationship Id="rId7" Type="http://schemas.openxmlformats.org/officeDocument/2006/relationships/hyperlink" Target="https://mobile.twitter.com/sergiopfirpo" TargetMode="External"/><Relationship Id="rId2" Type="http://schemas.openxmlformats.org/officeDocument/2006/relationships/notesSlide" Target="../notesSlides/notesSlide97.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jpg"/><Relationship Id="rId4" Type="http://schemas.openxmlformats.org/officeDocument/2006/relationships/image" Target="../media/image50.jpg"/><Relationship Id="rId9" Type="http://schemas.openxmlformats.org/officeDocument/2006/relationships/hyperlink" Target="https://economics.ubc.ca/profile/thomas-lemieux/" TargetMode="External"/></Relationships>
</file>

<file path=ppt/slides/_rels/slide10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98.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451.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6.xml"/><Relationship Id="rId1" Type="http://schemas.openxmlformats.org/officeDocument/2006/relationships/slideLayout" Target="../slideLayouts/slideLayout2.xml"/><Relationship Id="rId6" Type="http://schemas.openxmlformats.org/officeDocument/2006/relationships/image" Target="../media/image500.png"/><Relationship Id="rId5" Type="http://schemas.openxmlformats.org/officeDocument/2006/relationships/image" Target="../media/image491.png"/><Relationship Id="rId4" Type="http://schemas.openxmlformats.org/officeDocument/2006/relationships/image" Target="../media/image480.png"/></Relationships>
</file>

<file path=ppt/slides/_rels/slide11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7.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11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9.xml"/><Relationship Id="rId1" Type="http://schemas.openxmlformats.org/officeDocument/2006/relationships/slideLayout" Target="../slideLayouts/slideLayout2.xml"/><Relationship Id="rId6" Type="http://schemas.openxmlformats.org/officeDocument/2006/relationships/image" Target="../media/image581.png"/><Relationship Id="rId5" Type="http://schemas.openxmlformats.org/officeDocument/2006/relationships/image" Target="../media/image60.png"/><Relationship Id="rId4" Type="http://schemas.openxmlformats.org/officeDocument/2006/relationships/image" Target="../media/image57.png"/></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111.xml"/><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12.xml"/><Relationship Id="rId1" Type="http://schemas.openxmlformats.org/officeDocument/2006/relationships/slideLayout" Target="../slideLayouts/slideLayout2.xml"/><Relationship Id="rId6" Type="http://schemas.openxmlformats.org/officeDocument/2006/relationships/image" Target="../media/image570.png"/><Relationship Id="rId5" Type="http://schemas.openxmlformats.org/officeDocument/2006/relationships/image" Target="../media/image560.png"/><Relationship Id="rId4" Type="http://schemas.openxmlformats.org/officeDocument/2006/relationships/image" Target="../media/image550.png"/></Relationships>
</file>

<file path=ppt/slides/_rels/slide11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580.pn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notesSlide" Target="../notesSlides/notesSlide116.xml"/><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2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3" Type="http://schemas.openxmlformats.org/officeDocument/2006/relationships/image" Target="../media/image690.pn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8.xml"/><Relationship Id="rId1" Type="http://schemas.openxmlformats.org/officeDocument/2006/relationships/slideLayout" Target="../slideLayouts/slideLayout4.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3.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3.xml"/></Relationships>
</file>

<file path=ppt/slides/_rels/slide14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3.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3.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3.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3.xml"/></Relationships>
</file>

<file path=ppt/slides/_rels/slide156.xml.rels><?xml version="1.0" encoding="UTF-8" standalone="yes"?>
<Relationships xmlns="http://schemas.openxmlformats.org/package/2006/relationships"><Relationship Id="rId2" Type="http://schemas.openxmlformats.org/officeDocument/2006/relationships/image" Target="../media/image770.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1">
          <a:extLst>
            <a:ext uri="{FF2B5EF4-FFF2-40B4-BE49-F238E27FC236}">
              <a16:creationId xmlns:a16="http://schemas.microsoft.com/office/drawing/2014/main" id="{7A5B5922-7B91-629D-0EED-B771904F7D41}"/>
            </a:ext>
          </a:extLst>
        </p:cNvPr>
        <p:cNvGrpSpPr/>
        <p:nvPr/>
      </p:nvGrpSpPr>
      <p:grpSpPr>
        <a:xfrm>
          <a:off x="0" y="0"/>
          <a:ext cx="0" cy="0"/>
          <a:chOff x="0" y="0"/>
          <a:chExt cx="0" cy="0"/>
        </a:xfrm>
      </p:grpSpPr>
      <p:sp>
        <p:nvSpPr>
          <p:cNvPr id="352" name="Google Shape;352;p130">
            <a:extLst>
              <a:ext uri="{FF2B5EF4-FFF2-40B4-BE49-F238E27FC236}">
                <a16:creationId xmlns:a16="http://schemas.microsoft.com/office/drawing/2014/main" id="{0A55B8F7-E09E-85DF-C49A-BA14A4F45242}"/>
              </a:ext>
            </a:extLst>
          </p:cNvPr>
          <p:cNvSpPr txBox="1">
            <a:spLocks noGrp="1"/>
          </p:cNvSpPr>
          <p:nvPr>
            <p:ph type="title"/>
          </p:nvPr>
        </p:nvSpPr>
        <p:spPr>
          <a:xfrm>
            <a:off x="2608267" y="2581356"/>
            <a:ext cx="6975466" cy="1695287"/>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rgbClr val="468C8A"/>
              </a:buClr>
              <a:buSzPts val="6000"/>
              <a:buFont typeface="Arial"/>
              <a:buNone/>
            </a:pPr>
            <a:r>
              <a:rPr lang="en-US" b="1" dirty="0">
                <a:solidFill>
                  <a:srgbClr val="FF9300"/>
                </a:solidFill>
              </a:rPr>
              <a:t>Have you registered with the HRS?</a:t>
            </a:r>
            <a:endParaRPr dirty="0">
              <a:solidFill>
                <a:srgbClr val="FF9300"/>
              </a:solidFill>
            </a:endParaRPr>
          </a:p>
        </p:txBody>
      </p:sp>
      <p:sp>
        <p:nvSpPr>
          <p:cNvPr id="353" name="Google Shape;353;p130">
            <a:extLst>
              <a:ext uri="{FF2B5EF4-FFF2-40B4-BE49-F238E27FC236}">
                <a16:creationId xmlns:a16="http://schemas.microsoft.com/office/drawing/2014/main" id="{27449489-57EB-A281-2934-7020CA0832FE}"/>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Tree>
    <p:extLst>
      <p:ext uri="{BB962C8B-B14F-4D97-AF65-F5344CB8AC3E}">
        <p14:creationId xmlns:p14="http://schemas.microsoft.com/office/powerpoint/2010/main" val="579963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524000" y="796159"/>
            <a:ext cx="9144000" cy="2713804"/>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2494C"/>
              </a:buClr>
              <a:buSzPts val="6000"/>
              <a:buFont typeface="Arial"/>
              <a:buNone/>
            </a:pPr>
            <a:r>
              <a:rPr lang="en-US" b="1" dirty="0">
                <a:solidFill>
                  <a:srgbClr val="F2494C"/>
                </a:solidFill>
              </a:rPr>
              <a:t>A Primer on Quantile Regression for Epidemiologists</a:t>
            </a:r>
            <a:endParaRPr dirty="0"/>
          </a:p>
        </p:txBody>
      </p:sp>
      <p:sp>
        <p:nvSpPr>
          <p:cNvPr id="89" name="Google Shape;89;p1"/>
          <p:cNvSpPr txBox="1">
            <a:spLocks noGrp="1"/>
          </p:cNvSpPr>
          <p:nvPr>
            <p:ph type="subTitle" idx="1"/>
          </p:nvPr>
        </p:nvSpPr>
        <p:spPr>
          <a:xfrm>
            <a:off x="1993392" y="3790488"/>
            <a:ext cx="8205216"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468C8A"/>
              </a:buClr>
              <a:buSzPts val="2800"/>
              <a:buNone/>
            </a:pPr>
            <a:r>
              <a:rPr lang="en-US" sz="2800" dirty="0">
                <a:solidFill>
                  <a:srgbClr val="468C8A"/>
                </a:solidFill>
              </a:rPr>
              <a:t>Jilly Hebert, Amanda Irish, and Anusha M. Vable</a:t>
            </a:r>
            <a:endParaRPr dirty="0"/>
          </a:p>
          <a:p>
            <a:pPr marL="0" lvl="0" indent="0" algn="ctr" rtl="0">
              <a:lnSpc>
                <a:spcPct val="90000"/>
              </a:lnSpc>
              <a:spcBef>
                <a:spcPts val="1000"/>
              </a:spcBef>
              <a:spcAft>
                <a:spcPts val="0"/>
              </a:spcAft>
              <a:buClr>
                <a:schemeClr val="dk1"/>
              </a:buClr>
              <a:buSzPts val="900"/>
              <a:buNone/>
            </a:pPr>
            <a:endParaRPr sz="900" dirty="0"/>
          </a:p>
          <a:p>
            <a:pPr marL="0" lvl="0" indent="0" algn="ctr" rtl="0">
              <a:lnSpc>
                <a:spcPct val="90000"/>
              </a:lnSpc>
              <a:spcBef>
                <a:spcPts val="1000"/>
              </a:spcBef>
              <a:spcAft>
                <a:spcPts val="0"/>
              </a:spcAft>
              <a:buClr>
                <a:srgbClr val="FF9300"/>
              </a:buClr>
              <a:buSzPts val="2200"/>
              <a:buNone/>
            </a:pPr>
            <a:r>
              <a:rPr lang="en-US" sz="2200" dirty="0">
                <a:solidFill>
                  <a:srgbClr val="FF9300"/>
                </a:solidFill>
              </a:rPr>
              <a:t>Department of Family and Community Medicine</a:t>
            </a:r>
            <a:br>
              <a:rPr lang="en-US" sz="2200" dirty="0">
                <a:solidFill>
                  <a:srgbClr val="FF9300"/>
                </a:solidFill>
              </a:rPr>
            </a:br>
            <a:r>
              <a:rPr lang="en-US" sz="2200" dirty="0">
                <a:solidFill>
                  <a:srgbClr val="FF9300"/>
                </a:solidFill>
              </a:rPr>
              <a:t>University of California, San Francisco</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Funding and acknowledgements</a:t>
            </a:r>
            <a:endParaRPr dirty="0"/>
          </a:p>
        </p:txBody>
      </p:sp>
      <p:sp>
        <p:nvSpPr>
          <p:cNvPr id="103" name="Google Shape;10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Funding: </a:t>
            </a:r>
            <a:r>
              <a:rPr lang="en-US" dirty="0">
                <a:solidFill>
                  <a:srgbClr val="FF9300"/>
                </a:solidFill>
              </a:rPr>
              <a:t>National Institute on Aging</a:t>
            </a:r>
            <a:r>
              <a:rPr lang="en-US" dirty="0"/>
              <a:t> (</a:t>
            </a:r>
            <a:r>
              <a:rPr lang="en-US" b="0" i="0" u="none" strike="noStrike" dirty="0">
                <a:solidFill>
                  <a:srgbClr val="000000"/>
                </a:solidFill>
              </a:rPr>
              <a:t>R01 AG069092</a:t>
            </a:r>
            <a:r>
              <a:rPr lang="en-US" dirty="0"/>
              <a:t>, PI Vable).</a:t>
            </a:r>
            <a:endParaRPr dirty="0"/>
          </a:p>
          <a:p>
            <a:pPr marL="228600" lvl="0" indent="-50800" algn="l" rtl="0">
              <a:lnSpc>
                <a:spcPct val="90000"/>
              </a:lnSpc>
              <a:spcBef>
                <a:spcPts val="1000"/>
              </a:spcBef>
              <a:spcAft>
                <a:spcPts val="0"/>
              </a:spcAft>
              <a:buClr>
                <a:schemeClr val="dk1"/>
              </a:buClr>
              <a:buSzPts val="2800"/>
              <a:buNone/>
            </a:pPr>
            <a:endParaRPr dirty="0"/>
          </a:p>
          <a:p>
            <a:pPr marL="228600" lvl="0" indent="-228600" algn="l" rtl="0">
              <a:lnSpc>
                <a:spcPct val="90000"/>
              </a:lnSpc>
              <a:spcBef>
                <a:spcPts val="1000"/>
              </a:spcBef>
              <a:spcAft>
                <a:spcPts val="0"/>
              </a:spcAft>
              <a:buClr>
                <a:schemeClr val="dk1"/>
              </a:buClr>
              <a:buSzPts val="2800"/>
              <a:buChar char="•"/>
            </a:pPr>
            <a:r>
              <a:rPr lang="en-US" dirty="0"/>
              <a:t>Many thanks to:</a:t>
            </a:r>
            <a:endParaRPr dirty="0"/>
          </a:p>
          <a:p>
            <a:pPr marL="685800" lvl="1" indent="-228600" algn="l" rtl="0">
              <a:lnSpc>
                <a:spcPct val="90000"/>
              </a:lnSpc>
              <a:spcBef>
                <a:spcPts val="500"/>
              </a:spcBef>
              <a:spcAft>
                <a:spcPts val="0"/>
              </a:spcAft>
              <a:buClr>
                <a:schemeClr val="dk1"/>
              </a:buClr>
              <a:buSzPts val="2400"/>
              <a:buChar char="•"/>
            </a:pPr>
            <a:r>
              <a:rPr lang="en-US" dirty="0"/>
              <a:t>Dr. Aayush Khadka</a:t>
            </a:r>
          </a:p>
          <a:p>
            <a:pPr marL="685800" lvl="1" indent="-228600" algn="l" rtl="0">
              <a:lnSpc>
                <a:spcPct val="90000"/>
              </a:lnSpc>
              <a:spcBef>
                <a:spcPts val="500"/>
              </a:spcBef>
              <a:spcAft>
                <a:spcPts val="0"/>
              </a:spcAft>
              <a:buClr>
                <a:schemeClr val="dk1"/>
              </a:buClr>
              <a:buSzPts val="2400"/>
              <a:buChar char="•"/>
            </a:pPr>
            <a:r>
              <a:rPr lang="en-US" dirty="0"/>
              <a:t>VabLab team</a:t>
            </a:r>
            <a:endParaRPr dirty="0"/>
          </a:p>
          <a:p>
            <a:pPr marL="685800" lvl="1" indent="-228600" algn="l" rtl="0">
              <a:lnSpc>
                <a:spcPct val="90000"/>
              </a:lnSpc>
              <a:spcBef>
                <a:spcPts val="500"/>
              </a:spcBef>
              <a:spcAft>
                <a:spcPts val="0"/>
              </a:spcAft>
              <a:buClr>
                <a:schemeClr val="dk1"/>
              </a:buClr>
              <a:buSzPts val="2400"/>
              <a:buChar char="•"/>
            </a:pPr>
            <a:r>
              <a:rPr lang="en-US" dirty="0"/>
              <a:t>Maria </a:t>
            </a:r>
            <a:r>
              <a:rPr lang="en-US" dirty="0" err="1"/>
              <a:t>Glymour’s</a:t>
            </a:r>
            <a:r>
              <a:rPr lang="en-US" dirty="0"/>
              <a:t> research team</a:t>
            </a:r>
            <a:endParaRPr dirty="0"/>
          </a:p>
          <a:p>
            <a:pPr marL="685800" lvl="1" indent="-228600" algn="l" rtl="0">
              <a:lnSpc>
                <a:spcPct val="90000"/>
              </a:lnSpc>
              <a:spcBef>
                <a:spcPts val="500"/>
              </a:spcBef>
              <a:spcAft>
                <a:spcPts val="0"/>
              </a:spcAft>
              <a:buClr>
                <a:schemeClr val="dk1"/>
              </a:buClr>
              <a:buSzPts val="2400"/>
              <a:buChar char="•"/>
            </a:pPr>
            <a:r>
              <a:rPr lang="en-US" dirty="0"/>
              <a:t>Dr. Catherine Duarte</a:t>
            </a:r>
            <a:endParaRPr dirty="0"/>
          </a:p>
        </p:txBody>
      </p:sp>
      <p:sp>
        <p:nvSpPr>
          <p:cNvPr id="104" name="Google Shape;104;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3"/>
        <p:cNvGrpSpPr/>
        <p:nvPr/>
      </p:nvGrpSpPr>
      <p:grpSpPr>
        <a:xfrm>
          <a:off x="0" y="0"/>
          <a:ext cx="0" cy="0"/>
          <a:chOff x="0" y="0"/>
          <a:chExt cx="0" cy="0"/>
        </a:xfrm>
      </p:grpSpPr>
      <p:pic>
        <p:nvPicPr>
          <p:cNvPr id="3" name="Picture 2" descr="A screenshot of a website&#10;&#10;AI-generated content may be incorrect.">
            <a:extLst>
              <a:ext uri="{FF2B5EF4-FFF2-40B4-BE49-F238E27FC236}">
                <a16:creationId xmlns:a16="http://schemas.microsoft.com/office/drawing/2014/main" id="{4A469F78-D1F8-6718-A4EC-A1BEC9BA2A36}"/>
              </a:ext>
            </a:extLst>
          </p:cNvPr>
          <p:cNvPicPr>
            <a:picLocks noChangeAspect="1"/>
          </p:cNvPicPr>
          <p:nvPr/>
        </p:nvPicPr>
        <p:blipFill>
          <a:blip r:embed="rId3"/>
          <a:stretch>
            <a:fillRect/>
          </a:stretch>
        </p:blipFill>
        <p:spPr>
          <a:xfrm>
            <a:off x="484632" y="1875863"/>
            <a:ext cx="6716272" cy="3106274"/>
          </a:xfrm>
          <a:prstGeom prst="rect">
            <a:avLst/>
          </a:prstGeom>
        </p:spPr>
      </p:pic>
      <p:sp>
        <p:nvSpPr>
          <p:cNvPr id="96" name="Google Shape;96;p2"/>
          <p:cNvSpPr txBox="1">
            <a:spLocks noGrp="1"/>
          </p:cNvSpPr>
          <p:nvPr>
            <p:ph type="sldNum" idx="12"/>
          </p:nvPr>
        </p:nvSpPr>
        <p:spPr>
          <a:xfrm>
            <a:off x="10917767" y="6500896"/>
            <a:ext cx="952499" cy="274320"/>
          </a:xfrm>
          <a:prstGeom prst="rect">
            <a:avLst/>
          </a:prstGeom>
        </p:spPr>
        <p:txBody>
          <a:bodyPr spcFirstLastPara="1" vert="horz" lIns="91440" tIns="45720" rIns="91440" bIns="45720" rtlCol="0" anchor="ctr" anchorCtr="0">
            <a:normAutofit/>
          </a:bodyPr>
          <a:lstStyle/>
          <a:p>
            <a:pPr lvl="0" indent="0">
              <a:lnSpc>
                <a:spcPct val="90000"/>
              </a:lnSpc>
              <a:spcBef>
                <a:spcPts val="0"/>
              </a:spcBef>
              <a:spcAft>
                <a:spcPts val="600"/>
              </a:spcAft>
              <a:buNone/>
            </a:pPr>
            <a:fld id="{00000000-1234-1234-1234-123412341234}" type="slidenum">
              <a:rPr lang="en-US" sz="700" kern="1200">
                <a:solidFill>
                  <a:schemeClr val="tx1">
                    <a:tint val="75000"/>
                  </a:schemeClr>
                </a:solidFill>
                <a:latin typeface="+mn-lt"/>
                <a:ea typeface="+mn-ea"/>
                <a:cs typeface="+mn-cs"/>
              </a:rPr>
              <a:pPr lvl="0" indent="0">
                <a:lnSpc>
                  <a:spcPct val="90000"/>
                </a:lnSpc>
                <a:spcBef>
                  <a:spcPts val="0"/>
                </a:spcBef>
                <a:spcAft>
                  <a:spcPts val="600"/>
                </a:spcAft>
                <a:buNone/>
              </a:pPr>
              <a:t>4</a:t>
            </a:fld>
            <a:endParaRPr lang="en-US" sz="700" kern="1200">
              <a:solidFill>
                <a:schemeClr val="tx1">
                  <a:tint val="75000"/>
                </a:schemeClr>
              </a:solidFill>
              <a:latin typeface="+mn-lt"/>
              <a:ea typeface="+mn-ea"/>
              <a:cs typeface="+mn-cs"/>
            </a:endParaRPr>
          </a:p>
        </p:txBody>
      </p:sp>
      <p:pic>
        <p:nvPicPr>
          <p:cNvPr id="4" name="Picture 3">
            <a:extLst>
              <a:ext uri="{FF2B5EF4-FFF2-40B4-BE49-F238E27FC236}">
                <a16:creationId xmlns:a16="http://schemas.microsoft.com/office/drawing/2014/main" id="{0F22B571-6CB9-2AB0-7740-CD3101DE04B7}"/>
              </a:ext>
            </a:extLst>
          </p:cNvPr>
          <p:cNvPicPr>
            <a:picLocks noChangeAspect="1"/>
          </p:cNvPicPr>
          <p:nvPr/>
        </p:nvPicPr>
        <p:blipFill>
          <a:blip r:embed="rId4"/>
          <a:stretch>
            <a:fillRect/>
          </a:stretch>
        </p:blipFill>
        <p:spPr>
          <a:xfrm>
            <a:off x="8186121" y="1184583"/>
            <a:ext cx="3093247" cy="448883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Teaching resources</a:t>
            </a:r>
            <a:endParaRPr/>
          </a:p>
        </p:txBody>
      </p:sp>
      <p:sp>
        <p:nvSpPr>
          <p:cNvPr id="148" name="Google Shape;148;p9"/>
          <p:cNvSpPr txBox="1">
            <a:spLocks noGrp="1"/>
          </p:cNvSpPr>
          <p:nvPr>
            <p:ph type="body" idx="1"/>
          </p:nvPr>
        </p:nvSpPr>
        <p:spPr>
          <a:xfrm>
            <a:off x="838200" y="1825625"/>
            <a:ext cx="10515600" cy="466725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FF9300"/>
              </a:buClr>
              <a:buSzPts val="2800"/>
              <a:buChar char="•"/>
            </a:pPr>
            <a:r>
              <a:rPr lang="en-US" dirty="0">
                <a:solidFill>
                  <a:srgbClr val="FF9300"/>
                </a:solidFill>
              </a:rPr>
              <a:t>Slide deck: </a:t>
            </a:r>
            <a:r>
              <a:rPr lang="en-US" dirty="0"/>
              <a:t>theory discussion</a:t>
            </a:r>
            <a:endParaRPr dirty="0"/>
          </a:p>
          <a:p>
            <a:pPr marL="685800" lvl="1" indent="-228600" algn="l" rtl="0">
              <a:lnSpc>
                <a:spcPct val="90000"/>
              </a:lnSpc>
              <a:spcBef>
                <a:spcPts val="500"/>
              </a:spcBef>
              <a:spcAft>
                <a:spcPts val="0"/>
              </a:spcAft>
              <a:buClr>
                <a:srgbClr val="FF9300"/>
              </a:buClr>
              <a:buSzPts val="2400"/>
              <a:buChar char="•"/>
            </a:pPr>
            <a:r>
              <a:rPr lang="en-US" dirty="0"/>
              <a:t>     : Key point</a:t>
            </a:r>
            <a:endParaRPr dirty="0"/>
          </a:p>
          <a:p>
            <a:pPr marL="228600" lvl="0" indent="-50800" algn="l" rtl="0">
              <a:lnSpc>
                <a:spcPct val="90000"/>
              </a:lnSpc>
              <a:spcBef>
                <a:spcPts val="1000"/>
              </a:spcBef>
              <a:spcAft>
                <a:spcPts val="0"/>
              </a:spcAft>
              <a:buClr>
                <a:schemeClr val="dk1"/>
              </a:buClr>
              <a:buSzPts val="2800"/>
              <a:buNone/>
            </a:pPr>
            <a:endParaRPr dirty="0"/>
          </a:p>
          <a:p>
            <a:pPr marL="228600" lvl="0" indent="-228600" algn="l" rtl="0">
              <a:lnSpc>
                <a:spcPct val="90000"/>
              </a:lnSpc>
              <a:spcBef>
                <a:spcPts val="1000"/>
              </a:spcBef>
              <a:spcAft>
                <a:spcPts val="0"/>
              </a:spcAft>
              <a:buClr>
                <a:srgbClr val="FF9300"/>
              </a:buClr>
              <a:buSzPts val="2800"/>
              <a:buChar char="•"/>
            </a:pPr>
            <a:r>
              <a:rPr lang="en-US" dirty="0">
                <a:solidFill>
                  <a:srgbClr val="FF9300"/>
                </a:solidFill>
              </a:rPr>
              <a:t>GitHub: </a:t>
            </a:r>
            <a:r>
              <a:rPr lang="en-US" dirty="0"/>
              <a:t>includes the R code scripts, slide deck, and other resources</a:t>
            </a:r>
            <a:endParaRPr dirty="0"/>
          </a:p>
          <a:p>
            <a:pPr marL="685800" lvl="1" indent="-228600" algn="l" rtl="0">
              <a:lnSpc>
                <a:spcPct val="90000"/>
              </a:lnSpc>
              <a:spcBef>
                <a:spcPts val="500"/>
              </a:spcBef>
              <a:spcAft>
                <a:spcPts val="0"/>
              </a:spcAft>
              <a:buClr>
                <a:srgbClr val="F2494C"/>
              </a:buClr>
              <a:buSzPts val="2400"/>
              <a:buChar char="•"/>
            </a:pPr>
            <a:r>
              <a:rPr lang="en-US" dirty="0">
                <a:solidFill>
                  <a:srgbClr val="F2494C"/>
                </a:solidFill>
              </a:rPr>
              <a:t>Link:</a:t>
            </a:r>
            <a:r>
              <a:rPr lang="en-US" dirty="0"/>
              <a:t> </a:t>
            </a:r>
            <a:r>
              <a:rPr lang="en-US" u="sng" dirty="0">
                <a:solidFill>
                  <a:schemeClr val="hlink"/>
                </a:solidFill>
              </a:rPr>
              <a:t>https://</a:t>
            </a:r>
            <a:r>
              <a:rPr lang="en-US" u="sng" dirty="0" err="1">
                <a:solidFill>
                  <a:schemeClr val="hlink"/>
                </a:solidFill>
              </a:rPr>
              <a:t>github.com</a:t>
            </a:r>
            <a:r>
              <a:rPr lang="en-US" u="sng" dirty="0">
                <a:solidFill>
                  <a:schemeClr val="hlink"/>
                </a:solidFill>
              </a:rPr>
              <a:t>/VabLab/Quantile-Regression-Workshop</a:t>
            </a:r>
            <a:endParaRPr dirty="0"/>
          </a:p>
        </p:txBody>
      </p:sp>
      <p:sp>
        <p:nvSpPr>
          <p:cNvPr id="149" name="Google Shape;149;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150" name="Google Shape;150;p9"/>
          <p:cNvSpPr/>
          <p:nvPr/>
        </p:nvSpPr>
        <p:spPr>
          <a:xfrm>
            <a:off x="1583703" y="2253006"/>
            <a:ext cx="391463" cy="386499"/>
          </a:xfrm>
          <a:prstGeom prst="star5">
            <a:avLst>
              <a:gd name="adj" fmla="val 19098"/>
              <a:gd name="hf" fmla="val 105146"/>
              <a:gd name="vf" fmla="val 110557"/>
            </a:avLst>
          </a:prstGeom>
          <a:solidFill>
            <a:srgbClr val="FF9300"/>
          </a:solidFill>
          <a:ln w="12700" cap="flat" cmpd="sng">
            <a:solidFill>
              <a:srgbClr val="FF93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Overall learning aims</a:t>
            </a:r>
            <a:endParaRPr/>
          </a:p>
        </p:txBody>
      </p:sp>
      <p:sp>
        <p:nvSpPr>
          <p:cNvPr id="111" name="Google Shape;111;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graphicFrame>
        <p:nvGraphicFramePr>
          <p:cNvPr id="112" name="Google Shape;112;p4"/>
          <p:cNvGraphicFramePr/>
          <p:nvPr>
            <p:extLst>
              <p:ext uri="{D42A27DB-BD31-4B8C-83A1-F6EECF244321}">
                <p14:modId xmlns:p14="http://schemas.microsoft.com/office/powerpoint/2010/main" val="284957444"/>
              </p:ext>
            </p:extLst>
          </p:nvPr>
        </p:nvGraphicFramePr>
        <p:xfrm>
          <a:off x="838200" y="2146300"/>
          <a:ext cx="10972800" cy="3108980"/>
        </p:xfrm>
        <a:graphic>
          <a:graphicData uri="http://schemas.openxmlformats.org/drawingml/2006/table">
            <a:tbl>
              <a:tblPr firstRow="1" bandRow="1">
                <a:noFill/>
                <a:tableStyleId>{FB4756AE-ACC1-4F6F-B641-2C8A4B7F3228}</a:tableStyleId>
              </a:tblPr>
              <a:tblGrid>
                <a:gridCol w="54864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65750">
                <a:tc>
                  <a:txBody>
                    <a:bodyPr/>
                    <a:lstStyle/>
                    <a:p>
                      <a:pPr marL="0" marR="0" lvl="0" indent="0" algn="ctr" rtl="0">
                        <a:spcBef>
                          <a:spcPts val="0"/>
                        </a:spcBef>
                        <a:spcAft>
                          <a:spcPts val="0"/>
                        </a:spcAft>
                        <a:buNone/>
                      </a:pPr>
                      <a:r>
                        <a:rPr lang="en-US" sz="1800" b="1" u="none" strike="noStrike" cap="none">
                          <a:solidFill>
                            <a:srgbClr val="F2494C"/>
                          </a:solidFill>
                        </a:rPr>
                        <a:t>Theory</a:t>
                      </a:r>
                      <a:endParaRPr/>
                    </a:p>
                  </a:txBody>
                  <a:tcPr marL="91450" marR="91450" marT="45725" marB="45725">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b="1" u="none" strike="noStrike" cap="none">
                          <a:solidFill>
                            <a:srgbClr val="F2494C"/>
                          </a:solidFill>
                        </a:rPr>
                        <a:t>Practice</a:t>
                      </a:r>
                      <a:endParaRPr/>
                    </a:p>
                  </a:txBody>
                  <a:tcPr marL="91450" marR="91450" marT="45725" marB="45725">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914400">
                <a:tc>
                  <a:txBody>
                    <a:bodyPr/>
                    <a:lstStyle/>
                    <a:p>
                      <a:pPr marL="0" marR="0" lvl="0" indent="0" algn="l" rtl="0">
                        <a:spcBef>
                          <a:spcPts val="0"/>
                        </a:spcBef>
                        <a:spcAft>
                          <a:spcPts val="0"/>
                        </a:spcAft>
                        <a:buNone/>
                      </a:pPr>
                      <a:r>
                        <a:rPr lang="en-US" sz="1800" u="none" strike="noStrike" cap="none"/>
                        <a:t>What is quantile regression and why do we care about it?</a:t>
                      </a:r>
                      <a:endParaRPr/>
                    </a:p>
                  </a:txBody>
                  <a:tcPr marL="91450" marR="91450" marT="45725" marB="45725">
                    <a:lnT w="12700" cap="flat" cmpd="sng">
                      <a:solidFill>
                        <a:schemeClr val="dk1"/>
                      </a:solidFill>
                      <a:prstDash val="solid"/>
                      <a:round/>
                      <a:headEnd type="none" w="sm" len="sm"/>
                      <a:tailEnd type="none" w="sm" len="sm"/>
                    </a:lnT>
                  </a:tcPr>
                </a:tc>
                <a:tc>
                  <a:txBody>
                    <a:bodyPr/>
                    <a:lstStyle/>
                    <a:p>
                      <a:pPr marL="0" marR="0" lvl="0" indent="0" algn="l" rtl="0">
                        <a:spcBef>
                          <a:spcPts val="0"/>
                        </a:spcBef>
                        <a:spcAft>
                          <a:spcPts val="0"/>
                        </a:spcAft>
                        <a:buNone/>
                      </a:pPr>
                      <a:r>
                        <a:rPr lang="en-US" sz="1800"/>
                        <a:t>How do we run quantile regression analyses in R?</a:t>
                      </a:r>
                      <a:endParaRPr/>
                    </a:p>
                  </a:txBody>
                  <a:tcPr marL="91450" marR="91450" marT="45725" marB="45725">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1"/>
                  </a:ext>
                </a:extLst>
              </a:tr>
              <a:tr h="914400">
                <a:tc>
                  <a:txBody>
                    <a:bodyPr/>
                    <a:lstStyle/>
                    <a:p>
                      <a:pPr marL="0" marR="0" lvl="0" indent="0" algn="l" rtl="0">
                        <a:spcBef>
                          <a:spcPts val="0"/>
                        </a:spcBef>
                        <a:spcAft>
                          <a:spcPts val="0"/>
                        </a:spcAft>
                        <a:buNone/>
                      </a:pPr>
                      <a:r>
                        <a:rPr lang="en-US" sz="1800"/>
                        <a:t>How does quantile regression differ from mean regression?</a:t>
                      </a:r>
                      <a:endParaRPr/>
                    </a:p>
                  </a:txBody>
                  <a:tcPr marL="91450" marR="91450" marT="45725" marB="45725"/>
                </a:tc>
                <a:tc>
                  <a:txBody>
                    <a:bodyPr/>
                    <a:lstStyle/>
                    <a:p>
                      <a:pPr marL="0" marR="0" lvl="0" indent="0" algn="l" rtl="0">
                        <a:spcBef>
                          <a:spcPts val="0"/>
                        </a:spcBef>
                        <a:spcAft>
                          <a:spcPts val="0"/>
                        </a:spcAft>
                        <a:buNone/>
                      </a:pPr>
                      <a:r>
                        <a:rPr lang="en-US" sz="1800"/>
                        <a:t>How can we visualize quantile regression coefficients?</a:t>
                      </a:r>
                      <a:endParaRPr/>
                    </a:p>
                  </a:txBody>
                  <a:tcPr marL="91450" marR="91450" marT="45725" marB="45725"/>
                </a:tc>
                <a:extLst>
                  <a:ext uri="{0D108BD9-81ED-4DB2-BD59-A6C34878D82A}">
                    <a16:rowId xmlns:a16="http://schemas.microsoft.com/office/drawing/2014/main" val="10002"/>
                  </a:ext>
                </a:extLst>
              </a:tr>
              <a:tr h="914400">
                <a:tc>
                  <a:txBody>
                    <a:bodyPr/>
                    <a:lstStyle/>
                    <a:p>
                      <a:pPr marL="0" marR="0" lvl="0" indent="0" algn="l" rtl="0">
                        <a:spcBef>
                          <a:spcPts val="0"/>
                        </a:spcBef>
                        <a:spcAft>
                          <a:spcPts val="0"/>
                        </a:spcAft>
                        <a:buNone/>
                      </a:pPr>
                      <a:r>
                        <a:rPr lang="en-US" sz="1800"/>
                        <a:t>How do estimators targeted at quantiles of the conditional vs. unconditional outcome distributions differ from one another?</a:t>
                      </a:r>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dirty="0"/>
                    </a:p>
                  </a:txBody>
                  <a:tcPr marL="91450" marR="91450" marT="45725" marB="45725">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Overall learning aims</a:t>
            </a:r>
            <a:endParaRPr/>
          </a:p>
        </p:txBody>
      </p:sp>
      <p:sp>
        <p:nvSpPr>
          <p:cNvPr id="118" name="Google Shape;118;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graphicFrame>
        <p:nvGraphicFramePr>
          <p:cNvPr id="119" name="Google Shape;119;p5"/>
          <p:cNvGraphicFramePr/>
          <p:nvPr>
            <p:extLst>
              <p:ext uri="{D42A27DB-BD31-4B8C-83A1-F6EECF244321}">
                <p14:modId xmlns:p14="http://schemas.microsoft.com/office/powerpoint/2010/main" val="1717363359"/>
              </p:ext>
            </p:extLst>
          </p:nvPr>
        </p:nvGraphicFramePr>
        <p:xfrm>
          <a:off x="838200" y="2146300"/>
          <a:ext cx="10972800" cy="3108980"/>
        </p:xfrm>
        <a:graphic>
          <a:graphicData uri="http://schemas.openxmlformats.org/drawingml/2006/table">
            <a:tbl>
              <a:tblPr firstRow="1" bandRow="1">
                <a:noFill/>
                <a:tableStyleId>{FB4756AE-ACC1-4F6F-B641-2C8A4B7F3228}</a:tableStyleId>
              </a:tblPr>
              <a:tblGrid>
                <a:gridCol w="54864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65750">
                <a:tc>
                  <a:txBody>
                    <a:bodyPr/>
                    <a:lstStyle/>
                    <a:p>
                      <a:pPr marL="0" marR="0" lvl="0" indent="0" algn="ctr" rtl="0">
                        <a:spcBef>
                          <a:spcPts val="0"/>
                        </a:spcBef>
                        <a:spcAft>
                          <a:spcPts val="0"/>
                        </a:spcAft>
                        <a:buNone/>
                      </a:pPr>
                      <a:r>
                        <a:rPr lang="en-US" sz="1800" b="1">
                          <a:solidFill>
                            <a:srgbClr val="F2494C"/>
                          </a:solidFill>
                        </a:rPr>
                        <a:t>Theory</a:t>
                      </a:r>
                      <a:endParaRPr/>
                    </a:p>
                  </a:txBody>
                  <a:tcPr marL="91450" marR="91450" marT="45725" marB="45725">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b="1">
                          <a:solidFill>
                            <a:srgbClr val="BFBFBF"/>
                          </a:solidFill>
                        </a:rPr>
                        <a:t>Practice</a:t>
                      </a:r>
                      <a:endParaRPr/>
                    </a:p>
                  </a:txBody>
                  <a:tcPr marL="91450" marR="91450" marT="45725" marB="45725">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914400">
                <a:tc>
                  <a:txBody>
                    <a:bodyPr/>
                    <a:lstStyle/>
                    <a:p>
                      <a:pPr marL="0" marR="0" lvl="0" indent="0" algn="l" rtl="0">
                        <a:spcBef>
                          <a:spcPts val="0"/>
                        </a:spcBef>
                        <a:spcAft>
                          <a:spcPts val="0"/>
                        </a:spcAft>
                        <a:buNone/>
                      </a:pPr>
                      <a:r>
                        <a:rPr lang="en-US" sz="1800"/>
                        <a:t>What is quantile regression and why do we care about it?</a:t>
                      </a:r>
                      <a:endParaRPr/>
                    </a:p>
                  </a:txBody>
                  <a:tcPr marL="91450" marR="91450" marT="45725" marB="45725">
                    <a:lnT w="12700" cap="flat" cmpd="sng">
                      <a:solidFill>
                        <a:schemeClr val="dk1"/>
                      </a:solidFill>
                      <a:prstDash val="solid"/>
                      <a:round/>
                      <a:headEnd type="none" w="sm" len="sm"/>
                      <a:tailEnd type="none" w="sm" len="sm"/>
                    </a:lnT>
                  </a:tcPr>
                </a:tc>
                <a:tc>
                  <a:txBody>
                    <a:bodyPr/>
                    <a:lstStyle/>
                    <a:p>
                      <a:pPr marL="0" marR="0" lvl="0" indent="0" algn="l" rtl="0">
                        <a:spcBef>
                          <a:spcPts val="0"/>
                        </a:spcBef>
                        <a:spcAft>
                          <a:spcPts val="0"/>
                        </a:spcAft>
                        <a:buNone/>
                      </a:pPr>
                      <a:r>
                        <a:rPr lang="en-US" sz="1800">
                          <a:solidFill>
                            <a:srgbClr val="BFBFBF"/>
                          </a:solidFill>
                        </a:rPr>
                        <a:t>How do we run quantile regression analyses in R?</a:t>
                      </a:r>
                      <a:endParaRPr/>
                    </a:p>
                  </a:txBody>
                  <a:tcPr marL="91450" marR="91450" marT="45725" marB="45725">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914400">
                <a:tc>
                  <a:txBody>
                    <a:bodyPr/>
                    <a:lstStyle/>
                    <a:p>
                      <a:pPr marL="0" marR="0" lvl="0" indent="0" algn="l" rtl="0">
                        <a:spcBef>
                          <a:spcPts val="0"/>
                        </a:spcBef>
                        <a:spcAft>
                          <a:spcPts val="0"/>
                        </a:spcAft>
                        <a:buNone/>
                      </a:pPr>
                      <a:r>
                        <a:rPr lang="en-US" sz="1800"/>
                        <a:t>How does quantile regression differ from mean regression?</a:t>
                      </a:r>
                      <a:endParaRPr/>
                    </a:p>
                  </a:txBody>
                  <a:tcPr marL="91450" marR="91450" marT="45725" marB="45725">
                    <a:lnR w="9525" cap="flat" cmpd="sng">
                      <a:solidFill>
                        <a:srgbClr val="000000">
                          <a:alpha val="0"/>
                        </a:srgbClr>
                      </a:solidFill>
                      <a:prstDash val="solid"/>
                      <a:round/>
                      <a:headEnd type="none" w="sm" len="sm"/>
                      <a:tailEnd type="none" w="sm" len="sm"/>
                    </a:lnR>
                  </a:tcPr>
                </a:tc>
                <a:tc>
                  <a:txBody>
                    <a:bodyPr/>
                    <a:lstStyle/>
                    <a:p>
                      <a:pPr marL="0" marR="0" lvl="0" indent="0" algn="l" rtl="0">
                        <a:spcBef>
                          <a:spcPts val="0"/>
                        </a:spcBef>
                        <a:spcAft>
                          <a:spcPts val="0"/>
                        </a:spcAft>
                        <a:buNone/>
                      </a:pPr>
                      <a:r>
                        <a:rPr lang="en-US" sz="1800">
                          <a:solidFill>
                            <a:srgbClr val="BFBFBF"/>
                          </a:solidFill>
                        </a:rPr>
                        <a:t>How can we visualize quantile regression coefficients?</a:t>
                      </a:r>
                      <a:endParaRPr>
                        <a:solidFill>
                          <a:srgbClr val="BFBFBF"/>
                        </a:solidFill>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914400">
                <a:tc>
                  <a:txBody>
                    <a:bodyPr/>
                    <a:lstStyle/>
                    <a:p>
                      <a:pPr marL="0" marR="0" lvl="0" indent="0" algn="l" rtl="0">
                        <a:spcBef>
                          <a:spcPts val="0"/>
                        </a:spcBef>
                        <a:spcAft>
                          <a:spcPts val="0"/>
                        </a:spcAft>
                        <a:buNone/>
                      </a:pPr>
                      <a:r>
                        <a:rPr lang="en-US" sz="1800"/>
                        <a:t>How do estimators targeted at quantiles of the conditional vs. unconditional outcome distributions differ from one another?</a:t>
                      </a:r>
                      <a:endParaRPr/>
                    </a:p>
                  </a:txBody>
                  <a:tcPr marL="91450" marR="91450" marT="45725" marB="45725">
                    <a:lnR w="9525" cap="flat" cmpd="sng">
                      <a:solidFill>
                        <a:srgbClr val="000000">
                          <a:alpha val="0"/>
                        </a:srgbClr>
                      </a:solidFill>
                      <a:prstDash val="solid"/>
                      <a:round/>
                      <a:headEnd type="none" w="sm" len="sm"/>
                      <a:tailEnd type="none" w="sm" len="sm"/>
                    </a:lnR>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dirty="0">
                        <a:solidFill>
                          <a:srgbClr val="BFBFBF"/>
                        </a:solidFill>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Overall learning aims</a:t>
            </a:r>
            <a:endParaRPr/>
          </a:p>
        </p:txBody>
      </p:sp>
      <p:sp>
        <p:nvSpPr>
          <p:cNvPr id="125" name="Google Shape;125;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graphicFrame>
        <p:nvGraphicFramePr>
          <p:cNvPr id="126" name="Google Shape;126;p6"/>
          <p:cNvGraphicFramePr/>
          <p:nvPr>
            <p:extLst>
              <p:ext uri="{D42A27DB-BD31-4B8C-83A1-F6EECF244321}">
                <p14:modId xmlns:p14="http://schemas.microsoft.com/office/powerpoint/2010/main" val="2633141681"/>
              </p:ext>
            </p:extLst>
          </p:nvPr>
        </p:nvGraphicFramePr>
        <p:xfrm>
          <a:off x="838200" y="2146300"/>
          <a:ext cx="10972800" cy="3108980"/>
        </p:xfrm>
        <a:graphic>
          <a:graphicData uri="http://schemas.openxmlformats.org/drawingml/2006/table">
            <a:tbl>
              <a:tblPr firstRow="1" bandRow="1">
                <a:noFill/>
                <a:tableStyleId>{FB4756AE-ACC1-4F6F-B641-2C8A4B7F3228}</a:tableStyleId>
              </a:tblPr>
              <a:tblGrid>
                <a:gridCol w="54864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65750">
                <a:tc>
                  <a:txBody>
                    <a:bodyPr/>
                    <a:lstStyle/>
                    <a:p>
                      <a:pPr marL="0" marR="0" lvl="0" indent="0" algn="ctr" rtl="0">
                        <a:spcBef>
                          <a:spcPts val="0"/>
                        </a:spcBef>
                        <a:spcAft>
                          <a:spcPts val="0"/>
                        </a:spcAft>
                        <a:buNone/>
                      </a:pPr>
                      <a:r>
                        <a:rPr lang="en-US" sz="1800" b="1">
                          <a:solidFill>
                            <a:srgbClr val="BFBFBF"/>
                          </a:solidFill>
                        </a:rPr>
                        <a:t>Theory</a:t>
                      </a:r>
                      <a:endParaRPr/>
                    </a:p>
                  </a:txBody>
                  <a:tcPr marL="91450" marR="91450" marT="45725" marB="45725">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b="1">
                          <a:solidFill>
                            <a:srgbClr val="F2494C"/>
                          </a:solidFill>
                        </a:rPr>
                        <a:t>Practice</a:t>
                      </a:r>
                      <a:endParaRPr/>
                    </a:p>
                  </a:txBody>
                  <a:tcPr marL="91450" marR="91450" marT="45725" marB="45725">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914400">
                <a:tc>
                  <a:txBody>
                    <a:bodyPr/>
                    <a:lstStyle/>
                    <a:p>
                      <a:pPr marL="0" marR="0" lvl="0" indent="0" algn="l" rtl="0">
                        <a:spcBef>
                          <a:spcPts val="0"/>
                        </a:spcBef>
                        <a:spcAft>
                          <a:spcPts val="0"/>
                        </a:spcAft>
                        <a:buNone/>
                      </a:pPr>
                      <a:r>
                        <a:rPr lang="en-US" sz="1800" dirty="0">
                          <a:solidFill>
                            <a:srgbClr val="BFBFBF"/>
                          </a:solidFill>
                        </a:rPr>
                        <a:t>What is quantile regression and why do we care about it?</a:t>
                      </a:r>
                      <a:endParaRPr dirty="0">
                        <a:solidFill>
                          <a:srgbClr val="BFBFBF"/>
                        </a:solidFill>
                      </a:endParaRPr>
                    </a:p>
                  </a:txBody>
                  <a:tcPr marL="91450" marR="91450" marT="45725" marB="45725">
                    <a:lnT w="12700" cap="flat" cmpd="sng">
                      <a:solidFill>
                        <a:schemeClr val="dk1"/>
                      </a:solidFill>
                      <a:prstDash val="solid"/>
                      <a:round/>
                      <a:headEnd type="none" w="sm" len="sm"/>
                      <a:tailEnd type="none" w="sm" len="sm"/>
                    </a:lnT>
                  </a:tcPr>
                </a:tc>
                <a:tc>
                  <a:txBody>
                    <a:bodyPr/>
                    <a:lstStyle/>
                    <a:p>
                      <a:pPr marL="0" marR="0" lvl="0" indent="0" algn="l" rtl="0">
                        <a:spcBef>
                          <a:spcPts val="0"/>
                        </a:spcBef>
                        <a:spcAft>
                          <a:spcPts val="0"/>
                        </a:spcAft>
                        <a:buNone/>
                      </a:pPr>
                      <a:r>
                        <a:rPr lang="en-US" sz="1800"/>
                        <a:t>How do we run quantile regression analyses in R?</a:t>
                      </a:r>
                      <a:endParaRPr/>
                    </a:p>
                  </a:txBody>
                  <a:tcPr marL="91450" marR="91450" marT="45725" marB="45725">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914400">
                <a:tc>
                  <a:txBody>
                    <a:bodyPr/>
                    <a:lstStyle/>
                    <a:p>
                      <a:pPr marL="0" marR="0" lvl="0" indent="0" algn="l" rtl="0">
                        <a:spcBef>
                          <a:spcPts val="0"/>
                        </a:spcBef>
                        <a:spcAft>
                          <a:spcPts val="0"/>
                        </a:spcAft>
                        <a:buNone/>
                      </a:pPr>
                      <a:r>
                        <a:rPr lang="en-US" sz="1800">
                          <a:solidFill>
                            <a:srgbClr val="BFBFBF"/>
                          </a:solidFill>
                        </a:rPr>
                        <a:t>How does quantile regression differ from mean regression?</a:t>
                      </a:r>
                      <a:endParaRPr/>
                    </a:p>
                  </a:txBody>
                  <a:tcPr marL="91450" marR="91450" marT="45725" marB="45725">
                    <a:lnR w="9525" cap="flat" cmpd="sng">
                      <a:solidFill>
                        <a:srgbClr val="000000">
                          <a:alpha val="0"/>
                        </a:srgbClr>
                      </a:solidFill>
                      <a:prstDash val="solid"/>
                      <a:round/>
                      <a:headEnd type="none" w="sm" len="sm"/>
                      <a:tailEnd type="none" w="sm" len="sm"/>
                    </a:lnR>
                  </a:tcPr>
                </a:tc>
                <a:tc>
                  <a:txBody>
                    <a:bodyPr/>
                    <a:lstStyle/>
                    <a:p>
                      <a:pPr marL="0" marR="0" lvl="0" indent="0" algn="l" rtl="0">
                        <a:spcBef>
                          <a:spcPts val="0"/>
                        </a:spcBef>
                        <a:spcAft>
                          <a:spcPts val="0"/>
                        </a:spcAft>
                        <a:buNone/>
                      </a:pPr>
                      <a:r>
                        <a:rPr lang="en-US" sz="1800"/>
                        <a:t>How can we visualize quantile regression coefficients?</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914400">
                <a:tc>
                  <a:txBody>
                    <a:bodyPr/>
                    <a:lstStyle/>
                    <a:p>
                      <a:pPr marL="0" marR="0" lvl="0" indent="0" algn="l" rtl="0">
                        <a:spcBef>
                          <a:spcPts val="0"/>
                        </a:spcBef>
                        <a:spcAft>
                          <a:spcPts val="0"/>
                        </a:spcAft>
                        <a:buNone/>
                      </a:pPr>
                      <a:r>
                        <a:rPr lang="en-US" sz="1800">
                          <a:solidFill>
                            <a:srgbClr val="BFBFBF"/>
                          </a:solidFill>
                        </a:rPr>
                        <a:t>How do estimators targeted at quantiles of the conditional vs. unconditional outcome distributions differ from one another?</a:t>
                      </a:r>
                      <a:endParaRPr/>
                    </a:p>
                  </a:txBody>
                  <a:tcPr marL="91450" marR="91450" marT="45725" marB="45725">
                    <a:lnR w="9525" cap="flat" cmpd="sng">
                      <a:solidFill>
                        <a:srgbClr val="000000">
                          <a:alpha val="0"/>
                        </a:srgbClr>
                      </a:solidFill>
                      <a:prstDash val="solid"/>
                      <a:round/>
                      <a:headEnd type="none" w="sm" len="sm"/>
                      <a:tailEnd type="none" w="sm" len="sm"/>
                    </a:lnR>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endParaRPr dirty="0"/>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C10B4-6452-424C-60D3-6E007473189A}"/>
              </a:ext>
            </a:extLst>
          </p:cNvPr>
          <p:cNvSpPr>
            <a:spLocks noGrp="1"/>
          </p:cNvSpPr>
          <p:nvPr>
            <p:ph type="title"/>
          </p:nvPr>
        </p:nvSpPr>
        <p:spPr/>
        <p:txBody>
          <a:bodyPr/>
          <a:lstStyle/>
          <a:p>
            <a:r>
              <a:rPr lang="en-US" b="1" dirty="0">
                <a:solidFill>
                  <a:srgbClr val="468C8A"/>
                </a:solidFill>
              </a:rPr>
              <a:t>Quantile regressions at work</a:t>
            </a:r>
            <a:endParaRPr lang="en-US" dirty="0"/>
          </a:p>
        </p:txBody>
      </p:sp>
      <p:sp>
        <p:nvSpPr>
          <p:cNvPr id="4" name="Slide Number Placeholder 3">
            <a:extLst>
              <a:ext uri="{FF2B5EF4-FFF2-40B4-BE49-F238E27FC236}">
                <a16:creationId xmlns:a16="http://schemas.microsoft.com/office/drawing/2014/main" id="{2E844198-620B-E89C-562F-2BFF741D71B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pic>
        <p:nvPicPr>
          <p:cNvPr id="6" name="Picture 5">
            <a:extLst>
              <a:ext uri="{FF2B5EF4-FFF2-40B4-BE49-F238E27FC236}">
                <a16:creationId xmlns:a16="http://schemas.microsoft.com/office/drawing/2014/main" id="{51C2824C-CEF1-AC07-DF1A-98441B839806}"/>
              </a:ext>
            </a:extLst>
          </p:cNvPr>
          <p:cNvPicPr>
            <a:picLocks noChangeAspect="1"/>
          </p:cNvPicPr>
          <p:nvPr/>
        </p:nvPicPr>
        <p:blipFill>
          <a:blip r:embed="rId2"/>
          <a:stretch>
            <a:fillRect/>
          </a:stretch>
        </p:blipFill>
        <p:spPr>
          <a:xfrm>
            <a:off x="1952625" y="1819275"/>
            <a:ext cx="8286750" cy="3219450"/>
          </a:xfrm>
          <a:prstGeom prst="rect">
            <a:avLst/>
          </a:prstGeom>
        </p:spPr>
      </p:pic>
    </p:spTree>
    <p:extLst>
      <p:ext uri="{BB962C8B-B14F-4D97-AF65-F5344CB8AC3E}">
        <p14:creationId xmlns:p14="http://schemas.microsoft.com/office/powerpoint/2010/main" val="1133701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8020C-593C-5E92-9220-1464AD7A57BD}"/>
              </a:ext>
            </a:extLst>
          </p:cNvPr>
          <p:cNvSpPr>
            <a:spLocks noGrp="1"/>
          </p:cNvSpPr>
          <p:nvPr>
            <p:ph type="title"/>
          </p:nvPr>
        </p:nvSpPr>
        <p:spPr/>
        <p:txBody>
          <a:bodyPr/>
          <a:lstStyle/>
          <a:p>
            <a:r>
              <a:rPr lang="en-US" b="1" dirty="0">
                <a:solidFill>
                  <a:srgbClr val="468C8A"/>
                </a:solidFill>
              </a:rPr>
              <a:t>Breastfeeding and childhood obesity</a:t>
            </a:r>
            <a:br>
              <a:rPr lang="en-US" b="1" dirty="0">
                <a:solidFill>
                  <a:srgbClr val="468C8A"/>
                </a:solidFill>
              </a:rPr>
            </a:br>
            <a:r>
              <a:rPr lang="en-US" sz="3600" b="1" dirty="0" err="1">
                <a:solidFill>
                  <a:srgbClr val="FF9300"/>
                </a:solidFill>
              </a:rPr>
              <a:t>Beyerlein</a:t>
            </a:r>
            <a:r>
              <a:rPr lang="en-US" sz="3600" b="1" dirty="0">
                <a:solidFill>
                  <a:srgbClr val="FF9300"/>
                </a:solidFill>
              </a:rPr>
              <a:t> et. al. (2012)</a:t>
            </a:r>
            <a:endParaRPr lang="en-US" dirty="0">
              <a:solidFill>
                <a:srgbClr val="FF9300"/>
              </a:solidFill>
            </a:endParaRPr>
          </a:p>
        </p:txBody>
      </p:sp>
      <p:sp>
        <p:nvSpPr>
          <p:cNvPr id="3" name="Text Placeholder 2">
            <a:extLst>
              <a:ext uri="{FF2B5EF4-FFF2-40B4-BE49-F238E27FC236}">
                <a16:creationId xmlns:a16="http://schemas.microsoft.com/office/drawing/2014/main" id="{93B73016-52F1-B879-606C-A92FAA6777F6}"/>
              </a:ext>
            </a:extLst>
          </p:cNvPr>
          <p:cNvSpPr>
            <a:spLocks noGrp="1"/>
          </p:cNvSpPr>
          <p:nvPr>
            <p:ph type="body" idx="1"/>
          </p:nvPr>
        </p:nvSpPr>
        <p:spPr>
          <a:xfrm>
            <a:off x="838200" y="1825625"/>
            <a:ext cx="10515600" cy="4667250"/>
          </a:xfrm>
        </p:spPr>
        <p:txBody>
          <a:bodyPr>
            <a:normAutofit/>
          </a:bodyPr>
          <a:lstStyle/>
          <a:p>
            <a:pPr marL="228600" lvl="0" indent="-228600" algn="l" rtl="0">
              <a:lnSpc>
                <a:spcPct val="90000"/>
              </a:lnSpc>
              <a:spcBef>
                <a:spcPts val="0"/>
              </a:spcBef>
              <a:spcAft>
                <a:spcPts val="0"/>
              </a:spcAft>
              <a:buClr>
                <a:schemeClr val="dk1"/>
              </a:buClr>
              <a:buSzPts val="2800"/>
              <a:buChar char="•"/>
            </a:pPr>
            <a:r>
              <a:rPr lang="en-US" dirty="0"/>
              <a:t>Meta-analyses present inconsistent findings</a:t>
            </a:r>
          </a:p>
          <a:p>
            <a:pPr marL="685800" lvl="1" indent="-228600">
              <a:spcBef>
                <a:spcPts val="0"/>
              </a:spcBef>
              <a:buSzPts val="2800"/>
            </a:pPr>
            <a:r>
              <a:rPr lang="en-US" dirty="0"/>
              <a:t>Protective effect of breastfeeding on being overweight in later-life</a:t>
            </a:r>
          </a:p>
          <a:p>
            <a:pPr marL="685800" lvl="1" indent="-228600">
              <a:spcBef>
                <a:spcPts val="0"/>
              </a:spcBef>
              <a:buSzPts val="2800"/>
            </a:pPr>
            <a:r>
              <a:rPr lang="en-US" dirty="0"/>
              <a:t>Unclear association of breastfeeding with body mass index (BMI)</a:t>
            </a:r>
          </a:p>
          <a:p>
            <a:pPr marL="228600" lvl="0" indent="-228600" algn="l" rtl="0">
              <a:lnSpc>
                <a:spcPct val="90000"/>
              </a:lnSpc>
              <a:spcBef>
                <a:spcPts val="0"/>
              </a:spcBef>
              <a:spcAft>
                <a:spcPts val="0"/>
              </a:spcAft>
              <a:buClr>
                <a:schemeClr val="dk1"/>
              </a:buClr>
              <a:buSzPts val="2800"/>
              <a:buChar char="•"/>
            </a:pPr>
            <a:endParaRPr lang="en-US" dirty="0"/>
          </a:p>
          <a:p>
            <a:pPr marL="228600" lvl="0" indent="-228600" algn="l" rtl="0">
              <a:lnSpc>
                <a:spcPct val="90000"/>
              </a:lnSpc>
              <a:spcBef>
                <a:spcPts val="0"/>
              </a:spcBef>
              <a:spcAft>
                <a:spcPts val="0"/>
              </a:spcAft>
              <a:buClr>
                <a:schemeClr val="dk1"/>
              </a:buClr>
              <a:buSzPts val="2800"/>
              <a:buChar char="•"/>
            </a:pPr>
            <a:r>
              <a:rPr lang="en-US" dirty="0"/>
              <a:t>Hypothesis: breastfeeding affects upper percentiles of BMI</a:t>
            </a:r>
          </a:p>
          <a:p>
            <a:pPr marL="685800" lvl="1" indent="-228600">
              <a:spcBef>
                <a:spcPts val="0"/>
              </a:spcBef>
              <a:buSzPts val="2800"/>
            </a:pPr>
            <a:endParaRPr lang="en-US" dirty="0"/>
          </a:p>
          <a:p>
            <a:pPr marL="228600" lvl="0" indent="-228600" algn="l" rtl="0">
              <a:lnSpc>
                <a:spcPct val="90000"/>
              </a:lnSpc>
              <a:spcBef>
                <a:spcPts val="0"/>
              </a:spcBef>
              <a:spcAft>
                <a:spcPts val="0"/>
              </a:spcAft>
              <a:buClr>
                <a:schemeClr val="dk1"/>
              </a:buClr>
              <a:buSzPts val="2800"/>
              <a:buChar char="•"/>
            </a:pPr>
            <a:r>
              <a:rPr lang="en-US" dirty="0"/>
              <a:t>Methods:</a:t>
            </a:r>
          </a:p>
          <a:p>
            <a:pPr marL="685800" lvl="1" indent="-228600">
              <a:spcBef>
                <a:spcPts val="0"/>
              </a:spcBef>
              <a:buSzPts val="2800"/>
            </a:pPr>
            <a:r>
              <a:rPr lang="en-US" dirty="0"/>
              <a:t>Data on height, weight, socio-demographics from a school-entry health examination in Bavaria, Germany (N = 14,412)</a:t>
            </a:r>
          </a:p>
          <a:p>
            <a:pPr marL="685800" lvl="1" indent="-228600">
              <a:spcBef>
                <a:spcPts val="0"/>
              </a:spcBef>
              <a:buSzPts val="2800"/>
            </a:pPr>
            <a:r>
              <a:rPr lang="en-US" dirty="0"/>
              <a:t>Exposure: breastfed (yes/no)</a:t>
            </a:r>
          </a:p>
          <a:p>
            <a:pPr marL="685800" lvl="1" indent="-228600">
              <a:spcBef>
                <a:spcPts val="0"/>
              </a:spcBef>
              <a:buSzPts val="2800"/>
            </a:pPr>
            <a:r>
              <a:rPr lang="en-US" dirty="0"/>
              <a:t>Outcome: BMI</a:t>
            </a:r>
          </a:p>
          <a:p>
            <a:pPr marL="685800" lvl="1" indent="-228600">
              <a:spcBef>
                <a:spcPts val="0"/>
              </a:spcBef>
              <a:buSzPts val="2800"/>
            </a:pPr>
            <a:r>
              <a:rPr lang="en-US" dirty="0"/>
              <a:t>Methods: linear regression (BMI), quantile regressions (BMI), logistic regression (obesity)</a:t>
            </a:r>
          </a:p>
        </p:txBody>
      </p:sp>
      <p:sp>
        <p:nvSpPr>
          <p:cNvPr id="4" name="Slide Number Placeholder 3">
            <a:extLst>
              <a:ext uri="{FF2B5EF4-FFF2-40B4-BE49-F238E27FC236}">
                <a16:creationId xmlns:a16="http://schemas.microsoft.com/office/drawing/2014/main" id="{C664370D-70F8-C6C3-2F11-64DB31ED8D7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extLst>
      <p:ext uri="{BB962C8B-B14F-4D97-AF65-F5344CB8AC3E}">
        <p14:creationId xmlns:p14="http://schemas.microsoft.com/office/powerpoint/2010/main" val="1213179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8020C-593C-5E92-9220-1464AD7A57BD}"/>
              </a:ext>
            </a:extLst>
          </p:cNvPr>
          <p:cNvSpPr>
            <a:spLocks noGrp="1"/>
          </p:cNvSpPr>
          <p:nvPr>
            <p:ph type="title"/>
          </p:nvPr>
        </p:nvSpPr>
        <p:spPr/>
        <p:txBody>
          <a:bodyPr>
            <a:normAutofit fontScale="90000"/>
          </a:bodyPr>
          <a:lstStyle/>
          <a:p>
            <a:r>
              <a:rPr lang="en-US" b="1" dirty="0">
                <a:solidFill>
                  <a:srgbClr val="468C8A"/>
                </a:solidFill>
              </a:rPr>
              <a:t>Breastfeeding </a:t>
            </a:r>
            <a:r>
              <a:rPr lang="en-US" b="1" dirty="0">
                <a:solidFill>
                  <a:srgbClr val="F2494C"/>
                </a:solidFill>
              </a:rPr>
              <a:t>reduced BMI values at high levels</a:t>
            </a:r>
            <a:r>
              <a:rPr lang="en-US" b="1" dirty="0">
                <a:solidFill>
                  <a:srgbClr val="468C8A"/>
                </a:solidFill>
              </a:rPr>
              <a:t> and </a:t>
            </a:r>
            <a:r>
              <a:rPr lang="en-US" b="1" dirty="0">
                <a:solidFill>
                  <a:srgbClr val="0070C0"/>
                </a:solidFill>
              </a:rPr>
              <a:t>increased BMI values at low levels</a:t>
            </a:r>
            <a:endParaRPr lang="en-US" dirty="0">
              <a:solidFill>
                <a:srgbClr val="0070C0"/>
              </a:solidFill>
            </a:endParaRPr>
          </a:p>
        </p:txBody>
      </p:sp>
      <p:sp>
        <p:nvSpPr>
          <p:cNvPr id="4" name="Slide Number Placeholder 3">
            <a:extLst>
              <a:ext uri="{FF2B5EF4-FFF2-40B4-BE49-F238E27FC236}">
                <a16:creationId xmlns:a16="http://schemas.microsoft.com/office/drawing/2014/main" id="{C664370D-70F8-C6C3-2F11-64DB31ED8D7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5" name="Main graphic">
            <a:extLst>
              <a:ext uri="{FF2B5EF4-FFF2-40B4-BE49-F238E27FC236}">
                <a16:creationId xmlns:a16="http://schemas.microsoft.com/office/drawing/2014/main" id="{2D240BEB-8CB8-11AE-029E-69D2860CD602}"/>
              </a:ext>
            </a:extLst>
          </p:cNvPr>
          <p:cNvPicPr>
            <a:picLocks noChangeAspect="1"/>
          </p:cNvPicPr>
          <p:nvPr/>
        </p:nvPicPr>
        <p:blipFill>
          <a:blip r:embed="rId3"/>
          <a:stretch/>
        </p:blipFill>
        <p:spPr>
          <a:xfrm>
            <a:off x="3078480" y="1690688"/>
            <a:ext cx="6035040" cy="5123036"/>
          </a:xfrm>
          <a:prstGeom prst="rect">
            <a:avLst/>
          </a:prstGeom>
          <a:ln>
            <a:noFill/>
          </a:ln>
        </p:spPr>
      </p:pic>
      <p:sp>
        <p:nvSpPr>
          <p:cNvPr id="6" name="Rectangle 5">
            <a:extLst>
              <a:ext uri="{FF2B5EF4-FFF2-40B4-BE49-F238E27FC236}">
                <a16:creationId xmlns:a16="http://schemas.microsoft.com/office/drawing/2014/main" id="{11C97439-3B79-4C4E-910A-C02EA346FA11}"/>
              </a:ext>
            </a:extLst>
          </p:cNvPr>
          <p:cNvSpPr/>
          <p:nvPr/>
        </p:nvSpPr>
        <p:spPr>
          <a:xfrm>
            <a:off x="8299938" y="3147646"/>
            <a:ext cx="624254" cy="3042139"/>
          </a:xfrm>
          <a:prstGeom prst="rect">
            <a:avLst/>
          </a:prstGeom>
          <a:noFill/>
          <a:ln w="57150">
            <a:solidFill>
              <a:srgbClr val="F249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527A034-809F-DAF3-A25D-BC5AAB22BCAA}"/>
              </a:ext>
            </a:extLst>
          </p:cNvPr>
          <p:cNvSpPr/>
          <p:nvPr/>
        </p:nvSpPr>
        <p:spPr>
          <a:xfrm>
            <a:off x="3892063" y="1761393"/>
            <a:ext cx="1780441" cy="3042139"/>
          </a:xfrm>
          <a:prstGeom prst="rect">
            <a:avLst/>
          </a:prstGeom>
          <a:no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9977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8020C-593C-5E92-9220-1464AD7A57BD}"/>
              </a:ext>
            </a:extLst>
          </p:cNvPr>
          <p:cNvSpPr>
            <a:spLocks noGrp="1"/>
          </p:cNvSpPr>
          <p:nvPr>
            <p:ph type="title"/>
          </p:nvPr>
        </p:nvSpPr>
        <p:spPr/>
        <p:txBody>
          <a:bodyPr>
            <a:normAutofit fontScale="90000"/>
          </a:bodyPr>
          <a:lstStyle/>
          <a:p>
            <a:r>
              <a:rPr lang="en-US" b="1" dirty="0">
                <a:solidFill>
                  <a:srgbClr val="468C8A"/>
                </a:solidFill>
              </a:rPr>
              <a:t>Linear regression results suggest no association between breastfeeding and BMI</a:t>
            </a:r>
            <a:endParaRPr lang="en-US" dirty="0">
              <a:solidFill>
                <a:srgbClr val="0070C0"/>
              </a:solidFill>
            </a:endParaRPr>
          </a:p>
        </p:txBody>
      </p:sp>
      <p:sp>
        <p:nvSpPr>
          <p:cNvPr id="4" name="Slide Number Placeholder 3">
            <a:extLst>
              <a:ext uri="{FF2B5EF4-FFF2-40B4-BE49-F238E27FC236}">
                <a16:creationId xmlns:a16="http://schemas.microsoft.com/office/drawing/2014/main" id="{C664370D-70F8-C6C3-2F11-64DB31ED8D7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pic>
        <p:nvPicPr>
          <p:cNvPr id="5" name="Main graphic">
            <a:extLst>
              <a:ext uri="{FF2B5EF4-FFF2-40B4-BE49-F238E27FC236}">
                <a16:creationId xmlns:a16="http://schemas.microsoft.com/office/drawing/2014/main" id="{2D240BEB-8CB8-11AE-029E-69D2860CD602}"/>
              </a:ext>
            </a:extLst>
          </p:cNvPr>
          <p:cNvPicPr>
            <a:picLocks noChangeAspect="1"/>
          </p:cNvPicPr>
          <p:nvPr/>
        </p:nvPicPr>
        <p:blipFill>
          <a:blip r:embed="rId3"/>
          <a:stretch/>
        </p:blipFill>
        <p:spPr>
          <a:xfrm>
            <a:off x="3078480" y="1690688"/>
            <a:ext cx="6035040" cy="5123036"/>
          </a:xfrm>
          <a:prstGeom prst="rect">
            <a:avLst/>
          </a:prstGeom>
          <a:ln>
            <a:noFill/>
          </a:ln>
        </p:spPr>
      </p:pic>
      <p:cxnSp>
        <p:nvCxnSpPr>
          <p:cNvPr id="8" name="Straight Connector 7">
            <a:extLst>
              <a:ext uri="{FF2B5EF4-FFF2-40B4-BE49-F238E27FC236}">
                <a16:creationId xmlns:a16="http://schemas.microsoft.com/office/drawing/2014/main" id="{3BF3BB82-A91A-F4CD-07D6-94D3134A1137}"/>
              </a:ext>
            </a:extLst>
          </p:cNvPr>
          <p:cNvCxnSpPr/>
          <p:nvPr/>
        </p:nvCxnSpPr>
        <p:spPr>
          <a:xfrm>
            <a:off x="3877408" y="3596054"/>
            <a:ext cx="5125915" cy="0"/>
          </a:xfrm>
          <a:prstGeom prst="line">
            <a:avLst/>
          </a:prstGeom>
          <a:ln w="38100">
            <a:solidFill>
              <a:srgbClr val="FF9300"/>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2F5D1D1-B1EE-9FD6-FC7F-C6E054B8E209}"/>
              </a:ext>
            </a:extLst>
          </p:cNvPr>
          <p:cNvSpPr/>
          <p:nvPr/>
        </p:nvSpPr>
        <p:spPr>
          <a:xfrm>
            <a:off x="3859823" y="3217985"/>
            <a:ext cx="5125915" cy="888023"/>
          </a:xfrm>
          <a:prstGeom prst="rect">
            <a:avLst/>
          </a:prstGeom>
          <a:solidFill>
            <a:srgbClr val="FF9300">
              <a:alpha val="2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687115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8020C-593C-5E92-9220-1464AD7A57BD}"/>
              </a:ext>
            </a:extLst>
          </p:cNvPr>
          <p:cNvSpPr>
            <a:spLocks noGrp="1"/>
          </p:cNvSpPr>
          <p:nvPr>
            <p:ph type="title"/>
          </p:nvPr>
        </p:nvSpPr>
        <p:spPr/>
        <p:txBody>
          <a:bodyPr>
            <a:normAutofit fontScale="90000"/>
          </a:bodyPr>
          <a:lstStyle/>
          <a:p>
            <a:r>
              <a:rPr lang="en-US" b="1" dirty="0">
                <a:solidFill>
                  <a:srgbClr val="468C8A"/>
                </a:solidFill>
              </a:rPr>
              <a:t>A potential resolution of the inconsistency in the meta-analysis results</a:t>
            </a:r>
            <a:endParaRPr lang="en-US" dirty="0">
              <a:solidFill>
                <a:srgbClr val="0070C0"/>
              </a:solidFill>
            </a:endParaRPr>
          </a:p>
        </p:txBody>
      </p:sp>
      <p:sp>
        <p:nvSpPr>
          <p:cNvPr id="4" name="Slide Number Placeholder 3">
            <a:extLst>
              <a:ext uri="{FF2B5EF4-FFF2-40B4-BE49-F238E27FC236}">
                <a16:creationId xmlns:a16="http://schemas.microsoft.com/office/drawing/2014/main" id="{C664370D-70F8-C6C3-2F11-64DB31ED8D7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pic>
        <p:nvPicPr>
          <p:cNvPr id="6" name="Picture 5">
            <a:extLst>
              <a:ext uri="{FF2B5EF4-FFF2-40B4-BE49-F238E27FC236}">
                <a16:creationId xmlns:a16="http://schemas.microsoft.com/office/drawing/2014/main" id="{0C8283A2-B0F5-E47A-276B-210CE3204A77}"/>
              </a:ext>
            </a:extLst>
          </p:cNvPr>
          <p:cNvPicPr>
            <a:picLocks noChangeAspect="1"/>
          </p:cNvPicPr>
          <p:nvPr/>
        </p:nvPicPr>
        <p:blipFill>
          <a:blip r:embed="rId2"/>
          <a:stretch>
            <a:fillRect/>
          </a:stretch>
        </p:blipFill>
        <p:spPr>
          <a:xfrm>
            <a:off x="808394" y="2332037"/>
            <a:ext cx="10575212" cy="2193925"/>
          </a:xfrm>
          <a:prstGeom prst="rect">
            <a:avLst/>
          </a:prstGeom>
        </p:spPr>
      </p:pic>
    </p:spTree>
    <p:extLst>
      <p:ext uri="{BB962C8B-B14F-4D97-AF65-F5344CB8AC3E}">
        <p14:creationId xmlns:p14="http://schemas.microsoft.com/office/powerpoint/2010/main" val="990632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Previewing our practical example </a:t>
            </a:r>
            <a:endParaRPr/>
          </a:p>
        </p:txBody>
      </p:sp>
      <p:sp>
        <p:nvSpPr>
          <p:cNvPr id="132" name="Google Shape;132;p7"/>
          <p:cNvSpPr txBox="1">
            <a:spLocks noGrp="1"/>
          </p:cNvSpPr>
          <p:nvPr>
            <p:ph type="body" idx="1"/>
          </p:nvPr>
        </p:nvSpPr>
        <p:spPr>
          <a:xfrm>
            <a:off x="838200" y="1825625"/>
            <a:ext cx="10515600" cy="45307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We will investigate the relationship between </a:t>
            </a:r>
            <a:r>
              <a:rPr lang="en-US" dirty="0">
                <a:solidFill>
                  <a:srgbClr val="FF9300"/>
                </a:solidFill>
              </a:rPr>
              <a:t>educational attainment</a:t>
            </a:r>
            <a:r>
              <a:rPr lang="en-US" dirty="0"/>
              <a:t> and </a:t>
            </a:r>
            <a:r>
              <a:rPr lang="en-US" dirty="0">
                <a:solidFill>
                  <a:srgbClr val="FF9300"/>
                </a:solidFill>
              </a:rPr>
              <a:t>systolic blood pressure (SBP) in later-life </a:t>
            </a:r>
            <a:endParaRPr dirty="0"/>
          </a:p>
          <a:p>
            <a:pPr marL="228600" lvl="0" indent="-50800" algn="l" rtl="0">
              <a:lnSpc>
                <a:spcPct val="90000"/>
              </a:lnSpc>
              <a:spcBef>
                <a:spcPts val="1000"/>
              </a:spcBef>
              <a:spcAft>
                <a:spcPts val="0"/>
              </a:spcAft>
              <a:buClr>
                <a:schemeClr val="dk1"/>
              </a:buClr>
              <a:buSzPts val="2800"/>
              <a:buNone/>
            </a:pPr>
            <a:endParaRPr dirty="0"/>
          </a:p>
          <a:p>
            <a:pPr marL="228600" lvl="0" indent="-228600" algn="l" rtl="0">
              <a:lnSpc>
                <a:spcPct val="90000"/>
              </a:lnSpc>
              <a:spcBef>
                <a:spcPts val="1000"/>
              </a:spcBef>
              <a:spcAft>
                <a:spcPts val="0"/>
              </a:spcAft>
              <a:buClr>
                <a:schemeClr val="dk1"/>
              </a:buClr>
              <a:buSzPts val="2800"/>
              <a:buChar char="•"/>
            </a:pPr>
            <a:r>
              <a:rPr lang="en-US" dirty="0"/>
              <a:t>Education has a </a:t>
            </a:r>
            <a:r>
              <a:rPr lang="en-US" dirty="0">
                <a:solidFill>
                  <a:srgbClr val="FF9300"/>
                </a:solidFill>
              </a:rPr>
              <a:t>strong, inverse relationship</a:t>
            </a:r>
            <a:r>
              <a:rPr lang="en-US" dirty="0"/>
              <a:t> with average SBP levels</a:t>
            </a:r>
            <a:endParaRPr dirty="0"/>
          </a:p>
          <a:p>
            <a:pPr marL="228600" lvl="0" indent="-50800" algn="l" rtl="0">
              <a:lnSpc>
                <a:spcPct val="90000"/>
              </a:lnSpc>
              <a:spcBef>
                <a:spcPts val="1000"/>
              </a:spcBef>
              <a:spcAft>
                <a:spcPts val="0"/>
              </a:spcAft>
              <a:buClr>
                <a:schemeClr val="dk1"/>
              </a:buClr>
              <a:buSzPts val="2800"/>
              <a:buNone/>
            </a:pPr>
            <a:endParaRPr dirty="0"/>
          </a:p>
          <a:p>
            <a:pPr marL="228600" lvl="0" indent="-228600" algn="l" rtl="0">
              <a:lnSpc>
                <a:spcPct val="90000"/>
              </a:lnSpc>
              <a:spcBef>
                <a:spcPts val="1000"/>
              </a:spcBef>
              <a:spcAft>
                <a:spcPts val="0"/>
              </a:spcAft>
              <a:buClr>
                <a:schemeClr val="dk1"/>
              </a:buClr>
              <a:buSzPts val="2800"/>
              <a:buChar char="•"/>
            </a:pPr>
            <a:r>
              <a:rPr lang="en-US" dirty="0"/>
              <a:t>There may be a </a:t>
            </a:r>
            <a:r>
              <a:rPr lang="en-US" dirty="0">
                <a:solidFill>
                  <a:srgbClr val="FF9300"/>
                </a:solidFill>
              </a:rPr>
              <a:t>non-linear relationship</a:t>
            </a:r>
            <a:r>
              <a:rPr lang="en-US" dirty="0"/>
              <a:t> between later-life SBP and risk of coronary heart disease and stroke</a:t>
            </a:r>
            <a:endParaRPr dirty="0"/>
          </a:p>
          <a:p>
            <a:pPr marL="685800" lvl="1" indent="-228600" algn="l" rtl="0">
              <a:lnSpc>
                <a:spcPct val="90000"/>
              </a:lnSpc>
              <a:spcBef>
                <a:spcPts val="500"/>
              </a:spcBef>
              <a:spcAft>
                <a:spcPts val="0"/>
              </a:spcAft>
              <a:buClr>
                <a:schemeClr val="dk1"/>
              </a:buClr>
              <a:buSzPts val="2400"/>
              <a:buChar char="•"/>
            </a:pPr>
            <a:r>
              <a:rPr lang="en-US" dirty="0"/>
              <a:t>Motivates the need to investigate if educational attainment affects the distribution of blood pressure</a:t>
            </a:r>
            <a:endParaRPr dirty="0"/>
          </a:p>
        </p:txBody>
      </p:sp>
      <p:sp>
        <p:nvSpPr>
          <p:cNvPr id="133" name="Google Shape;13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The tails matter too: case of blood pressure</a:t>
            </a:r>
            <a:endParaRPr dirty="0"/>
          </a:p>
        </p:txBody>
      </p:sp>
      <p:sp>
        <p:nvSpPr>
          <p:cNvPr id="489" name="Google Shape;489;p30"/>
          <p:cNvSpPr txBox="1"/>
          <p:nvPr/>
        </p:nvSpPr>
        <p:spPr>
          <a:xfrm>
            <a:off x="9794449" y="6457890"/>
            <a:ext cx="256409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i="1">
                <a:solidFill>
                  <a:srgbClr val="BFBFBF"/>
                </a:solidFill>
                <a:latin typeface="Arial"/>
                <a:ea typeface="Arial"/>
                <a:cs typeface="Arial"/>
                <a:sym typeface="Arial"/>
              </a:rPr>
              <a:t>This figure is a recreation of a figure from Fuchs et. al. (2020 with simulated data.</a:t>
            </a:r>
            <a:endParaRPr/>
          </a:p>
        </p:txBody>
      </p:sp>
      <p:sp>
        <p:nvSpPr>
          <p:cNvPr id="490" name="Google Shape;490;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pic>
        <p:nvPicPr>
          <p:cNvPr id="491" name="Google Shape;491;p30" descr="A picture containing text, diagram, line, screenshot&#10;&#10;Description automatically generated"/>
          <p:cNvPicPr preferRelativeResize="0"/>
          <p:nvPr/>
        </p:nvPicPr>
        <p:blipFill rotWithShape="1">
          <a:blip r:embed="rId3">
            <a:alphaModFix/>
          </a:blip>
          <a:srcRect/>
          <a:stretch/>
        </p:blipFill>
        <p:spPr>
          <a:xfrm>
            <a:off x="1887718" y="1676401"/>
            <a:ext cx="7772400" cy="5181599"/>
          </a:xfrm>
          <a:prstGeom prst="rect">
            <a:avLst/>
          </a:prstGeom>
          <a:noFill/>
          <a:ln>
            <a:noFill/>
          </a:ln>
        </p:spPr>
      </p:pic>
      <p:sp>
        <p:nvSpPr>
          <p:cNvPr id="492" name="Google Shape;492;p30"/>
          <p:cNvSpPr/>
          <p:nvPr/>
        </p:nvSpPr>
        <p:spPr>
          <a:xfrm rot="-5400000">
            <a:off x="8093697" y="5958525"/>
            <a:ext cx="197963" cy="1600985"/>
          </a:xfrm>
          <a:prstGeom prst="leftBrace">
            <a:avLst>
              <a:gd name="adj1" fmla="val 8333"/>
              <a:gd name="adj2" fmla="val 50000"/>
            </a:avLst>
          </a:prstGeom>
          <a:noFill/>
          <a:ln w="38100" cap="flat" cmpd="sng">
            <a:solidFill>
              <a:srgbClr val="F2494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493" name="Google Shape;493;p30"/>
          <p:cNvSpPr/>
          <p:nvPr/>
        </p:nvSpPr>
        <p:spPr>
          <a:xfrm>
            <a:off x="1687399" y="2422533"/>
            <a:ext cx="200320" cy="1772395"/>
          </a:xfrm>
          <a:prstGeom prst="leftBrace">
            <a:avLst>
              <a:gd name="adj1" fmla="val 8333"/>
              <a:gd name="adj2" fmla="val 50000"/>
            </a:avLst>
          </a:prstGeom>
          <a:noFill/>
          <a:ln w="38100" cap="flat" cmpd="sng">
            <a:solidFill>
              <a:srgbClr val="F2494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494" name="Google Shape;494;p30"/>
          <p:cNvSpPr/>
          <p:nvPr/>
        </p:nvSpPr>
        <p:spPr>
          <a:xfrm rot="-5400000">
            <a:off x="4974996" y="5956434"/>
            <a:ext cx="197963" cy="1600985"/>
          </a:xfrm>
          <a:prstGeom prst="leftBrace">
            <a:avLst>
              <a:gd name="adj1" fmla="val 8333"/>
              <a:gd name="adj2" fmla="val 50000"/>
            </a:avLst>
          </a:prstGeom>
          <a:noFill/>
          <a:ln w="38100" cap="flat" cmpd="sng">
            <a:solidFill>
              <a:srgbClr val="FF93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9300"/>
              </a:solidFill>
              <a:latin typeface="Arial"/>
              <a:ea typeface="Arial"/>
              <a:cs typeface="Arial"/>
              <a:sym typeface="Arial"/>
            </a:endParaRPr>
          </a:p>
        </p:txBody>
      </p:sp>
      <p:sp>
        <p:nvSpPr>
          <p:cNvPr id="495" name="Google Shape;495;p30"/>
          <p:cNvSpPr/>
          <p:nvPr/>
        </p:nvSpPr>
        <p:spPr>
          <a:xfrm>
            <a:off x="1687398" y="5148771"/>
            <a:ext cx="200319" cy="771263"/>
          </a:xfrm>
          <a:prstGeom prst="leftBrace">
            <a:avLst>
              <a:gd name="adj1" fmla="val 8333"/>
              <a:gd name="adj2" fmla="val 50000"/>
            </a:avLst>
          </a:prstGeom>
          <a:noFill/>
          <a:ln w="38100" cap="flat" cmpd="sng">
            <a:solidFill>
              <a:srgbClr val="FF93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93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9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Previewing our practical example</a:t>
            </a:r>
            <a:endParaRPr/>
          </a:p>
        </p:txBody>
      </p:sp>
      <p:sp>
        <p:nvSpPr>
          <p:cNvPr id="139" name="Google Shape;139;p8"/>
          <p:cNvSpPr txBox="1">
            <a:spLocks noGrp="1"/>
          </p:cNvSpPr>
          <p:nvPr>
            <p:ph type="body" idx="1"/>
          </p:nvPr>
        </p:nvSpPr>
        <p:spPr>
          <a:xfrm>
            <a:off x="838199" y="1825625"/>
            <a:ext cx="10767485" cy="4530725"/>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ct val="100000"/>
              <a:buChar char="•"/>
            </a:pPr>
            <a:r>
              <a:rPr lang="en-US" dirty="0"/>
              <a:t>We will use data from the </a:t>
            </a:r>
            <a:r>
              <a:rPr lang="en-US" dirty="0">
                <a:solidFill>
                  <a:srgbClr val="FF9300"/>
                </a:solidFill>
              </a:rPr>
              <a:t>US Health and Retirement Study </a:t>
            </a:r>
            <a:r>
              <a:rPr lang="en-US" dirty="0">
                <a:solidFill>
                  <a:schemeClr val="tx1"/>
                </a:solidFill>
              </a:rPr>
              <a:t>(N = 8,875)</a:t>
            </a:r>
            <a:endParaRPr dirty="0">
              <a:solidFill>
                <a:schemeClr val="tx1"/>
              </a:solidFill>
            </a:endParaRPr>
          </a:p>
          <a:p>
            <a:pPr marL="685800" lvl="1" indent="-228600" algn="l" rtl="0">
              <a:lnSpc>
                <a:spcPct val="90000"/>
              </a:lnSpc>
              <a:spcBef>
                <a:spcPts val="500"/>
              </a:spcBef>
              <a:spcAft>
                <a:spcPts val="0"/>
              </a:spcAft>
              <a:buClr>
                <a:schemeClr val="dk1"/>
              </a:buClr>
              <a:buSzPct val="100000"/>
              <a:buChar char="•"/>
            </a:pPr>
            <a:r>
              <a:rPr lang="en-US" dirty="0"/>
              <a:t>National sample, multi-cohort, biennially conducted longitudinal study of non-institutionalized US adults 50+ years</a:t>
            </a:r>
            <a:endParaRPr dirty="0"/>
          </a:p>
          <a:p>
            <a:pPr marL="228600" lvl="0" indent="-64135" algn="l" rtl="0">
              <a:lnSpc>
                <a:spcPct val="90000"/>
              </a:lnSpc>
              <a:spcBef>
                <a:spcPts val="1000"/>
              </a:spcBef>
              <a:spcAft>
                <a:spcPts val="0"/>
              </a:spcAft>
              <a:buClr>
                <a:schemeClr val="dk1"/>
              </a:buClr>
              <a:buSzPct val="100000"/>
              <a:buNone/>
            </a:pPr>
            <a:endParaRPr dirty="0"/>
          </a:p>
          <a:p>
            <a:pPr marL="228600" lvl="0" indent="-228600" algn="l" rtl="0">
              <a:lnSpc>
                <a:spcPct val="90000"/>
              </a:lnSpc>
              <a:spcBef>
                <a:spcPts val="1000"/>
              </a:spcBef>
              <a:spcAft>
                <a:spcPts val="0"/>
              </a:spcAft>
              <a:buClr>
                <a:srgbClr val="FF9300"/>
              </a:buClr>
              <a:buSzPct val="100000"/>
              <a:buChar char="•"/>
            </a:pPr>
            <a:r>
              <a:rPr lang="en-US" dirty="0">
                <a:solidFill>
                  <a:srgbClr val="FF9300"/>
                </a:solidFill>
              </a:rPr>
              <a:t>Exposure:</a:t>
            </a:r>
            <a:r>
              <a:rPr lang="en-US" dirty="0"/>
              <a:t> Self-reported total years of schooling (5-17 years)</a:t>
            </a:r>
            <a:endParaRPr dirty="0"/>
          </a:p>
          <a:p>
            <a:pPr marL="228600" lvl="0" indent="-64135" algn="l" rtl="0">
              <a:lnSpc>
                <a:spcPct val="90000"/>
              </a:lnSpc>
              <a:spcBef>
                <a:spcPts val="1000"/>
              </a:spcBef>
              <a:spcAft>
                <a:spcPts val="0"/>
              </a:spcAft>
              <a:buClr>
                <a:schemeClr val="dk1"/>
              </a:buClr>
              <a:buSzPct val="100000"/>
              <a:buNone/>
            </a:pPr>
            <a:endParaRPr dirty="0"/>
          </a:p>
          <a:p>
            <a:pPr marL="228600" lvl="0" indent="-228600" algn="l" rtl="0">
              <a:lnSpc>
                <a:spcPct val="90000"/>
              </a:lnSpc>
              <a:spcBef>
                <a:spcPts val="1000"/>
              </a:spcBef>
              <a:spcAft>
                <a:spcPts val="0"/>
              </a:spcAft>
              <a:buClr>
                <a:srgbClr val="FF9300"/>
              </a:buClr>
              <a:buSzPct val="100000"/>
              <a:buChar char="•"/>
            </a:pPr>
            <a:r>
              <a:rPr lang="en-US" dirty="0">
                <a:solidFill>
                  <a:srgbClr val="FF9300"/>
                </a:solidFill>
              </a:rPr>
              <a:t>Outcome:</a:t>
            </a:r>
            <a:r>
              <a:rPr lang="en-US" dirty="0"/>
              <a:t> First recorded SBP (2006-2018)</a:t>
            </a:r>
            <a:endParaRPr dirty="0"/>
          </a:p>
          <a:p>
            <a:pPr marL="228600" lvl="0" indent="-64135" algn="l" rtl="0">
              <a:lnSpc>
                <a:spcPct val="90000"/>
              </a:lnSpc>
              <a:spcBef>
                <a:spcPts val="1000"/>
              </a:spcBef>
              <a:spcAft>
                <a:spcPts val="0"/>
              </a:spcAft>
              <a:buClr>
                <a:schemeClr val="dk1"/>
              </a:buClr>
              <a:buSzPct val="100000"/>
              <a:buNone/>
            </a:pPr>
            <a:endParaRPr dirty="0"/>
          </a:p>
          <a:p>
            <a:pPr marL="228600" lvl="0" indent="-228600" algn="l" rtl="0">
              <a:lnSpc>
                <a:spcPct val="90000"/>
              </a:lnSpc>
              <a:spcBef>
                <a:spcPts val="1000"/>
              </a:spcBef>
              <a:spcAft>
                <a:spcPts val="0"/>
              </a:spcAft>
              <a:buClr>
                <a:srgbClr val="FF9300"/>
              </a:buClr>
              <a:buSzPct val="100000"/>
              <a:buChar char="•"/>
            </a:pPr>
            <a:r>
              <a:rPr lang="en-US" dirty="0">
                <a:solidFill>
                  <a:srgbClr val="FF9300"/>
                </a:solidFill>
              </a:rPr>
              <a:t>Covariates:</a:t>
            </a:r>
            <a:endParaRPr dirty="0"/>
          </a:p>
          <a:p>
            <a:pPr marL="685800" lvl="1" indent="-228600" algn="l" rtl="0">
              <a:lnSpc>
                <a:spcPct val="90000"/>
              </a:lnSpc>
              <a:spcBef>
                <a:spcPts val="500"/>
              </a:spcBef>
              <a:spcAft>
                <a:spcPts val="0"/>
              </a:spcAft>
              <a:buClr>
                <a:schemeClr val="dk1"/>
              </a:buClr>
              <a:buSzPct val="100000"/>
              <a:buChar char="•"/>
            </a:pPr>
            <a:r>
              <a:rPr lang="en-US" dirty="0"/>
              <a:t>Age (linear/quadratic)</a:t>
            </a:r>
            <a:endParaRPr dirty="0"/>
          </a:p>
          <a:p>
            <a:pPr marL="685800" lvl="1" indent="-228600" algn="l" rtl="0">
              <a:lnSpc>
                <a:spcPct val="90000"/>
              </a:lnSpc>
              <a:spcBef>
                <a:spcPts val="500"/>
              </a:spcBef>
              <a:spcAft>
                <a:spcPts val="0"/>
              </a:spcAft>
              <a:buClr>
                <a:schemeClr val="dk1"/>
              </a:buClr>
              <a:buSzPct val="100000"/>
              <a:buChar char="•"/>
            </a:pPr>
            <a:r>
              <a:rPr lang="en-US" dirty="0"/>
              <a:t>Sex (Female/Male)</a:t>
            </a:r>
            <a:endParaRPr dirty="0"/>
          </a:p>
          <a:p>
            <a:pPr marL="685800" lvl="1" indent="-228600" algn="l" rtl="0">
              <a:lnSpc>
                <a:spcPct val="90000"/>
              </a:lnSpc>
              <a:spcBef>
                <a:spcPts val="500"/>
              </a:spcBef>
              <a:spcAft>
                <a:spcPts val="0"/>
              </a:spcAft>
              <a:buClr>
                <a:schemeClr val="dk1"/>
              </a:buClr>
              <a:buSzPct val="100000"/>
              <a:buChar char="•"/>
            </a:pPr>
            <a:r>
              <a:rPr lang="en-US" dirty="0"/>
              <a:t>Race and Ethnicity (Black/Latinx/White)</a:t>
            </a:r>
            <a:endParaRPr dirty="0"/>
          </a:p>
          <a:p>
            <a:pPr marL="228600" lvl="0" indent="-64135" algn="l" rtl="0">
              <a:lnSpc>
                <a:spcPct val="90000"/>
              </a:lnSpc>
              <a:spcBef>
                <a:spcPts val="1000"/>
              </a:spcBef>
              <a:spcAft>
                <a:spcPts val="0"/>
              </a:spcAft>
              <a:buClr>
                <a:schemeClr val="dk1"/>
              </a:buClr>
              <a:buSzPct val="100000"/>
              <a:buNone/>
            </a:pPr>
            <a:endParaRPr dirty="0"/>
          </a:p>
        </p:txBody>
      </p:sp>
      <p:sp>
        <p:nvSpPr>
          <p:cNvPr id="140" name="Google Shape;14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
        <p:nvSpPr>
          <p:cNvPr id="141" name="Google Shape;141;p8"/>
          <p:cNvSpPr txBox="1"/>
          <p:nvPr/>
        </p:nvSpPr>
        <p:spPr>
          <a:xfrm>
            <a:off x="6400792" y="5012079"/>
            <a:ext cx="6037226" cy="1446550"/>
          </a:xfrm>
          <a:prstGeom prst="rect">
            <a:avLst/>
          </a:prstGeom>
          <a:noFill/>
          <a:ln>
            <a:noFill/>
          </a:ln>
        </p:spPr>
        <p:txBody>
          <a:bodyPr spcFirstLastPara="1" wrap="square" lIns="91425" tIns="45700" rIns="91425" bIns="45700" anchor="t" anchorCtr="0">
            <a:spAutoFit/>
          </a:bodyPr>
          <a:lstStyle/>
          <a:p>
            <a:pPr marL="742950" marR="0" lvl="1" indent="-285750" algn="l" rtl="0">
              <a:spcBef>
                <a:spcPts val="0"/>
              </a:spcBef>
              <a:spcAft>
                <a:spcPts val="0"/>
              </a:spcAft>
              <a:buClr>
                <a:schemeClr val="dk1"/>
              </a:buClr>
              <a:buSzPts val="2200"/>
              <a:buFont typeface="Arial"/>
              <a:buChar char="•"/>
            </a:pPr>
            <a:r>
              <a:rPr lang="en-US" sz="2200" b="0" i="0" u="none" strike="noStrike" cap="none" dirty="0">
                <a:solidFill>
                  <a:schemeClr val="dk1"/>
                </a:solidFill>
                <a:latin typeface="Arial"/>
                <a:ea typeface="Arial"/>
                <a:cs typeface="Arial"/>
                <a:sym typeface="Arial"/>
              </a:rPr>
              <a:t>Southern birth (yes/no)</a:t>
            </a:r>
            <a:endParaRPr dirty="0"/>
          </a:p>
          <a:p>
            <a:pPr marL="742950" marR="0" lvl="1" indent="-285750" algn="l" rtl="0">
              <a:spcBef>
                <a:spcPts val="0"/>
              </a:spcBef>
              <a:spcAft>
                <a:spcPts val="0"/>
              </a:spcAft>
              <a:buClr>
                <a:schemeClr val="dk1"/>
              </a:buClr>
              <a:buSzPts val="2200"/>
              <a:buFont typeface="Arial"/>
              <a:buChar char="•"/>
            </a:pPr>
            <a:r>
              <a:rPr lang="en-US" sz="2200" b="0" i="0" u="none" strike="noStrike" cap="none" dirty="0">
                <a:solidFill>
                  <a:schemeClr val="dk1"/>
                </a:solidFill>
                <a:latin typeface="Arial"/>
                <a:ea typeface="Arial"/>
                <a:cs typeface="Arial"/>
                <a:sym typeface="Arial"/>
              </a:rPr>
              <a:t>Mother’s education (5-17 years)</a:t>
            </a:r>
            <a:endParaRPr dirty="0"/>
          </a:p>
          <a:p>
            <a:pPr marL="742950" marR="0" lvl="1" indent="-285750" algn="l" rtl="0">
              <a:spcBef>
                <a:spcPts val="0"/>
              </a:spcBef>
              <a:spcAft>
                <a:spcPts val="0"/>
              </a:spcAft>
              <a:buClr>
                <a:schemeClr val="dk1"/>
              </a:buClr>
              <a:buSzPts val="2200"/>
              <a:buFont typeface="Arial"/>
              <a:buChar char="•"/>
            </a:pPr>
            <a:r>
              <a:rPr lang="en-US" sz="2200" b="0" i="0" u="none" strike="noStrike" cap="none" dirty="0">
                <a:solidFill>
                  <a:schemeClr val="dk1"/>
                </a:solidFill>
                <a:latin typeface="Arial"/>
                <a:ea typeface="Arial"/>
                <a:cs typeface="Arial"/>
                <a:sym typeface="Arial"/>
              </a:rPr>
              <a:t>Father’s education (5-17 years)</a:t>
            </a:r>
            <a:endParaRPr dirty="0"/>
          </a:p>
          <a:p>
            <a:pPr marL="742950" marR="0" lvl="1" indent="-285750" algn="l" rtl="0">
              <a:spcBef>
                <a:spcPts val="0"/>
              </a:spcBef>
              <a:spcAft>
                <a:spcPts val="0"/>
              </a:spcAft>
              <a:buClr>
                <a:schemeClr val="dk1"/>
              </a:buClr>
              <a:buSzPts val="2200"/>
              <a:buFont typeface="Arial"/>
              <a:buChar char="•"/>
            </a:pPr>
            <a:r>
              <a:rPr lang="en-US" sz="2200" b="0" i="0" u="none" strike="noStrike" cap="none" dirty="0">
                <a:solidFill>
                  <a:schemeClr val="dk1"/>
                </a:solidFill>
                <a:latin typeface="Arial"/>
                <a:ea typeface="Arial"/>
                <a:cs typeface="Arial"/>
                <a:sym typeface="Arial"/>
              </a:rPr>
              <a:t>SBP measurement year (2006-2018)</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9">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9">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9">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9">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9">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1">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1">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1">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Terminology we use interchangeably</a:t>
            </a:r>
            <a:endParaRPr/>
          </a:p>
        </p:txBody>
      </p:sp>
      <p:sp>
        <p:nvSpPr>
          <p:cNvPr id="157" name="Google Shape;15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Terminology we use interchangeably</a:t>
            </a:r>
            <a:endParaRPr/>
          </a:p>
        </p:txBody>
      </p:sp>
      <p:sp>
        <p:nvSpPr>
          <p:cNvPr id="157" name="Google Shape;15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graphicFrame>
        <p:nvGraphicFramePr>
          <p:cNvPr id="158" name="Google Shape;158;p10"/>
          <p:cNvGraphicFramePr/>
          <p:nvPr/>
        </p:nvGraphicFramePr>
        <p:xfrm>
          <a:off x="838200" y="2514600"/>
          <a:ext cx="10881350" cy="1828840"/>
        </p:xfrm>
        <a:graphic>
          <a:graphicData uri="http://schemas.openxmlformats.org/drawingml/2006/table">
            <a:tbl>
              <a:tblPr firstRow="1" bandRow="1">
                <a:noFill/>
                <a:tableStyleId>{FB4756AE-ACC1-4F6F-B641-2C8A4B7F3228}</a:tableStyleId>
              </a:tblPr>
              <a:tblGrid>
                <a:gridCol w="5440675">
                  <a:extLst>
                    <a:ext uri="{9D8B030D-6E8A-4147-A177-3AD203B41FA5}">
                      <a16:colId xmlns:a16="http://schemas.microsoft.com/office/drawing/2014/main" val="20000"/>
                    </a:ext>
                  </a:extLst>
                </a:gridCol>
                <a:gridCol w="544067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2400" b="0" dirty="0"/>
                        <a:t>Marginal and unconditional</a:t>
                      </a:r>
                      <a:endParaRPr dirty="0"/>
                    </a:p>
                  </a:txBody>
                  <a:tcPr marL="91450" marR="91450" marT="45725" marB="45725"/>
                </a:tc>
                <a:tc>
                  <a:txBody>
                    <a:bodyPr/>
                    <a:lstStyle/>
                    <a:p>
                      <a:pPr marL="0" marR="0" lvl="0" indent="0" algn="l" rtl="0">
                        <a:spcBef>
                          <a:spcPts val="0"/>
                        </a:spcBef>
                        <a:spcAft>
                          <a:spcPts val="0"/>
                        </a:spcAft>
                        <a:buNone/>
                      </a:pPr>
                      <a:endParaRPr sz="2400" b="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endParaRPr sz="2400" b="0"/>
                    </a:p>
                  </a:txBody>
                  <a:tcPr marL="91450" marR="91450" marT="45725" marB="45725"/>
                </a:tc>
                <a:tc>
                  <a:txBody>
                    <a:bodyPr/>
                    <a:lstStyle/>
                    <a:p>
                      <a:pPr marL="0" marR="0" lvl="0" indent="0" algn="l" rtl="0">
                        <a:spcBef>
                          <a:spcPts val="0"/>
                        </a:spcBef>
                        <a:spcAft>
                          <a:spcPts val="0"/>
                        </a:spcAft>
                        <a:buNone/>
                      </a:pPr>
                      <a:endParaRPr sz="2400" b="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endParaRPr sz="2400" b="0"/>
                    </a:p>
                  </a:txBody>
                  <a:tcPr marL="91450" marR="91450" marT="45725" marB="45725"/>
                </a:tc>
                <a:tc>
                  <a:txBody>
                    <a:bodyPr/>
                    <a:lstStyle/>
                    <a:p>
                      <a:pPr marL="0" marR="0" lvl="0" indent="0" algn="l" rtl="0">
                        <a:spcBef>
                          <a:spcPts val="0"/>
                        </a:spcBef>
                        <a:spcAft>
                          <a:spcPts val="0"/>
                        </a:spcAft>
                        <a:buNone/>
                      </a:pPr>
                      <a:endParaRPr sz="2400" b="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endParaRPr sz="2400" b="0"/>
                    </a:p>
                  </a:txBody>
                  <a:tcPr marL="91450" marR="91450" marT="45725" marB="45725"/>
                </a:tc>
                <a:tc>
                  <a:txBody>
                    <a:bodyPr/>
                    <a:lstStyle/>
                    <a:p>
                      <a:pPr marL="0" marR="0" lvl="0" indent="0" algn="l" rtl="0">
                        <a:spcBef>
                          <a:spcPts val="0"/>
                        </a:spcBef>
                        <a:spcAft>
                          <a:spcPts val="0"/>
                        </a:spcAft>
                        <a:buNone/>
                      </a:pPr>
                      <a:endParaRPr sz="2400" b="0" dirty="0"/>
                    </a:p>
                  </a:txBody>
                  <a:tcPr marL="91450" marR="91450" marT="45725" marB="45725"/>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5508167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Terminology we use interchangeably</a:t>
            </a:r>
            <a:endParaRPr/>
          </a:p>
        </p:txBody>
      </p:sp>
      <p:sp>
        <p:nvSpPr>
          <p:cNvPr id="164" name="Google Shape;16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graphicFrame>
        <p:nvGraphicFramePr>
          <p:cNvPr id="165" name="Google Shape;165;p11"/>
          <p:cNvGraphicFramePr/>
          <p:nvPr/>
        </p:nvGraphicFramePr>
        <p:xfrm>
          <a:off x="838200" y="2514600"/>
          <a:ext cx="10881350" cy="1828840"/>
        </p:xfrm>
        <a:graphic>
          <a:graphicData uri="http://schemas.openxmlformats.org/drawingml/2006/table">
            <a:tbl>
              <a:tblPr firstRow="1" bandRow="1">
                <a:noFill/>
                <a:tableStyleId>{FB4756AE-ACC1-4F6F-B641-2C8A4B7F3228}</a:tableStyleId>
              </a:tblPr>
              <a:tblGrid>
                <a:gridCol w="5440675">
                  <a:extLst>
                    <a:ext uri="{9D8B030D-6E8A-4147-A177-3AD203B41FA5}">
                      <a16:colId xmlns:a16="http://schemas.microsoft.com/office/drawing/2014/main" val="20000"/>
                    </a:ext>
                  </a:extLst>
                </a:gridCol>
                <a:gridCol w="544067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2400" b="0">
                          <a:solidFill>
                            <a:srgbClr val="BFBFBF"/>
                          </a:solidFill>
                        </a:rPr>
                        <a:t>Marginal and unconditional</a:t>
                      </a:r>
                      <a:endParaRPr/>
                    </a:p>
                  </a:txBody>
                  <a:tcPr marL="91450" marR="91450" marT="45725" marB="45725"/>
                </a:tc>
                <a:tc>
                  <a:txBody>
                    <a:bodyPr/>
                    <a:lstStyle/>
                    <a:p>
                      <a:pPr marL="0" marR="0" lvl="0" indent="0" algn="l" rtl="0">
                        <a:spcBef>
                          <a:spcPts val="0"/>
                        </a:spcBef>
                        <a:spcAft>
                          <a:spcPts val="0"/>
                        </a:spcAft>
                        <a:buNone/>
                      </a:pPr>
                      <a:endParaRPr sz="2400" b="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2400" b="0"/>
                        <a:t>Means and expectation</a:t>
                      </a:r>
                      <a:endParaRPr/>
                    </a:p>
                  </a:txBody>
                  <a:tcPr marL="91450" marR="91450" marT="45725" marB="45725"/>
                </a:tc>
                <a:tc>
                  <a:txBody>
                    <a:bodyPr/>
                    <a:lstStyle/>
                    <a:p>
                      <a:pPr marL="0" marR="0" lvl="0" indent="0" algn="l" rtl="0">
                        <a:spcBef>
                          <a:spcPts val="0"/>
                        </a:spcBef>
                        <a:spcAft>
                          <a:spcPts val="0"/>
                        </a:spcAft>
                        <a:buNone/>
                      </a:pPr>
                      <a:endParaRPr sz="2400" b="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endParaRPr sz="2400" b="0"/>
                    </a:p>
                  </a:txBody>
                  <a:tcPr marL="91450" marR="91450" marT="45725" marB="45725"/>
                </a:tc>
                <a:tc>
                  <a:txBody>
                    <a:bodyPr/>
                    <a:lstStyle/>
                    <a:p>
                      <a:pPr marL="0" marR="0" lvl="0" indent="0" algn="l" rtl="0">
                        <a:spcBef>
                          <a:spcPts val="0"/>
                        </a:spcBef>
                        <a:spcAft>
                          <a:spcPts val="0"/>
                        </a:spcAft>
                        <a:buNone/>
                      </a:pPr>
                      <a:endParaRPr sz="2400" b="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endParaRPr sz="2400" b="0"/>
                    </a:p>
                  </a:txBody>
                  <a:tcPr marL="91450" marR="91450" marT="45725" marB="45725"/>
                </a:tc>
                <a:tc>
                  <a:txBody>
                    <a:bodyPr/>
                    <a:lstStyle/>
                    <a:p>
                      <a:pPr marL="0" marR="0" lvl="0" indent="0" algn="l" rtl="0">
                        <a:spcBef>
                          <a:spcPts val="0"/>
                        </a:spcBef>
                        <a:spcAft>
                          <a:spcPts val="0"/>
                        </a:spcAft>
                        <a:buNone/>
                      </a:pPr>
                      <a:endParaRPr sz="2400" b="0"/>
                    </a:p>
                  </a:txBody>
                  <a:tcPr marL="91450" marR="91450" marT="45725" marB="45725"/>
                </a:tc>
                <a:extLst>
                  <a:ext uri="{0D108BD9-81ED-4DB2-BD59-A6C34878D82A}">
                    <a16:rowId xmlns:a16="http://schemas.microsoft.com/office/drawing/2014/main" val="10003"/>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Terminology we use interchangeably</a:t>
            </a:r>
            <a:endParaRPr/>
          </a:p>
        </p:txBody>
      </p:sp>
      <p:sp>
        <p:nvSpPr>
          <p:cNvPr id="171" name="Google Shape;171;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graphicFrame>
        <p:nvGraphicFramePr>
          <p:cNvPr id="172" name="Google Shape;172;p12"/>
          <p:cNvGraphicFramePr/>
          <p:nvPr/>
        </p:nvGraphicFramePr>
        <p:xfrm>
          <a:off x="838200" y="2514600"/>
          <a:ext cx="10881350" cy="1828840"/>
        </p:xfrm>
        <a:graphic>
          <a:graphicData uri="http://schemas.openxmlformats.org/drawingml/2006/table">
            <a:tbl>
              <a:tblPr firstRow="1" bandRow="1">
                <a:noFill/>
                <a:tableStyleId>{FB4756AE-ACC1-4F6F-B641-2C8A4B7F3228}</a:tableStyleId>
              </a:tblPr>
              <a:tblGrid>
                <a:gridCol w="5440675">
                  <a:extLst>
                    <a:ext uri="{9D8B030D-6E8A-4147-A177-3AD203B41FA5}">
                      <a16:colId xmlns:a16="http://schemas.microsoft.com/office/drawing/2014/main" val="20000"/>
                    </a:ext>
                  </a:extLst>
                </a:gridCol>
                <a:gridCol w="544067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2400" b="0">
                          <a:solidFill>
                            <a:srgbClr val="BFBFBF"/>
                          </a:solidFill>
                        </a:rPr>
                        <a:t>Marginal and unconditional</a:t>
                      </a:r>
                      <a:endParaRPr/>
                    </a:p>
                  </a:txBody>
                  <a:tcPr marL="91450" marR="91450" marT="45725" marB="45725"/>
                </a:tc>
                <a:tc>
                  <a:txBody>
                    <a:bodyPr/>
                    <a:lstStyle/>
                    <a:p>
                      <a:pPr marL="0" marR="0" lvl="0" indent="0" algn="l" rtl="0">
                        <a:spcBef>
                          <a:spcPts val="0"/>
                        </a:spcBef>
                        <a:spcAft>
                          <a:spcPts val="0"/>
                        </a:spcAft>
                        <a:buNone/>
                      </a:pPr>
                      <a:endParaRPr sz="2400" b="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2400" b="0">
                          <a:solidFill>
                            <a:srgbClr val="BFBFBF"/>
                          </a:solidFill>
                        </a:rPr>
                        <a:t>Means and expectation</a:t>
                      </a:r>
                      <a:endParaRPr/>
                    </a:p>
                  </a:txBody>
                  <a:tcPr marL="91450" marR="91450" marT="45725" marB="45725"/>
                </a:tc>
                <a:tc>
                  <a:txBody>
                    <a:bodyPr/>
                    <a:lstStyle/>
                    <a:p>
                      <a:pPr marL="0" marR="0" lvl="0" indent="0" algn="l" rtl="0">
                        <a:spcBef>
                          <a:spcPts val="0"/>
                        </a:spcBef>
                        <a:spcAft>
                          <a:spcPts val="0"/>
                        </a:spcAft>
                        <a:buNone/>
                      </a:pPr>
                      <a:endParaRPr sz="2400" b="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2400" b="0"/>
                        <a:t>Scale, spread, and variance</a:t>
                      </a:r>
                      <a:endParaRPr sz="2400" b="0"/>
                    </a:p>
                  </a:txBody>
                  <a:tcPr marL="91450" marR="91450" marT="45725" marB="45725"/>
                </a:tc>
                <a:tc>
                  <a:txBody>
                    <a:bodyPr/>
                    <a:lstStyle/>
                    <a:p>
                      <a:pPr marL="0" marR="0" lvl="0" indent="0" algn="l" rtl="0">
                        <a:spcBef>
                          <a:spcPts val="0"/>
                        </a:spcBef>
                        <a:spcAft>
                          <a:spcPts val="0"/>
                        </a:spcAft>
                        <a:buNone/>
                      </a:pPr>
                      <a:endParaRPr sz="2400" b="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endParaRPr sz="2400" b="0"/>
                    </a:p>
                  </a:txBody>
                  <a:tcPr marL="91450" marR="91450" marT="45725" marB="45725"/>
                </a:tc>
                <a:tc>
                  <a:txBody>
                    <a:bodyPr/>
                    <a:lstStyle/>
                    <a:p>
                      <a:pPr marL="0" marR="0" lvl="0" indent="0" algn="l" rtl="0">
                        <a:spcBef>
                          <a:spcPts val="0"/>
                        </a:spcBef>
                        <a:spcAft>
                          <a:spcPts val="0"/>
                        </a:spcAft>
                        <a:buNone/>
                      </a:pPr>
                      <a:endParaRPr sz="2400" b="0"/>
                    </a:p>
                  </a:txBody>
                  <a:tcPr marL="91450" marR="91450" marT="45725" marB="45725"/>
                </a:tc>
                <a:extLst>
                  <a:ext uri="{0D108BD9-81ED-4DB2-BD59-A6C34878D82A}">
                    <a16:rowId xmlns:a16="http://schemas.microsoft.com/office/drawing/2014/main" val="10003"/>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Terminology we use interchangeably</a:t>
            </a:r>
            <a:endParaRPr/>
          </a:p>
        </p:txBody>
      </p:sp>
      <p:sp>
        <p:nvSpPr>
          <p:cNvPr id="171" name="Google Shape;171;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graphicFrame>
        <p:nvGraphicFramePr>
          <p:cNvPr id="172" name="Google Shape;172;p12"/>
          <p:cNvGraphicFramePr/>
          <p:nvPr>
            <p:extLst>
              <p:ext uri="{D42A27DB-BD31-4B8C-83A1-F6EECF244321}">
                <p14:modId xmlns:p14="http://schemas.microsoft.com/office/powerpoint/2010/main" val="3677224193"/>
              </p:ext>
            </p:extLst>
          </p:nvPr>
        </p:nvGraphicFramePr>
        <p:xfrm>
          <a:off x="838200" y="2514600"/>
          <a:ext cx="10881350" cy="2270800"/>
        </p:xfrm>
        <a:graphic>
          <a:graphicData uri="http://schemas.openxmlformats.org/drawingml/2006/table">
            <a:tbl>
              <a:tblPr firstRow="1" bandRow="1">
                <a:noFill/>
                <a:tableStyleId>{FB4756AE-ACC1-4F6F-B641-2C8A4B7F3228}</a:tableStyleId>
              </a:tblPr>
              <a:tblGrid>
                <a:gridCol w="5440675">
                  <a:extLst>
                    <a:ext uri="{9D8B030D-6E8A-4147-A177-3AD203B41FA5}">
                      <a16:colId xmlns:a16="http://schemas.microsoft.com/office/drawing/2014/main" val="20000"/>
                    </a:ext>
                  </a:extLst>
                </a:gridCol>
                <a:gridCol w="544067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2400" b="0" dirty="0">
                          <a:solidFill>
                            <a:srgbClr val="BFBFBF"/>
                          </a:solidFill>
                        </a:rPr>
                        <a:t>Marginal and unconditional</a:t>
                      </a:r>
                      <a:endParaRPr dirty="0"/>
                    </a:p>
                  </a:txBody>
                  <a:tcPr marL="91450" marR="91450" marT="45725" marB="45725"/>
                </a:tc>
                <a:tc>
                  <a:txBody>
                    <a:bodyPr/>
                    <a:lstStyle/>
                    <a:p>
                      <a:pPr marL="0" marR="0" lvl="0" indent="0" algn="l" rtl="0">
                        <a:spcBef>
                          <a:spcPts val="0"/>
                        </a:spcBef>
                        <a:spcAft>
                          <a:spcPts val="0"/>
                        </a:spcAft>
                        <a:buNone/>
                      </a:pPr>
                      <a:endParaRPr sz="2400" b="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2400" b="0" dirty="0">
                          <a:solidFill>
                            <a:srgbClr val="BFBFBF"/>
                          </a:solidFill>
                        </a:rPr>
                        <a:t>Means and expectation</a:t>
                      </a:r>
                      <a:endParaRPr dirty="0"/>
                    </a:p>
                  </a:txBody>
                  <a:tcPr marL="91450" marR="91450" marT="45725" marB="45725"/>
                </a:tc>
                <a:tc>
                  <a:txBody>
                    <a:bodyPr/>
                    <a:lstStyle/>
                    <a:p>
                      <a:pPr marL="0" marR="0" lvl="0" indent="0" algn="l" rtl="0">
                        <a:spcBef>
                          <a:spcPts val="0"/>
                        </a:spcBef>
                        <a:spcAft>
                          <a:spcPts val="0"/>
                        </a:spcAft>
                        <a:buNone/>
                      </a:pPr>
                      <a:endParaRPr sz="2400" b="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600"/>
                        </a:spcAft>
                        <a:buNone/>
                      </a:pPr>
                      <a:r>
                        <a:rPr lang="en-US" sz="2400" b="0" dirty="0">
                          <a:solidFill>
                            <a:srgbClr val="BFBFBF"/>
                          </a:solidFill>
                        </a:rPr>
                        <a:t>Scale, spread, and variance</a:t>
                      </a:r>
                    </a:p>
                    <a:p>
                      <a:pPr marL="0" marR="0" lvl="0" indent="0" algn="l" rtl="0">
                        <a:spcBef>
                          <a:spcPts val="0"/>
                        </a:spcBef>
                        <a:spcAft>
                          <a:spcPts val="600"/>
                        </a:spcAft>
                        <a:buNone/>
                      </a:pPr>
                      <a:r>
                        <a:rPr lang="en-US" sz="2400" b="0" dirty="0"/>
                        <a:t>Percentiles and quantiles</a:t>
                      </a:r>
                      <a:endParaRPr sz="2400" b="0" dirty="0"/>
                    </a:p>
                  </a:txBody>
                  <a:tcPr marL="91450" marR="91450" marT="45725" marB="45725"/>
                </a:tc>
                <a:tc>
                  <a:txBody>
                    <a:bodyPr/>
                    <a:lstStyle/>
                    <a:p>
                      <a:pPr marL="0" marR="0" lvl="0" indent="0" algn="l" rtl="0">
                        <a:spcBef>
                          <a:spcPts val="0"/>
                        </a:spcBef>
                        <a:spcAft>
                          <a:spcPts val="0"/>
                        </a:spcAft>
                        <a:buNone/>
                      </a:pPr>
                      <a:endParaRPr sz="2400" b="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endParaRPr sz="2400" b="0" dirty="0"/>
                    </a:p>
                  </a:txBody>
                  <a:tcPr marL="91450" marR="91450" marT="45725" marB="45725"/>
                </a:tc>
                <a:tc>
                  <a:txBody>
                    <a:bodyPr/>
                    <a:lstStyle/>
                    <a:p>
                      <a:pPr marL="0" marR="0" lvl="0" indent="0" algn="l" rtl="0">
                        <a:spcBef>
                          <a:spcPts val="0"/>
                        </a:spcBef>
                        <a:spcAft>
                          <a:spcPts val="0"/>
                        </a:spcAft>
                        <a:buNone/>
                      </a:pPr>
                      <a:endParaRPr sz="2400" b="0" dirty="0"/>
                    </a:p>
                  </a:txBody>
                  <a:tcPr marL="91450" marR="91450" marT="45725" marB="45725"/>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262668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Abbreviations</a:t>
            </a:r>
            <a:endParaRPr/>
          </a:p>
        </p:txBody>
      </p:sp>
      <p:graphicFrame>
        <p:nvGraphicFramePr>
          <p:cNvPr id="186" name="Google Shape;186;p17"/>
          <p:cNvGraphicFramePr/>
          <p:nvPr/>
        </p:nvGraphicFramePr>
        <p:xfrm>
          <a:off x="838200" y="1825625"/>
          <a:ext cx="10515600" cy="4079350"/>
        </p:xfrm>
        <a:graphic>
          <a:graphicData uri="http://schemas.openxmlformats.org/drawingml/2006/table">
            <a:tbl>
              <a:tblPr firstRow="1" bandRow="1">
                <a:noFill/>
                <a:tableStyleId>{FB4756AE-ACC1-4F6F-B641-2C8A4B7F3228}</a:tableStyleId>
              </a:tblPr>
              <a:tblGrid>
                <a:gridCol w="2868050">
                  <a:extLst>
                    <a:ext uri="{9D8B030D-6E8A-4147-A177-3AD203B41FA5}">
                      <a16:colId xmlns:a16="http://schemas.microsoft.com/office/drawing/2014/main" val="20000"/>
                    </a:ext>
                  </a:extLst>
                </a:gridCol>
                <a:gridCol w="7647550">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1800" b="1">
                          <a:solidFill>
                            <a:srgbClr val="F2494C"/>
                          </a:solidFill>
                        </a:rPr>
                        <a:t>Abbreviation</a:t>
                      </a:r>
                      <a:endParaRPr/>
                    </a:p>
                  </a:txBody>
                  <a:tcPr marL="91450" marR="91450" marT="45725" marB="45725">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b="1">
                          <a:solidFill>
                            <a:srgbClr val="F2494C"/>
                          </a:solidFill>
                        </a:rPr>
                        <a:t>Full form</a:t>
                      </a:r>
                      <a:endParaRPr/>
                    </a:p>
                  </a:txBody>
                  <a:tcPr marL="91450" marR="91450" marT="45725" marB="45725">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CDF</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Cumulative Distribution Function</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CEF</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Conditional Expectation Function</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CQF</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Conditional Quantile Function</a:t>
                      </a:r>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a:t>CQR</a:t>
                      </a:r>
                      <a:endParaRPr/>
                    </a:p>
                  </a:txBody>
                  <a:tcPr marL="91450" marR="91450" marT="45725" marB="45725">
                    <a:lnT w="9525" cap="flat" cmpd="sng">
                      <a:solidFill>
                        <a:srgbClr val="000000">
                          <a:alpha val="0"/>
                        </a:srgbClr>
                      </a:solidFill>
                      <a:prstDash val="solid"/>
                      <a:round/>
                      <a:headEnd type="none" w="sm" len="sm"/>
                      <a:tailEnd type="none" w="sm" len="sm"/>
                    </a:lnT>
                  </a:tcPr>
                </a:tc>
                <a:tc>
                  <a:txBody>
                    <a:bodyPr/>
                    <a:lstStyle/>
                    <a:p>
                      <a:pPr marL="0" marR="0" lvl="0" indent="0" algn="l" rtl="0">
                        <a:spcBef>
                          <a:spcPts val="0"/>
                        </a:spcBef>
                        <a:spcAft>
                          <a:spcPts val="0"/>
                        </a:spcAft>
                        <a:buNone/>
                      </a:pPr>
                      <a:r>
                        <a:rPr lang="en-US" sz="1800"/>
                        <a:t>Conditional Quantile Regression</a:t>
                      </a:r>
                      <a:endParaRPr/>
                    </a:p>
                  </a:txBody>
                  <a:tcPr marL="91450" marR="91450" marT="45725" marB="45725">
                    <a:lnT w="9525" cap="flat" cmpd="sng">
                      <a:solidFill>
                        <a:srgbClr val="000000">
                          <a:alpha val="0"/>
                        </a:srgbClr>
                      </a:solidFill>
                      <a:prstDash val="solid"/>
                      <a:round/>
                      <a:headEnd type="none" w="sm" len="sm"/>
                      <a:tailEnd type="none" w="sm" len="sm"/>
                    </a:lnT>
                  </a:tcPr>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800"/>
                        <a:t>DGP</a:t>
                      </a:r>
                      <a:endParaRPr/>
                    </a:p>
                  </a:txBody>
                  <a:tcPr marL="91450" marR="91450" marT="45725" marB="45725"/>
                </a:tc>
                <a:tc>
                  <a:txBody>
                    <a:bodyPr/>
                    <a:lstStyle/>
                    <a:p>
                      <a:pPr marL="0" marR="0" lvl="0" indent="0" algn="l" rtl="0">
                        <a:spcBef>
                          <a:spcPts val="0"/>
                        </a:spcBef>
                        <a:spcAft>
                          <a:spcPts val="0"/>
                        </a:spcAft>
                        <a:buNone/>
                      </a:pPr>
                      <a:r>
                        <a:rPr lang="en-US" sz="1800"/>
                        <a:t>Data Generating Process</a:t>
                      </a:r>
                      <a:endParaRPr/>
                    </a:p>
                  </a:txBody>
                  <a:tcPr marL="91450" marR="91450" marT="45725" marB="45725"/>
                </a:tc>
                <a:extLst>
                  <a:ext uri="{0D108BD9-81ED-4DB2-BD59-A6C34878D82A}">
                    <a16:rowId xmlns:a16="http://schemas.microsoft.com/office/drawing/2014/main" val="10005"/>
                  </a:ext>
                </a:extLst>
              </a:tr>
              <a:tr h="370850">
                <a:tc>
                  <a:txBody>
                    <a:bodyPr/>
                    <a:lstStyle/>
                    <a:p>
                      <a:pPr marL="0" marR="0" lvl="0" indent="0" algn="l" rtl="0">
                        <a:spcBef>
                          <a:spcPts val="0"/>
                        </a:spcBef>
                        <a:spcAft>
                          <a:spcPts val="0"/>
                        </a:spcAft>
                        <a:buNone/>
                      </a:pPr>
                      <a:r>
                        <a:rPr lang="en-US" sz="1800"/>
                        <a:t>IF</a:t>
                      </a:r>
                      <a:endParaRPr/>
                    </a:p>
                  </a:txBody>
                  <a:tcPr marL="91450" marR="91450" marT="45725" marB="45725"/>
                </a:tc>
                <a:tc>
                  <a:txBody>
                    <a:bodyPr/>
                    <a:lstStyle/>
                    <a:p>
                      <a:pPr marL="0" marR="0" lvl="0" indent="0" algn="l" rtl="0">
                        <a:spcBef>
                          <a:spcPts val="0"/>
                        </a:spcBef>
                        <a:spcAft>
                          <a:spcPts val="0"/>
                        </a:spcAft>
                        <a:buNone/>
                      </a:pPr>
                      <a:r>
                        <a:rPr lang="en-US" sz="1800"/>
                        <a:t>Influence function</a:t>
                      </a:r>
                      <a:endParaRPr/>
                    </a:p>
                  </a:txBody>
                  <a:tcPr marL="91450" marR="91450" marT="45725" marB="45725"/>
                </a:tc>
                <a:extLst>
                  <a:ext uri="{0D108BD9-81ED-4DB2-BD59-A6C34878D82A}">
                    <a16:rowId xmlns:a16="http://schemas.microsoft.com/office/drawing/2014/main" val="10006"/>
                  </a:ext>
                </a:extLst>
              </a:tr>
              <a:tr h="370850">
                <a:tc>
                  <a:txBody>
                    <a:bodyPr/>
                    <a:lstStyle/>
                    <a:p>
                      <a:pPr marL="0" marR="0" lvl="0" indent="0" algn="l" rtl="0">
                        <a:spcBef>
                          <a:spcPts val="0"/>
                        </a:spcBef>
                        <a:spcAft>
                          <a:spcPts val="0"/>
                        </a:spcAft>
                        <a:buNone/>
                      </a:pPr>
                      <a:r>
                        <a:rPr lang="en-US" sz="1800"/>
                        <a:t>OLS</a:t>
                      </a:r>
                      <a:endParaRPr/>
                    </a:p>
                  </a:txBody>
                  <a:tcPr marL="91450" marR="91450" marT="45725" marB="45725"/>
                </a:tc>
                <a:tc>
                  <a:txBody>
                    <a:bodyPr/>
                    <a:lstStyle/>
                    <a:p>
                      <a:pPr marL="0" marR="0" lvl="0" indent="0" algn="l" rtl="0">
                        <a:spcBef>
                          <a:spcPts val="0"/>
                        </a:spcBef>
                        <a:spcAft>
                          <a:spcPts val="0"/>
                        </a:spcAft>
                        <a:buNone/>
                      </a:pPr>
                      <a:r>
                        <a:rPr lang="en-US" sz="1800"/>
                        <a:t>Ordinary Least Squares</a:t>
                      </a:r>
                      <a:endParaRPr/>
                    </a:p>
                  </a:txBody>
                  <a:tcPr marL="91450" marR="91450" marT="45725" marB="45725"/>
                </a:tc>
                <a:extLst>
                  <a:ext uri="{0D108BD9-81ED-4DB2-BD59-A6C34878D82A}">
                    <a16:rowId xmlns:a16="http://schemas.microsoft.com/office/drawing/2014/main" val="10007"/>
                  </a:ext>
                </a:extLst>
              </a:tr>
              <a:tr h="370850">
                <a:tc>
                  <a:txBody>
                    <a:bodyPr/>
                    <a:lstStyle/>
                    <a:p>
                      <a:pPr marL="0" marR="0" lvl="0" indent="0" algn="l" rtl="0">
                        <a:spcBef>
                          <a:spcPts val="0"/>
                        </a:spcBef>
                        <a:spcAft>
                          <a:spcPts val="0"/>
                        </a:spcAft>
                        <a:buNone/>
                      </a:pPr>
                      <a:r>
                        <a:rPr lang="en-US" sz="1800"/>
                        <a:t>RIF</a:t>
                      </a:r>
                      <a:endParaRPr/>
                    </a:p>
                  </a:txBody>
                  <a:tcPr marL="91450" marR="91450" marT="45725" marB="45725"/>
                </a:tc>
                <a:tc>
                  <a:txBody>
                    <a:bodyPr/>
                    <a:lstStyle/>
                    <a:p>
                      <a:pPr marL="0" marR="0" lvl="0" indent="0" algn="l" rtl="0">
                        <a:spcBef>
                          <a:spcPts val="0"/>
                        </a:spcBef>
                        <a:spcAft>
                          <a:spcPts val="0"/>
                        </a:spcAft>
                        <a:buNone/>
                      </a:pPr>
                      <a:r>
                        <a:rPr lang="en-US" sz="1800"/>
                        <a:t>Recentered Influence Function</a:t>
                      </a:r>
                      <a:endParaRPr/>
                    </a:p>
                  </a:txBody>
                  <a:tcPr marL="91450" marR="91450" marT="45725" marB="45725"/>
                </a:tc>
                <a:extLst>
                  <a:ext uri="{0D108BD9-81ED-4DB2-BD59-A6C34878D82A}">
                    <a16:rowId xmlns:a16="http://schemas.microsoft.com/office/drawing/2014/main" val="10008"/>
                  </a:ext>
                </a:extLst>
              </a:tr>
              <a:tr h="370850">
                <a:tc>
                  <a:txBody>
                    <a:bodyPr/>
                    <a:lstStyle/>
                    <a:p>
                      <a:pPr marL="0" marR="0" lvl="0" indent="0" algn="l" rtl="0">
                        <a:spcBef>
                          <a:spcPts val="0"/>
                        </a:spcBef>
                        <a:spcAft>
                          <a:spcPts val="0"/>
                        </a:spcAft>
                        <a:buNone/>
                      </a:pPr>
                      <a:r>
                        <a:rPr lang="en-US" sz="1800"/>
                        <a:t>SBP</a:t>
                      </a:r>
                      <a:endParaRPr/>
                    </a:p>
                  </a:txBody>
                  <a:tcPr marL="91450" marR="91450" marT="45725" marB="45725"/>
                </a:tc>
                <a:tc>
                  <a:txBody>
                    <a:bodyPr/>
                    <a:lstStyle/>
                    <a:p>
                      <a:pPr marL="0" marR="0" lvl="0" indent="0" algn="l" rtl="0">
                        <a:spcBef>
                          <a:spcPts val="0"/>
                        </a:spcBef>
                        <a:spcAft>
                          <a:spcPts val="0"/>
                        </a:spcAft>
                        <a:buNone/>
                      </a:pPr>
                      <a:r>
                        <a:rPr lang="en-US" sz="1800"/>
                        <a:t>Systolic Blood Pressure</a:t>
                      </a:r>
                      <a:endParaRPr/>
                    </a:p>
                  </a:txBody>
                  <a:tcPr marL="91450" marR="91450" marT="45725" marB="45725"/>
                </a:tc>
                <a:extLst>
                  <a:ext uri="{0D108BD9-81ED-4DB2-BD59-A6C34878D82A}">
                    <a16:rowId xmlns:a16="http://schemas.microsoft.com/office/drawing/2014/main" val="10009"/>
                  </a:ext>
                </a:extLst>
              </a:tr>
              <a:tr h="370850">
                <a:tc>
                  <a:txBody>
                    <a:bodyPr/>
                    <a:lstStyle/>
                    <a:p>
                      <a:pPr marL="0" marR="0" lvl="0" indent="0" algn="l" rtl="0">
                        <a:spcBef>
                          <a:spcPts val="0"/>
                        </a:spcBef>
                        <a:spcAft>
                          <a:spcPts val="0"/>
                        </a:spcAft>
                        <a:buNone/>
                      </a:pPr>
                      <a:r>
                        <a:rPr lang="en-US" sz="1800"/>
                        <a:t>UQR</a:t>
                      </a:r>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Unconditional Quantile Regression</a:t>
                      </a:r>
                      <a:endParaRPr/>
                    </a:p>
                  </a:txBody>
                  <a:tcPr marL="91450" marR="91450" marT="45725" marB="45725">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10"/>
                  </a:ext>
                </a:extLst>
              </a:tr>
            </a:tbl>
          </a:graphicData>
        </a:graphic>
      </p:graphicFrame>
      <p:sp>
        <p:nvSpPr>
          <p:cNvPr id="187" name="Google Shape;187;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Outline of the workshop</a:t>
            </a:r>
            <a:endParaRPr/>
          </a:p>
        </p:txBody>
      </p:sp>
      <p:sp>
        <p:nvSpPr>
          <p:cNvPr id="194" name="Google Shape;194;p18"/>
          <p:cNvSpPr txBox="1">
            <a:spLocks noGrp="1"/>
          </p:cNvSpPr>
          <p:nvPr>
            <p:ph type="body" idx="1"/>
          </p:nvPr>
        </p:nvSpPr>
        <p:spPr>
          <a:xfrm>
            <a:off x="838200" y="1825625"/>
            <a:ext cx="10515600" cy="4667250"/>
          </a:xfrm>
          <a:prstGeom prst="rect">
            <a:avLst/>
          </a:prstGeom>
          <a:noFill/>
          <a:ln>
            <a:noFill/>
          </a:ln>
        </p:spPr>
        <p:txBody>
          <a:bodyPr spcFirstLastPara="1" wrap="square" lIns="91425" tIns="45700" rIns="91425" bIns="45700" anchor="t" anchorCtr="0">
            <a:noAutofit/>
          </a:bodyPr>
          <a:lstStyle/>
          <a:p>
            <a:pPr marL="514350" lvl="0" indent="-528955" algn="l" rtl="0">
              <a:lnSpc>
                <a:spcPct val="100000"/>
              </a:lnSpc>
              <a:spcBef>
                <a:spcPts val="0"/>
              </a:spcBef>
              <a:spcAft>
                <a:spcPts val="0"/>
              </a:spcAft>
              <a:buClr>
                <a:schemeClr val="dk1"/>
              </a:buClr>
              <a:buSzPts val="2400"/>
              <a:buFont typeface="Arial"/>
              <a:buAutoNum type="arabicPeriod"/>
            </a:pPr>
            <a:r>
              <a:rPr lang="en-US" sz="2400" dirty="0"/>
              <a:t>Linear regression, conditional quantile regression, and why we care about quantile regression</a:t>
            </a:r>
          </a:p>
          <a:p>
            <a:pPr marL="514350" lvl="0" indent="-528955" algn="l" rtl="0">
              <a:lnSpc>
                <a:spcPct val="100000"/>
              </a:lnSpc>
              <a:spcBef>
                <a:spcPts val="0"/>
              </a:spcBef>
              <a:spcAft>
                <a:spcPts val="0"/>
              </a:spcAft>
              <a:buClr>
                <a:schemeClr val="dk1"/>
              </a:buClr>
              <a:buSzPts val="2400"/>
              <a:buFont typeface="Arial"/>
              <a:buAutoNum type="arabicPeriod"/>
            </a:pPr>
            <a:endParaRPr sz="2400" dirty="0"/>
          </a:p>
          <a:p>
            <a:pPr marL="514350" lvl="0" indent="-528955" algn="l" rtl="0">
              <a:lnSpc>
                <a:spcPct val="100000"/>
              </a:lnSpc>
              <a:spcBef>
                <a:spcPts val="50"/>
              </a:spcBef>
              <a:spcAft>
                <a:spcPts val="0"/>
              </a:spcAft>
              <a:buClr>
                <a:schemeClr val="dk1"/>
              </a:buClr>
              <a:buSzPts val="2400"/>
              <a:buFont typeface="Arial"/>
              <a:buAutoNum type="arabicPeriod"/>
            </a:pPr>
            <a:r>
              <a:rPr lang="en-US" sz="2400" dirty="0"/>
              <a:t>Unconditional quantile regression</a:t>
            </a:r>
            <a:endParaRPr sz="2400" dirty="0"/>
          </a:p>
          <a:p>
            <a:pPr marL="685800" lvl="0" indent="-457200" algn="l" rtl="0">
              <a:lnSpc>
                <a:spcPct val="100000"/>
              </a:lnSpc>
              <a:spcBef>
                <a:spcPts val="50"/>
              </a:spcBef>
              <a:spcAft>
                <a:spcPts val="0"/>
              </a:spcAft>
              <a:buFont typeface="+mj-lt"/>
              <a:buAutoNum type="arabicPeriod"/>
            </a:pPr>
            <a:endParaRPr sz="2400" dirty="0"/>
          </a:p>
          <a:p>
            <a:pPr marL="514350" lvl="0" indent="-528955" algn="l" rtl="0">
              <a:lnSpc>
                <a:spcPct val="100000"/>
              </a:lnSpc>
              <a:spcBef>
                <a:spcPts val="50"/>
              </a:spcBef>
              <a:spcAft>
                <a:spcPts val="0"/>
              </a:spcAft>
              <a:buClr>
                <a:schemeClr val="dk1"/>
              </a:buClr>
              <a:buSzPts val="2400"/>
              <a:buFont typeface="Arial"/>
              <a:buAutoNum type="arabicPeriod"/>
            </a:pPr>
            <a:r>
              <a:rPr lang="en-US" sz="2400" dirty="0"/>
              <a:t>Standard errors</a:t>
            </a:r>
            <a:endParaRPr sz="2400" dirty="0"/>
          </a:p>
          <a:p>
            <a:pPr marL="685800" lvl="0" indent="-457200" algn="l" rtl="0">
              <a:lnSpc>
                <a:spcPct val="100000"/>
              </a:lnSpc>
              <a:spcBef>
                <a:spcPts val="50"/>
              </a:spcBef>
              <a:spcAft>
                <a:spcPts val="0"/>
              </a:spcAft>
              <a:buFont typeface="+mj-lt"/>
              <a:buAutoNum type="arabicPeriod"/>
            </a:pPr>
            <a:endParaRPr sz="2400" dirty="0"/>
          </a:p>
          <a:p>
            <a:pPr marL="514350" lvl="0" indent="-528955" algn="l" rtl="0">
              <a:lnSpc>
                <a:spcPct val="100000"/>
              </a:lnSpc>
              <a:spcBef>
                <a:spcPts val="50"/>
              </a:spcBef>
              <a:spcAft>
                <a:spcPts val="0"/>
              </a:spcAft>
              <a:buClr>
                <a:schemeClr val="dk1"/>
              </a:buClr>
              <a:buSzPts val="2400"/>
              <a:buFont typeface="Arial"/>
              <a:buAutoNum type="arabicPeriod"/>
            </a:pPr>
            <a:r>
              <a:rPr lang="en-US" sz="2400" dirty="0"/>
              <a:t>Visualization</a:t>
            </a:r>
          </a:p>
          <a:p>
            <a:pPr marL="514350" lvl="0" indent="-528955" algn="l" rtl="0">
              <a:lnSpc>
                <a:spcPct val="100000"/>
              </a:lnSpc>
              <a:spcBef>
                <a:spcPts val="50"/>
              </a:spcBef>
              <a:spcAft>
                <a:spcPts val="0"/>
              </a:spcAft>
              <a:buClr>
                <a:schemeClr val="dk1"/>
              </a:buClr>
              <a:buSzPts val="2400"/>
              <a:buFont typeface="Arial"/>
              <a:buAutoNum type="arabicPeriod"/>
            </a:pPr>
            <a:endParaRPr lang="en-US" sz="2400" dirty="0"/>
          </a:p>
          <a:p>
            <a:pPr marL="514350" lvl="0" indent="-528955" algn="l" rtl="0">
              <a:lnSpc>
                <a:spcPct val="100000"/>
              </a:lnSpc>
              <a:spcBef>
                <a:spcPts val="50"/>
              </a:spcBef>
              <a:spcAft>
                <a:spcPts val="0"/>
              </a:spcAft>
              <a:buClr>
                <a:schemeClr val="dk1"/>
              </a:buClr>
              <a:buSzPts val="2400"/>
              <a:buFont typeface="Arial"/>
              <a:buAutoNum type="arabicPeriod"/>
            </a:pPr>
            <a:r>
              <a:rPr lang="en-US" sz="2400" dirty="0"/>
              <a:t>Extensions</a:t>
            </a:r>
          </a:p>
          <a:p>
            <a:pPr marL="514350" lvl="0" indent="-528955" algn="l" rtl="0">
              <a:lnSpc>
                <a:spcPct val="100000"/>
              </a:lnSpc>
              <a:spcBef>
                <a:spcPts val="50"/>
              </a:spcBef>
              <a:spcAft>
                <a:spcPts val="0"/>
              </a:spcAft>
              <a:buClr>
                <a:schemeClr val="dk1"/>
              </a:buClr>
              <a:buSzPts val="2400"/>
              <a:buFont typeface="Arial"/>
              <a:buAutoNum type="arabicPeriod"/>
            </a:pPr>
            <a:endParaRPr sz="2400" dirty="0"/>
          </a:p>
          <a:p>
            <a:pPr marL="514350" lvl="0" indent="-528955" algn="l" rtl="0">
              <a:lnSpc>
                <a:spcPct val="100000"/>
              </a:lnSpc>
              <a:spcBef>
                <a:spcPts val="50"/>
              </a:spcBef>
              <a:spcAft>
                <a:spcPts val="50"/>
              </a:spcAft>
              <a:buClr>
                <a:schemeClr val="dk1"/>
              </a:buClr>
              <a:buSzPts val="2400"/>
              <a:buFont typeface="Arial"/>
              <a:buAutoNum type="arabicPeriod"/>
            </a:pPr>
            <a:r>
              <a:rPr lang="en-US" sz="2400" dirty="0"/>
              <a:t>Conclusion</a:t>
            </a:r>
            <a:endParaRPr sz="2400" dirty="0"/>
          </a:p>
        </p:txBody>
      </p:sp>
      <p:sp>
        <p:nvSpPr>
          <p:cNvPr id="195" name="Google Shape;195;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9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Key takeaways from this workshop</a:t>
            </a:r>
            <a:endParaRPr dirty="0"/>
          </a:p>
        </p:txBody>
      </p:sp>
      <p:sp>
        <p:nvSpPr>
          <p:cNvPr id="1159" name="Google Shape;1159;p198"/>
          <p:cNvSpPr txBox="1">
            <a:spLocks noGrp="1"/>
          </p:cNvSpPr>
          <p:nvPr>
            <p:ph type="body" idx="1"/>
          </p:nvPr>
        </p:nvSpPr>
        <p:spPr>
          <a:xfrm>
            <a:off x="838200" y="1825624"/>
            <a:ext cx="10515600" cy="4530725"/>
          </a:xfrm>
          <a:prstGeom prst="rect">
            <a:avLst/>
          </a:prstGeom>
          <a:noFill/>
          <a:ln>
            <a:noFill/>
          </a:ln>
        </p:spPr>
        <p:txBody>
          <a:bodyPr spcFirstLastPara="1" wrap="square" lIns="91425" tIns="45700" rIns="91425" bIns="45700" anchor="t" anchorCtr="0">
            <a:normAutofit/>
          </a:bodyPr>
          <a:lstStyle/>
          <a:p>
            <a:pPr marL="514350" lvl="0" indent="-514350" algn="l" rtl="0">
              <a:lnSpc>
                <a:spcPct val="90000"/>
              </a:lnSpc>
              <a:spcBef>
                <a:spcPts val="0"/>
              </a:spcBef>
              <a:spcAft>
                <a:spcPts val="0"/>
              </a:spcAft>
              <a:buClr>
                <a:schemeClr val="dk1"/>
              </a:buClr>
              <a:buSzPts val="2800"/>
              <a:buFont typeface="+mj-lt"/>
              <a:buAutoNum type="arabicPeriod"/>
            </a:pPr>
            <a:r>
              <a:rPr lang="en-US" dirty="0"/>
              <a:t>Why investigating the effect of an exposure across the entire outcome distribution is substantively important </a:t>
            </a:r>
          </a:p>
          <a:p>
            <a:pPr marL="514350" lvl="0" indent="-514350" algn="l" rtl="0">
              <a:lnSpc>
                <a:spcPct val="90000"/>
              </a:lnSpc>
              <a:spcBef>
                <a:spcPts val="0"/>
              </a:spcBef>
              <a:spcAft>
                <a:spcPts val="0"/>
              </a:spcAft>
              <a:buClr>
                <a:schemeClr val="dk1"/>
              </a:buClr>
              <a:buSzPts val="2800"/>
              <a:buFont typeface="+mj-lt"/>
              <a:buAutoNum type="arabicPeriod"/>
            </a:pPr>
            <a:endParaRPr lang="en-US" dirty="0"/>
          </a:p>
          <a:p>
            <a:pPr marL="514350" lvl="0" indent="-514350" algn="l" rtl="0">
              <a:lnSpc>
                <a:spcPct val="90000"/>
              </a:lnSpc>
              <a:spcBef>
                <a:spcPts val="0"/>
              </a:spcBef>
              <a:spcAft>
                <a:spcPts val="0"/>
              </a:spcAft>
              <a:buClr>
                <a:schemeClr val="dk1"/>
              </a:buClr>
              <a:buSzPts val="2800"/>
              <a:buFont typeface="+mj-lt"/>
              <a:buAutoNum type="arabicPeriod"/>
            </a:pPr>
            <a:r>
              <a:rPr lang="en-US" dirty="0"/>
              <a:t>How to model associations between an exposure and the conditional or unconditional outcome distribution</a:t>
            </a:r>
          </a:p>
          <a:p>
            <a:pPr marL="514350" lvl="0" indent="-514350" algn="l" rtl="0">
              <a:lnSpc>
                <a:spcPct val="90000"/>
              </a:lnSpc>
              <a:spcBef>
                <a:spcPts val="0"/>
              </a:spcBef>
              <a:spcAft>
                <a:spcPts val="0"/>
              </a:spcAft>
              <a:buClr>
                <a:schemeClr val="dk1"/>
              </a:buClr>
              <a:buSzPts val="2800"/>
              <a:buFont typeface="+mj-lt"/>
              <a:buAutoNum type="arabicPeriod"/>
            </a:pPr>
            <a:endParaRPr lang="en-US" dirty="0"/>
          </a:p>
          <a:p>
            <a:pPr marL="514350" lvl="0" indent="-514350" algn="l" rtl="0">
              <a:lnSpc>
                <a:spcPct val="90000"/>
              </a:lnSpc>
              <a:spcBef>
                <a:spcPts val="0"/>
              </a:spcBef>
              <a:spcAft>
                <a:spcPts val="0"/>
              </a:spcAft>
              <a:buClr>
                <a:schemeClr val="dk1"/>
              </a:buClr>
              <a:buSzPts val="2800"/>
              <a:buFont typeface="+mj-lt"/>
              <a:buAutoNum type="arabicPeriod"/>
            </a:pPr>
            <a:r>
              <a:rPr lang="en-US" dirty="0"/>
              <a:t>How to appropriately adjust standard errors, and subsequently confidence intervals</a:t>
            </a:r>
          </a:p>
          <a:p>
            <a:pPr marL="514350" lvl="0" indent="-514350" algn="l" rtl="0">
              <a:lnSpc>
                <a:spcPct val="90000"/>
              </a:lnSpc>
              <a:spcBef>
                <a:spcPts val="0"/>
              </a:spcBef>
              <a:spcAft>
                <a:spcPts val="0"/>
              </a:spcAft>
              <a:buClr>
                <a:schemeClr val="dk1"/>
              </a:buClr>
              <a:buSzPts val="2800"/>
              <a:buFont typeface="+mj-lt"/>
              <a:buAutoNum type="arabicPeriod"/>
            </a:pPr>
            <a:endParaRPr lang="en-US" dirty="0"/>
          </a:p>
          <a:p>
            <a:pPr marL="514350" lvl="0" indent="-514350" algn="l" rtl="0">
              <a:lnSpc>
                <a:spcPct val="90000"/>
              </a:lnSpc>
              <a:spcBef>
                <a:spcPts val="0"/>
              </a:spcBef>
              <a:spcAft>
                <a:spcPts val="0"/>
              </a:spcAft>
              <a:buClr>
                <a:schemeClr val="dk1"/>
              </a:buClr>
              <a:buSzPts val="2800"/>
              <a:buFont typeface="+mj-lt"/>
              <a:buAutoNum type="arabicPeriod"/>
            </a:pPr>
            <a:r>
              <a:rPr lang="en-US" dirty="0"/>
              <a:t>How to visualize quantile regression estimates, and potential counterfactual distributions associated with those estimates</a:t>
            </a:r>
            <a:endParaRPr dirty="0"/>
          </a:p>
        </p:txBody>
      </p:sp>
      <p:sp>
        <p:nvSpPr>
          <p:cNvPr id="1160" name="Google Shape;1160;p19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2360754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5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5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2494C"/>
        </a:solidFill>
        <a:effectLst/>
      </p:bgPr>
    </p:bg>
    <p:spTree>
      <p:nvGrpSpPr>
        <p:cNvPr id="1" name="Shape 207"/>
        <p:cNvGrpSpPr/>
        <p:nvPr/>
      </p:nvGrpSpPr>
      <p:grpSpPr>
        <a:xfrm>
          <a:off x="0" y="0"/>
          <a:ext cx="0" cy="0"/>
          <a:chOff x="0" y="0"/>
          <a:chExt cx="0" cy="0"/>
        </a:xfrm>
      </p:grpSpPr>
      <p:sp>
        <p:nvSpPr>
          <p:cNvPr id="208" name="Google Shape;208;p7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5400"/>
              <a:buFont typeface="Arial"/>
              <a:buNone/>
            </a:pPr>
            <a:r>
              <a:rPr lang="en-US" sz="5400" b="1" dirty="0">
                <a:solidFill>
                  <a:schemeClr val="lt1"/>
                </a:solidFill>
              </a:rPr>
              <a:t>Linear regression and Conditional quantile regressions (CQR)</a:t>
            </a:r>
            <a:endParaRPr sz="5400" b="1" i="1" dirty="0">
              <a:solidFill>
                <a:schemeClr val="lt1"/>
              </a:solidFill>
            </a:endParaRPr>
          </a:p>
        </p:txBody>
      </p:sp>
      <p:sp>
        <p:nvSpPr>
          <p:cNvPr id="209" name="Google Shape;209;p7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400"/>
              <a:buNone/>
            </a:pPr>
            <a:endParaRPr dirty="0"/>
          </a:p>
        </p:txBody>
      </p:sp>
      <p:sp>
        <p:nvSpPr>
          <p:cNvPr id="210" name="Google Shape;210;p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7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Objective: Quantify the association of education with SBP</a:t>
            </a:r>
            <a:endParaRPr/>
          </a:p>
        </p:txBody>
      </p:sp>
      <p:pic>
        <p:nvPicPr>
          <p:cNvPr id="225" name="Google Shape;225;p77" descr="A picture containing text, screenshot, font, black and white&#10;&#10;Description automatically generated"/>
          <p:cNvPicPr preferRelativeResize="0"/>
          <p:nvPr/>
        </p:nvPicPr>
        <p:blipFill rotWithShape="1">
          <a:blip r:embed="rId3">
            <a:alphaModFix/>
          </a:blip>
          <a:srcRect/>
          <a:stretch/>
        </p:blipFill>
        <p:spPr>
          <a:xfrm>
            <a:off x="2209800" y="1676401"/>
            <a:ext cx="7772400" cy="5181599"/>
          </a:xfrm>
          <a:prstGeom prst="rect">
            <a:avLst/>
          </a:prstGeom>
          <a:noFill/>
          <a:ln>
            <a:noFill/>
          </a:ln>
        </p:spPr>
      </p:pic>
      <p:sp>
        <p:nvSpPr>
          <p:cNvPr id="226" name="Google Shape;226;p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8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Calculate mean SBP by education level (i.e., the conditional expectation)</a:t>
            </a:r>
            <a:endParaRPr/>
          </a:p>
        </p:txBody>
      </p:sp>
      <p:pic>
        <p:nvPicPr>
          <p:cNvPr id="239" name="Google Shape;239;p82" descr="A picture containing text, screenshot, black and white, font&#10;&#10;Description automatically generated"/>
          <p:cNvPicPr preferRelativeResize="0"/>
          <p:nvPr/>
        </p:nvPicPr>
        <p:blipFill rotWithShape="1">
          <a:blip r:embed="rId3">
            <a:alphaModFix/>
          </a:blip>
          <a:srcRect/>
          <a:stretch/>
        </p:blipFill>
        <p:spPr>
          <a:xfrm>
            <a:off x="2209800" y="1647992"/>
            <a:ext cx="7772400" cy="5184191"/>
          </a:xfrm>
          <a:prstGeom prst="rect">
            <a:avLst/>
          </a:prstGeom>
          <a:noFill/>
          <a:ln>
            <a:noFill/>
          </a:ln>
        </p:spPr>
      </p:pic>
      <p:sp>
        <p:nvSpPr>
          <p:cNvPr id="240" name="Google Shape;240;p8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8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Conditional expectation function (CEF) links the conditional means</a:t>
            </a:r>
            <a:endParaRPr/>
          </a:p>
        </p:txBody>
      </p:sp>
      <p:sp>
        <p:nvSpPr>
          <p:cNvPr id="246" name="Google Shape;246;p8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pic>
        <p:nvPicPr>
          <p:cNvPr id="247" name="Google Shape;247;p83" descr="A picture containing text, diagram, line&#10;&#10;Description automatically generated"/>
          <p:cNvPicPr preferRelativeResize="0"/>
          <p:nvPr/>
        </p:nvPicPr>
        <p:blipFill rotWithShape="1">
          <a:blip r:embed="rId3">
            <a:alphaModFix/>
          </a:blip>
          <a:srcRect/>
          <a:stretch/>
        </p:blipFill>
        <p:spPr>
          <a:xfrm>
            <a:off x="2209800" y="1676401"/>
            <a:ext cx="7772400" cy="518159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8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Linear regression line ≈ CEF</a:t>
            </a:r>
            <a:endParaRPr/>
          </a:p>
        </p:txBody>
      </p:sp>
      <p:pic>
        <p:nvPicPr>
          <p:cNvPr id="253" name="Google Shape;253;p85" descr="A picture containing text, screenshot, line, plot&#10;&#10;Description automatically generated"/>
          <p:cNvPicPr preferRelativeResize="0"/>
          <p:nvPr/>
        </p:nvPicPr>
        <p:blipFill rotWithShape="1">
          <a:blip r:embed="rId3">
            <a:alphaModFix/>
          </a:blip>
          <a:srcRect/>
          <a:stretch/>
        </p:blipFill>
        <p:spPr>
          <a:xfrm>
            <a:off x="2209800" y="1676401"/>
            <a:ext cx="7772400" cy="5181599"/>
          </a:xfrm>
          <a:prstGeom prst="rect">
            <a:avLst/>
          </a:prstGeom>
          <a:noFill/>
          <a:ln>
            <a:noFill/>
          </a:ln>
        </p:spPr>
      </p:pic>
      <p:sp>
        <p:nvSpPr>
          <p:cNvPr id="254" name="Google Shape;254;p8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pic>
        <p:nvPicPr>
          <p:cNvPr id="260" name="Google Shape;260;p86" descr="A picture containing text, screenshot, line, plot&#10;&#10;Description automatically generated"/>
          <p:cNvPicPr preferRelativeResize="0"/>
          <p:nvPr/>
        </p:nvPicPr>
        <p:blipFill rotWithShape="1">
          <a:blip r:embed="rId3">
            <a:alphaModFix/>
          </a:blip>
          <a:srcRect/>
          <a:stretch/>
        </p:blipFill>
        <p:spPr>
          <a:xfrm>
            <a:off x="2209800" y="1676401"/>
            <a:ext cx="7772400" cy="5181599"/>
          </a:xfrm>
          <a:prstGeom prst="rect">
            <a:avLst/>
          </a:prstGeom>
          <a:noFill/>
          <a:ln>
            <a:noFill/>
          </a:ln>
        </p:spPr>
      </p:pic>
      <p:sp>
        <p:nvSpPr>
          <p:cNvPr id="261" name="Google Shape;261;p86"/>
          <p:cNvSpPr/>
          <p:nvPr/>
        </p:nvSpPr>
        <p:spPr>
          <a:xfrm>
            <a:off x="7681639" y="630315"/>
            <a:ext cx="683580" cy="825623"/>
          </a:xfrm>
          <a:prstGeom prst="rect">
            <a:avLst/>
          </a:prstGeom>
          <a:noFill/>
          <a:ln w="57150" cap="flat" cmpd="sng">
            <a:solidFill>
              <a:srgbClr val="FF93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cxnSp>
        <p:nvCxnSpPr>
          <p:cNvPr id="262" name="Google Shape;262;p86"/>
          <p:cNvCxnSpPr>
            <a:stCxn id="261" idx="2"/>
          </p:cNvCxnSpPr>
          <p:nvPr/>
        </p:nvCxnSpPr>
        <p:spPr>
          <a:xfrm flipH="1">
            <a:off x="5957029" y="1455938"/>
            <a:ext cx="2066400" cy="3077100"/>
          </a:xfrm>
          <a:prstGeom prst="straightConnector1">
            <a:avLst/>
          </a:prstGeom>
          <a:noFill/>
          <a:ln w="57150" cap="flat" cmpd="sng">
            <a:solidFill>
              <a:srgbClr val="FF9300"/>
            </a:solidFill>
            <a:prstDash val="solid"/>
            <a:miter lim="800000"/>
            <a:headEnd type="none" w="sm" len="sm"/>
            <a:tailEnd type="triangle" w="med" len="med"/>
          </a:ln>
        </p:spPr>
      </p:cxnSp>
      <p:sp>
        <p:nvSpPr>
          <p:cNvPr id="263" name="Google Shape;263;p86"/>
          <p:cNvSpPr/>
          <p:nvPr/>
        </p:nvSpPr>
        <p:spPr>
          <a:xfrm>
            <a:off x="1386396" y="630314"/>
            <a:ext cx="4401088" cy="825623"/>
          </a:xfrm>
          <a:prstGeom prst="rect">
            <a:avLst/>
          </a:prstGeom>
          <a:noFill/>
          <a:ln w="571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cxnSp>
        <p:nvCxnSpPr>
          <p:cNvPr id="264" name="Google Shape;264;p86"/>
          <p:cNvCxnSpPr/>
          <p:nvPr/>
        </p:nvCxnSpPr>
        <p:spPr>
          <a:xfrm>
            <a:off x="3575112" y="1455938"/>
            <a:ext cx="2002285" cy="2991775"/>
          </a:xfrm>
          <a:prstGeom prst="straightConnector1">
            <a:avLst/>
          </a:prstGeom>
          <a:noFill/>
          <a:ln w="57150" cap="flat" cmpd="sng">
            <a:solidFill>
              <a:schemeClr val="dk1"/>
            </a:solidFill>
            <a:prstDash val="solid"/>
            <a:miter lim="800000"/>
            <a:headEnd type="none" w="sm" len="sm"/>
            <a:tailEnd type="triangle" w="med" len="med"/>
          </a:ln>
        </p:spPr>
      </p:cxnSp>
      <p:sp>
        <p:nvSpPr>
          <p:cNvPr id="265" name="Google Shape;265;p8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mc:AlternateContent xmlns:mc="http://schemas.openxmlformats.org/markup-compatibility/2006" xmlns:a14="http://schemas.microsoft.com/office/drawing/2010/main">
        <mc:Choice Requires="a14">
          <p:sp>
            <p:nvSpPr>
              <p:cNvPr id="4" name="Title 1">
                <a:extLst>
                  <a:ext uri="{FF2B5EF4-FFF2-40B4-BE49-F238E27FC236}">
                    <a16:creationId xmlns:a16="http://schemas.microsoft.com/office/drawing/2014/main" id="{D8E3351C-69DF-7891-604E-8F8827229D1F}"/>
                  </a:ext>
                </a:extLst>
              </p:cNvPr>
              <p:cNvSpPr>
                <a:spLocks noGrp="1"/>
              </p:cNvSpPr>
              <p:nvPr>
                <p:ph type="title"/>
              </p:nvPr>
            </p:nvSpPr>
            <p:spPr>
              <a:xfrm>
                <a:off x="838200" y="365125"/>
                <a:ext cx="10515600" cy="1325563"/>
              </a:xfrm>
            </p:spPr>
            <p:txBody>
              <a:bodyPr>
                <a:normAutofit/>
              </a:bodyPr>
              <a:lstStyle/>
              <a:p>
                <a:pPr/>
                <a14:m>
                  <m:oMathPara xmlns:m="http://schemas.openxmlformats.org/officeDocument/2006/math">
                    <m:oMathParaPr>
                      <m:jc m:val="centerGroup"/>
                    </m:oMathParaPr>
                    <m:oMath xmlns:m="http://schemas.openxmlformats.org/officeDocument/2006/math">
                      <m:r>
                        <a:rPr lang="en-US" b="1" i="1" smtClean="0">
                          <a:solidFill>
                            <a:srgbClr val="468C8A"/>
                          </a:solidFill>
                          <a:latin typeface="Cambria Math" panose="02040503050406030204" pitchFamily="18" charset="0"/>
                        </a:rPr>
                        <m:t>𝑬</m:t>
                      </m:r>
                      <m:d>
                        <m:dPr>
                          <m:begChr m:val="["/>
                          <m:endChr m:val="]"/>
                          <m:ctrlPr>
                            <a:rPr lang="en-US" b="1" i="1" smtClean="0">
                              <a:solidFill>
                                <a:srgbClr val="468C8A"/>
                              </a:solidFill>
                              <a:latin typeface="Cambria Math" panose="02040503050406030204" pitchFamily="18" charset="0"/>
                            </a:rPr>
                          </m:ctrlPr>
                        </m:dPr>
                        <m:e>
                          <m:r>
                            <a:rPr lang="en-US" b="1" i="1" smtClean="0">
                              <a:solidFill>
                                <a:srgbClr val="468C8A"/>
                              </a:solidFill>
                              <a:latin typeface="Cambria Math" panose="02040503050406030204" pitchFamily="18" charset="0"/>
                            </a:rPr>
                            <m:t>𝑺𝑩𝑷</m:t>
                          </m:r>
                        </m:e>
                        <m:e>
                          <m:r>
                            <a:rPr lang="en-US" b="1" i="1" smtClean="0">
                              <a:solidFill>
                                <a:srgbClr val="468C8A"/>
                              </a:solidFill>
                              <a:latin typeface="Cambria Math" panose="02040503050406030204" pitchFamily="18" charset="0"/>
                            </a:rPr>
                            <m:t>𝒔𝒄𝒉𝒍𝒚𝒓𝒔</m:t>
                          </m:r>
                        </m:e>
                      </m:d>
                      <m:r>
                        <a:rPr lang="en-US" b="1" i="1" smtClean="0">
                          <a:solidFill>
                            <a:srgbClr val="468C8A"/>
                          </a:solidFill>
                          <a:latin typeface="Cambria Math" panose="02040503050406030204" pitchFamily="18" charset="0"/>
                        </a:rPr>
                        <m:t>=</m:t>
                      </m:r>
                      <m:sSub>
                        <m:sSubPr>
                          <m:ctrlPr>
                            <a:rPr lang="en-US" b="1" i="1" smtClean="0">
                              <a:solidFill>
                                <a:srgbClr val="468C8A"/>
                              </a:solidFill>
                              <a:latin typeface="Cambria Math" panose="02040503050406030204" pitchFamily="18" charset="0"/>
                            </a:rPr>
                          </m:ctrlPr>
                        </m:sSubPr>
                        <m:e>
                          <m:r>
                            <a:rPr lang="en-US" b="1" i="1" smtClean="0">
                              <a:solidFill>
                                <a:srgbClr val="468C8A"/>
                              </a:solidFill>
                              <a:latin typeface="Cambria Math" panose="02040503050406030204" pitchFamily="18" charset="0"/>
                            </a:rPr>
                            <m:t>𝜷</m:t>
                          </m:r>
                        </m:e>
                        <m:sub>
                          <m:r>
                            <a:rPr lang="en-US" b="1" i="1" smtClean="0">
                              <a:solidFill>
                                <a:srgbClr val="468C8A"/>
                              </a:solidFill>
                              <a:latin typeface="Cambria Math" panose="02040503050406030204" pitchFamily="18" charset="0"/>
                            </a:rPr>
                            <m:t>𝟎</m:t>
                          </m:r>
                        </m:sub>
                      </m:sSub>
                      <m:r>
                        <a:rPr lang="en-US" b="1" i="1" smtClean="0">
                          <a:solidFill>
                            <a:srgbClr val="468C8A"/>
                          </a:solidFill>
                          <a:latin typeface="Cambria Math" panose="02040503050406030204" pitchFamily="18" charset="0"/>
                        </a:rPr>
                        <m:t>+</m:t>
                      </m:r>
                      <m:sSub>
                        <m:sSubPr>
                          <m:ctrlPr>
                            <a:rPr lang="en-US" b="1" i="1" smtClean="0">
                              <a:solidFill>
                                <a:srgbClr val="468C8A"/>
                              </a:solidFill>
                              <a:latin typeface="Cambria Math" panose="02040503050406030204" pitchFamily="18" charset="0"/>
                            </a:rPr>
                          </m:ctrlPr>
                        </m:sSubPr>
                        <m:e>
                          <m:r>
                            <a:rPr lang="en-US" b="1" i="1" smtClean="0">
                              <a:solidFill>
                                <a:srgbClr val="468C8A"/>
                              </a:solidFill>
                              <a:latin typeface="Cambria Math" panose="02040503050406030204" pitchFamily="18" charset="0"/>
                            </a:rPr>
                            <m:t>𝜷</m:t>
                          </m:r>
                        </m:e>
                        <m:sub>
                          <m:r>
                            <a:rPr lang="en-US" b="1" i="1" smtClean="0">
                              <a:solidFill>
                                <a:srgbClr val="468C8A"/>
                              </a:solidFill>
                              <a:latin typeface="Cambria Math" panose="02040503050406030204" pitchFamily="18" charset="0"/>
                            </a:rPr>
                            <m:t>𝟏</m:t>
                          </m:r>
                        </m:sub>
                      </m:sSub>
                      <m:r>
                        <a:rPr lang="en-US" b="1" i="1" smtClean="0">
                          <a:solidFill>
                            <a:srgbClr val="468C8A"/>
                          </a:solidFill>
                          <a:latin typeface="Cambria Math" panose="02040503050406030204" pitchFamily="18" charset="0"/>
                        </a:rPr>
                        <m:t>𝒔𝒄𝒉𝒍𝒚𝒓</m:t>
                      </m:r>
                      <m:sSub>
                        <m:sSubPr>
                          <m:ctrlPr>
                            <a:rPr lang="en-US" b="1" i="1" smtClean="0">
                              <a:solidFill>
                                <a:srgbClr val="468C8A"/>
                              </a:solidFill>
                              <a:latin typeface="Cambria Math" panose="02040503050406030204" pitchFamily="18" charset="0"/>
                            </a:rPr>
                          </m:ctrlPr>
                        </m:sSubPr>
                        <m:e>
                          <m:r>
                            <a:rPr lang="en-US" b="1" i="1" smtClean="0">
                              <a:solidFill>
                                <a:srgbClr val="468C8A"/>
                              </a:solidFill>
                              <a:latin typeface="Cambria Math" panose="02040503050406030204" pitchFamily="18" charset="0"/>
                            </a:rPr>
                            <m:t>𝒔</m:t>
                          </m:r>
                        </m:e>
                        <m:sub>
                          <m:r>
                            <a:rPr lang="en-US" b="1" i="1" smtClean="0">
                              <a:solidFill>
                                <a:srgbClr val="468C8A"/>
                              </a:solidFill>
                              <a:latin typeface="Cambria Math" panose="02040503050406030204" pitchFamily="18" charset="0"/>
                            </a:rPr>
                            <m:t>𝒊</m:t>
                          </m:r>
                        </m:sub>
                      </m:sSub>
                    </m:oMath>
                  </m:oMathPara>
                </a14:m>
                <a:endParaRPr lang="en-US" b="1" dirty="0">
                  <a:solidFill>
                    <a:srgbClr val="468C8A"/>
                  </a:solidFill>
                </a:endParaRPr>
              </a:p>
            </p:txBody>
          </p:sp>
        </mc:Choice>
        <mc:Fallback xmlns="">
          <p:sp>
            <p:nvSpPr>
              <p:cNvPr id="4" name="Title 1">
                <a:extLst>
                  <a:ext uri="{FF2B5EF4-FFF2-40B4-BE49-F238E27FC236}">
                    <a16:creationId xmlns:a16="http://schemas.microsoft.com/office/drawing/2014/main" id="{D8E3351C-69DF-7891-604E-8F8827229D1F}"/>
                  </a:ext>
                </a:extLst>
              </p:cNvPr>
              <p:cNvSpPr>
                <a:spLocks noGrp="1" noRot="1" noChangeAspect="1" noMove="1" noResize="1" noEditPoints="1" noAdjustHandles="1" noChangeArrowheads="1" noChangeShapeType="1" noTextEdit="1"/>
              </p:cNvSpPr>
              <p:nvPr>
                <p:ph type="title"/>
              </p:nvPr>
            </p:nvSpPr>
            <p:spPr>
              <a:xfrm>
                <a:off x="838200" y="365125"/>
                <a:ext cx="10515600" cy="1325563"/>
              </a:xfrm>
              <a:blipFill>
                <a:blip r:embed="rId4"/>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6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7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Let’s try this in R</a:t>
            </a:r>
            <a:br>
              <a:rPr lang="en-US" b="1" dirty="0">
                <a:solidFill>
                  <a:srgbClr val="66B2B0"/>
                </a:solidFill>
              </a:rPr>
            </a:br>
            <a:r>
              <a:rPr lang="en-US" b="1" dirty="0" err="1">
                <a:solidFill>
                  <a:srgbClr val="FF9300"/>
                </a:solidFill>
                <a:latin typeface="Courier New"/>
                <a:ea typeface="Courier New"/>
                <a:cs typeface="Courier New"/>
                <a:sym typeface="Courier New"/>
              </a:rPr>
              <a:t>lm</a:t>
            </a:r>
            <a:r>
              <a:rPr lang="en-US" b="1" dirty="0">
                <a:solidFill>
                  <a:srgbClr val="FF9300"/>
                </a:solidFill>
                <a:latin typeface="Courier New"/>
                <a:ea typeface="Courier New"/>
                <a:cs typeface="Courier New"/>
                <a:sym typeface="Courier New"/>
              </a:rPr>
              <a:t>(</a:t>
            </a:r>
            <a:r>
              <a:rPr lang="en-US" b="1" dirty="0" err="1">
                <a:solidFill>
                  <a:srgbClr val="FF9300"/>
                </a:solidFill>
                <a:latin typeface="Courier New"/>
                <a:ea typeface="Courier New"/>
                <a:cs typeface="Courier New"/>
                <a:sym typeface="Courier New"/>
              </a:rPr>
              <a:t>sbp</a:t>
            </a:r>
            <a:r>
              <a:rPr lang="en-US" b="1" dirty="0">
                <a:solidFill>
                  <a:srgbClr val="FF9300"/>
                </a:solidFill>
                <a:latin typeface="Courier New"/>
                <a:ea typeface="Courier New"/>
                <a:cs typeface="Courier New"/>
                <a:sym typeface="Courier New"/>
              </a:rPr>
              <a:t> ~ </a:t>
            </a:r>
            <a:r>
              <a:rPr lang="en-US" b="1" dirty="0" err="1">
                <a:solidFill>
                  <a:srgbClr val="FF9300"/>
                </a:solidFill>
                <a:latin typeface="Courier New"/>
                <a:ea typeface="Courier New"/>
                <a:cs typeface="Courier New"/>
                <a:sym typeface="Courier New"/>
              </a:rPr>
              <a:t>schlyrs</a:t>
            </a:r>
            <a:r>
              <a:rPr lang="en-US" b="1" dirty="0">
                <a:solidFill>
                  <a:srgbClr val="FF9300"/>
                </a:solidFill>
                <a:latin typeface="Courier New"/>
                <a:ea typeface="Courier New"/>
                <a:cs typeface="Courier New"/>
                <a:sym typeface="Courier New"/>
              </a:rPr>
              <a:t>)</a:t>
            </a:r>
            <a:endParaRPr dirty="0"/>
          </a:p>
        </p:txBody>
      </p:sp>
      <p:pic>
        <p:nvPicPr>
          <p:cNvPr id="232" name="Google Shape;232;p78" descr="A picture containing text, line, diagram, parallel&#10;&#10;Description automatically generated"/>
          <p:cNvPicPr preferRelativeResize="0"/>
          <p:nvPr/>
        </p:nvPicPr>
        <p:blipFill rotWithShape="1">
          <a:blip r:embed="rId3">
            <a:alphaModFix/>
          </a:blip>
          <a:srcRect/>
          <a:stretch/>
        </p:blipFill>
        <p:spPr>
          <a:xfrm>
            <a:off x="2209800" y="1676401"/>
            <a:ext cx="7772400" cy="5181599"/>
          </a:xfrm>
          <a:prstGeom prst="rect">
            <a:avLst/>
          </a:prstGeom>
          <a:noFill/>
          <a:ln>
            <a:noFill/>
          </a:ln>
        </p:spPr>
      </p:pic>
      <p:sp>
        <p:nvSpPr>
          <p:cNvPr id="233" name="Google Shape;233;p7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17595488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1">
          <a:extLst>
            <a:ext uri="{FF2B5EF4-FFF2-40B4-BE49-F238E27FC236}">
              <a16:creationId xmlns:a16="http://schemas.microsoft.com/office/drawing/2014/main" id="{2E9E3C85-6CA8-1B0A-7538-8799F14D02FE}"/>
            </a:ext>
          </a:extLst>
        </p:cNvPr>
        <p:cNvGrpSpPr/>
        <p:nvPr/>
      </p:nvGrpSpPr>
      <p:grpSpPr>
        <a:xfrm>
          <a:off x="0" y="0"/>
          <a:ext cx="0" cy="0"/>
          <a:chOff x="0" y="0"/>
          <a:chExt cx="0" cy="0"/>
        </a:xfrm>
      </p:grpSpPr>
      <p:sp>
        <p:nvSpPr>
          <p:cNvPr id="352" name="Google Shape;352;p130">
            <a:extLst>
              <a:ext uri="{FF2B5EF4-FFF2-40B4-BE49-F238E27FC236}">
                <a16:creationId xmlns:a16="http://schemas.microsoft.com/office/drawing/2014/main" id="{85F329C6-B640-75D7-5F23-854E0FD473A5}"/>
              </a:ext>
            </a:extLst>
          </p:cNvPr>
          <p:cNvSpPr txBox="1">
            <a:spLocks noGrp="1"/>
          </p:cNvSpPr>
          <p:nvPr>
            <p:ph type="title"/>
          </p:nvPr>
        </p:nvSpPr>
        <p:spPr>
          <a:xfrm>
            <a:off x="3567566" y="2904144"/>
            <a:ext cx="5056868" cy="104971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468C8A"/>
              </a:buClr>
              <a:buSzPts val="6000"/>
              <a:buFont typeface="Arial"/>
              <a:buNone/>
            </a:pPr>
            <a:r>
              <a:rPr lang="en-US" b="1" dirty="0">
                <a:solidFill>
                  <a:srgbClr val="FF9300"/>
                </a:solidFill>
              </a:rPr>
              <a:t>Poll Time!</a:t>
            </a:r>
            <a:endParaRPr dirty="0">
              <a:solidFill>
                <a:srgbClr val="FF9300"/>
              </a:solidFill>
            </a:endParaRPr>
          </a:p>
        </p:txBody>
      </p:sp>
      <p:sp>
        <p:nvSpPr>
          <p:cNvPr id="353" name="Google Shape;353;p130">
            <a:extLst>
              <a:ext uri="{FF2B5EF4-FFF2-40B4-BE49-F238E27FC236}">
                <a16:creationId xmlns:a16="http://schemas.microsoft.com/office/drawing/2014/main" id="{18B9579A-C524-B8F0-6E07-0572F74DF214}"/>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27048133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A7B44-3EF6-68BA-1677-9ED61E96BA75}"/>
              </a:ext>
            </a:extLst>
          </p:cNvPr>
          <p:cNvSpPr>
            <a:spLocks noGrp="1"/>
          </p:cNvSpPr>
          <p:nvPr>
            <p:ph type="title"/>
          </p:nvPr>
        </p:nvSpPr>
        <p:spPr/>
        <p:txBody>
          <a:bodyPr/>
          <a:lstStyle/>
          <a:p>
            <a:r>
              <a:rPr lang="en-US" b="1" dirty="0">
                <a:solidFill>
                  <a:srgbClr val="468C8A"/>
                </a:solidFill>
              </a:rPr>
              <a:t>Interpreting coefficients of a simple linear regression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75CDDD5-5FB9-3A28-D965-C206F0A3DBF9}"/>
                  </a:ext>
                </a:extLst>
              </p:cNvPr>
              <p:cNvSpPr>
                <a:spLocks noGrp="1"/>
              </p:cNvSpPr>
              <p:nvPr>
                <p:ph idx="1"/>
              </p:nvPr>
            </p:nvSpPr>
            <p:spPr/>
            <p:txBody>
              <a:bodyPr>
                <a:normAutofit/>
              </a:bodyPr>
              <a:lstStyle/>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𝐸</m:t>
                          </m:r>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e>
                      </m:acc>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𝛽</m:t>
                              </m:r>
                            </m:e>
                            <m:sub>
                              <m:r>
                                <a:rPr lang="en-US" b="0" i="1" dirty="0" smtClean="0">
                                  <a:latin typeface="Cambria Math" panose="02040503050406030204" pitchFamily="18" charset="0"/>
                                </a:rPr>
                                <m:t>0</m:t>
                              </m:r>
                            </m:sub>
                          </m:sSub>
                        </m:e>
                      </m:acc>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𝛽</m:t>
                              </m:r>
                            </m:e>
                            <m:sub>
                              <m:r>
                                <a:rPr lang="en-US" b="0" i="1" dirty="0" smtClean="0">
                                  <a:latin typeface="Cambria Math" panose="02040503050406030204" pitchFamily="18" charset="0"/>
                                </a:rPr>
                                <m:t>1</m:t>
                              </m:r>
                            </m:sub>
                          </m:sSub>
                        </m:e>
                      </m:acc>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𝑖</m:t>
                          </m:r>
                        </m:sub>
                      </m:sSub>
                    </m:oMath>
                  </m:oMathPara>
                </a14:m>
                <a:endParaRPr lang="en-US" dirty="0"/>
              </a:p>
              <a:p>
                <a:endParaRPr lang="en-US" dirty="0"/>
              </a:p>
              <a:p>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0</m:t>
                            </m:r>
                          </m:sub>
                        </m:sSub>
                      </m:e>
                    </m:acc>
                  </m:oMath>
                </a14:m>
                <a:r>
                  <a:rPr lang="en-US" dirty="0"/>
                  <a:t> is the estimated </a:t>
                </a:r>
                <a:r>
                  <a:rPr lang="en-US" dirty="0">
                    <a:solidFill>
                      <a:srgbClr val="FF9300"/>
                    </a:solidFill>
                  </a:rPr>
                  <a:t>average value of </a:t>
                </a:r>
                <a14:m>
                  <m:oMath xmlns:m="http://schemas.openxmlformats.org/officeDocument/2006/math">
                    <m:r>
                      <a:rPr lang="en-US" b="0" i="1" smtClean="0">
                        <a:solidFill>
                          <a:srgbClr val="FF9300"/>
                        </a:solidFill>
                        <a:latin typeface="Cambria Math" panose="02040503050406030204" pitchFamily="18" charset="0"/>
                      </a:rPr>
                      <m:t>𝑌</m:t>
                    </m:r>
                  </m:oMath>
                </a14:m>
                <a:r>
                  <a:rPr lang="en-US" dirty="0">
                    <a:solidFill>
                      <a:srgbClr val="FF9300"/>
                    </a:solidFill>
                  </a:rPr>
                  <a:t> when </a:t>
                </a:r>
                <a14:m>
                  <m:oMath xmlns:m="http://schemas.openxmlformats.org/officeDocument/2006/math">
                    <m:sSub>
                      <m:sSubPr>
                        <m:ctrlPr>
                          <a:rPr lang="en-US" b="0" i="1" smtClean="0">
                            <a:solidFill>
                              <a:srgbClr val="FF9300"/>
                            </a:solidFill>
                            <a:latin typeface="Cambria Math" panose="02040503050406030204" pitchFamily="18" charset="0"/>
                          </a:rPr>
                        </m:ctrlPr>
                      </m:sSubPr>
                      <m:e>
                        <m:r>
                          <a:rPr lang="en-US" b="0" i="1" smtClean="0">
                            <a:solidFill>
                              <a:srgbClr val="FF9300"/>
                            </a:solidFill>
                            <a:latin typeface="Cambria Math" panose="02040503050406030204" pitchFamily="18" charset="0"/>
                          </a:rPr>
                          <m:t>𝑥</m:t>
                        </m:r>
                      </m:e>
                      <m:sub>
                        <m:r>
                          <a:rPr lang="en-US" b="0" i="1" smtClean="0">
                            <a:solidFill>
                              <a:srgbClr val="FF9300"/>
                            </a:solidFill>
                            <a:latin typeface="Cambria Math" panose="02040503050406030204" pitchFamily="18" charset="0"/>
                          </a:rPr>
                          <m:t>𝑖</m:t>
                        </m:r>
                      </m:sub>
                    </m:sSub>
                    <m:r>
                      <a:rPr lang="en-US" b="0" i="1" smtClean="0">
                        <a:solidFill>
                          <a:srgbClr val="FF9300"/>
                        </a:solidFill>
                        <a:latin typeface="Cambria Math" panose="02040503050406030204" pitchFamily="18" charset="0"/>
                      </a:rPr>
                      <m:t>=0</m:t>
                    </m:r>
                  </m:oMath>
                </a14:m>
                <a:r>
                  <a:rPr lang="en-US" dirty="0">
                    <a:solidFill>
                      <a:srgbClr val="FF9300"/>
                    </a:solidFill>
                  </a:rPr>
                  <a:t> </a:t>
                </a:r>
                <a:r>
                  <a:rPr lang="en-US" dirty="0"/>
                  <a:t>(i.e., the mean of the distribution </a:t>
                </a:r>
                <a14:m>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=0</m:t>
                    </m:r>
                  </m:oMath>
                </a14:m>
                <a:r>
                  <a:rPr lang="en-US" dirty="0"/>
                  <a:t>) </a:t>
                </a:r>
              </a:p>
              <a:p>
                <a:pPr marL="0" indent="0">
                  <a:buNone/>
                </a:pPr>
                <a:endParaRPr lang="en-US" dirty="0"/>
              </a:p>
              <a:p>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1</m:t>
                            </m:r>
                          </m:sub>
                        </m:sSub>
                      </m:e>
                    </m:acc>
                  </m:oMath>
                </a14:m>
                <a:r>
                  <a:rPr lang="en-US" dirty="0"/>
                  <a:t> is the estimated change in the </a:t>
                </a:r>
                <a:r>
                  <a:rPr lang="en-US" dirty="0">
                    <a:solidFill>
                      <a:srgbClr val="FF9300"/>
                    </a:solidFill>
                  </a:rPr>
                  <a:t>conditional mean</a:t>
                </a:r>
                <a:r>
                  <a:rPr lang="en-US" dirty="0"/>
                  <a:t> of </a:t>
                </a:r>
                <a14:m>
                  <m:oMath xmlns:m="http://schemas.openxmlformats.org/officeDocument/2006/math">
                    <m:r>
                      <a:rPr lang="en-US" b="0" i="1" smtClean="0">
                        <a:latin typeface="Cambria Math" panose="02040503050406030204" pitchFamily="18" charset="0"/>
                      </a:rPr>
                      <m:t>𝑌</m:t>
                    </m:r>
                  </m:oMath>
                </a14:m>
                <a:r>
                  <a:rPr lang="en-US" dirty="0"/>
                  <a:t> for a one-unit change in </a:t>
                </a:r>
                <a14:m>
                  <m:oMath xmlns:m="http://schemas.openxmlformats.org/officeDocument/2006/math">
                    <m:r>
                      <a:rPr lang="en-US" b="0" i="1" smtClean="0">
                        <a:latin typeface="Cambria Math" panose="02040503050406030204" pitchFamily="18" charset="0"/>
                      </a:rPr>
                      <m:t>𝑋</m:t>
                    </m:r>
                  </m:oMath>
                </a14:m>
                <a:endParaRPr lang="en-US" b="0" dirty="0"/>
              </a:p>
            </p:txBody>
          </p:sp>
        </mc:Choice>
        <mc:Fallback xmlns="">
          <p:sp>
            <p:nvSpPr>
              <p:cNvPr id="3" name="Content Placeholder 2">
                <a:extLst>
                  <a:ext uri="{FF2B5EF4-FFF2-40B4-BE49-F238E27FC236}">
                    <a16:creationId xmlns:a16="http://schemas.microsoft.com/office/drawing/2014/main" id="{D75CDDD5-5FB9-3A28-D965-C206F0A3DBF9}"/>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8BB0A49-C3C0-C622-10C4-25A436665AA6}"/>
              </a:ext>
            </a:extLst>
          </p:cNvPr>
          <p:cNvSpPr>
            <a:spLocks noGrp="1"/>
          </p:cNvSpPr>
          <p:nvPr>
            <p:ph type="sldNum" sz="quarter" idx="12"/>
          </p:nvPr>
        </p:nvSpPr>
        <p:spPr/>
        <p:txBody>
          <a:bodyPr/>
          <a:lstStyle/>
          <a:p>
            <a:fld id="{59AE00EF-AE84-4193-80D9-56955F3C2EE7}" type="slidenum">
              <a:rPr lang="en-US" smtClean="0"/>
              <a:t>33</a:t>
            </a:fld>
            <a:endParaRPr lang="en-US"/>
          </a:p>
        </p:txBody>
      </p:sp>
    </p:spTree>
    <p:extLst>
      <p:ext uri="{BB962C8B-B14F-4D97-AF65-F5344CB8AC3E}">
        <p14:creationId xmlns:p14="http://schemas.microsoft.com/office/powerpoint/2010/main" val="1315564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88"/>
          <p:cNvSpPr txBox="1">
            <a:spLocks noGrp="1"/>
          </p:cNvSpPr>
          <p:nvPr>
            <p:ph type="title"/>
          </p:nvPr>
        </p:nvSpPr>
        <p:spPr>
          <a:xfrm>
            <a:off x="838200" y="416022"/>
            <a:ext cx="10515600" cy="6025956"/>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2494C"/>
              </a:buClr>
              <a:buSzPct val="100000"/>
              <a:buFont typeface="Arial"/>
              <a:buNone/>
            </a:pPr>
            <a:r>
              <a:rPr lang="en-US" b="1" dirty="0">
                <a:solidFill>
                  <a:srgbClr val="F2494C"/>
                </a:solidFill>
              </a:rPr>
              <a:t>Since it is a model of the conditional expectation function, linear regression estimates how the mean of the outcome changes as we change the exposure by one unit</a:t>
            </a:r>
            <a:endParaRPr dirty="0"/>
          </a:p>
        </p:txBody>
      </p:sp>
      <p:sp>
        <p:nvSpPr>
          <p:cNvPr id="271" name="Google Shape;271;p8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sp>
        <p:nvSpPr>
          <p:cNvPr id="272" name="Google Shape;272;p88"/>
          <p:cNvSpPr/>
          <p:nvPr/>
        </p:nvSpPr>
        <p:spPr>
          <a:xfrm>
            <a:off x="11307535" y="157655"/>
            <a:ext cx="669470" cy="654269"/>
          </a:xfrm>
          <a:prstGeom prst="star5">
            <a:avLst>
              <a:gd name="adj" fmla="val 19098"/>
              <a:gd name="hf" fmla="val 105146"/>
              <a:gd name="vf" fmla="val 110557"/>
            </a:avLst>
          </a:prstGeom>
          <a:solidFill>
            <a:srgbClr val="FF9300"/>
          </a:solidFill>
          <a:ln w="12700" cap="flat" cmpd="sng">
            <a:solidFill>
              <a:srgbClr val="FF93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130"/>
          <p:cNvSpPr txBox="1">
            <a:spLocks noGrp="1"/>
          </p:cNvSpPr>
          <p:nvPr>
            <p:ph type="title"/>
          </p:nvPr>
        </p:nvSpPr>
        <p:spPr>
          <a:xfrm>
            <a:off x="690789" y="1497545"/>
            <a:ext cx="10810421" cy="3862909"/>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rgbClr val="468C8A"/>
              </a:buClr>
              <a:buSzPts val="6000"/>
              <a:buFont typeface="Arial"/>
              <a:buNone/>
            </a:pPr>
            <a:r>
              <a:rPr lang="en-US" b="1" dirty="0">
                <a:solidFill>
                  <a:srgbClr val="468C8A"/>
                </a:solidFill>
              </a:rPr>
              <a:t>What if we want to calculate estimates for how other parts of the distribution change as we change the exposure by one unit?</a:t>
            </a:r>
            <a:endParaRPr dirty="0"/>
          </a:p>
        </p:txBody>
      </p:sp>
      <p:sp>
        <p:nvSpPr>
          <p:cNvPr id="353" name="Google Shape;353;p1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spTree>
    <p:extLst>
      <p:ext uri="{BB962C8B-B14F-4D97-AF65-F5344CB8AC3E}">
        <p14:creationId xmlns:p14="http://schemas.microsoft.com/office/powerpoint/2010/main" val="3465965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8" name="Google Shape;288;g2b790785aef_0_14"/>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36</a:t>
            </a:fld>
            <a:endParaRPr/>
          </a:p>
        </p:txBody>
      </p:sp>
      <p:pic>
        <p:nvPicPr>
          <p:cNvPr id="4" name="Picture 3">
            <a:extLst>
              <a:ext uri="{FF2B5EF4-FFF2-40B4-BE49-F238E27FC236}">
                <a16:creationId xmlns:a16="http://schemas.microsoft.com/office/drawing/2014/main" id="{30FF9374-E5A7-66E4-4FBC-E1662BB2D588}"/>
              </a:ext>
            </a:extLst>
          </p:cNvPr>
          <p:cNvPicPr>
            <a:picLocks noChangeAspect="1"/>
          </p:cNvPicPr>
          <p:nvPr/>
        </p:nvPicPr>
        <p:blipFill>
          <a:blip r:embed="rId3"/>
          <a:stretch>
            <a:fillRect/>
          </a:stretch>
        </p:blipFill>
        <p:spPr>
          <a:xfrm>
            <a:off x="2209800" y="838200"/>
            <a:ext cx="7772400" cy="51816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1">
          <a:extLst>
            <a:ext uri="{FF2B5EF4-FFF2-40B4-BE49-F238E27FC236}">
              <a16:creationId xmlns:a16="http://schemas.microsoft.com/office/drawing/2014/main" id="{B44163C7-E3AA-A234-4FC6-09450800A10F}"/>
            </a:ext>
          </a:extLst>
        </p:cNvPr>
        <p:cNvGrpSpPr/>
        <p:nvPr/>
      </p:nvGrpSpPr>
      <p:grpSpPr>
        <a:xfrm>
          <a:off x="0" y="0"/>
          <a:ext cx="0" cy="0"/>
          <a:chOff x="0" y="0"/>
          <a:chExt cx="0" cy="0"/>
        </a:xfrm>
      </p:grpSpPr>
      <p:sp>
        <p:nvSpPr>
          <p:cNvPr id="352" name="Google Shape;352;p130">
            <a:extLst>
              <a:ext uri="{FF2B5EF4-FFF2-40B4-BE49-F238E27FC236}">
                <a16:creationId xmlns:a16="http://schemas.microsoft.com/office/drawing/2014/main" id="{0CE6372E-08C7-C544-0D59-8C481DA4259F}"/>
              </a:ext>
            </a:extLst>
          </p:cNvPr>
          <p:cNvSpPr txBox="1">
            <a:spLocks noGrp="1"/>
          </p:cNvSpPr>
          <p:nvPr>
            <p:ph type="title"/>
          </p:nvPr>
        </p:nvSpPr>
        <p:spPr>
          <a:xfrm>
            <a:off x="3567566" y="2904144"/>
            <a:ext cx="5056868" cy="104971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468C8A"/>
              </a:buClr>
              <a:buSzPts val="6000"/>
              <a:buFont typeface="Arial"/>
              <a:buNone/>
            </a:pPr>
            <a:r>
              <a:rPr lang="en-US" b="1" dirty="0">
                <a:solidFill>
                  <a:srgbClr val="FF9300"/>
                </a:solidFill>
              </a:rPr>
              <a:t>Poll Time!</a:t>
            </a:r>
            <a:endParaRPr dirty="0">
              <a:solidFill>
                <a:srgbClr val="FF9300"/>
              </a:solidFill>
            </a:endParaRPr>
          </a:p>
        </p:txBody>
      </p:sp>
      <p:sp>
        <p:nvSpPr>
          <p:cNvPr id="353" name="Google Shape;353;p130">
            <a:extLst>
              <a:ext uri="{FF2B5EF4-FFF2-40B4-BE49-F238E27FC236}">
                <a16:creationId xmlns:a16="http://schemas.microsoft.com/office/drawing/2014/main" id="{B7121FE4-6998-469D-4D83-A3D62027738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spTree>
    <p:extLst>
      <p:ext uri="{BB962C8B-B14F-4D97-AF65-F5344CB8AC3E}">
        <p14:creationId xmlns:p14="http://schemas.microsoft.com/office/powerpoint/2010/main" val="16050291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88"/>
          <p:cNvSpPr txBox="1">
            <a:spLocks noGrp="1"/>
          </p:cNvSpPr>
          <p:nvPr>
            <p:ph type="title"/>
          </p:nvPr>
        </p:nvSpPr>
        <p:spPr>
          <a:xfrm>
            <a:off x="660710" y="756133"/>
            <a:ext cx="10870580" cy="5345733"/>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rgbClr val="F2494C"/>
              </a:buClr>
              <a:buSzPct val="100000"/>
              <a:buFont typeface="Arial"/>
              <a:buNone/>
            </a:pPr>
            <a:r>
              <a:rPr lang="en-US" b="1" dirty="0">
                <a:solidFill>
                  <a:srgbClr val="F2494C"/>
                </a:solidFill>
              </a:rPr>
              <a:t>Interpreting CQR results follows the same framework as interpreting linear regression results, except estimates are now about how the </a:t>
            </a:r>
            <a:r>
              <a:rPr lang="en-US" b="1" u="sng" dirty="0">
                <a:solidFill>
                  <a:srgbClr val="F2494C"/>
                </a:solidFill>
              </a:rPr>
              <a:t>quantile of interest</a:t>
            </a:r>
            <a:r>
              <a:rPr lang="en-US" b="1" dirty="0">
                <a:solidFill>
                  <a:srgbClr val="F2494C"/>
                </a:solidFill>
              </a:rPr>
              <a:t> of the outcome changes </a:t>
            </a:r>
            <a:br>
              <a:rPr lang="en-US" b="1" dirty="0">
                <a:solidFill>
                  <a:srgbClr val="F2494C"/>
                </a:solidFill>
              </a:rPr>
            </a:br>
            <a:r>
              <a:rPr lang="en-US" b="1" dirty="0">
                <a:solidFill>
                  <a:srgbClr val="F2494C"/>
                </a:solidFill>
              </a:rPr>
              <a:t>(as opposed to the mean)</a:t>
            </a:r>
            <a:endParaRPr dirty="0"/>
          </a:p>
        </p:txBody>
      </p:sp>
      <p:sp>
        <p:nvSpPr>
          <p:cNvPr id="271" name="Google Shape;271;p8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sp>
        <p:nvSpPr>
          <p:cNvPr id="272" name="Google Shape;272;p88"/>
          <p:cNvSpPr/>
          <p:nvPr/>
        </p:nvSpPr>
        <p:spPr>
          <a:xfrm>
            <a:off x="11307535" y="157655"/>
            <a:ext cx="669470" cy="654269"/>
          </a:xfrm>
          <a:prstGeom prst="star5">
            <a:avLst>
              <a:gd name="adj" fmla="val 19098"/>
              <a:gd name="hf" fmla="val 105146"/>
              <a:gd name="vf" fmla="val 110557"/>
            </a:avLst>
          </a:prstGeom>
          <a:solidFill>
            <a:srgbClr val="FF9300"/>
          </a:solidFill>
          <a:ln w="12700" cap="flat" cmpd="sng">
            <a:solidFill>
              <a:srgbClr val="FF93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14203456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597"/>
        <p:cNvGrpSpPr/>
        <p:nvPr/>
      </p:nvGrpSpPr>
      <p:grpSpPr>
        <a:xfrm>
          <a:off x="0" y="0"/>
          <a:ext cx="0" cy="0"/>
          <a:chOff x="0" y="0"/>
          <a:chExt cx="0" cy="0"/>
        </a:xfrm>
      </p:grpSpPr>
      <p:sp>
        <p:nvSpPr>
          <p:cNvPr id="1598" name="Google Shape;1598;p2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Imagine that we calculated the conditional 25</a:t>
            </a:r>
            <a:r>
              <a:rPr lang="en-US" b="1" baseline="30000" dirty="0">
                <a:solidFill>
                  <a:srgbClr val="468C8A"/>
                </a:solidFill>
              </a:rPr>
              <a:t>th</a:t>
            </a:r>
            <a:r>
              <a:rPr lang="en-US" b="1" dirty="0">
                <a:solidFill>
                  <a:srgbClr val="468C8A"/>
                </a:solidFill>
              </a:rPr>
              <a:t> quantile instead</a:t>
            </a:r>
            <a:endParaRPr dirty="0"/>
          </a:p>
        </p:txBody>
      </p:sp>
      <p:sp>
        <p:nvSpPr>
          <p:cNvPr id="1599" name="Google Shape;1599;p2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pic>
        <p:nvPicPr>
          <p:cNvPr id="1600" name="Google Shape;1600;p248" descr="A picture containing text, screenshot, line, parallel&#10;&#10;Description automatically generated"/>
          <p:cNvPicPr preferRelativeResize="0"/>
          <p:nvPr/>
        </p:nvPicPr>
        <p:blipFill rotWithShape="1">
          <a:blip r:embed="rId3">
            <a:alphaModFix/>
          </a:blip>
          <a:srcRect/>
          <a:stretch/>
        </p:blipFill>
        <p:spPr>
          <a:xfrm>
            <a:off x="2209800" y="1673809"/>
            <a:ext cx="7772400" cy="5184191"/>
          </a:xfrm>
          <a:prstGeom prst="rect">
            <a:avLst/>
          </a:prstGeom>
          <a:noFill/>
          <a:ln>
            <a:noFill/>
          </a:ln>
        </p:spPr>
      </p:pic>
    </p:spTree>
    <p:extLst>
      <p:ext uri="{BB962C8B-B14F-4D97-AF65-F5344CB8AC3E}">
        <p14:creationId xmlns:p14="http://schemas.microsoft.com/office/powerpoint/2010/main" val="8277224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604"/>
        <p:cNvGrpSpPr/>
        <p:nvPr/>
      </p:nvGrpSpPr>
      <p:grpSpPr>
        <a:xfrm>
          <a:off x="0" y="0"/>
          <a:ext cx="0" cy="0"/>
          <a:chOff x="0" y="0"/>
          <a:chExt cx="0" cy="0"/>
        </a:xfrm>
      </p:grpSpPr>
      <p:sp>
        <p:nvSpPr>
          <p:cNvPr id="1605" name="Google Shape;1605;p2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Conditional quantile function (CQF) at the 25</a:t>
            </a:r>
            <a:r>
              <a:rPr lang="en-US" b="1" baseline="30000" dirty="0">
                <a:solidFill>
                  <a:srgbClr val="468C8A"/>
                </a:solidFill>
              </a:rPr>
              <a:t>th</a:t>
            </a:r>
            <a:r>
              <a:rPr lang="en-US" b="1" dirty="0">
                <a:solidFill>
                  <a:srgbClr val="468C8A"/>
                </a:solidFill>
              </a:rPr>
              <a:t> quantile</a:t>
            </a:r>
            <a:endParaRPr dirty="0"/>
          </a:p>
        </p:txBody>
      </p:sp>
      <p:sp>
        <p:nvSpPr>
          <p:cNvPr id="1606" name="Google Shape;1606;p2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pic>
        <p:nvPicPr>
          <p:cNvPr id="1607" name="Google Shape;1607;p249" descr="A picture containing text, diagram, line, screenshot&#10;&#10;Description automatically generated"/>
          <p:cNvPicPr preferRelativeResize="0"/>
          <p:nvPr/>
        </p:nvPicPr>
        <p:blipFill rotWithShape="1">
          <a:blip r:embed="rId3">
            <a:alphaModFix/>
          </a:blip>
          <a:srcRect/>
          <a:stretch/>
        </p:blipFill>
        <p:spPr>
          <a:xfrm>
            <a:off x="2209800" y="1676401"/>
            <a:ext cx="7772400" cy="5181599"/>
          </a:xfrm>
          <a:prstGeom prst="rect">
            <a:avLst/>
          </a:prstGeom>
          <a:noFill/>
          <a:ln>
            <a:noFill/>
          </a:ln>
        </p:spPr>
      </p:pic>
    </p:spTree>
    <p:extLst>
      <p:ext uri="{BB962C8B-B14F-4D97-AF65-F5344CB8AC3E}">
        <p14:creationId xmlns:p14="http://schemas.microsoft.com/office/powerpoint/2010/main" val="40467474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g2b790785aef_0_30"/>
          <p:cNvSpPr txBox="1">
            <a:spLocks noGrp="1"/>
          </p:cNvSpPr>
          <p:nvPr>
            <p:ph type="title"/>
          </p:nvPr>
        </p:nvSpPr>
        <p:spPr>
          <a:xfrm>
            <a:off x="204216" y="138658"/>
            <a:ext cx="12109704"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Conditional quantile regression line ≈ CQF</a:t>
            </a:r>
            <a:endParaRPr dirty="0"/>
          </a:p>
        </p:txBody>
      </p:sp>
      <p:sp>
        <p:nvSpPr>
          <p:cNvPr id="319" name="Google Shape;319;g2b790785aef_0_3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pic>
        <p:nvPicPr>
          <p:cNvPr id="2" name="Picture 1">
            <a:extLst>
              <a:ext uri="{FF2B5EF4-FFF2-40B4-BE49-F238E27FC236}">
                <a16:creationId xmlns:a16="http://schemas.microsoft.com/office/drawing/2014/main" id="{237640AC-AD94-40FC-E374-6AAFDBB3135D}"/>
              </a:ext>
            </a:extLst>
          </p:cNvPr>
          <p:cNvPicPr>
            <a:picLocks noChangeAspect="1"/>
          </p:cNvPicPr>
          <p:nvPr/>
        </p:nvPicPr>
        <p:blipFill>
          <a:blip r:embed="rId3"/>
          <a:stretch>
            <a:fillRect/>
          </a:stretch>
        </p:blipFill>
        <p:spPr>
          <a:xfrm>
            <a:off x="2209800" y="1357300"/>
            <a:ext cx="7772400" cy="51816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65" name="Google Shape;265;p8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mc:AlternateContent xmlns:mc="http://schemas.openxmlformats.org/markup-compatibility/2006" xmlns:a14="http://schemas.microsoft.com/office/drawing/2010/main">
        <mc:Choice Requires="a14">
          <p:sp>
            <p:nvSpPr>
              <p:cNvPr id="8" name="Title 2">
                <a:extLst>
                  <a:ext uri="{FF2B5EF4-FFF2-40B4-BE49-F238E27FC236}">
                    <a16:creationId xmlns:a16="http://schemas.microsoft.com/office/drawing/2014/main" id="{D10950B6-EACE-5BE3-D8F8-00FD70BD9A61}"/>
                  </a:ext>
                </a:extLst>
              </p:cNvPr>
              <p:cNvSpPr>
                <a:spLocks noGrp="1"/>
              </p:cNvSpPr>
              <p:nvPr>
                <p:ph type="title"/>
              </p:nvPr>
            </p:nvSpPr>
            <p:spPr>
              <a:xfrm>
                <a:off x="838200" y="365125"/>
                <a:ext cx="10515600" cy="1325563"/>
              </a:xfrm>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3200" b="1" i="1" smtClean="0">
                              <a:solidFill>
                                <a:srgbClr val="468C8A"/>
                              </a:solidFill>
                              <a:latin typeface="Cambria Math" panose="02040503050406030204" pitchFamily="18" charset="0"/>
                            </a:rPr>
                          </m:ctrlPr>
                        </m:sSubPr>
                        <m:e>
                          <m:r>
                            <a:rPr lang="en-US" sz="3200" b="1" i="1" smtClean="0">
                              <a:solidFill>
                                <a:srgbClr val="468C8A"/>
                              </a:solidFill>
                              <a:latin typeface="Cambria Math" panose="02040503050406030204" pitchFamily="18" charset="0"/>
                            </a:rPr>
                            <m:t>𝑸</m:t>
                          </m:r>
                        </m:e>
                        <m:sub>
                          <m:r>
                            <a:rPr lang="en-US" sz="3200" b="1" i="1" smtClean="0">
                              <a:solidFill>
                                <a:srgbClr val="468C8A"/>
                              </a:solidFill>
                              <a:latin typeface="Cambria Math" panose="02040503050406030204" pitchFamily="18" charset="0"/>
                            </a:rPr>
                            <m:t>𝝉</m:t>
                          </m:r>
                        </m:sub>
                      </m:sSub>
                      <m:r>
                        <a:rPr lang="en-US" sz="3200" b="1" i="1" smtClean="0">
                          <a:solidFill>
                            <a:srgbClr val="468C8A"/>
                          </a:solidFill>
                          <a:latin typeface="Cambria Math" panose="02040503050406030204" pitchFamily="18" charset="0"/>
                        </a:rPr>
                        <m:t>(</m:t>
                      </m:r>
                      <m:r>
                        <a:rPr lang="en-US" sz="3200" b="1" i="1" smtClean="0">
                          <a:solidFill>
                            <a:srgbClr val="468C8A"/>
                          </a:solidFill>
                          <a:latin typeface="Cambria Math" panose="02040503050406030204" pitchFamily="18" charset="0"/>
                        </a:rPr>
                        <m:t>𝑺𝑩𝑷</m:t>
                      </m:r>
                      <m:r>
                        <a:rPr lang="en-US" sz="3200" b="1" i="1" smtClean="0">
                          <a:solidFill>
                            <a:srgbClr val="468C8A"/>
                          </a:solidFill>
                          <a:latin typeface="Cambria Math" panose="02040503050406030204" pitchFamily="18" charset="0"/>
                        </a:rPr>
                        <m:t>|</m:t>
                      </m:r>
                      <m:r>
                        <a:rPr lang="en-US" sz="3200" b="1" i="1" smtClean="0">
                          <a:solidFill>
                            <a:srgbClr val="468C8A"/>
                          </a:solidFill>
                          <a:latin typeface="Cambria Math" panose="02040503050406030204" pitchFamily="18" charset="0"/>
                        </a:rPr>
                        <m:t>𝒔𝒄𝒉𝒍𝒚𝒓𝒔</m:t>
                      </m:r>
                      <m:r>
                        <a:rPr lang="en-US" sz="3200" b="1" i="1" smtClean="0">
                          <a:solidFill>
                            <a:srgbClr val="468C8A"/>
                          </a:solidFill>
                          <a:latin typeface="Cambria Math" panose="02040503050406030204" pitchFamily="18" charset="0"/>
                        </a:rPr>
                        <m:t>)=</m:t>
                      </m:r>
                      <m:sSub>
                        <m:sSubPr>
                          <m:ctrlPr>
                            <a:rPr lang="en-US" sz="3200" b="1" i="1" smtClean="0">
                              <a:solidFill>
                                <a:srgbClr val="468C8A"/>
                              </a:solidFill>
                              <a:latin typeface="Cambria Math" panose="02040503050406030204" pitchFamily="18" charset="0"/>
                            </a:rPr>
                          </m:ctrlPr>
                        </m:sSubPr>
                        <m:e>
                          <m:r>
                            <a:rPr lang="en-US" sz="3200" b="1" i="1" smtClean="0">
                              <a:solidFill>
                                <a:srgbClr val="468C8A"/>
                              </a:solidFill>
                              <a:latin typeface="Cambria Math" panose="02040503050406030204" pitchFamily="18" charset="0"/>
                            </a:rPr>
                            <m:t>𝜶</m:t>
                          </m:r>
                        </m:e>
                        <m:sub>
                          <m:r>
                            <a:rPr lang="en-US" sz="3200" b="1" i="1" smtClean="0">
                              <a:solidFill>
                                <a:srgbClr val="468C8A"/>
                              </a:solidFill>
                              <a:latin typeface="Cambria Math" panose="02040503050406030204" pitchFamily="18" charset="0"/>
                            </a:rPr>
                            <m:t>𝟎</m:t>
                          </m:r>
                          <m:r>
                            <a:rPr lang="en-US" sz="3200" b="1" i="1" smtClean="0">
                              <a:solidFill>
                                <a:srgbClr val="468C8A"/>
                              </a:solidFill>
                              <a:latin typeface="Cambria Math" panose="02040503050406030204" pitchFamily="18" charset="0"/>
                            </a:rPr>
                            <m:t>, </m:t>
                          </m:r>
                          <m:r>
                            <a:rPr lang="en-US" sz="3200" b="1" i="1" smtClean="0">
                              <a:solidFill>
                                <a:srgbClr val="468C8A"/>
                              </a:solidFill>
                              <a:latin typeface="Cambria Math" panose="02040503050406030204" pitchFamily="18" charset="0"/>
                            </a:rPr>
                            <m:t>𝝉</m:t>
                          </m:r>
                        </m:sub>
                      </m:sSub>
                      <m:r>
                        <a:rPr lang="en-US" sz="3200" b="1" i="1" smtClean="0">
                          <a:solidFill>
                            <a:srgbClr val="468C8A"/>
                          </a:solidFill>
                          <a:latin typeface="Cambria Math" panose="02040503050406030204" pitchFamily="18" charset="0"/>
                        </a:rPr>
                        <m:t>+</m:t>
                      </m:r>
                      <m:sSub>
                        <m:sSubPr>
                          <m:ctrlPr>
                            <a:rPr lang="en-US" sz="3200" b="1" i="1" smtClean="0">
                              <a:solidFill>
                                <a:srgbClr val="468C8A"/>
                              </a:solidFill>
                              <a:latin typeface="Cambria Math" panose="02040503050406030204" pitchFamily="18" charset="0"/>
                            </a:rPr>
                          </m:ctrlPr>
                        </m:sSubPr>
                        <m:e>
                          <m:r>
                            <a:rPr lang="en-US" sz="3200" b="1" i="1" smtClean="0">
                              <a:solidFill>
                                <a:srgbClr val="468C8A"/>
                              </a:solidFill>
                              <a:latin typeface="Cambria Math" panose="02040503050406030204" pitchFamily="18" charset="0"/>
                            </a:rPr>
                            <m:t>𝜶</m:t>
                          </m:r>
                        </m:e>
                        <m:sub>
                          <m:r>
                            <a:rPr lang="en-US" sz="3200" b="1" i="1" smtClean="0">
                              <a:solidFill>
                                <a:srgbClr val="468C8A"/>
                              </a:solidFill>
                              <a:latin typeface="Cambria Math" panose="02040503050406030204" pitchFamily="18" charset="0"/>
                            </a:rPr>
                            <m:t>𝟏</m:t>
                          </m:r>
                          <m:r>
                            <a:rPr lang="en-US" sz="3200" b="1" i="1" smtClean="0">
                              <a:solidFill>
                                <a:srgbClr val="468C8A"/>
                              </a:solidFill>
                              <a:latin typeface="Cambria Math" panose="02040503050406030204" pitchFamily="18" charset="0"/>
                            </a:rPr>
                            <m:t>, </m:t>
                          </m:r>
                          <m:r>
                            <a:rPr lang="en-US" sz="3200" b="1" i="1" smtClean="0">
                              <a:solidFill>
                                <a:srgbClr val="468C8A"/>
                              </a:solidFill>
                              <a:latin typeface="Cambria Math" panose="02040503050406030204" pitchFamily="18" charset="0"/>
                            </a:rPr>
                            <m:t>𝝉</m:t>
                          </m:r>
                        </m:sub>
                      </m:sSub>
                      <m:r>
                        <a:rPr lang="en-US" sz="3200" b="1" i="1" smtClean="0">
                          <a:solidFill>
                            <a:srgbClr val="468C8A"/>
                          </a:solidFill>
                          <a:latin typeface="Cambria Math" panose="02040503050406030204" pitchFamily="18" charset="0"/>
                        </a:rPr>
                        <m:t>𝒔𝒄𝒉𝒍𝒚𝒓</m:t>
                      </m:r>
                      <m:sSub>
                        <m:sSubPr>
                          <m:ctrlPr>
                            <a:rPr lang="en-US" sz="3200" b="1" i="1" smtClean="0">
                              <a:solidFill>
                                <a:srgbClr val="468C8A"/>
                              </a:solidFill>
                              <a:latin typeface="Cambria Math" panose="02040503050406030204" pitchFamily="18" charset="0"/>
                            </a:rPr>
                          </m:ctrlPr>
                        </m:sSubPr>
                        <m:e>
                          <m:r>
                            <a:rPr lang="en-US" sz="3200" b="1" i="1" smtClean="0">
                              <a:solidFill>
                                <a:srgbClr val="468C8A"/>
                              </a:solidFill>
                              <a:latin typeface="Cambria Math" panose="02040503050406030204" pitchFamily="18" charset="0"/>
                            </a:rPr>
                            <m:t>𝒔</m:t>
                          </m:r>
                        </m:e>
                        <m:sub>
                          <m:r>
                            <a:rPr lang="en-US" sz="3200" b="1" i="1" smtClean="0">
                              <a:solidFill>
                                <a:srgbClr val="468C8A"/>
                              </a:solidFill>
                              <a:latin typeface="Cambria Math" panose="02040503050406030204" pitchFamily="18" charset="0"/>
                            </a:rPr>
                            <m:t>𝒊</m:t>
                          </m:r>
                        </m:sub>
                      </m:sSub>
                    </m:oMath>
                  </m:oMathPara>
                </a14:m>
                <a:endParaRPr lang="en-US" sz="3200" b="1" dirty="0">
                  <a:solidFill>
                    <a:srgbClr val="468C8A"/>
                  </a:solidFill>
                </a:endParaRPr>
              </a:p>
            </p:txBody>
          </p:sp>
        </mc:Choice>
        <mc:Fallback xmlns="">
          <p:sp>
            <p:nvSpPr>
              <p:cNvPr id="8" name="Title 2">
                <a:extLst>
                  <a:ext uri="{FF2B5EF4-FFF2-40B4-BE49-F238E27FC236}">
                    <a16:creationId xmlns:a16="http://schemas.microsoft.com/office/drawing/2014/main" id="{D10950B6-EACE-5BE3-D8F8-00FD70BD9A61}"/>
                  </a:ext>
                </a:extLst>
              </p:cNvPr>
              <p:cNvSpPr>
                <a:spLocks noGrp="1" noRot="1" noChangeAspect="1" noMove="1" noResize="1" noEditPoints="1" noAdjustHandles="1" noChangeArrowheads="1" noChangeShapeType="1" noTextEdit="1"/>
              </p:cNvSpPr>
              <p:nvPr>
                <p:ph type="title"/>
              </p:nvPr>
            </p:nvSpPr>
            <p:spPr>
              <a:xfrm>
                <a:off x="838200" y="365125"/>
                <a:ext cx="10515600" cy="1325563"/>
              </a:xfrm>
              <a:blipFill>
                <a:blip r:embed="rId3"/>
                <a:stretch>
                  <a:fillRect/>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DD243832-08FF-30C0-1D30-0A0B1D8F8930}"/>
              </a:ext>
            </a:extLst>
          </p:cNvPr>
          <p:cNvPicPr>
            <a:picLocks noChangeAspect="1"/>
          </p:cNvPicPr>
          <p:nvPr/>
        </p:nvPicPr>
        <p:blipFill>
          <a:blip r:embed="rId4"/>
          <a:stretch>
            <a:fillRect/>
          </a:stretch>
        </p:blipFill>
        <p:spPr>
          <a:xfrm>
            <a:off x="2209800" y="1539875"/>
            <a:ext cx="7772400" cy="5181600"/>
          </a:xfrm>
          <a:prstGeom prst="rect">
            <a:avLst/>
          </a:prstGeom>
        </p:spPr>
      </p:pic>
    </p:spTree>
    <p:extLst>
      <p:ext uri="{BB962C8B-B14F-4D97-AF65-F5344CB8AC3E}">
        <p14:creationId xmlns:p14="http://schemas.microsoft.com/office/powerpoint/2010/main" val="19854550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65" name="Google Shape;265;p8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mc:AlternateContent xmlns:mc="http://schemas.openxmlformats.org/markup-compatibility/2006" xmlns:a14="http://schemas.microsoft.com/office/drawing/2010/main">
        <mc:Choice Requires="a14">
          <p:sp>
            <p:nvSpPr>
              <p:cNvPr id="8" name="Title 2">
                <a:extLst>
                  <a:ext uri="{FF2B5EF4-FFF2-40B4-BE49-F238E27FC236}">
                    <a16:creationId xmlns:a16="http://schemas.microsoft.com/office/drawing/2014/main" id="{D10950B6-EACE-5BE3-D8F8-00FD70BD9A61}"/>
                  </a:ext>
                </a:extLst>
              </p:cNvPr>
              <p:cNvSpPr>
                <a:spLocks noGrp="1"/>
              </p:cNvSpPr>
              <p:nvPr>
                <p:ph type="title"/>
              </p:nvPr>
            </p:nvSpPr>
            <p:spPr>
              <a:xfrm>
                <a:off x="838200" y="365125"/>
                <a:ext cx="10515600" cy="1325563"/>
              </a:xfrm>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3200" b="1" i="1" smtClean="0">
                              <a:solidFill>
                                <a:srgbClr val="468C8A"/>
                              </a:solidFill>
                              <a:latin typeface="Cambria Math" panose="02040503050406030204" pitchFamily="18" charset="0"/>
                            </a:rPr>
                          </m:ctrlPr>
                        </m:sSubPr>
                        <m:e>
                          <m:r>
                            <a:rPr lang="en-US" sz="3200" b="1" i="1" smtClean="0">
                              <a:solidFill>
                                <a:srgbClr val="468C8A"/>
                              </a:solidFill>
                              <a:latin typeface="Cambria Math" panose="02040503050406030204" pitchFamily="18" charset="0"/>
                            </a:rPr>
                            <m:t>𝑸</m:t>
                          </m:r>
                        </m:e>
                        <m:sub>
                          <m:r>
                            <a:rPr lang="en-US" sz="3200" b="1" i="1" smtClean="0">
                              <a:solidFill>
                                <a:srgbClr val="468C8A"/>
                              </a:solidFill>
                              <a:latin typeface="Cambria Math" panose="02040503050406030204" pitchFamily="18" charset="0"/>
                            </a:rPr>
                            <m:t>𝟎</m:t>
                          </m:r>
                          <m:r>
                            <a:rPr lang="en-US" sz="3200" b="1" i="1" smtClean="0">
                              <a:solidFill>
                                <a:srgbClr val="468C8A"/>
                              </a:solidFill>
                              <a:latin typeface="Cambria Math" panose="02040503050406030204" pitchFamily="18" charset="0"/>
                            </a:rPr>
                            <m:t>.</m:t>
                          </m:r>
                          <m:r>
                            <a:rPr lang="en-US" sz="3200" b="1" i="1" smtClean="0">
                              <a:solidFill>
                                <a:srgbClr val="468C8A"/>
                              </a:solidFill>
                              <a:latin typeface="Cambria Math" panose="02040503050406030204" pitchFamily="18" charset="0"/>
                            </a:rPr>
                            <m:t>𝟐𝟓</m:t>
                          </m:r>
                        </m:sub>
                      </m:sSub>
                      <m:r>
                        <a:rPr lang="en-US" sz="3200" b="1" i="1" smtClean="0">
                          <a:solidFill>
                            <a:srgbClr val="468C8A"/>
                          </a:solidFill>
                          <a:latin typeface="Cambria Math" panose="02040503050406030204" pitchFamily="18" charset="0"/>
                        </a:rPr>
                        <m:t>(</m:t>
                      </m:r>
                      <m:r>
                        <a:rPr lang="en-US" sz="3200" b="1" i="1" smtClean="0">
                          <a:solidFill>
                            <a:srgbClr val="468C8A"/>
                          </a:solidFill>
                          <a:latin typeface="Cambria Math" panose="02040503050406030204" pitchFamily="18" charset="0"/>
                        </a:rPr>
                        <m:t>𝑺𝑩𝑷</m:t>
                      </m:r>
                      <m:r>
                        <a:rPr lang="en-US" sz="3200" b="1" i="1" smtClean="0">
                          <a:solidFill>
                            <a:srgbClr val="468C8A"/>
                          </a:solidFill>
                          <a:latin typeface="Cambria Math" panose="02040503050406030204" pitchFamily="18" charset="0"/>
                        </a:rPr>
                        <m:t>|</m:t>
                      </m:r>
                      <m:r>
                        <a:rPr lang="en-US" sz="3200" b="1" i="1" smtClean="0">
                          <a:solidFill>
                            <a:srgbClr val="468C8A"/>
                          </a:solidFill>
                          <a:latin typeface="Cambria Math" panose="02040503050406030204" pitchFamily="18" charset="0"/>
                        </a:rPr>
                        <m:t>𝒔𝒄𝒉𝒍𝒚𝒓𝒔</m:t>
                      </m:r>
                      <m:r>
                        <a:rPr lang="en-US" sz="3200" b="1" i="1" smtClean="0">
                          <a:solidFill>
                            <a:srgbClr val="468C8A"/>
                          </a:solidFill>
                          <a:latin typeface="Cambria Math" panose="02040503050406030204" pitchFamily="18" charset="0"/>
                        </a:rPr>
                        <m:t>)=</m:t>
                      </m:r>
                      <m:sSub>
                        <m:sSubPr>
                          <m:ctrlPr>
                            <a:rPr lang="en-US" sz="3200" b="1" i="1" smtClean="0">
                              <a:solidFill>
                                <a:srgbClr val="468C8A"/>
                              </a:solidFill>
                              <a:latin typeface="Cambria Math" panose="02040503050406030204" pitchFamily="18" charset="0"/>
                            </a:rPr>
                          </m:ctrlPr>
                        </m:sSubPr>
                        <m:e>
                          <m:r>
                            <a:rPr lang="en-US" sz="3200" b="1" i="1" smtClean="0">
                              <a:solidFill>
                                <a:srgbClr val="468C8A"/>
                              </a:solidFill>
                              <a:latin typeface="Cambria Math" panose="02040503050406030204" pitchFamily="18" charset="0"/>
                            </a:rPr>
                            <m:t>𝜶</m:t>
                          </m:r>
                        </m:e>
                        <m:sub>
                          <m:r>
                            <a:rPr lang="en-US" sz="3200" b="1" i="1" smtClean="0">
                              <a:solidFill>
                                <a:srgbClr val="468C8A"/>
                              </a:solidFill>
                              <a:latin typeface="Cambria Math" panose="02040503050406030204" pitchFamily="18" charset="0"/>
                            </a:rPr>
                            <m:t>𝟎</m:t>
                          </m:r>
                          <m:r>
                            <a:rPr lang="en-US" sz="3200" b="1" i="1" smtClean="0">
                              <a:solidFill>
                                <a:srgbClr val="468C8A"/>
                              </a:solidFill>
                              <a:latin typeface="Cambria Math" panose="02040503050406030204" pitchFamily="18" charset="0"/>
                            </a:rPr>
                            <m:t>, </m:t>
                          </m:r>
                          <m:r>
                            <a:rPr lang="en-US" sz="3200" b="1" i="1" smtClean="0">
                              <a:solidFill>
                                <a:srgbClr val="468C8A"/>
                              </a:solidFill>
                              <a:latin typeface="Cambria Math" panose="02040503050406030204" pitchFamily="18" charset="0"/>
                            </a:rPr>
                            <m:t>𝟎</m:t>
                          </m:r>
                          <m:r>
                            <a:rPr lang="en-US" sz="3200" b="1" i="1" smtClean="0">
                              <a:solidFill>
                                <a:srgbClr val="468C8A"/>
                              </a:solidFill>
                              <a:latin typeface="Cambria Math" panose="02040503050406030204" pitchFamily="18" charset="0"/>
                            </a:rPr>
                            <m:t>.</m:t>
                          </m:r>
                          <m:r>
                            <a:rPr lang="en-US" sz="3200" b="1" i="1" smtClean="0">
                              <a:solidFill>
                                <a:srgbClr val="468C8A"/>
                              </a:solidFill>
                              <a:latin typeface="Cambria Math" panose="02040503050406030204" pitchFamily="18" charset="0"/>
                            </a:rPr>
                            <m:t>𝟐𝟓</m:t>
                          </m:r>
                        </m:sub>
                      </m:sSub>
                      <m:r>
                        <a:rPr lang="en-US" sz="3200" b="1" i="1" smtClean="0">
                          <a:solidFill>
                            <a:srgbClr val="468C8A"/>
                          </a:solidFill>
                          <a:latin typeface="Cambria Math" panose="02040503050406030204" pitchFamily="18" charset="0"/>
                        </a:rPr>
                        <m:t>+</m:t>
                      </m:r>
                      <m:sSub>
                        <m:sSubPr>
                          <m:ctrlPr>
                            <a:rPr lang="en-US" sz="3200" b="1" i="1" smtClean="0">
                              <a:solidFill>
                                <a:srgbClr val="468C8A"/>
                              </a:solidFill>
                              <a:latin typeface="Cambria Math" panose="02040503050406030204" pitchFamily="18" charset="0"/>
                            </a:rPr>
                          </m:ctrlPr>
                        </m:sSubPr>
                        <m:e>
                          <m:r>
                            <a:rPr lang="en-US" sz="3200" b="1" i="1" smtClean="0">
                              <a:solidFill>
                                <a:srgbClr val="468C8A"/>
                              </a:solidFill>
                              <a:latin typeface="Cambria Math" panose="02040503050406030204" pitchFamily="18" charset="0"/>
                            </a:rPr>
                            <m:t>𝜶</m:t>
                          </m:r>
                        </m:e>
                        <m:sub>
                          <m:r>
                            <a:rPr lang="en-US" sz="3200" b="1" i="1" smtClean="0">
                              <a:solidFill>
                                <a:srgbClr val="468C8A"/>
                              </a:solidFill>
                              <a:latin typeface="Cambria Math" panose="02040503050406030204" pitchFamily="18" charset="0"/>
                            </a:rPr>
                            <m:t>𝟏</m:t>
                          </m:r>
                          <m:r>
                            <a:rPr lang="en-US" sz="3200" b="1" i="1" smtClean="0">
                              <a:solidFill>
                                <a:srgbClr val="468C8A"/>
                              </a:solidFill>
                              <a:latin typeface="Cambria Math" panose="02040503050406030204" pitchFamily="18" charset="0"/>
                            </a:rPr>
                            <m:t>, </m:t>
                          </m:r>
                          <m:r>
                            <a:rPr lang="en-US" sz="3200" b="1" i="1" smtClean="0">
                              <a:solidFill>
                                <a:srgbClr val="468C8A"/>
                              </a:solidFill>
                              <a:latin typeface="Cambria Math" panose="02040503050406030204" pitchFamily="18" charset="0"/>
                            </a:rPr>
                            <m:t>𝟎</m:t>
                          </m:r>
                          <m:r>
                            <a:rPr lang="en-US" sz="3200" b="1" i="1" smtClean="0">
                              <a:solidFill>
                                <a:srgbClr val="468C8A"/>
                              </a:solidFill>
                              <a:latin typeface="Cambria Math" panose="02040503050406030204" pitchFamily="18" charset="0"/>
                            </a:rPr>
                            <m:t>.</m:t>
                          </m:r>
                          <m:r>
                            <a:rPr lang="en-US" sz="3200" b="1" i="1" smtClean="0">
                              <a:solidFill>
                                <a:srgbClr val="468C8A"/>
                              </a:solidFill>
                              <a:latin typeface="Cambria Math" panose="02040503050406030204" pitchFamily="18" charset="0"/>
                            </a:rPr>
                            <m:t>𝟐𝟓</m:t>
                          </m:r>
                        </m:sub>
                      </m:sSub>
                      <m:r>
                        <a:rPr lang="en-US" sz="3200" b="1" i="1" smtClean="0">
                          <a:solidFill>
                            <a:srgbClr val="468C8A"/>
                          </a:solidFill>
                          <a:latin typeface="Cambria Math" panose="02040503050406030204" pitchFamily="18" charset="0"/>
                        </a:rPr>
                        <m:t>𝒔𝒄𝒉𝒍𝒚𝒓</m:t>
                      </m:r>
                      <m:sSub>
                        <m:sSubPr>
                          <m:ctrlPr>
                            <a:rPr lang="en-US" sz="3200" b="1" i="1" smtClean="0">
                              <a:solidFill>
                                <a:srgbClr val="468C8A"/>
                              </a:solidFill>
                              <a:latin typeface="Cambria Math" panose="02040503050406030204" pitchFamily="18" charset="0"/>
                            </a:rPr>
                          </m:ctrlPr>
                        </m:sSubPr>
                        <m:e>
                          <m:r>
                            <a:rPr lang="en-US" sz="3200" b="1" i="1" smtClean="0">
                              <a:solidFill>
                                <a:srgbClr val="468C8A"/>
                              </a:solidFill>
                              <a:latin typeface="Cambria Math" panose="02040503050406030204" pitchFamily="18" charset="0"/>
                            </a:rPr>
                            <m:t>𝒔</m:t>
                          </m:r>
                        </m:e>
                        <m:sub>
                          <m:r>
                            <a:rPr lang="en-US" sz="3200" b="1" i="1" smtClean="0">
                              <a:solidFill>
                                <a:srgbClr val="468C8A"/>
                              </a:solidFill>
                              <a:latin typeface="Cambria Math" panose="02040503050406030204" pitchFamily="18" charset="0"/>
                            </a:rPr>
                            <m:t>𝒊</m:t>
                          </m:r>
                        </m:sub>
                      </m:sSub>
                    </m:oMath>
                  </m:oMathPara>
                </a14:m>
                <a:endParaRPr lang="en-US" sz="3200" b="1" dirty="0">
                  <a:solidFill>
                    <a:srgbClr val="468C8A"/>
                  </a:solidFill>
                </a:endParaRPr>
              </a:p>
            </p:txBody>
          </p:sp>
        </mc:Choice>
        <mc:Fallback xmlns="">
          <p:sp>
            <p:nvSpPr>
              <p:cNvPr id="8" name="Title 2">
                <a:extLst>
                  <a:ext uri="{FF2B5EF4-FFF2-40B4-BE49-F238E27FC236}">
                    <a16:creationId xmlns:a16="http://schemas.microsoft.com/office/drawing/2014/main" id="{D10950B6-EACE-5BE3-D8F8-00FD70BD9A61}"/>
                  </a:ext>
                </a:extLst>
              </p:cNvPr>
              <p:cNvSpPr>
                <a:spLocks noGrp="1" noRot="1" noChangeAspect="1" noMove="1" noResize="1" noEditPoints="1" noAdjustHandles="1" noChangeArrowheads="1" noChangeShapeType="1" noTextEdit="1"/>
              </p:cNvSpPr>
              <p:nvPr>
                <p:ph type="title"/>
              </p:nvPr>
            </p:nvSpPr>
            <p:spPr>
              <a:xfrm>
                <a:off x="838200" y="365125"/>
                <a:ext cx="10515600" cy="1325563"/>
              </a:xfrm>
              <a:blipFill>
                <a:blip r:embed="rId4"/>
                <a:stretch>
                  <a:fillRect/>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DD243832-08FF-30C0-1D30-0A0B1D8F8930}"/>
              </a:ext>
            </a:extLst>
          </p:cNvPr>
          <p:cNvPicPr>
            <a:picLocks noChangeAspect="1"/>
          </p:cNvPicPr>
          <p:nvPr/>
        </p:nvPicPr>
        <p:blipFill>
          <a:blip r:embed="rId5"/>
          <a:stretch>
            <a:fillRect/>
          </a:stretch>
        </p:blipFill>
        <p:spPr>
          <a:xfrm>
            <a:off x="2209800" y="1539875"/>
            <a:ext cx="7772400" cy="5181600"/>
          </a:xfrm>
          <a:prstGeom prst="rect">
            <a:avLst/>
          </a:prstGeom>
        </p:spPr>
      </p:pic>
      <p:sp>
        <p:nvSpPr>
          <p:cNvPr id="261" name="Google Shape;261;p86"/>
          <p:cNvSpPr/>
          <p:nvPr/>
        </p:nvSpPr>
        <p:spPr>
          <a:xfrm>
            <a:off x="7549376" y="630315"/>
            <a:ext cx="1193180" cy="825623"/>
          </a:xfrm>
          <a:prstGeom prst="rect">
            <a:avLst/>
          </a:prstGeom>
          <a:noFill/>
          <a:ln w="57150" cap="flat" cmpd="sng">
            <a:solidFill>
              <a:srgbClr val="FF93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cxnSp>
        <p:nvCxnSpPr>
          <p:cNvPr id="262" name="Google Shape;262;p86"/>
          <p:cNvCxnSpPr>
            <a:cxnSpLocks/>
            <a:stCxn id="261" idx="2"/>
          </p:cNvCxnSpPr>
          <p:nvPr/>
        </p:nvCxnSpPr>
        <p:spPr>
          <a:xfrm flipH="1">
            <a:off x="6456485" y="1455938"/>
            <a:ext cx="1689481" cy="3254958"/>
          </a:xfrm>
          <a:prstGeom prst="straightConnector1">
            <a:avLst/>
          </a:prstGeom>
          <a:noFill/>
          <a:ln w="57150" cap="flat" cmpd="sng">
            <a:solidFill>
              <a:srgbClr val="FF9300"/>
            </a:solidFill>
            <a:prstDash val="solid"/>
            <a:miter lim="800000"/>
            <a:headEnd type="none" w="sm" len="sm"/>
            <a:tailEnd type="triangle" w="med" len="med"/>
          </a:ln>
        </p:spPr>
      </p:cxnSp>
      <p:sp>
        <p:nvSpPr>
          <p:cNvPr id="263" name="Google Shape;263;p86"/>
          <p:cNvSpPr/>
          <p:nvPr/>
        </p:nvSpPr>
        <p:spPr>
          <a:xfrm>
            <a:off x="1717288" y="630314"/>
            <a:ext cx="3860109" cy="825623"/>
          </a:xfrm>
          <a:prstGeom prst="rect">
            <a:avLst/>
          </a:prstGeom>
          <a:noFill/>
          <a:ln w="5715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cxnSp>
        <p:nvCxnSpPr>
          <p:cNvPr id="264" name="Google Shape;264;p86"/>
          <p:cNvCxnSpPr>
            <a:cxnSpLocks/>
          </p:cNvCxnSpPr>
          <p:nvPr/>
        </p:nvCxnSpPr>
        <p:spPr>
          <a:xfrm>
            <a:off x="3575112" y="1455938"/>
            <a:ext cx="2160404" cy="3104487"/>
          </a:xfrm>
          <a:prstGeom prst="straightConnector1">
            <a:avLst/>
          </a:prstGeom>
          <a:noFill/>
          <a:ln w="57150" cap="flat" cmpd="sng">
            <a:solidFill>
              <a:srgbClr val="0070C0"/>
            </a:solidFill>
            <a:prstDash val="solid"/>
            <a:miter lim="800000"/>
            <a:headEnd type="none" w="sm" len="sm"/>
            <a:tailEnd type="triangle" w="med" len="med"/>
          </a:ln>
        </p:spPr>
      </p:cxnSp>
    </p:spTree>
    <p:extLst>
      <p:ext uri="{BB962C8B-B14F-4D97-AF65-F5344CB8AC3E}">
        <p14:creationId xmlns:p14="http://schemas.microsoft.com/office/powerpoint/2010/main" val="1359102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6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1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Interpreting coefficients of a univariate conditional quantile regression line</a:t>
            </a:r>
            <a:endParaRPr dirty="0"/>
          </a:p>
        </p:txBody>
      </p:sp>
      <p:sp>
        <p:nvSpPr>
          <p:cNvPr id="394" name="Google Shape;394;p1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EA86A314-17BA-8E8A-3E97-E91E9BB54B1F}"/>
                  </a:ext>
                </a:extLst>
              </p:cNvPr>
              <p:cNvSpPr txBox="1">
                <a:spLocks/>
              </p:cNvSpPr>
              <p:nvPr/>
            </p:nvSpPr>
            <p:spPr>
              <a:xfrm>
                <a:off x="838200" y="1825625"/>
                <a:ext cx="10515600" cy="466725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a:buSzPct val="100000"/>
                  <a:buFont typeface="Arial"/>
                  <a:buNone/>
                </a:pPr>
                <a:endParaRPr lang="en-US" i="1" dirty="0">
                  <a:latin typeface="Cambria Math" panose="02040503050406030204" pitchFamily="18" charset="0"/>
                </a:endParaRPr>
              </a:p>
              <a:p>
                <a:pPr marL="0" indent="0">
                  <a:buSzPct val="100000"/>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𝜏</m:t>
                              </m:r>
                            </m:sub>
                          </m:sSub>
                          <m:r>
                            <a:rPr lang="en-US" i="1">
                              <a:latin typeface="Cambria Math" panose="02040503050406030204" pitchFamily="18" charset="0"/>
                            </a:rPr>
                            <m:t>(</m:t>
                          </m:r>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rPr>
                            <m:t>)</m:t>
                          </m:r>
                        </m:e>
                      </m:acc>
                      <m:r>
                        <a:rPr lang="en-US" i="1" dirty="0">
                          <a:latin typeface="Cambria Math" panose="02040503050406030204" pitchFamily="18" charset="0"/>
                        </a:rPr>
                        <m:t>=</m:t>
                      </m:r>
                      <m:acc>
                        <m:accPr>
                          <m:chr m:val="̂"/>
                          <m:ctrlPr>
                            <a:rPr lang="en-US" i="1" dirty="0">
                              <a:latin typeface="Cambria Math" panose="02040503050406030204" pitchFamily="18" charset="0"/>
                            </a:rPr>
                          </m:ctrlPr>
                        </m:accPr>
                        <m:e>
                          <m:sSub>
                            <m:sSubPr>
                              <m:ctrlPr>
                                <a:rPr lang="en-US" i="1" dirty="0">
                                  <a:latin typeface="Cambria Math" panose="02040503050406030204" pitchFamily="18" charset="0"/>
                                </a:rPr>
                              </m:ctrlPr>
                            </m:sSubPr>
                            <m:e>
                              <m:r>
                                <a:rPr lang="en-US" i="1">
                                  <a:latin typeface="Cambria Math" panose="02040503050406030204" pitchFamily="18" charset="0"/>
                                </a:rPr>
                                <m:t>𝛼</m:t>
                              </m:r>
                            </m:e>
                            <m:sub>
                              <m:r>
                                <a:rPr lang="en-US" i="1" dirty="0">
                                  <a:latin typeface="Cambria Math" panose="02040503050406030204" pitchFamily="18" charset="0"/>
                                </a:rPr>
                                <m:t>0</m:t>
                              </m:r>
                              <m:r>
                                <a:rPr lang="en-US" i="1" dirty="0" smtClean="0">
                                  <a:latin typeface="Cambria Math" panose="02040503050406030204" pitchFamily="18" charset="0"/>
                                </a:rPr>
                                <m:t>,</m:t>
                              </m:r>
                              <m:r>
                                <a:rPr lang="en-US" i="1" dirty="0" smtClean="0">
                                  <a:latin typeface="Cambria Math" panose="02040503050406030204" pitchFamily="18" charset="0"/>
                                </a:rPr>
                                <m:t>𝜏</m:t>
                              </m:r>
                            </m:sub>
                          </m:sSub>
                        </m:e>
                      </m:acc>
                      <m:r>
                        <a:rPr lang="en-US" i="1" dirty="0">
                          <a:latin typeface="Cambria Math" panose="02040503050406030204" pitchFamily="18" charset="0"/>
                        </a:rPr>
                        <m:t>+</m:t>
                      </m:r>
                      <m:acc>
                        <m:accPr>
                          <m:chr m:val="̂"/>
                          <m:ctrlPr>
                            <a:rPr lang="en-US" i="1" dirty="0">
                              <a:latin typeface="Cambria Math" panose="02040503050406030204" pitchFamily="18" charset="0"/>
                            </a:rPr>
                          </m:ctrlPr>
                        </m:accPr>
                        <m:e>
                          <m:sSub>
                            <m:sSubPr>
                              <m:ctrlPr>
                                <a:rPr lang="en-US" i="1" dirty="0">
                                  <a:latin typeface="Cambria Math" panose="02040503050406030204" pitchFamily="18" charset="0"/>
                                </a:rPr>
                              </m:ctrlPr>
                            </m:sSubPr>
                            <m:e>
                              <m:r>
                                <a:rPr lang="en-US" i="1">
                                  <a:latin typeface="Cambria Math" panose="02040503050406030204" pitchFamily="18" charset="0"/>
                                </a:rPr>
                                <m:t>𝛼</m:t>
                              </m:r>
                            </m:e>
                            <m:sub>
                              <m:r>
                                <a:rPr lang="en-US" i="1" dirty="0">
                                  <a:latin typeface="Cambria Math" panose="02040503050406030204" pitchFamily="18" charset="0"/>
                                </a:rPr>
                                <m:t>1</m:t>
                              </m:r>
                              <m:r>
                                <a:rPr lang="en-US" i="1" dirty="0" smtClean="0">
                                  <a:latin typeface="Cambria Math" panose="02040503050406030204" pitchFamily="18" charset="0"/>
                                </a:rPr>
                                <m:t>,</m:t>
                              </m:r>
                              <m:r>
                                <a:rPr lang="en-US" i="1" dirty="0" smtClean="0">
                                  <a:latin typeface="Cambria Math" panose="02040503050406030204" pitchFamily="18" charset="0"/>
                                </a:rPr>
                                <m:t>𝜏</m:t>
                              </m:r>
                            </m:sub>
                          </m:sSub>
                        </m:e>
                      </m:acc>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𝑖</m:t>
                          </m:r>
                        </m:sub>
                      </m:sSub>
                    </m:oMath>
                  </m:oMathPara>
                </a14:m>
                <a:endParaRPr lang="en-US" dirty="0"/>
              </a:p>
              <a:p>
                <a:pPr>
                  <a:buSzPct val="100000"/>
                </a:pPr>
                <a:endParaRPr lang="en-US" dirty="0"/>
              </a:p>
              <a:p>
                <a:pPr>
                  <a:buSzPct val="100000"/>
                </a:pPr>
                <a14:m>
                  <m:oMath xmlns:m="http://schemas.openxmlformats.org/officeDocument/2006/math">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i="1">
                                <a:latin typeface="Cambria Math" panose="02040503050406030204" pitchFamily="18" charset="0"/>
                              </a:rPr>
                              <m:t>𝛼</m:t>
                            </m:r>
                          </m:e>
                          <m:sub>
                            <m:r>
                              <a:rPr lang="en-US" i="1" smtClean="0">
                                <a:latin typeface="Cambria Math" panose="02040503050406030204" pitchFamily="18" charset="0"/>
                              </a:rPr>
                              <m:t>0,</m:t>
                            </m:r>
                            <m:r>
                              <a:rPr lang="en-US" i="1" smtClean="0">
                                <a:latin typeface="Cambria Math" panose="02040503050406030204" pitchFamily="18" charset="0"/>
                              </a:rPr>
                              <m:t>𝜏</m:t>
                            </m:r>
                          </m:sub>
                        </m:sSub>
                      </m:e>
                    </m:acc>
                  </m:oMath>
                </a14:m>
                <a:r>
                  <a:rPr lang="en-US" dirty="0"/>
                  <a:t> is the estimated </a:t>
                </a:r>
                <a14:m>
                  <m:oMath xmlns:m="http://schemas.openxmlformats.org/officeDocument/2006/math">
                    <m:sSup>
                      <m:sSupPr>
                        <m:ctrlPr>
                          <a:rPr lang="en-US" i="1" smtClean="0">
                            <a:solidFill>
                              <a:srgbClr val="FF9300"/>
                            </a:solidFill>
                            <a:latin typeface="Cambria Math" panose="02040503050406030204" pitchFamily="18" charset="0"/>
                          </a:rPr>
                        </m:ctrlPr>
                      </m:sSupPr>
                      <m:e>
                        <m:r>
                          <a:rPr lang="en-US" i="1" smtClean="0">
                            <a:solidFill>
                              <a:srgbClr val="FF9300"/>
                            </a:solidFill>
                            <a:latin typeface="Cambria Math" panose="02040503050406030204" pitchFamily="18" charset="0"/>
                          </a:rPr>
                          <m:t>𝜏</m:t>
                        </m:r>
                      </m:e>
                      <m:sup>
                        <m:r>
                          <a:rPr lang="en-US" i="1" smtClean="0">
                            <a:solidFill>
                              <a:srgbClr val="FF9300"/>
                            </a:solidFill>
                            <a:latin typeface="Cambria Math" panose="02040503050406030204" pitchFamily="18" charset="0"/>
                          </a:rPr>
                          <m:t>𝑡h</m:t>
                        </m:r>
                      </m:sup>
                    </m:sSup>
                  </m:oMath>
                </a14:m>
                <a:r>
                  <a:rPr lang="en-US" dirty="0">
                    <a:solidFill>
                      <a:srgbClr val="FF9300"/>
                    </a:solidFill>
                  </a:rPr>
                  <a:t> quantile of </a:t>
                </a:r>
                <a14:m>
                  <m:oMath xmlns:m="http://schemas.openxmlformats.org/officeDocument/2006/math">
                    <m:r>
                      <a:rPr lang="en-US" i="1" smtClean="0">
                        <a:solidFill>
                          <a:srgbClr val="FF9300"/>
                        </a:solidFill>
                        <a:latin typeface="Cambria Math" panose="02040503050406030204" pitchFamily="18" charset="0"/>
                      </a:rPr>
                      <m:t>𝑌</m:t>
                    </m:r>
                  </m:oMath>
                </a14:m>
                <a:r>
                  <a:rPr lang="en-US" dirty="0">
                    <a:solidFill>
                      <a:srgbClr val="FF9300"/>
                    </a:solidFill>
                  </a:rPr>
                  <a:t> when </a:t>
                </a:r>
                <a14:m>
                  <m:oMath xmlns:m="http://schemas.openxmlformats.org/officeDocument/2006/math">
                    <m:sSub>
                      <m:sSubPr>
                        <m:ctrlPr>
                          <a:rPr lang="en-US" i="1" smtClean="0">
                            <a:solidFill>
                              <a:srgbClr val="FF9300"/>
                            </a:solidFill>
                            <a:latin typeface="Cambria Math" panose="02040503050406030204" pitchFamily="18" charset="0"/>
                          </a:rPr>
                        </m:ctrlPr>
                      </m:sSubPr>
                      <m:e>
                        <m:r>
                          <a:rPr lang="en-US" i="1" smtClean="0">
                            <a:solidFill>
                              <a:srgbClr val="FF9300"/>
                            </a:solidFill>
                            <a:latin typeface="Cambria Math" panose="02040503050406030204" pitchFamily="18" charset="0"/>
                          </a:rPr>
                          <m:t>𝑥</m:t>
                        </m:r>
                      </m:e>
                      <m:sub>
                        <m:r>
                          <a:rPr lang="en-US" i="1" smtClean="0">
                            <a:solidFill>
                              <a:srgbClr val="FF9300"/>
                            </a:solidFill>
                            <a:latin typeface="Cambria Math" panose="02040503050406030204" pitchFamily="18" charset="0"/>
                          </a:rPr>
                          <m:t>𝑖</m:t>
                        </m:r>
                      </m:sub>
                    </m:sSub>
                    <m:r>
                      <a:rPr lang="en-US" i="1" smtClean="0">
                        <a:solidFill>
                          <a:srgbClr val="FF9300"/>
                        </a:solidFill>
                        <a:latin typeface="Cambria Math" panose="02040503050406030204" pitchFamily="18" charset="0"/>
                      </a:rPr>
                      <m:t>=0</m:t>
                    </m:r>
                  </m:oMath>
                </a14:m>
                <a:r>
                  <a:rPr lang="en-US" dirty="0">
                    <a:solidFill>
                      <a:srgbClr val="FF9300"/>
                    </a:solidFill>
                  </a:rPr>
                  <a:t> </a:t>
                </a:r>
                <a:r>
                  <a:rPr lang="en-US" dirty="0"/>
                  <a:t>(i.e., the </a:t>
                </a:r>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rPr>
                          <m:t>𝜏</m:t>
                        </m:r>
                      </m:e>
                      <m:sup>
                        <m:r>
                          <a:rPr lang="en-US" i="1" smtClean="0">
                            <a:latin typeface="Cambria Math" panose="02040503050406030204" pitchFamily="18" charset="0"/>
                          </a:rPr>
                          <m:t>𝑡h</m:t>
                        </m:r>
                      </m:sup>
                    </m:sSup>
                  </m:oMath>
                </a14:m>
                <a:r>
                  <a:rPr lang="en-US" dirty="0"/>
                  <a:t> quantile of the distribution </a:t>
                </a:r>
                <a14:m>
                  <m:oMath xmlns:m="http://schemas.openxmlformats.org/officeDocument/2006/math">
                    <m:r>
                      <a:rPr lang="en-US" i="1" smtClean="0">
                        <a:latin typeface="Cambria Math" panose="02040503050406030204" pitchFamily="18" charset="0"/>
                      </a:rPr>
                      <m:t>𝑌</m:t>
                    </m:r>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𝑥</m:t>
                        </m:r>
                      </m:e>
                      <m:sub>
                        <m:r>
                          <a:rPr lang="en-US" i="1" smtClean="0">
                            <a:latin typeface="Cambria Math" panose="02040503050406030204" pitchFamily="18" charset="0"/>
                          </a:rPr>
                          <m:t>𝑖</m:t>
                        </m:r>
                      </m:sub>
                    </m:sSub>
                    <m:r>
                      <a:rPr lang="en-US" i="1" smtClean="0">
                        <a:latin typeface="Cambria Math" panose="02040503050406030204" pitchFamily="18" charset="0"/>
                      </a:rPr>
                      <m:t>=0</m:t>
                    </m:r>
                  </m:oMath>
                </a14:m>
                <a:r>
                  <a:rPr lang="en-US" dirty="0"/>
                  <a:t>)</a:t>
                </a:r>
              </a:p>
              <a:p>
                <a:pPr marL="0" indent="0">
                  <a:buSzPct val="100000"/>
                  <a:buFont typeface="Arial"/>
                  <a:buNone/>
                </a:pPr>
                <a:endParaRPr lang="en-US" dirty="0"/>
              </a:p>
              <a:p>
                <a:pPr>
                  <a:buSzPct val="100000"/>
                </a:pPr>
                <a14:m>
                  <m:oMath xmlns:m="http://schemas.openxmlformats.org/officeDocument/2006/math">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i="1">
                                <a:latin typeface="Cambria Math" panose="02040503050406030204" pitchFamily="18" charset="0"/>
                              </a:rPr>
                              <m:t>𝛼</m:t>
                            </m:r>
                          </m:e>
                          <m:sub>
                            <m:r>
                              <a:rPr lang="en-US" i="1" smtClean="0">
                                <a:latin typeface="Cambria Math" panose="02040503050406030204" pitchFamily="18" charset="0"/>
                              </a:rPr>
                              <m:t>1,</m:t>
                            </m:r>
                            <m:r>
                              <a:rPr lang="en-US" i="1" smtClean="0">
                                <a:latin typeface="Cambria Math" panose="02040503050406030204" pitchFamily="18" charset="0"/>
                              </a:rPr>
                              <m:t>𝜏</m:t>
                            </m:r>
                          </m:sub>
                        </m:sSub>
                      </m:e>
                    </m:acc>
                  </m:oMath>
                </a14:m>
                <a:r>
                  <a:rPr lang="en-US" dirty="0"/>
                  <a:t> is the estimated change in the </a:t>
                </a:r>
                <a14:m>
                  <m:oMath xmlns:m="http://schemas.openxmlformats.org/officeDocument/2006/math">
                    <m:sSup>
                      <m:sSupPr>
                        <m:ctrlPr>
                          <a:rPr lang="en-US" i="1">
                            <a:solidFill>
                              <a:srgbClr val="FF9300"/>
                            </a:solidFill>
                            <a:latin typeface="Cambria Math" panose="02040503050406030204" pitchFamily="18" charset="0"/>
                          </a:rPr>
                        </m:ctrlPr>
                      </m:sSupPr>
                      <m:e>
                        <m:r>
                          <a:rPr lang="en-US" i="1">
                            <a:solidFill>
                              <a:srgbClr val="FF9300"/>
                            </a:solidFill>
                            <a:latin typeface="Cambria Math" panose="02040503050406030204" pitchFamily="18" charset="0"/>
                          </a:rPr>
                          <m:t>𝜏</m:t>
                        </m:r>
                      </m:e>
                      <m:sup>
                        <m:r>
                          <a:rPr lang="en-US" i="1">
                            <a:solidFill>
                              <a:srgbClr val="FF9300"/>
                            </a:solidFill>
                            <a:latin typeface="Cambria Math" panose="02040503050406030204" pitchFamily="18" charset="0"/>
                          </a:rPr>
                          <m:t>𝑡h</m:t>
                        </m:r>
                      </m:sup>
                    </m:sSup>
                  </m:oMath>
                </a14:m>
                <a:r>
                  <a:rPr lang="en-US" dirty="0">
                    <a:solidFill>
                      <a:srgbClr val="FF9300"/>
                    </a:solidFill>
                  </a:rPr>
                  <a:t> quantile of the conditional distribution of </a:t>
                </a:r>
                <a14:m>
                  <m:oMath xmlns:m="http://schemas.openxmlformats.org/officeDocument/2006/math">
                    <m:r>
                      <a:rPr lang="en-US" i="1" smtClean="0">
                        <a:solidFill>
                          <a:srgbClr val="FF9300"/>
                        </a:solidFill>
                        <a:latin typeface="Cambria Math" panose="02040503050406030204" pitchFamily="18" charset="0"/>
                      </a:rPr>
                      <m:t>𝑌</m:t>
                    </m:r>
                  </m:oMath>
                </a14:m>
                <a:r>
                  <a:rPr lang="en-US" dirty="0"/>
                  <a:t> for a one-unit change in </a:t>
                </a:r>
                <a14:m>
                  <m:oMath xmlns:m="http://schemas.openxmlformats.org/officeDocument/2006/math">
                    <m:r>
                      <a:rPr lang="en-US" i="1" smtClean="0">
                        <a:latin typeface="Cambria Math" panose="02040503050406030204" pitchFamily="18" charset="0"/>
                      </a:rPr>
                      <m:t>𝑋</m:t>
                    </m:r>
                  </m:oMath>
                </a14:m>
                <a:endParaRPr lang="en-US" dirty="0"/>
              </a:p>
              <a:p>
                <a:pPr lvl="1">
                  <a:buSzPct val="100000"/>
                </a:pPr>
                <a:r>
                  <a:rPr lang="en-US" dirty="0"/>
                  <a:t>If </a:t>
                </a:r>
                <a14:m>
                  <m:oMath xmlns:m="http://schemas.openxmlformats.org/officeDocument/2006/math">
                    <m:r>
                      <a:rPr lang="en-US" i="1">
                        <a:latin typeface="Cambria Math" panose="02040503050406030204" pitchFamily="18" charset="0"/>
                      </a:rPr>
                      <m:t>𝑋</m:t>
                    </m:r>
                    <m:r>
                      <a:rPr lang="en-US" i="1" smtClean="0">
                        <a:latin typeface="Cambria Math" panose="02040503050406030204" pitchFamily="18" charset="0"/>
                      </a:rPr>
                      <m:t>={0,1}</m:t>
                    </m:r>
                  </m:oMath>
                </a14:m>
                <a:r>
                  <a:rPr lang="en-US" dirty="0"/>
                  <a:t>, then </a:t>
                </a: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1,</m:t>
                            </m:r>
                            <m:r>
                              <a:rPr lang="en-US" i="1">
                                <a:latin typeface="Cambria Math" panose="02040503050406030204" pitchFamily="18" charset="0"/>
                              </a:rPr>
                              <m:t>𝜏</m:t>
                            </m:r>
                          </m:sub>
                        </m:sSub>
                      </m:e>
                    </m:acc>
                  </m:oMath>
                </a14:m>
                <a:r>
                  <a:rPr lang="en-US" dirty="0"/>
                  <a:t> is the estimated difference in the </a:t>
                </a:r>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rPr>
                          <m:t>𝜏</m:t>
                        </m:r>
                      </m:e>
                      <m:sup>
                        <m:r>
                          <a:rPr lang="en-US" i="1" smtClean="0">
                            <a:latin typeface="Cambria Math" panose="02040503050406030204" pitchFamily="18" charset="0"/>
                          </a:rPr>
                          <m:t>𝑡h</m:t>
                        </m:r>
                      </m:sup>
                    </m:sSup>
                  </m:oMath>
                </a14:m>
                <a:r>
                  <a:rPr lang="en-US" dirty="0"/>
                  <a:t> quantile of </a:t>
                </a:r>
                <a14:m>
                  <m:oMath xmlns:m="http://schemas.openxmlformats.org/officeDocument/2006/math">
                    <m:r>
                      <a:rPr lang="en-US" i="1" smtClean="0">
                        <a:latin typeface="Cambria Math" panose="02040503050406030204" pitchFamily="18" charset="0"/>
                      </a:rPr>
                      <m:t>𝑌</m:t>
                    </m:r>
                  </m:oMath>
                </a14:m>
                <a:r>
                  <a:rPr lang="en-US" dirty="0"/>
                  <a:t> when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𝑥</m:t>
                        </m:r>
                      </m:e>
                      <m:sub>
                        <m:r>
                          <a:rPr lang="en-US" i="1" smtClean="0">
                            <a:latin typeface="Cambria Math" panose="02040503050406030204" pitchFamily="18" charset="0"/>
                          </a:rPr>
                          <m:t>𝑖</m:t>
                        </m:r>
                      </m:sub>
                    </m:sSub>
                    <m:r>
                      <a:rPr lang="en-US" i="1" smtClean="0">
                        <a:latin typeface="Cambria Math" panose="02040503050406030204" pitchFamily="18" charset="0"/>
                      </a:rPr>
                      <m:t>=1</m:t>
                    </m:r>
                  </m:oMath>
                </a14:m>
                <a:r>
                  <a:rPr lang="en-US" dirty="0"/>
                  <a:t> and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𝑥</m:t>
                        </m:r>
                      </m:e>
                      <m:sub>
                        <m:r>
                          <a:rPr lang="en-US" i="1" smtClean="0">
                            <a:latin typeface="Cambria Math" panose="02040503050406030204" pitchFamily="18" charset="0"/>
                          </a:rPr>
                          <m:t>𝑖</m:t>
                        </m:r>
                      </m:sub>
                    </m:sSub>
                    <m:r>
                      <a:rPr lang="en-US" i="1" smtClean="0">
                        <a:latin typeface="Cambria Math" panose="02040503050406030204" pitchFamily="18" charset="0"/>
                      </a:rPr>
                      <m:t>=0</m:t>
                    </m:r>
                  </m:oMath>
                </a14:m>
                <a:endParaRPr lang="en-US" dirty="0"/>
              </a:p>
            </p:txBody>
          </p:sp>
        </mc:Choice>
        <mc:Fallback xmlns="">
          <p:sp>
            <p:nvSpPr>
              <p:cNvPr id="4" name="Content Placeholder 2">
                <a:extLst>
                  <a:ext uri="{FF2B5EF4-FFF2-40B4-BE49-F238E27FC236}">
                    <a16:creationId xmlns:a16="http://schemas.microsoft.com/office/drawing/2014/main" id="{EA86A314-17BA-8E8A-3E97-E91E9BB54B1F}"/>
                  </a:ext>
                </a:extLst>
              </p:cNvPr>
              <p:cNvSpPr txBox="1">
                <a:spLocks noRot="1" noChangeAspect="1" noMove="1" noResize="1" noEditPoints="1" noAdjustHandles="1" noChangeArrowheads="1" noChangeShapeType="1" noTextEdit="1"/>
              </p:cNvSpPr>
              <p:nvPr/>
            </p:nvSpPr>
            <p:spPr>
              <a:xfrm>
                <a:off x="838200" y="1825625"/>
                <a:ext cx="10515600" cy="4667250"/>
              </a:xfrm>
              <a:prstGeom prst="rect">
                <a:avLst/>
              </a:prstGeom>
              <a:blipFill>
                <a:blip r:embed="rId3"/>
                <a:stretch>
                  <a:fillRect r="-241" b="-1626"/>
                </a:stretch>
              </a:blipFill>
              <a:ln>
                <a:noFill/>
              </a:ln>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118"/>
          <p:cNvSpPr txBox="1">
            <a:spLocks noGrp="1"/>
          </p:cNvSpPr>
          <p:nvPr>
            <p:ph type="title"/>
          </p:nvPr>
        </p:nvSpPr>
        <p:spPr>
          <a:xfrm>
            <a:off x="838200" y="2917031"/>
            <a:ext cx="10515600" cy="2852737"/>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rgbClr val="F2494C"/>
              </a:buClr>
              <a:buSzPct val="100000"/>
              <a:buFont typeface="Arial"/>
              <a:buNone/>
            </a:pPr>
            <a:r>
              <a:rPr lang="en-US" b="1">
                <a:solidFill>
                  <a:srgbClr val="F2494C"/>
                </a:solidFill>
              </a:rPr>
              <a:t>Just as linear regression models the conditional expectation function, conditional quantile regression models the conditional quantile function</a:t>
            </a:r>
            <a:endParaRPr/>
          </a:p>
        </p:txBody>
      </p:sp>
      <p:sp>
        <p:nvSpPr>
          <p:cNvPr id="346" name="Google Shape;346;p1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sp>
        <p:nvSpPr>
          <p:cNvPr id="347" name="Google Shape;347;p118"/>
          <p:cNvSpPr/>
          <p:nvPr/>
        </p:nvSpPr>
        <p:spPr>
          <a:xfrm>
            <a:off x="11307535" y="157655"/>
            <a:ext cx="669470" cy="654269"/>
          </a:xfrm>
          <a:prstGeom prst="star5">
            <a:avLst>
              <a:gd name="adj" fmla="val 19098"/>
              <a:gd name="hf" fmla="val 105146"/>
              <a:gd name="vf" fmla="val 110557"/>
            </a:avLst>
          </a:prstGeom>
          <a:solidFill>
            <a:srgbClr val="FF9300"/>
          </a:solidFill>
          <a:ln w="12700" cap="flat" cmpd="sng">
            <a:solidFill>
              <a:srgbClr val="FF93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8" name="Google Shape;288;g2b790785aef_0_14"/>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46</a:t>
            </a:fld>
            <a:endParaRPr/>
          </a:p>
        </p:txBody>
      </p:sp>
      <p:pic>
        <p:nvPicPr>
          <p:cNvPr id="4" name="Picture 3">
            <a:extLst>
              <a:ext uri="{FF2B5EF4-FFF2-40B4-BE49-F238E27FC236}">
                <a16:creationId xmlns:a16="http://schemas.microsoft.com/office/drawing/2014/main" id="{E738AF95-7D8D-7452-3B53-DB8F60706006}"/>
              </a:ext>
            </a:extLst>
          </p:cNvPr>
          <p:cNvPicPr>
            <a:picLocks noChangeAspect="1"/>
          </p:cNvPicPr>
          <p:nvPr/>
        </p:nvPicPr>
        <p:blipFill>
          <a:blip r:embed="rId3"/>
          <a:stretch>
            <a:fillRect/>
          </a:stretch>
        </p:blipFill>
        <p:spPr>
          <a:xfrm>
            <a:off x="2209800" y="838200"/>
            <a:ext cx="7772400" cy="5181600"/>
          </a:xfrm>
          <a:prstGeom prst="rect">
            <a:avLst/>
          </a:prstGeom>
        </p:spPr>
      </p:pic>
    </p:spTree>
    <p:extLst>
      <p:ext uri="{BB962C8B-B14F-4D97-AF65-F5344CB8AC3E}">
        <p14:creationId xmlns:p14="http://schemas.microsoft.com/office/powerpoint/2010/main" val="18854065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Shape 369"/>
        <p:cNvGrpSpPr/>
        <p:nvPr/>
      </p:nvGrpSpPr>
      <p:grpSpPr>
        <a:xfrm>
          <a:off x="0" y="0"/>
          <a:ext cx="0" cy="0"/>
          <a:chOff x="0" y="0"/>
          <a:chExt cx="0" cy="0"/>
        </a:xfrm>
      </p:grpSpPr>
      <p:sp>
        <p:nvSpPr>
          <p:cNvPr id="370" name="Google Shape;370;p132"/>
          <p:cNvSpPr txBox="1">
            <a:spLocks noGrp="1"/>
          </p:cNvSpPr>
          <p:nvPr>
            <p:ph type="title"/>
          </p:nvPr>
        </p:nvSpPr>
        <p:spPr>
          <a:xfrm>
            <a:off x="838199" y="365125"/>
            <a:ext cx="10794357"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Regression lines ≈ Conditional functions </a:t>
            </a:r>
            <a:endParaRPr dirty="0"/>
          </a:p>
        </p:txBody>
      </p:sp>
      <p:sp>
        <p:nvSpPr>
          <p:cNvPr id="372" name="Google Shape;372;p1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4B10F104-802E-2FF3-E8CC-6F5D5D3A4672}"/>
                  </a:ext>
                </a:extLst>
              </p:cNvPr>
              <p:cNvSpPr txBox="1">
                <a:spLocks/>
              </p:cNvSpPr>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a:buSzPct val="100000"/>
                </a:pPr>
                <a:r>
                  <a:rPr lang="en-US" dirty="0"/>
                  <a:t>Recall that the population linear regression line is a model of the CEF for the mean</a:t>
                </a:r>
              </a:p>
              <a:p>
                <a:pPr marL="0" indent="0">
                  <a:buSzPct val="100000"/>
                  <a:buFont typeface="Arial"/>
                  <a:buNone/>
                </a:pPr>
                <a:endParaRPr lang="en-US" dirty="0"/>
              </a:p>
              <a:p>
                <a:pPr marL="0" indent="0">
                  <a:buSzPct val="100000"/>
                  <a:buFont typeface="Arial"/>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m:t>
                      </m:r>
                      <m:r>
                        <a:rPr lang="en-US" i="1" smtClean="0">
                          <a:latin typeface="Cambria Math" panose="02040503050406030204" pitchFamily="18" charset="0"/>
                        </a:rPr>
                        <m:t>𝑌</m:t>
                      </m:r>
                      <m:r>
                        <a:rPr lang="en-US" i="1" smtClean="0">
                          <a:latin typeface="Cambria Math" panose="02040503050406030204" pitchFamily="18" charset="0"/>
                        </a:rPr>
                        <m:t>|</m:t>
                      </m:r>
                      <m:r>
                        <a:rPr lang="en-US" i="1" smtClean="0">
                          <a:latin typeface="Cambria Math" panose="02040503050406030204" pitchFamily="18" charset="0"/>
                        </a:rPr>
                        <m:t>𝑋</m:t>
                      </m:r>
                      <m:r>
                        <a:rPr lang="en-US" b="0" i="1" smtClean="0">
                          <a:latin typeface="Cambria Math" panose="02040503050406030204" pitchFamily="18" charset="0"/>
                        </a:rPr>
                        <m:t>]</m:t>
                      </m:r>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𝛽</m:t>
                          </m:r>
                        </m:e>
                        <m:sub>
                          <m:r>
                            <a:rPr lang="en-US" i="1" smtClean="0">
                              <a:latin typeface="Cambria Math" panose="02040503050406030204" pitchFamily="18" charset="0"/>
                            </a:rPr>
                            <m:t>0</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𝛽</m:t>
                          </m:r>
                        </m:e>
                        <m:sub>
                          <m:r>
                            <a:rPr lang="en-US" i="1" smtClean="0">
                              <a:latin typeface="Cambria Math" panose="02040503050406030204" pitchFamily="18" charset="0"/>
                            </a:rPr>
                            <m:t>1</m:t>
                          </m:r>
                        </m:sub>
                      </m:sSub>
                      <m:sSub>
                        <m:sSubPr>
                          <m:ctrlPr>
                            <a:rPr lang="en-US" i="1" smtClean="0">
                              <a:latin typeface="Cambria Math" panose="02040503050406030204" pitchFamily="18" charset="0"/>
                            </a:rPr>
                          </m:ctrlPr>
                        </m:sSubPr>
                        <m:e>
                          <m:r>
                            <a:rPr lang="en-US" i="1" smtClean="0">
                              <a:latin typeface="Cambria Math" panose="02040503050406030204" pitchFamily="18" charset="0"/>
                            </a:rPr>
                            <m:t>𝑥</m:t>
                          </m:r>
                        </m:e>
                        <m:sub>
                          <m:r>
                            <a:rPr lang="en-US" i="1" smtClean="0">
                              <a:latin typeface="Cambria Math" panose="02040503050406030204" pitchFamily="18" charset="0"/>
                            </a:rPr>
                            <m:t>𝑖</m:t>
                          </m:r>
                        </m:sub>
                      </m:sSub>
                    </m:oMath>
                  </m:oMathPara>
                </a14:m>
                <a:endParaRPr lang="en-US" dirty="0"/>
              </a:p>
              <a:p>
                <a:pPr marL="0" indent="0">
                  <a:buSzPct val="100000"/>
                  <a:buFont typeface="Arial"/>
                  <a:buNone/>
                </a:pPr>
                <a:endParaRPr lang="en-US" dirty="0"/>
              </a:p>
              <a:p>
                <a:pPr>
                  <a:buSzPct val="100000"/>
                </a:pPr>
                <a:r>
                  <a:rPr lang="en-US" dirty="0"/>
                  <a:t>And that the population conditional quantile regression line is a model of the CQF for the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𝜏</m:t>
                        </m:r>
                      </m:e>
                      <m:sup>
                        <m:r>
                          <a:rPr lang="en-US" i="1">
                            <a:latin typeface="Cambria Math" panose="02040503050406030204" pitchFamily="18" charset="0"/>
                          </a:rPr>
                          <m:t>𝑡h</m:t>
                        </m:r>
                      </m:sup>
                    </m:sSup>
                  </m:oMath>
                </a14:m>
                <a:r>
                  <a:rPr lang="en-US" dirty="0"/>
                  <a:t> quantile, where </a:t>
                </a:r>
                <a14:m>
                  <m:oMath xmlns:m="http://schemas.openxmlformats.org/officeDocument/2006/math">
                    <m:r>
                      <a:rPr lang="en-US" i="1">
                        <a:latin typeface="Cambria Math" panose="02040503050406030204" pitchFamily="18" charset="0"/>
                      </a:rPr>
                      <m:t>𝜏</m:t>
                    </m:r>
                    <m:r>
                      <a:rPr lang="en-US" i="1">
                        <a:latin typeface="Cambria Math" panose="02040503050406030204" pitchFamily="18" charset="0"/>
                      </a:rPr>
                      <m:t>∈(0,1)</m:t>
                    </m:r>
                  </m:oMath>
                </a14:m>
                <a:endParaRPr lang="en-US" dirty="0"/>
              </a:p>
              <a:p>
                <a:pPr marL="0" indent="0">
                  <a:buSzPct val="100000"/>
                  <a:buNone/>
                </a:pPr>
                <a:endParaRPr lang="en-US" dirty="0"/>
              </a:p>
              <a:p>
                <a:pPr marL="0" indent="0">
                  <a:buSzPct val="10000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𝜏</m:t>
                          </m:r>
                        </m:sub>
                      </m:sSub>
                      <m:r>
                        <a:rPr lang="en-US" b="0" i="1" smtClean="0">
                          <a:latin typeface="Cambria Math" panose="02040503050406030204" pitchFamily="18" charset="0"/>
                        </a:rPr>
                        <m:t>(</m:t>
                      </m:r>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𝑋</m:t>
                      </m:r>
                      <m:r>
                        <a:rPr lang="en-US" b="0" i="1" smtClean="0">
                          <a:latin typeface="Cambria Math" panose="02040503050406030204" pitchFamily="18" charset="0"/>
                        </a:rPr>
                        <m:t>)</m:t>
                      </m:r>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𝛼</m:t>
                          </m:r>
                        </m:e>
                        <m:sub>
                          <m:r>
                            <a:rPr lang="en-US" i="1">
                              <a:latin typeface="Cambria Math" panose="02040503050406030204" pitchFamily="18" charset="0"/>
                            </a:rPr>
                            <m:t>0,</m:t>
                          </m:r>
                          <m:r>
                            <a:rPr lang="en-US" i="1">
                              <a:latin typeface="Cambria Math" panose="02040503050406030204" pitchFamily="18" charset="0"/>
                            </a:rPr>
                            <m:t>𝜏</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𝛼</m:t>
                          </m:r>
                        </m:e>
                        <m:sub>
                          <m:r>
                            <a:rPr lang="en-US" i="1">
                              <a:latin typeface="Cambria Math" panose="02040503050406030204" pitchFamily="18" charset="0"/>
                            </a:rPr>
                            <m:t>1,</m:t>
                          </m:r>
                          <m:r>
                            <a:rPr lang="en-US" i="1">
                              <a:latin typeface="Cambria Math" panose="02040503050406030204" pitchFamily="18" charset="0"/>
                            </a:rPr>
                            <m:t>𝜏</m:t>
                          </m:r>
                        </m:sub>
                      </m:sSub>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oMath>
                  </m:oMathPara>
                </a14:m>
                <a:endParaRPr lang="en-US" dirty="0"/>
              </a:p>
              <a:p>
                <a:pPr marL="0" indent="0">
                  <a:buSzPct val="100000"/>
                  <a:buFont typeface="Arial"/>
                  <a:buNone/>
                </a:pPr>
                <a:endParaRPr lang="en-US" dirty="0"/>
              </a:p>
            </p:txBody>
          </p:sp>
        </mc:Choice>
        <mc:Fallback xmlns="">
          <p:sp>
            <p:nvSpPr>
              <p:cNvPr id="5" name="Content Placeholder 2">
                <a:extLst>
                  <a:ext uri="{FF2B5EF4-FFF2-40B4-BE49-F238E27FC236}">
                    <a16:creationId xmlns:a16="http://schemas.microsoft.com/office/drawing/2014/main" id="{4B10F104-802E-2FF3-E8CC-6F5D5D3A4672}"/>
                  </a:ext>
                </a:extLst>
              </p:cNvPr>
              <p:cNvSpPr txBox="1">
                <a:spLocks noRot="1" noChangeAspect="1" noMove="1" noResize="1" noEditPoints="1" noAdjustHandles="1" noChangeArrowheads="1" noChangeShapeType="1" noTextEdit="1"/>
              </p:cNvSpPr>
              <p:nvPr/>
            </p:nvSpPr>
            <p:spPr>
              <a:xfrm>
                <a:off x="838200" y="1825625"/>
                <a:ext cx="10515600" cy="4351338"/>
              </a:xfrm>
              <a:prstGeom prst="rect">
                <a:avLst/>
              </a:prstGeom>
              <a:blipFill>
                <a:blip r:embed="rId3"/>
                <a:stretch>
                  <a:fillRect/>
                </a:stretch>
              </a:blipFill>
              <a:ln>
                <a:noFill/>
              </a:ln>
            </p:spPr>
            <p:txBody>
              <a:bodyPr/>
              <a:lstStyle/>
              <a:p>
                <a:r>
                  <a:rPr lang="en-US">
                    <a:noFill/>
                  </a:rPr>
                  <a:t> </a:t>
                </a:r>
              </a:p>
            </p:txBody>
          </p:sp>
        </mc:Fallback>
      </mc:AlternateContent>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6C8E9-87A0-6492-239E-51EB8D90E9FD}"/>
              </a:ext>
            </a:extLst>
          </p:cNvPr>
          <p:cNvSpPr>
            <a:spLocks noGrp="1"/>
          </p:cNvSpPr>
          <p:nvPr>
            <p:ph type="title"/>
          </p:nvPr>
        </p:nvSpPr>
        <p:spPr/>
        <p:txBody>
          <a:bodyPr/>
          <a:lstStyle/>
          <a:p>
            <a:r>
              <a:rPr lang="en-US" b="1" dirty="0">
                <a:solidFill>
                  <a:srgbClr val="468C8A"/>
                </a:solidFill>
              </a:rPr>
              <a:t>Coefficients of the population linear regression line</a:t>
            </a:r>
            <a:endParaRPr lang="en-US" dirty="0"/>
          </a:p>
        </p:txBody>
      </p:sp>
      <p:sp>
        <p:nvSpPr>
          <p:cNvPr id="3" name="Content Placeholder 2">
            <a:extLst>
              <a:ext uri="{FF2B5EF4-FFF2-40B4-BE49-F238E27FC236}">
                <a16:creationId xmlns:a16="http://schemas.microsoft.com/office/drawing/2014/main" id="{E9DD747C-72D1-7438-05EE-2BCD9730A908}"/>
              </a:ext>
            </a:extLst>
          </p:cNvPr>
          <p:cNvSpPr>
            <a:spLocks noGrp="1"/>
          </p:cNvSpPr>
          <p:nvPr>
            <p:ph idx="1"/>
          </p:nvPr>
        </p:nvSpPr>
        <p:spPr>
          <a:xfrm>
            <a:off x="838200" y="1825625"/>
            <a:ext cx="10515600" cy="1450975"/>
          </a:xfrm>
        </p:spPr>
        <p:txBody>
          <a:bodyPr>
            <a:normAutofit/>
          </a:bodyPr>
          <a:lstStyle/>
          <a:p>
            <a:pPr>
              <a:lnSpc>
                <a:spcPct val="120000"/>
              </a:lnSpc>
              <a:buSzPct val="100000"/>
            </a:pPr>
            <a:r>
              <a:rPr lang="en-US" dirty="0"/>
              <a:t>We can calculate the coefficients of the population linear regression line by </a:t>
            </a:r>
            <a:r>
              <a:rPr lang="en-US" dirty="0">
                <a:solidFill>
                  <a:srgbClr val="FF9300"/>
                </a:solidFill>
              </a:rPr>
              <a:t>minimizing the sum of squared errors</a:t>
            </a:r>
          </a:p>
          <a:p>
            <a:pPr marL="0" indent="0">
              <a:buSzPct val="100000"/>
              <a:buNone/>
            </a:pPr>
            <a:endParaRPr lang="en-US" sz="1200" dirty="0"/>
          </a:p>
          <a:p>
            <a:pPr marL="0" indent="0">
              <a:buSzPct val="100000"/>
              <a:buNone/>
            </a:pPr>
            <a:endParaRPr lang="en-US" dirty="0"/>
          </a:p>
          <a:p>
            <a:pPr marL="114300" indent="0">
              <a:buSzPct val="100000"/>
              <a:buNone/>
            </a:pPr>
            <a:endParaRPr lang="en-US" dirty="0"/>
          </a:p>
        </p:txBody>
      </p:sp>
      <p:sp>
        <p:nvSpPr>
          <p:cNvPr id="4" name="Slide Number Placeholder 3">
            <a:extLst>
              <a:ext uri="{FF2B5EF4-FFF2-40B4-BE49-F238E27FC236}">
                <a16:creationId xmlns:a16="http://schemas.microsoft.com/office/drawing/2014/main" id="{46BDF341-BE4D-1DAC-4DC1-52E7EAAA65AE}"/>
              </a:ext>
            </a:extLst>
          </p:cNvPr>
          <p:cNvSpPr>
            <a:spLocks noGrp="1"/>
          </p:cNvSpPr>
          <p:nvPr>
            <p:ph type="sldNum" sz="quarter" idx="12"/>
          </p:nvPr>
        </p:nvSpPr>
        <p:spPr/>
        <p:txBody>
          <a:bodyPr/>
          <a:lstStyle/>
          <a:p>
            <a:fld id="{59AE00EF-AE84-4193-80D9-56955F3C2EE7}" type="slidenum">
              <a:rPr lang="en-US" smtClean="0"/>
              <a:t>48</a:t>
            </a:fld>
            <a:endParaRPr lang="en-US"/>
          </a:p>
        </p:txBody>
      </p:sp>
      <p:grpSp>
        <p:nvGrpSpPr>
          <p:cNvPr id="8" name="Group 7">
            <a:extLst>
              <a:ext uri="{FF2B5EF4-FFF2-40B4-BE49-F238E27FC236}">
                <a16:creationId xmlns:a16="http://schemas.microsoft.com/office/drawing/2014/main" id="{1EA8FB4D-A798-1874-BE26-FB368094ABF4}"/>
              </a:ext>
            </a:extLst>
          </p:cNvPr>
          <p:cNvGrpSpPr/>
          <p:nvPr/>
        </p:nvGrpSpPr>
        <p:grpSpPr>
          <a:xfrm>
            <a:off x="381000" y="3090069"/>
            <a:ext cx="5951156" cy="3452812"/>
            <a:chOff x="1059244" y="1690688"/>
            <a:chExt cx="7772400" cy="4706746"/>
          </a:xfrm>
        </p:grpSpPr>
        <p:pic>
          <p:nvPicPr>
            <p:cNvPr id="6" name="Picture 5" descr="A graph of black and orange lines&#10;&#10;AI-generated content may be incorrect.">
              <a:extLst>
                <a:ext uri="{FF2B5EF4-FFF2-40B4-BE49-F238E27FC236}">
                  <a16:creationId xmlns:a16="http://schemas.microsoft.com/office/drawing/2014/main" id="{61FC7135-87E8-EEFB-3775-1848A4355A08}"/>
                </a:ext>
              </a:extLst>
            </p:cNvPr>
            <p:cNvPicPr>
              <a:picLocks noChangeAspect="1"/>
            </p:cNvPicPr>
            <p:nvPr/>
          </p:nvPicPr>
          <p:blipFill>
            <a:blip r:embed="rId3"/>
            <a:stretch>
              <a:fillRect/>
            </a:stretch>
          </p:blipFill>
          <p:spPr>
            <a:xfrm>
              <a:off x="1059244" y="1690688"/>
              <a:ext cx="7772400" cy="4706746"/>
            </a:xfrm>
            <a:prstGeom prst="rect">
              <a:avLst/>
            </a:prstGeom>
          </p:spPr>
        </p:pic>
        <p:sp>
          <p:nvSpPr>
            <p:cNvPr id="7" name="Google Shape;493;p30">
              <a:extLst>
                <a:ext uri="{FF2B5EF4-FFF2-40B4-BE49-F238E27FC236}">
                  <a16:creationId xmlns:a16="http://schemas.microsoft.com/office/drawing/2014/main" id="{06F8948A-EEE7-5E0D-9A19-4671DE8B4F9D}"/>
                </a:ext>
              </a:extLst>
            </p:cNvPr>
            <p:cNvSpPr/>
            <p:nvPr/>
          </p:nvSpPr>
          <p:spPr>
            <a:xfrm>
              <a:off x="5611698" y="2409833"/>
              <a:ext cx="685411" cy="1772395"/>
            </a:xfrm>
            <a:prstGeom prst="leftBrace">
              <a:avLst>
                <a:gd name="adj1" fmla="val 8333"/>
                <a:gd name="adj2" fmla="val 50000"/>
              </a:avLst>
            </a:prstGeom>
            <a:noFill/>
            <a:ln w="38100" cap="flat" cmpd="sng">
              <a:solidFill>
                <a:srgbClr val="F2494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A01E161-0B33-9813-8868-5911B7BBE2BA}"/>
                  </a:ext>
                </a:extLst>
              </p:cNvPr>
              <p:cNvSpPr txBox="1"/>
              <p:nvPr/>
            </p:nvSpPr>
            <p:spPr>
              <a:xfrm>
                <a:off x="6855966" y="3678729"/>
                <a:ext cx="4497834" cy="218341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sz="2800" i="1" smtClean="0">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𝛽</m:t>
                              </m:r>
                            </m:e>
                            <m:sub>
                              <m:r>
                                <a:rPr lang="en-US" sz="2800" i="1">
                                  <a:latin typeface="Cambria Math" panose="02040503050406030204" pitchFamily="18" charset="0"/>
                                </a:rPr>
                                <m:t>0</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𝛽</m:t>
                              </m:r>
                            </m:e>
                            <m:sub>
                              <m:r>
                                <a:rPr lang="en-US" sz="2800" i="1">
                                  <a:latin typeface="Cambria Math" panose="02040503050406030204" pitchFamily="18" charset="0"/>
                                </a:rPr>
                                <m:t>1</m:t>
                              </m:r>
                            </m:sub>
                          </m:sSub>
                        </m:e>
                      </m:d>
                      <m:r>
                        <a:rPr lang="en-US" sz="2800" i="1">
                          <a:latin typeface="Cambria Math" panose="02040503050406030204" pitchFamily="18" charset="0"/>
                        </a:rPr>
                        <m:t>=</m:t>
                      </m:r>
                      <m:func>
                        <m:funcPr>
                          <m:ctrlPr>
                            <a:rPr lang="en-US" sz="2800" i="1">
                              <a:latin typeface="Cambria Math" panose="02040503050406030204" pitchFamily="18" charset="0"/>
                            </a:rPr>
                          </m:ctrlPr>
                        </m:funcPr>
                        <m:fName>
                          <m:limLow>
                            <m:limLowPr>
                              <m:ctrlPr>
                                <a:rPr lang="en-US" sz="2800" i="1">
                                  <a:latin typeface="Cambria Math" panose="02040503050406030204" pitchFamily="18" charset="0"/>
                                </a:rPr>
                              </m:ctrlPr>
                            </m:limLowPr>
                            <m:e>
                              <m:r>
                                <m:rPr>
                                  <m:sty m:val="p"/>
                                </m:rPr>
                                <a:rPr lang="en-US" sz="2800">
                                  <a:latin typeface="Cambria Math" panose="02040503050406030204" pitchFamily="18" charset="0"/>
                                </a:rPr>
                                <m:t>min</m:t>
                              </m:r>
                            </m:e>
                            <m:lim/>
                          </m:limLow>
                        </m:fName>
                        <m:e>
                          <m:nary>
                            <m:naryPr>
                              <m:chr m:val="∑"/>
                              <m:supHide m:val="on"/>
                              <m:ctrlPr>
                                <a:rPr lang="en-US" sz="2800" i="1">
                                  <a:latin typeface="Cambria Math" panose="02040503050406030204" pitchFamily="18" charset="0"/>
                                </a:rPr>
                              </m:ctrlPr>
                            </m:naryPr>
                            <m:sub>
                              <m:r>
                                <m:rPr>
                                  <m:brk m:alnAt="7"/>
                                </m:rPr>
                                <a:rPr lang="en-US" sz="2800" i="1">
                                  <a:latin typeface="Cambria Math" panose="02040503050406030204" pitchFamily="18" charset="0"/>
                                </a:rPr>
                                <m:t>𝑖</m:t>
                              </m:r>
                            </m:sub>
                            <m:sup/>
                            <m:e>
                              <m:sSubSup>
                                <m:sSubSupPr>
                                  <m:ctrlPr>
                                    <a:rPr lang="en-US" sz="2800" i="1">
                                      <a:latin typeface="Cambria Math" panose="02040503050406030204" pitchFamily="18" charset="0"/>
                                    </a:rPr>
                                  </m:ctrlPr>
                                </m:sSubSupPr>
                                <m:e>
                                  <m:r>
                                    <a:rPr lang="en-US" sz="2800" i="1">
                                      <a:latin typeface="Cambria Math" panose="02040503050406030204" pitchFamily="18" charset="0"/>
                                    </a:rPr>
                                    <m:t>𝜖</m:t>
                                  </m:r>
                                </m:e>
                                <m:sub>
                                  <m:r>
                                    <a:rPr lang="en-US" sz="2800" i="1">
                                      <a:latin typeface="Cambria Math" panose="02040503050406030204" pitchFamily="18" charset="0"/>
                                    </a:rPr>
                                    <m:t>𝑖</m:t>
                                  </m:r>
                                </m:sub>
                                <m:sup>
                                  <m:r>
                                    <a:rPr lang="en-US" sz="2800" i="1">
                                      <a:latin typeface="Cambria Math" panose="02040503050406030204" pitchFamily="18" charset="0"/>
                                    </a:rPr>
                                    <m:t>2</m:t>
                                  </m:r>
                                </m:sup>
                              </m:sSubSup>
                            </m:e>
                          </m:nary>
                        </m:e>
                      </m:func>
                    </m:oMath>
                  </m:oMathPara>
                </a14:m>
                <a:endParaRPr lang="en-US" sz="28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m:t>
                      </m:r>
                      <m:func>
                        <m:funcPr>
                          <m:ctrlPr>
                            <a:rPr lang="en-US" sz="2800" i="1">
                              <a:latin typeface="Cambria Math" panose="02040503050406030204" pitchFamily="18" charset="0"/>
                            </a:rPr>
                          </m:ctrlPr>
                        </m:funcPr>
                        <m:fName>
                          <m:limLow>
                            <m:limLowPr>
                              <m:ctrlPr>
                                <a:rPr lang="en-US" sz="2800" i="1">
                                  <a:latin typeface="Cambria Math" panose="02040503050406030204" pitchFamily="18" charset="0"/>
                                </a:rPr>
                              </m:ctrlPr>
                            </m:limLowPr>
                            <m:e>
                              <m:r>
                                <m:rPr>
                                  <m:sty m:val="p"/>
                                </m:rPr>
                                <a:rPr lang="en-US" sz="2800">
                                  <a:latin typeface="Cambria Math" panose="02040503050406030204" pitchFamily="18" charset="0"/>
                                </a:rPr>
                                <m:t>min</m:t>
                              </m:r>
                            </m:e>
                            <m:lim>
                              <m:sSub>
                                <m:sSubPr>
                                  <m:ctrlPr>
                                    <a:rPr lang="en-US" sz="2800" i="1">
                                      <a:latin typeface="Cambria Math" panose="02040503050406030204" pitchFamily="18" charset="0"/>
                                    </a:rPr>
                                  </m:ctrlPr>
                                </m:sSubPr>
                                <m:e>
                                  <m:r>
                                    <a:rPr lang="en-US" sz="2800" i="1">
                                      <a:latin typeface="Cambria Math" panose="02040503050406030204" pitchFamily="18" charset="0"/>
                                    </a:rPr>
                                    <m:t>𝛽</m:t>
                                  </m:r>
                                </m:e>
                                <m:sub>
                                  <m:r>
                                    <a:rPr lang="en-US" sz="2800" i="1">
                                      <a:latin typeface="Cambria Math" panose="02040503050406030204" pitchFamily="18" charset="0"/>
                                    </a:rPr>
                                    <m:t>0</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𝛽</m:t>
                                  </m:r>
                                </m:e>
                                <m:sub>
                                  <m:r>
                                    <a:rPr lang="en-US" sz="2800" i="1">
                                      <a:latin typeface="Cambria Math" panose="02040503050406030204" pitchFamily="18" charset="0"/>
                                    </a:rPr>
                                    <m:t>1</m:t>
                                  </m:r>
                                </m:sub>
                              </m:sSub>
                            </m:lim>
                          </m:limLow>
                        </m:fName>
                        <m:e>
                          <m:nary>
                            <m:naryPr>
                              <m:chr m:val="∑"/>
                              <m:supHide m:val="on"/>
                              <m:ctrlPr>
                                <a:rPr lang="en-US" sz="2800" i="1">
                                  <a:latin typeface="Cambria Math" panose="02040503050406030204" pitchFamily="18" charset="0"/>
                                </a:rPr>
                              </m:ctrlPr>
                            </m:naryPr>
                            <m:sub>
                              <m:r>
                                <m:rPr>
                                  <m:brk m:alnAt="7"/>
                                </m:rPr>
                                <a:rPr lang="en-US" sz="2800" i="1">
                                  <a:latin typeface="Cambria Math" panose="02040503050406030204" pitchFamily="18" charset="0"/>
                                </a:rPr>
                                <m:t>𝑖</m:t>
                              </m:r>
                            </m:sub>
                            <m:sup/>
                            <m:e>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𝑦</m:t>
                                          </m:r>
                                        </m:e>
                                        <m:sub>
                                          <m:r>
                                            <a:rPr lang="en-US" sz="2800" i="1">
                                              <a:latin typeface="Cambria Math" panose="02040503050406030204" pitchFamily="18" charset="0"/>
                                            </a:rPr>
                                            <m:t>𝑖</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𝛽</m:t>
                                          </m:r>
                                        </m:e>
                                        <m:sub>
                                          <m:r>
                                            <a:rPr lang="en-US" sz="2800" i="1">
                                              <a:latin typeface="Cambria Math" panose="02040503050406030204" pitchFamily="18" charset="0"/>
                                            </a:rPr>
                                            <m:t>0</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𝛽</m:t>
                                          </m:r>
                                        </m:e>
                                        <m:sub>
                                          <m:r>
                                            <a:rPr lang="en-US" sz="2800" i="1">
                                              <a:latin typeface="Cambria Math" panose="02040503050406030204" pitchFamily="18" charset="0"/>
                                            </a:rPr>
                                            <m:t>1</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𝑖</m:t>
                                          </m:r>
                                        </m:sub>
                                      </m:sSub>
                                    </m:e>
                                  </m:d>
                                </m:e>
                                <m:sup>
                                  <m:r>
                                    <a:rPr lang="en-US" sz="2800" i="1">
                                      <a:latin typeface="Cambria Math" panose="02040503050406030204" pitchFamily="18" charset="0"/>
                                    </a:rPr>
                                    <m:t>2</m:t>
                                  </m:r>
                                </m:sup>
                              </m:sSup>
                            </m:e>
                          </m:nary>
                        </m:e>
                      </m:func>
                    </m:oMath>
                  </m:oMathPara>
                </a14:m>
                <a:endParaRPr lang="en-US" sz="2800" dirty="0"/>
              </a:p>
            </p:txBody>
          </p:sp>
        </mc:Choice>
        <mc:Fallback xmlns="">
          <p:sp>
            <p:nvSpPr>
              <p:cNvPr id="9" name="TextBox 8">
                <a:extLst>
                  <a:ext uri="{FF2B5EF4-FFF2-40B4-BE49-F238E27FC236}">
                    <a16:creationId xmlns:a16="http://schemas.microsoft.com/office/drawing/2014/main" id="{6A01E161-0B33-9813-8868-5911B7BBE2BA}"/>
                  </a:ext>
                </a:extLst>
              </p:cNvPr>
              <p:cNvSpPr txBox="1">
                <a:spLocks noRot="1" noChangeAspect="1" noMove="1" noResize="1" noEditPoints="1" noAdjustHandles="1" noChangeArrowheads="1" noChangeShapeType="1" noTextEdit="1"/>
              </p:cNvSpPr>
              <p:nvPr/>
            </p:nvSpPr>
            <p:spPr>
              <a:xfrm>
                <a:off x="6855966" y="3678729"/>
                <a:ext cx="4497834" cy="2183418"/>
              </a:xfrm>
              <a:prstGeom prst="rect">
                <a:avLst/>
              </a:prstGeom>
              <a:blipFill>
                <a:blip r:embed="rId4"/>
                <a:stretch>
                  <a:fillRect l="-2535" t="-68208" b="-94220"/>
                </a:stretch>
              </a:blipFill>
            </p:spPr>
            <p:txBody>
              <a:bodyPr/>
              <a:lstStyle/>
              <a:p>
                <a:r>
                  <a:rPr lang="en-US">
                    <a:noFill/>
                  </a:rPr>
                  <a:t> </a:t>
                </a:r>
              </a:p>
            </p:txBody>
          </p:sp>
        </mc:Fallback>
      </mc:AlternateContent>
    </p:spTree>
    <p:extLst>
      <p:ext uri="{BB962C8B-B14F-4D97-AF65-F5344CB8AC3E}">
        <p14:creationId xmlns:p14="http://schemas.microsoft.com/office/powerpoint/2010/main" val="12110741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A3F1D-EC56-E6AC-EC30-A5941AE81402}"/>
              </a:ext>
            </a:extLst>
          </p:cNvPr>
          <p:cNvSpPr>
            <a:spLocks noGrp="1"/>
          </p:cNvSpPr>
          <p:nvPr>
            <p:ph type="title"/>
          </p:nvPr>
        </p:nvSpPr>
        <p:spPr/>
        <p:txBody>
          <a:bodyPr/>
          <a:lstStyle/>
          <a:p>
            <a:r>
              <a:rPr lang="en-US" b="1" dirty="0">
                <a:solidFill>
                  <a:srgbClr val="468C8A"/>
                </a:solidFill>
              </a:rPr>
              <a:t>Estimating linear regression coefficients in our sample</a:t>
            </a:r>
            <a:endParaRPr lang="en-US" dirty="0"/>
          </a:p>
        </p:txBody>
      </p:sp>
      <p:sp>
        <p:nvSpPr>
          <p:cNvPr id="3" name="Content Placeholder 2">
            <a:extLst>
              <a:ext uri="{FF2B5EF4-FFF2-40B4-BE49-F238E27FC236}">
                <a16:creationId xmlns:a16="http://schemas.microsoft.com/office/drawing/2014/main" id="{2064EF2C-BC9B-1211-0BC7-E99BF455516B}"/>
              </a:ext>
            </a:extLst>
          </p:cNvPr>
          <p:cNvSpPr>
            <a:spLocks noGrp="1"/>
          </p:cNvSpPr>
          <p:nvPr>
            <p:ph idx="1"/>
          </p:nvPr>
        </p:nvSpPr>
        <p:spPr/>
        <p:txBody>
          <a:bodyPr>
            <a:normAutofit/>
          </a:bodyPr>
          <a:lstStyle/>
          <a:p>
            <a:pPr>
              <a:buSzPct val="100000"/>
            </a:pPr>
            <a:r>
              <a:rPr lang="en-US" dirty="0"/>
              <a:t>There are several ways to estimate coefficients of the sample linear regression</a:t>
            </a:r>
          </a:p>
          <a:p>
            <a:pPr lvl="1">
              <a:buSzPct val="100000"/>
            </a:pPr>
            <a:r>
              <a:rPr lang="en-US" dirty="0"/>
              <a:t>Ordinary Least Squares</a:t>
            </a:r>
          </a:p>
          <a:p>
            <a:pPr lvl="1">
              <a:buSzPct val="100000"/>
            </a:pPr>
            <a:r>
              <a:rPr lang="en-US" dirty="0"/>
              <a:t>Moment estimator</a:t>
            </a:r>
          </a:p>
          <a:p>
            <a:pPr lvl="1">
              <a:buSzPct val="100000"/>
            </a:pPr>
            <a:r>
              <a:rPr lang="en-US" dirty="0"/>
              <a:t>Maximum likelihood estimator</a:t>
            </a:r>
          </a:p>
          <a:p>
            <a:pPr marL="0" indent="0">
              <a:buNone/>
            </a:pPr>
            <a:endParaRPr lang="en-US" dirty="0"/>
          </a:p>
        </p:txBody>
      </p:sp>
      <p:sp>
        <p:nvSpPr>
          <p:cNvPr id="4" name="Slide Number Placeholder 3">
            <a:extLst>
              <a:ext uri="{FF2B5EF4-FFF2-40B4-BE49-F238E27FC236}">
                <a16:creationId xmlns:a16="http://schemas.microsoft.com/office/drawing/2014/main" id="{DBC48D3E-7064-1EA4-E714-6206E7A0ED9A}"/>
              </a:ext>
            </a:extLst>
          </p:cNvPr>
          <p:cNvSpPr>
            <a:spLocks noGrp="1"/>
          </p:cNvSpPr>
          <p:nvPr>
            <p:ph type="sldNum" sz="quarter" idx="12"/>
          </p:nvPr>
        </p:nvSpPr>
        <p:spPr/>
        <p:txBody>
          <a:bodyPr/>
          <a:lstStyle/>
          <a:p>
            <a:fld id="{59AE00EF-AE84-4193-80D9-56955F3C2EE7}" type="slidenum">
              <a:rPr lang="en-US" smtClean="0"/>
              <a:t>49</a:t>
            </a:fld>
            <a:endParaRPr lang="en-US"/>
          </a:p>
        </p:txBody>
      </p:sp>
    </p:spTree>
    <p:extLst>
      <p:ext uri="{BB962C8B-B14F-4D97-AF65-F5344CB8AC3E}">
        <p14:creationId xmlns:p14="http://schemas.microsoft.com/office/powerpoint/2010/main" val="9793929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57E9C-53FD-FB6D-FB21-8A7A733AFA2E}"/>
              </a:ext>
            </a:extLst>
          </p:cNvPr>
          <p:cNvSpPr>
            <a:spLocks noGrp="1"/>
          </p:cNvSpPr>
          <p:nvPr>
            <p:ph type="title"/>
          </p:nvPr>
        </p:nvSpPr>
        <p:spPr/>
        <p:txBody>
          <a:bodyPr/>
          <a:lstStyle/>
          <a:p>
            <a:r>
              <a:rPr lang="en-US" b="1" dirty="0">
                <a:solidFill>
                  <a:srgbClr val="468C8A"/>
                </a:solidFill>
              </a:rPr>
              <a:t>Ordinary Least Squares (OLS)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A7C4BB-9B24-C951-D4A3-2BAB76917A43}"/>
                  </a:ext>
                </a:extLst>
              </p:cNvPr>
              <p:cNvSpPr>
                <a:spLocks noGrp="1"/>
              </p:cNvSpPr>
              <p:nvPr>
                <p:ph idx="1"/>
              </p:nvPr>
            </p:nvSpPr>
            <p:spPr/>
            <p:txBody>
              <a:bodyPr>
                <a:normAutofit fontScale="85000" lnSpcReduction="20000"/>
              </a:bodyPr>
              <a:lstStyle/>
              <a:p>
                <a:r>
                  <a:rPr lang="en-US" dirty="0"/>
                  <a:t>We could write the linear regression model as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𝐸</m:t>
                          </m:r>
                          <m:r>
                            <a:rPr lang="en-US" i="1">
                              <a:latin typeface="Cambria Math" panose="02040503050406030204" pitchFamily="18" charset="0"/>
                            </a:rPr>
                            <m:t>[</m:t>
                          </m:r>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rPr>
                            <m:t>]</m:t>
                          </m:r>
                        </m:e>
                      </m:acc>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m:t>
                          </m:r>
                        </m:sup>
                      </m:sSup>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𝛽</m:t>
                          </m:r>
                        </m:e>
                      </m:acc>
                    </m:oMath>
                  </m:oMathPara>
                </a14:m>
                <a:endParaRPr lang="en-US" dirty="0"/>
              </a:p>
              <a:p>
                <a:pPr marL="0" indent="0">
                  <a:buNone/>
                </a:pPr>
                <a:endParaRPr lang="en-US" dirty="0"/>
              </a:p>
              <a:p>
                <a:pPr marL="0" indent="0">
                  <a:buNone/>
                </a:pPr>
                <a:r>
                  <a:rPr lang="en-US" dirty="0"/>
                  <a:t>Where </a:t>
                </a:r>
                <a14:m>
                  <m:oMath xmlns:m="http://schemas.openxmlformats.org/officeDocument/2006/math">
                    <m:r>
                      <a:rPr lang="en-US" i="1">
                        <a:latin typeface="Cambria Math" panose="02040503050406030204" pitchFamily="18" charset="0"/>
                      </a:rPr>
                      <m:t>𝑋</m:t>
                    </m:r>
                  </m:oMath>
                </a14:m>
                <a:r>
                  <a:rPr lang="en-US" dirty="0"/>
                  <a:t> is a matrix of independent variables and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𝛽</m:t>
                        </m:r>
                      </m:e>
                    </m:acc>
                  </m:oMath>
                </a14:m>
                <a:r>
                  <a:rPr lang="en-US" dirty="0"/>
                  <a:t> is a vector of coefficients</a:t>
                </a:r>
              </a:p>
              <a:p>
                <a:endParaRPr lang="en-US" dirty="0"/>
              </a:p>
              <a:p>
                <a:r>
                  <a:rPr lang="en-US" dirty="0"/>
                  <a:t>Minimize our estimate of the sum of squared errors, that is</a:t>
                </a:r>
                <a:endParaRPr lang="en-US" i="1" dirty="0">
                  <a:latin typeface="Cambria Math" panose="02040503050406030204" pitchFamily="18" charset="0"/>
                </a:endParaRPr>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unc>
                        <m:funcPr>
                          <m:ctrlPr>
                            <a:rPr lang="en-US" i="1" smtClean="0">
                              <a:latin typeface="Cambria Math" panose="02040503050406030204" pitchFamily="18" charset="0"/>
                            </a:rPr>
                          </m:ctrlPr>
                        </m:funcPr>
                        <m:fName>
                          <m:limLow>
                            <m:limLowPr>
                              <m:ctrlPr>
                                <a:rPr lang="en-US" i="1" smtClean="0">
                                  <a:latin typeface="Cambria Math" panose="02040503050406030204" pitchFamily="18" charset="0"/>
                                </a:rPr>
                              </m:ctrlPr>
                            </m:limLowPr>
                            <m:e>
                              <m:r>
                                <m:rPr>
                                  <m:sty m:val="p"/>
                                </m:rPr>
                                <a:rPr lang="en-US" i="0" smtClean="0">
                                  <a:latin typeface="Cambria Math" panose="02040503050406030204" pitchFamily="18" charset="0"/>
                                </a:rPr>
                                <m:t>min</m:t>
                              </m:r>
                            </m:e>
                            <m:lim>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𝛽</m:t>
                                  </m:r>
                                </m:e>
                              </m:acc>
                            </m:lim>
                          </m:limLow>
                        </m:fName>
                        <m:e>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𝑌</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𝛽</m:t>
                                          </m:r>
                                        </m:e>
                                      </m:acc>
                                    </m:e>
                                  </m:d>
                                </m:e>
                                <m:sup>
                                  <m:r>
                                    <a:rPr lang="en-US" b="0" i="1" smtClean="0">
                                      <a:latin typeface="Cambria Math" panose="02040503050406030204" pitchFamily="18" charset="0"/>
                                    </a:rPr>
                                    <m:t>2</m:t>
                                  </m:r>
                                </m:sup>
                              </m:sSup>
                            </m:e>
                          </m:nary>
                        </m:e>
                      </m:func>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𝛽</m:t>
                          </m:r>
                        </m:e>
                      </m:acc>
                      <m:r>
                        <a:rPr lang="en-US" i="1" dirty="0">
                          <a:latin typeface="Cambria Math" panose="02040503050406030204" pitchFamily="18" charset="0"/>
                        </a:rPr>
                        <m:t>=</m:t>
                      </m:r>
                      <m:sSup>
                        <m:sSupPr>
                          <m:ctrlPr>
                            <a:rPr lang="en-US" i="1" dirty="0">
                              <a:latin typeface="Cambria Math" panose="02040503050406030204" pitchFamily="18" charset="0"/>
                            </a:rPr>
                          </m:ctrlPr>
                        </m:sSupPr>
                        <m:e>
                          <m:d>
                            <m:dPr>
                              <m:ctrlPr>
                                <a:rPr lang="en-US" i="1" dirty="0">
                                  <a:latin typeface="Cambria Math" panose="02040503050406030204" pitchFamily="18" charset="0"/>
                                </a:rPr>
                              </m:ctrlPr>
                            </m:dPr>
                            <m:e>
                              <m:sSup>
                                <m:sSupPr>
                                  <m:ctrlPr>
                                    <a:rPr lang="en-US" i="1" dirty="0">
                                      <a:latin typeface="Cambria Math" panose="02040503050406030204" pitchFamily="18" charset="0"/>
                                    </a:rPr>
                                  </m:ctrlPr>
                                </m:sSupPr>
                                <m:e>
                                  <m:r>
                                    <a:rPr lang="en-US" i="1" dirty="0">
                                      <a:latin typeface="Cambria Math" panose="02040503050406030204" pitchFamily="18" charset="0"/>
                                    </a:rPr>
                                    <m:t>𝑋</m:t>
                                  </m:r>
                                </m:e>
                                <m:sup>
                                  <m:r>
                                    <a:rPr lang="en-US" i="1" dirty="0">
                                      <a:latin typeface="Cambria Math" panose="02040503050406030204" pitchFamily="18" charset="0"/>
                                    </a:rPr>
                                    <m:t>′</m:t>
                                  </m:r>
                                </m:sup>
                              </m:sSup>
                              <m:r>
                                <a:rPr lang="en-US" i="1" dirty="0">
                                  <a:latin typeface="Cambria Math" panose="02040503050406030204" pitchFamily="18" charset="0"/>
                                </a:rPr>
                                <m:t>𝑋</m:t>
                              </m:r>
                            </m:e>
                          </m:d>
                        </m:e>
                        <m:sup>
                          <m:r>
                            <a:rPr lang="en-US" i="1" dirty="0">
                              <a:latin typeface="Cambria Math" panose="02040503050406030204" pitchFamily="18" charset="0"/>
                            </a:rPr>
                            <m:t>−1</m:t>
                          </m:r>
                        </m:sup>
                      </m:sSup>
                      <m:r>
                        <a:rPr lang="en-US" i="1" dirty="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rPr>
                            <m:t>𝑋</m:t>
                          </m:r>
                        </m:e>
                        <m:sup>
                          <m:r>
                            <a:rPr lang="en-US" i="1" dirty="0">
                              <a:latin typeface="Cambria Math" panose="02040503050406030204" pitchFamily="18" charset="0"/>
                            </a:rPr>
                            <m:t>′</m:t>
                          </m:r>
                        </m:sup>
                      </m:sSup>
                      <m:r>
                        <a:rPr lang="en-US" i="1" dirty="0">
                          <a:latin typeface="Cambria Math" panose="02040503050406030204" pitchFamily="18" charset="0"/>
                        </a:rPr>
                        <m:t>𝑌</m:t>
                      </m:r>
                      <m:r>
                        <a:rPr lang="en-US" i="1" dirty="0">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8BA7C4BB-9B24-C951-D4A3-2BAB76917A43}"/>
                  </a:ext>
                </a:extLst>
              </p:cNvPr>
              <p:cNvSpPr>
                <a:spLocks noGrp="1" noRot="1" noChangeAspect="1" noMove="1" noResize="1" noEditPoints="1" noAdjustHandles="1" noChangeArrowheads="1" noChangeShapeType="1" noTextEdit="1"/>
              </p:cNvSpPr>
              <p:nvPr>
                <p:ph idx="1"/>
              </p:nvPr>
            </p:nvSpPr>
            <p:spPr>
              <a:blipFill>
                <a:blip r:embed="rId2"/>
                <a:stretch>
                  <a:fillRect l="-928" t="-336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CBB5B26-E285-3AAA-488F-D46E3B5F2114}"/>
              </a:ext>
            </a:extLst>
          </p:cNvPr>
          <p:cNvSpPr>
            <a:spLocks noGrp="1"/>
          </p:cNvSpPr>
          <p:nvPr>
            <p:ph type="sldNum" sz="quarter" idx="12"/>
          </p:nvPr>
        </p:nvSpPr>
        <p:spPr/>
        <p:txBody>
          <a:bodyPr/>
          <a:lstStyle/>
          <a:p>
            <a:fld id="{59AE00EF-AE84-4193-80D9-56955F3C2EE7}" type="slidenum">
              <a:rPr lang="en-US" smtClean="0"/>
              <a:t>50</a:t>
            </a:fld>
            <a:endParaRPr lang="en-US"/>
          </a:p>
        </p:txBody>
      </p:sp>
    </p:spTree>
    <p:extLst>
      <p:ext uri="{BB962C8B-B14F-4D97-AF65-F5344CB8AC3E}">
        <p14:creationId xmlns:p14="http://schemas.microsoft.com/office/powerpoint/2010/main" val="647816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130"/>
          <p:cNvSpPr txBox="1">
            <a:spLocks noGrp="1"/>
          </p:cNvSpPr>
          <p:nvPr>
            <p:ph type="title"/>
          </p:nvPr>
        </p:nvSpPr>
        <p:spPr>
          <a:xfrm>
            <a:off x="690789" y="2103854"/>
            <a:ext cx="10810421" cy="2650292"/>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468C8A"/>
              </a:buClr>
              <a:buSzPts val="6000"/>
              <a:buFont typeface="Arial"/>
              <a:buNone/>
            </a:pPr>
            <a:r>
              <a:rPr lang="en-US" b="1" dirty="0">
                <a:solidFill>
                  <a:srgbClr val="468C8A"/>
                </a:solidFill>
              </a:rPr>
              <a:t>How do we estimate coefficients of a conditional quantile regression?</a:t>
            </a:r>
            <a:endParaRPr dirty="0"/>
          </a:p>
        </p:txBody>
      </p:sp>
      <p:sp>
        <p:nvSpPr>
          <p:cNvPr id="353" name="Google Shape;353;p1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spTree>
    <p:extLst>
      <p:ext uri="{BB962C8B-B14F-4D97-AF65-F5344CB8AC3E}">
        <p14:creationId xmlns:p14="http://schemas.microsoft.com/office/powerpoint/2010/main" val="30499968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pic>
        <p:nvPicPr>
          <p:cNvPr id="359" name="Google Shape;359;p131" descr="A person wearing glasses and a suit&#10;&#10;Description automatically generated with medium confidence"/>
          <p:cNvPicPr preferRelativeResize="0"/>
          <p:nvPr/>
        </p:nvPicPr>
        <p:blipFill rotWithShape="1">
          <a:blip r:embed="rId3">
            <a:alphaModFix/>
          </a:blip>
          <a:srcRect/>
          <a:stretch/>
        </p:blipFill>
        <p:spPr>
          <a:xfrm>
            <a:off x="199917" y="1171277"/>
            <a:ext cx="3383280" cy="4515445"/>
          </a:xfrm>
          <a:prstGeom prst="rect">
            <a:avLst/>
          </a:prstGeom>
          <a:noFill/>
          <a:ln>
            <a:noFill/>
          </a:ln>
        </p:spPr>
      </p:pic>
      <p:sp>
        <p:nvSpPr>
          <p:cNvPr id="360" name="Google Shape;360;p131"/>
          <p:cNvSpPr txBox="1"/>
          <p:nvPr/>
        </p:nvSpPr>
        <p:spPr>
          <a:xfrm>
            <a:off x="3726151" y="5774347"/>
            <a:ext cx="352623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1">
                <a:solidFill>
                  <a:srgbClr val="468C8A"/>
                </a:solidFill>
                <a:latin typeface="Arial"/>
                <a:ea typeface="Arial"/>
                <a:cs typeface="Arial"/>
                <a:sym typeface="Arial"/>
              </a:rPr>
              <a:t>Gilbert Bassett, Jr. </a:t>
            </a:r>
            <a:r>
              <a:rPr lang="en-US" sz="1800" i="1">
                <a:solidFill>
                  <a:srgbClr val="BFBFBF"/>
                </a:solidFill>
                <a:latin typeface="Arial"/>
                <a:ea typeface="Arial"/>
                <a:cs typeface="Arial"/>
                <a:sym typeface="Arial"/>
              </a:rPr>
              <a:t>Source: </a:t>
            </a:r>
            <a:r>
              <a:rPr lang="en-US" sz="1800" i="1" u="sng">
                <a:solidFill>
                  <a:srgbClr val="BFBFBF"/>
                </a:solidFill>
                <a:latin typeface="Arial"/>
                <a:ea typeface="Arial"/>
                <a:cs typeface="Arial"/>
                <a:sym typeface="Arial"/>
                <a:hlinkClick r:id="rId4">
                  <a:extLst>
                    <a:ext uri="{A12FA001-AC4F-418D-AE19-62706E023703}">
                      <ahyp:hlinkClr xmlns:ahyp="http://schemas.microsoft.com/office/drawing/2018/hyperlinkcolor" val="tx"/>
                    </a:ext>
                  </a:extLst>
                </a:hlinkClick>
              </a:rPr>
              <a:t>link</a:t>
            </a:r>
            <a:endParaRPr sz="1800" i="1">
              <a:solidFill>
                <a:srgbClr val="BFBFBF"/>
              </a:solidFill>
              <a:latin typeface="Arial"/>
              <a:ea typeface="Arial"/>
              <a:cs typeface="Arial"/>
              <a:sym typeface="Arial"/>
            </a:endParaRPr>
          </a:p>
        </p:txBody>
      </p:sp>
      <p:pic>
        <p:nvPicPr>
          <p:cNvPr id="361" name="Google Shape;361;p131" descr="A person smiling for the camera&#10;&#10;Description automatically generated with medium confidence"/>
          <p:cNvPicPr preferRelativeResize="0"/>
          <p:nvPr/>
        </p:nvPicPr>
        <p:blipFill rotWithShape="1">
          <a:blip r:embed="rId5">
            <a:alphaModFix/>
          </a:blip>
          <a:srcRect/>
          <a:stretch/>
        </p:blipFill>
        <p:spPr>
          <a:xfrm>
            <a:off x="3726151" y="1169586"/>
            <a:ext cx="3383280" cy="4517136"/>
          </a:xfrm>
          <a:prstGeom prst="rect">
            <a:avLst/>
          </a:prstGeom>
          <a:noFill/>
          <a:ln>
            <a:noFill/>
          </a:ln>
        </p:spPr>
      </p:pic>
      <p:sp>
        <p:nvSpPr>
          <p:cNvPr id="362" name="Google Shape;362;p131"/>
          <p:cNvSpPr txBox="1"/>
          <p:nvPr/>
        </p:nvSpPr>
        <p:spPr>
          <a:xfrm>
            <a:off x="122096" y="5776038"/>
            <a:ext cx="33832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1">
                <a:solidFill>
                  <a:srgbClr val="468C8A"/>
                </a:solidFill>
                <a:latin typeface="Arial"/>
                <a:ea typeface="Arial"/>
                <a:cs typeface="Arial"/>
                <a:sym typeface="Arial"/>
              </a:rPr>
              <a:t>Roger Koenker. </a:t>
            </a:r>
            <a:r>
              <a:rPr lang="en-US" sz="1800" i="1">
                <a:solidFill>
                  <a:srgbClr val="BFBFBF"/>
                </a:solidFill>
                <a:latin typeface="Arial"/>
                <a:ea typeface="Arial"/>
                <a:cs typeface="Arial"/>
                <a:sym typeface="Arial"/>
              </a:rPr>
              <a:t>Source: </a:t>
            </a:r>
            <a:r>
              <a:rPr lang="en-US" sz="1800" i="1" u="sng">
                <a:solidFill>
                  <a:srgbClr val="BFBFBF"/>
                </a:solidFill>
                <a:latin typeface="Arial"/>
                <a:ea typeface="Arial"/>
                <a:cs typeface="Arial"/>
                <a:sym typeface="Arial"/>
                <a:hlinkClick r:id="rId6">
                  <a:extLst>
                    <a:ext uri="{A12FA001-AC4F-418D-AE19-62706E023703}">
                      <ahyp:hlinkClr xmlns:ahyp="http://schemas.microsoft.com/office/drawing/2018/hyperlinkcolor" val="tx"/>
                    </a:ext>
                  </a:extLst>
                </a:hlinkClick>
              </a:rPr>
              <a:t>link</a:t>
            </a:r>
            <a:endParaRPr sz="1800" i="1">
              <a:solidFill>
                <a:srgbClr val="BFBFBF"/>
              </a:solidFill>
              <a:latin typeface="Arial"/>
              <a:ea typeface="Arial"/>
              <a:cs typeface="Arial"/>
              <a:sym typeface="Arial"/>
            </a:endParaRPr>
          </a:p>
        </p:txBody>
      </p:sp>
      <p:pic>
        <p:nvPicPr>
          <p:cNvPr id="363" name="Google Shape;363;p131"/>
          <p:cNvPicPr preferRelativeResize="0"/>
          <p:nvPr/>
        </p:nvPicPr>
        <p:blipFill rotWithShape="1">
          <a:blip r:embed="rId7">
            <a:alphaModFix/>
          </a:blip>
          <a:srcRect/>
          <a:stretch/>
        </p:blipFill>
        <p:spPr>
          <a:xfrm>
            <a:off x="7254240" y="1169586"/>
            <a:ext cx="4937760" cy="2886803"/>
          </a:xfrm>
          <a:prstGeom prst="rect">
            <a:avLst/>
          </a:prstGeom>
          <a:noFill/>
          <a:ln>
            <a:noFill/>
          </a:ln>
        </p:spPr>
      </p:pic>
      <p:sp>
        <p:nvSpPr>
          <p:cNvPr id="364" name="Google Shape;364;p131"/>
          <p:cNvSpPr txBox="1"/>
          <p:nvPr/>
        </p:nvSpPr>
        <p:spPr>
          <a:xfrm>
            <a:off x="7252385" y="4056389"/>
            <a:ext cx="4739698" cy="4154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i="1">
                <a:solidFill>
                  <a:srgbClr val="BFBFBF"/>
                </a:solidFill>
                <a:latin typeface="Arial"/>
                <a:ea typeface="Arial"/>
                <a:cs typeface="Arial"/>
                <a:sym typeface="Arial"/>
              </a:rPr>
              <a:t>Koenker and Bassett (1978). Regression Quantiles. Econometrica 46(1): 33-50</a:t>
            </a:r>
            <a:endParaRPr/>
          </a:p>
        </p:txBody>
      </p:sp>
      <p:sp>
        <p:nvSpPr>
          <p:cNvPr id="365" name="Google Shape;365;p1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52</a:t>
            </a:fld>
            <a:endParaRPr/>
          </a:p>
        </p:txBody>
      </p:sp>
    </p:spTree>
    <p:extLst>
      <p:ext uri="{BB962C8B-B14F-4D97-AF65-F5344CB8AC3E}">
        <p14:creationId xmlns:p14="http://schemas.microsoft.com/office/powerpoint/2010/main" val="8057752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1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Coefficients of the population conditional quantile regression line</a:t>
            </a:r>
            <a:endParaRPr dirty="0"/>
          </a:p>
        </p:txBody>
      </p:sp>
      <p:sp>
        <p:nvSpPr>
          <p:cNvPr id="380" name="Google Shape;380;p1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53</a:t>
            </a:fld>
            <a:endParaRP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4415F96D-10D2-2903-74F5-50B433D4D18A}"/>
                  </a:ext>
                </a:extLst>
              </p:cNvPr>
              <p:cNvSpPr txBox="1">
                <a:spLocks/>
              </p:cNvSpPr>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a:lnSpc>
                    <a:spcPct val="120000"/>
                  </a:lnSpc>
                  <a:buSzPct val="100000"/>
                </a:pPr>
                <a:r>
                  <a:rPr lang="en-US" sz="3100" dirty="0"/>
                  <a:t>We can calculate the coefficients of the population conditional quantile regression by </a:t>
                </a:r>
                <a:r>
                  <a:rPr lang="en-US" sz="3100" dirty="0">
                    <a:solidFill>
                      <a:srgbClr val="FF9300"/>
                    </a:solidFill>
                  </a:rPr>
                  <a:t>minimizing the sum of asymmetrically weighted absolute errors</a:t>
                </a:r>
              </a:p>
              <a:p>
                <a:pPr marL="114300" indent="0">
                  <a:buSzPct val="100000"/>
                  <a:buNone/>
                </a:pPr>
                <a:endParaRPr lang="en-US" sz="1200" dirty="0"/>
              </a:p>
              <a:p>
                <a:pPr marL="0" indent="0">
                  <a:buSzPct val="100000"/>
                  <a:buNone/>
                </a:pPr>
                <a14:m>
                  <m:oMathPara xmlns:m="http://schemas.openxmlformats.org/officeDocument/2006/math">
                    <m:oMathParaPr>
                      <m:jc m:val="centerGroup"/>
                    </m:oMathParaPr>
                    <m:oMath xmlns:m="http://schemas.openxmlformats.org/officeDocument/2006/math">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panose="02040503050406030204" pitchFamily="18" charset="0"/>
                                </a:rPr>
                                <m:t>𝛼</m:t>
                              </m:r>
                            </m:e>
                            <m:sub>
                              <m:r>
                                <a:rPr lang="en-US" i="1" smtClean="0">
                                  <a:latin typeface="Cambria Math" panose="02040503050406030204" pitchFamily="18" charset="0"/>
                                </a:rPr>
                                <m:t>0,</m:t>
                              </m:r>
                              <m:r>
                                <a:rPr lang="en-US" i="1" smtClean="0">
                                  <a:latin typeface="Cambria Math" panose="02040503050406030204" pitchFamily="18" charset="0"/>
                                </a:rPr>
                                <m:t>𝜏</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𝛼</m:t>
                              </m:r>
                            </m:e>
                            <m:sub>
                              <m:r>
                                <a:rPr lang="en-US" i="1" smtClean="0">
                                  <a:latin typeface="Cambria Math" panose="02040503050406030204" pitchFamily="18" charset="0"/>
                                </a:rPr>
                                <m:t>1,</m:t>
                              </m:r>
                              <m:r>
                                <a:rPr lang="en-US" i="1" smtClean="0">
                                  <a:latin typeface="Cambria Math" panose="02040503050406030204" pitchFamily="18" charset="0"/>
                                </a:rPr>
                                <m:t>𝜏</m:t>
                              </m:r>
                            </m:sub>
                          </m:sSub>
                        </m:e>
                      </m:d>
                      <m:r>
                        <a:rPr lang="en-US" i="1" smtClean="0">
                          <a:latin typeface="Cambria Math" panose="02040503050406030204" pitchFamily="18" charset="0"/>
                        </a:rPr>
                        <m:t>=</m:t>
                      </m:r>
                      <m:func>
                        <m:funcPr>
                          <m:ctrlPr>
                            <a:rPr lang="en-US" i="1" smtClean="0">
                              <a:latin typeface="Cambria Math" panose="02040503050406030204" pitchFamily="18" charset="0"/>
                            </a:rPr>
                          </m:ctrlPr>
                        </m:funcPr>
                        <m:fName>
                          <m:limLow>
                            <m:limLowPr>
                              <m:ctrlPr>
                                <a:rPr lang="en-US" i="1" smtClean="0">
                                  <a:latin typeface="Cambria Math" panose="02040503050406030204" pitchFamily="18" charset="0"/>
                                </a:rPr>
                              </m:ctrlPr>
                            </m:limLowPr>
                            <m:e>
                              <m:r>
                                <m:rPr>
                                  <m:sty m:val="p"/>
                                </m:rPr>
                                <a:rPr lang="en-US" smtClean="0">
                                  <a:latin typeface="Cambria Math" panose="02040503050406030204" pitchFamily="18" charset="0"/>
                                </a:rPr>
                                <m:t>min</m:t>
                              </m:r>
                            </m:e>
                            <m:lim>
                              <m:sSub>
                                <m:sSubPr>
                                  <m:ctrlPr>
                                    <a:rPr lang="en-US" i="1" smtClean="0">
                                      <a:latin typeface="Cambria Math" panose="02040503050406030204" pitchFamily="18" charset="0"/>
                                    </a:rPr>
                                  </m:ctrlPr>
                                </m:sSubPr>
                                <m:e>
                                  <m:r>
                                    <a:rPr lang="en-US" b="0" i="1" smtClean="0">
                                      <a:latin typeface="Cambria Math" panose="02040503050406030204" pitchFamily="18" charset="0"/>
                                    </a:rPr>
                                    <m:t>𝛼</m:t>
                                  </m:r>
                                </m:e>
                                <m:sub>
                                  <m:r>
                                    <a:rPr lang="en-US" i="1" smtClean="0">
                                      <a:latin typeface="Cambria Math" panose="02040503050406030204" pitchFamily="18" charset="0"/>
                                    </a:rPr>
                                    <m:t>0,</m:t>
                                  </m:r>
                                  <m:r>
                                    <a:rPr lang="en-US" i="1" smtClean="0">
                                      <a:latin typeface="Cambria Math" panose="02040503050406030204" pitchFamily="18" charset="0"/>
                                    </a:rPr>
                                    <m:t>𝜏</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𝛼</m:t>
                                  </m:r>
                                </m:e>
                                <m:sub>
                                  <m:r>
                                    <a:rPr lang="en-US" i="1" smtClean="0">
                                      <a:latin typeface="Cambria Math" panose="02040503050406030204" pitchFamily="18" charset="0"/>
                                    </a:rPr>
                                    <m:t>1,</m:t>
                                  </m:r>
                                  <m:r>
                                    <a:rPr lang="en-US" i="1" smtClean="0">
                                      <a:latin typeface="Cambria Math" panose="02040503050406030204" pitchFamily="18" charset="0"/>
                                    </a:rPr>
                                    <m:t>𝜏</m:t>
                                  </m:r>
                                </m:sub>
                              </m:sSub>
                            </m:lim>
                          </m:limLow>
                        </m:fName>
                        <m:e>
                          <m:nary>
                            <m:naryPr>
                              <m:chr m:val="∑"/>
                              <m:supHide m:val="on"/>
                              <m:ctrlPr>
                                <a:rPr lang="en-US" i="1" smtClean="0">
                                  <a:latin typeface="Cambria Math" panose="02040503050406030204" pitchFamily="18" charset="0"/>
                                </a:rPr>
                              </m:ctrlPr>
                            </m:naryPr>
                            <m:sub>
                              <m:r>
                                <m:rPr>
                                  <m:brk m:alnAt="7"/>
                                </m:rPr>
                                <a:rPr lang="en-US" i="1" smtClean="0">
                                  <a:latin typeface="Cambria Math" panose="02040503050406030204" pitchFamily="18" charset="0"/>
                                </a:rPr>
                                <m:t>𝑖</m:t>
                              </m:r>
                            </m:sub>
                            <m:sup/>
                            <m:e>
                              <m:sSub>
                                <m:sSubPr>
                                  <m:ctrlPr>
                                    <a:rPr lang="en-US" i="1" smtClean="0">
                                      <a:latin typeface="Cambria Math" panose="02040503050406030204" pitchFamily="18" charset="0"/>
                                    </a:rPr>
                                  </m:ctrlPr>
                                </m:sSubPr>
                                <m:e>
                                  <m:r>
                                    <a:rPr lang="en-US" i="1" smtClean="0">
                                      <a:latin typeface="Cambria Math" panose="02040503050406030204" pitchFamily="18" charset="0"/>
                                    </a:rPr>
                                    <m:t>𝜌</m:t>
                                  </m:r>
                                </m:e>
                                <m:sub>
                                  <m:r>
                                    <a:rPr lang="en-US" i="1" smtClean="0">
                                      <a:latin typeface="Cambria Math" panose="02040503050406030204" pitchFamily="18" charset="0"/>
                                    </a:rPr>
                                    <m:t>𝜏</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𝑦</m:t>
                                  </m:r>
                                </m:e>
                                <m:sub>
                                  <m:r>
                                    <a:rPr lang="en-US" i="1" smtClean="0">
                                      <a:latin typeface="Cambria Math" panose="02040503050406030204" pitchFamily="18" charset="0"/>
                                    </a:rPr>
                                    <m:t>𝑖</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𝛼</m:t>
                                  </m:r>
                                </m:e>
                                <m:sub>
                                  <m:r>
                                    <a:rPr lang="en-US" i="1" smtClean="0">
                                      <a:latin typeface="Cambria Math" panose="02040503050406030204" pitchFamily="18" charset="0"/>
                                    </a:rPr>
                                    <m:t>0,</m:t>
                                  </m:r>
                                  <m:r>
                                    <a:rPr lang="en-US" i="1" smtClean="0">
                                      <a:latin typeface="Cambria Math" panose="02040503050406030204" pitchFamily="18" charset="0"/>
                                    </a:rPr>
                                    <m:t>𝜏</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𝛼</m:t>
                                  </m:r>
                                </m:e>
                                <m:sub>
                                  <m:r>
                                    <a:rPr lang="en-US" i="1" smtClean="0">
                                      <a:latin typeface="Cambria Math" panose="02040503050406030204" pitchFamily="18" charset="0"/>
                                    </a:rPr>
                                    <m:t>1,</m:t>
                                  </m:r>
                                  <m:r>
                                    <a:rPr lang="en-US" i="1" smtClean="0">
                                      <a:latin typeface="Cambria Math" panose="02040503050406030204" pitchFamily="18" charset="0"/>
                                    </a:rPr>
                                    <m:t>𝜏</m:t>
                                  </m:r>
                                </m:sub>
                              </m:sSub>
                              <m:sSub>
                                <m:sSubPr>
                                  <m:ctrlPr>
                                    <a:rPr lang="en-US" i="1" smtClean="0">
                                      <a:latin typeface="Cambria Math" panose="02040503050406030204" pitchFamily="18" charset="0"/>
                                    </a:rPr>
                                  </m:ctrlPr>
                                </m:sSubPr>
                                <m:e>
                                  <m:r>
                                    <a:rPr lang="en-US" i="1" smtClean="0">
                                      <a:latin typeface="Cambria Math" panose="02040503050406030204" pitchFamily="18" charset="0"/>
                                    </a:rPr>
                                    <m:t>𝑥</m:t>
                                  </m:r>
                                </m:e>
                                <m:sub>
                                  <m:r>
                                    <a:rPr lang="en-US" i="1" smtClean="0">
                                      <a:latin typeface="Cambria Math" panose="02040503050406030204" pitchFamily="18" charset="0"/>
                                    </a:rPr>
                                    <m:t>𝑖</m:t>
                                  </m:r>
                                </m:sub>
                              </m:sSub>
                              <m:r>
                                <a:rPr lang="en-US" i="1" smtClean="0">
                                  <a:latin typeface="Cambria Math" panose="02040503050406030204" pitchFamily="18" charset="0"/>
                                </a:rPr>
                                <m:t>)</m:t>
                              </m:r>
                              <m:r>
                                <a:rPr lang="en-US" i="1">
                                  <a:latin typeface="Cambria Math" panose="02040503050406030204" pitchFamily="18" charset="0"/>
                                </a:rPr>
                                <m:t>=</m:t>
                              </m:r>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min</m:t>
                                      </m:r>
                                    </m:e>
                                    <m:lim/>
                                  </m:limLow>
                                </m:fName>
                                <m:e>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𝑖</m:t>
                                      </m:r>
                                    </m:sub>
                                    <m:sup/>
                                    <m:e>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𝜏</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𝑖</m:t>
                                          </m:r>
                                        </m:sub>
                                      </m:sSub>
                                      <m:r>
                                        <a:rPr lang="en-US" i="1">
                                          <a:latin typeface="Cambria Math" panose="02040503050406030204" pitchFamily="18" charset="0"/>
                                        </a:rPr>
                                        <m:t>)</m:t>
                                      </m:r>
                                    </m:e>
                                  </m:nary>
                                </m:e>
                              </m:func>
                            </m:e>
                          </m:nary>
                        </m:e>
                      </m:func>
                    </m:oMath>
                  </m:oMathPara>
                </a14:m>
                <a:endParaRPr lang="en-US" dirty="0"/>
              </a:p>
              <a:p>
                <a:pPr>
                  <a:buSzPct val="100000"/>
                </a:pPr>
                <a:endParaRPr lang="en-US" sz="2100" dirty="0"/>
              </a:p>
            </p:txBody>
          </p:sp>
        </mc:Choice>
        <mc:Fallback xmlns="">
          <p:sp>
            <p:nvSpPr>
              <p:cNvPr id="4" name="Content Placeholder 2">
                <a:extLst>
                  <a:ext uri="{FF2B5EF4-FFF2-40B4-BE49-F238E27FC236}">
                    <a16:creationId xmlns:a16="http://schemas.microsoft.com/office/drawing/2014/main" id="{4415F96D-10D2-2903-74F5-50B433D4D18A}"/>
                  </a:ext>
                </a:extLst>
              </p:cNvPr>
              <p:cNvSpPr txBox="1">
                <a:spLocks noRot="1" noChangeAspect="1" noMove="1" noResize="1" noEditPoints="1" noAdjustHandles="1" noChangeArrowheads="1" noChangeShapeType="1" noTextEdit="1"/>
              </p:cNvSpPr>
              <p:nvPr/>
            </p:nvSpPr>
            <p:spPr>
              <a:xfrm>
                <a:off x="838200" y="1825625"/>
                <a:ext cx="10515600" cy="4351338"/>
              </a:xfrm>
              <a:prstGeom prst="rect">
                <a:avLst/>
              </a:prstGeom>
              <a:blipFill>
                <a:blip r:embed="rId3"/>
                <a:stretch>
                  <a:fillRect l="-241" r="-1327" b="-20640"/>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3062136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3A0DD-E20F-854C-6766-9A3F116BAB68}"/>
              </a:ext>
            </a:extLst>
          </p:cNvPr>
          <p:cNvSpPr>
            <a:spLocks noGrp="1"/>
          </p:cNvSpPr>
          <p:nvPr>
            <p:ph type="title"/>
          </p:nvPr>
        </p:nvSpPr>
        <p:spPr/>
        <p:txBody>
          <a:bodyPr/>
          <a:lstStyle/>
          <a:p>
            <a:r>
              <a:rPr lang="en-US" b="1" dirty="0">
                <a:solidFill>
                  <a:srgbClr val="468C8A"/>
                </a:solidFill>
              </a:rPr>
              <a:t>The rho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85D4F71-03C1-501C-75D1-6C787E02F3CC}"/>
                  </a:ext>
                </a:extLst>
              </p:cNvPr>
              <p:cNvSpPr>
                <a:spLocks noGrp="1"/>
              </p:cNvSpPr>
              <p:nvPr>
                <p:ph idx="1"/>
              </p:nvPr>
            </p:nvSpPr>
            <p:spPr/>
            <p:txBody>
              <a:bodyPr/>
              <a:lstStyle/>
              <a:p>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𝜏</m:t>
                          </m:r>
                        </m:sub>
                      </m:sSub>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𝑖</m:t>
                              </m:r>
                            </m:sub>
                          </m:sSub>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𝑖</m:t>
                          </m:r>
                        </m:sub>
                      </m:sSub>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𝜏</m:t>
                          </m:r>
                          <m:r>
                            <a:rPr lang="en-US" b="0"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𝑰</m:t>
                          </m:r>
                          <m:d>
                            <m:dPr>
                              <m:ctrlPr>
                                <a:rPr lang="en-US" b="0" i="1" smtClean="0">
                                  <a:solidFill>
                                    <a:schemeClr val="tx1"/>
                                  </a:solidFill>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𝑖</m:t>
                                  </m:r>
                                </m:sub>
                              </m:sSub>
                              <m:r>
                                <a:rPr lang="en-US" b="0" i="1" smtClean="0">
                                  <a:solidFill>
                                    <a:schemeClr val="tx1"/>
                                  </a:solidFill>
                                  <a:latin typeface="Cambria Math" panose="02040503050406030204" pitchFamily="18" charset="0"/>
                                </a:rPr>
                                <m:t>&lt;0</m:t>
                              </m:r>
                            </m:e>
                          </m:d>
                        </m:e>
                      </m:d>
                    </m:oMath>
                  </m:oMathPara>
                </a14:m>
                <a:endParaRPr lang="en-US" dirty="0">
                  <a:solidFill>
                    <a:schemeClr val="tx1"/>
                  </a:solidFill>
                </a:endParaRPr>
              </a:p>
              <a:p>
                <a:pPr marL="457200" lvl="1" indent="0">
                  <a:buNone/>
                </a:pPr>
                <a:endParaRPr lang="en-US" b="1" i="1" dirty="0">
                  <a:solidFill>
                    <a:schemeClr val="tx1"/>
                  </a:solidFill>
                  <a:latin typeface="Cambria Math" panose="02040503050406030204" pitchFamily="18" charset="0"/>
                </a:endParaRPr>
              </a:p>
              <a:p>
                <a:pPr marL="457200" lvl="1" indent="0">
                  <a:buNone/>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𝑰</m:t>
                      </m:r>
                      <m:d>
                        <m:dPr>
                          <m:ctrlPr>
                            <a:rPr lang="en-US" b="0" i="1" smtClean="0">
                              <a:solidFill>
                                <a:schemeClr val="tx1"/>
                              </a:solidFill>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𝑖</m:t>
                              </m:r>
                            </m:sub>
                          </m:sSub>
                          <m:r>
                            <a:rPr lang="en-US" b="0" i="1" smtClean="0">
                              <a:solidFill>
                                <a:schemeClr val="tx1"/>
                              </a:solidFill>
                              <a:latin typeface="Cambria Math" panose="02040503050406030204" pitchFamily="18" charset="0"/>
                            </a:rPr>
                            <m:t>&lt;0</m:t>
                          </m:r>
                        </m:e>
                      </m:d>
                      <m:r>
                        <a:rPr lang="en-US" b="0" i="1" smtClean="0">
                          <a:solidFill>
                            <a:schemeClr val="tx1"/>
                          </a:solidFill>
                          <a:latin typeface="Cambria Math" panose="02040503050406030204" pitchFamily="18" charset="0"/>
                        </a:rPr>
                        <m:t>=</m:t>
                      </m:r>
                      <m:d>
                        <m:dPr>
                          <m:begChr m:val="{"/>
                          <m:endChr m:val=""/>
                          <m:ctrlPr>
                            <a:rPr lang="en-US" b="0" i="1" smtClean="0">
                              <a:solidFill>
                                <a:schemeClr val="tx1"/>
                              </a:solidFill>
                              <a:latin typeface="Cambria Math" panose="02040503050406030204" pitchFamily="18" charset="0"/>
                            </a:rPr>
                          </m:ctrlPr>
                        </m:dPr>
                        <m:e>
                          <m:eqArr>
                            <m:eqArrPr>
                              <m:ctrlPr>
                                <a:rPr lang="en-US" b="0" i="1" smtClean="0">
                                  <a:solidFill>
                                    <a:schemeClr val="tx1"/>
                                  </a:solidFill>
                                  <a:latin typeface="Cambria Math" panose="02040503050406030204" pitchFamily="18" charset="0"/>
                                </a:rPr>
                              </m:ctrlPr>
                            </m:eqArrPr>
                            <m:e>
                              <m:r>
                                <a:rPr lang="en-US" b="0" i="1" smtClean="0">
                                  <a:solidFill>
                                    <a:schemeClr val="tx1"/>
                                  </a:solidFill>
                                  <a:latin typeface="Cambria Math" panose="02040503050406030204" pitchFamily="18" charset="0"/>
                                </a:rPr>
                                <m:t>1,  </m:t>
                              </m:r>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𝑖</m:t>
                                  </m:r>
                                </m:sub>
                              </m:sSub>
                              <m:r>
                                <a:rPr lang="en-US" b="0" i="1" smtClean="0">
                                  <a:solidFill>
                                    <a:schemeClr val="tx1"/>
                                  </a:solidFill>
                                  <a:latin typeface="Cambria Math" panose="02040503050406030204" pitchFamily="18" charset="0"/>
                                </a:rPr>
                                <m:t>&lt;0</m:t>
                              </m:r>
                            </m:e>
                            <m:e>
                              <m:r>
                                <a:rPr lang="en-US" b="0" i="1" smtClean="0">
                                  <a:solidFill>
                                    <a:schemeClr val="tx1"/>
                                  </a:solidFill>
                                  <a:latin typeface="Cambria Math" panose="02040503050406030204" pitchFamily="18" charset="0"/>
                                </a:rPr>
                                <m:t>&amp;0,</m:t>
                              </m:r>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𝜖</m:t>
                                  </m:r>
                                </m:e>
                                <m:sub>
                                  <m:r>
                                    <a:rPr lang="en-US" i="1">
                                      <a:latin typeface="Cambria Math" panose="02040503050406030204" pitchFamily="18" charset="0"/>
                                    </a:rPr>
                                    <m:t>𝑖</m:t>
                                  </m:r>
                                </m:sub>
                              </m:sSub>
                              <m:r>
                                <a:rPr lang="en-US" b="0" i="1" smtClean="0">
                                  <a:solidFill>
                                    <a:schemeClr val="tx1"/>
                                  </a:solidFill>
                                  <a:latin typeface="Cambria Math" panose="02040503050406030204" pitchFamily="18" charset="0"/>
                                </a:rPr>
                                <m:t>≥0</m:t>
                              </m:r>
                            </m:e>
                          </m:eqArr>
                        </m:e>
                      </m:d>
                    </m:oMath>
                  </m:oMathPara>
                </a14:m>
                <a:endParaRPr lang="en-US" b="0" dirty="0"/>
              </a:p>
              <a:p>
                <a:pPr marL="0" indent="0">
                  <a:buNone/>
                </a:pPr>
                <a:endParaRPr lang="en-US" sz="2000" b="0" i="1" dirty="0">
                  <a:latin typeface="Cambria Math" panose="02040503050406030204" pitchFamily="18" charset="0"/>
                </a:endParaRPr>
              </a:p>
              <a:p>
                <a:pPr marL="0" indent="0">
                  <a:buNone/>
                </a:pPr>
                <a:endParaRPr lang="en-US" sz="20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𝜏</m:t>
                          </m:r>
                        </m:sub>
                      </m:sSub>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𝑖</m:t>
                              </m:r>
                            </m:sub>
                          </m:sSub>
                        </m:e>
                      </m:d>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eqArr>
                            <m:eqArrPr>
                              <m:ctrlPr>
                                <a:rPr lang="en-US" i="1">
                                  <a:latin typeface="Cambria Math" panose="02040503050406030204" pitchFamily="18" charset="0"/>
                                </a:rPr>
                              </m:ctrlPr>
                            </m:eqArrPr>
                            <m:e>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𝑖</m:t>
                                  </m:r>
                                </m:sub>
                              </m:sSub>
                              <m:d>
                                <m:dPr>
                                  <m:ctrlPr>
                                    <a:rPr lang="en-US" b="0" i="1" smtClean="0">
                                      <a:solidFill>
                                        <a:srgbClr val="FF9300"/>
                                      </a:solidFill>
                                      <a:latin typeface="Cambria Math" panose="02040503050406030204" pitchFamily="18" charset="0"/>
                                    </a:rPr>
                                  </m:ctrlPr>
                                </m:dPr>
                                <m:e>
                                  <m:r>
                                    <a:rPr lang="en-US" b="0" i="1" smtClean="0">
                                      <a:solidFill>
                                        <a:srgbClr val="FF9300"/>
                                      </a:solidFill>
                                      <a:latin typeface="Cambria Math" panose="02040503050406030204" pitchFamily="18" charset="0"/>
                                    </a:rPr>
                                    <m:t>𝜏</m:t>
                                  </m:r>
                                  <m:r>
                                    <a:rPr lang="en-US" b="0" i="1" smtClean="0">
                                      <a:solidFill>
                                        <a:srgbClr val="FF9300"/>
                                      </a:solidFill>
                                      <a:latin typeface="Cambria Math" panose="02040503050406030204" pitchFamily="18" charset="0"/>
                                    </a:rPr>
                                    <m:t>−1</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𝜖</m:t>
                                  </m:r>
                                </m:e>
                                <m:sub>
                                  <m:r>
                                    <a:rPr lang="en-US" i="1">
                                      <a:latin typeface="Cambria Math" panose="02040503050406030204" pitchFamily="18" charset="0"/>
                                    </a:rPr>
                                    <m:t>𝑖</m:t>
                                  </m:r>
                                </m:sub>
                              </m:sSub>
                              <m:r>
                                <a:rPr lang="en-US" i="1">
                                  <a:latin typeface="Cambria Math" panose="02040503050406030204" pitchFamily="18" charset="0"/>
                                </a:rPr>
                                <m:t>&lt;0</m:t>
                              </m:r>
                            </m:e>
                            <m:e>
                              <m:r>
                                <a:rPr lang="en-US" i="1">
                                  <a:latin typeface="Cambria Math" panose="02040503050406030204" pitchFamily="18" charset="0"/>
                                </a:rPr>
                                <m:t>&amp;</m:t>
                              </m:r>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𝑖</m:t>
                                  </m:r>
                                </m:sub>
                              </m:sSub>
                              <m:r>
                                <a:rPr lang="en-US" b="0" i="1" smtClean="0">
                                  <a:solidFill>
                                    <a:srgbClr val="FF9300"/>
                                  </a:solidFill>
                                  <a:latin typeface="Cambria Math" panose="02040503050406030204" pitchFamily="18" charset="0"/>
                                </a:rPr>
                                <m:t>𝜏</m:t>
                              </m:r>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𝜖</m:t>
                                  </m:r>
                                </m:e>
                                <m:sub>
                                  <m:r>
                                    <a:rPr lang="en-US" i="1">
                                      <a:latin typeface="Cambria Math" panose="02040503050406030204" pitchFamily="18" charset="0"/>
                                    </a:rPr>
                                    <m:t>𝑖</m:t>
                                  </m:r>
                                </m:sub>
                              </m:sSub>
                              <m:r>
                                <a:rPr lang="en-US" i="1">
                                  <a:latin typeface="Cambria Math" panose="02040503050406030204" pitchFamily="18" charset="0"/>
                                </a:rPr>
                                <m:t>≥0</m:t>
                              </m:r>
                            </m:e>
                          </m:eqArr>
                        </m:e>
                      </m:d>
                    </m:oMath>
                  </m:oMathPara>
                </a14:m>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685D4F71-03C1-501C-75D1-6C787E02F3CC}"/>
                  </a:ext>
                </a:extLst>
              </p:cNvPr>
              <p:cNvSpPr>
                <a:spLocks noGrp="1" noRot="1" noChangeAspect="1" noMove="1" noResize="1" noEditPoints="1" noAdjustHandles="1" noChangeArrowheads="1" noChangeShapeType="1" noTextEdit="1"/>
              </p:cNvSpPr>
              <p:nvPr>
                <p:ph idx="1"/>
              </p:nvPr>
            </p:nvSpPr>
            <p:spPr>
              <a:blipFill>
                <a:blip r:embed="rId3"/>
                <a:stretch>
                  <a:fillRect t="-15698" b="-5697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A56290F1-3971-0A63-4592-A1BFEFA527D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AE00EF-AE84-4193-80D9-56955F3C2EE7}"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5350C00-2B5B-182F-6BF1-97B8467DB742}"/>
                  </a:ext>
                </a:extLst>
              </p:cNvPr>
              <p:cNvSpPr txBox="1"/>
              <p:nvPr/>
            </p:nvSpPr>
            <p:spPr>
              <a:xfrm>
                <a:off x="4611468" y="5604003"/>
                <a:ext cx="6542842" cy="523220"/>
              </a:xfrm>
              <a:prstGeom prst="rect">
                <a:avLst/>
              </a:prstGeom>
              <a:noFill/>
            </p:spPr>
            <p:txBody>
              <a:bodyPr wrap="square" rtlCol="0">
                <a:spAutoFit/>
              </a:bodyPr>
              <a:lstStyle/>
              <a:p>
                <a:pPr lvl="0">
                  <a:buClrTx/>
                  <a:defRPr/>
                </a:pPr>
                <a14:m>
                  <m:oMathPara xmlns:m="http://schemas.openxmlformats.org/officeDocument/2006/math">
                    <m:oMathParaPr>
                      <m:jc m:val="centerGroup"/>
                    </m:oMathParaPr>
                    <m:oMath xmlns:m="http://schemas.openxmlformats.org/officeDocument/2006/math">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d>
                        <m:dPr>
                          <m:ctrlPr>
                            <a:rPr kumimoji="0" lang="en-US" sz="2800" b="0" i="1" u="none" strike="noStrike" kern="1200" cap="none" spc="0" normalizeH="0" baseline="0" noProof="0">
                              <a:ln>
                                <a:noFill/>
                              </a:ln>
                              <a:solidFill>
                                <a:srgbClr val="FF9300"/>
                              </a:solidFill>
                              <a:effectLst/>
                              <a:uLnTx/>
                              <a:uFillTx/>
                              <a:latin typeface="Cambria Math" panose="02040503050406030204" pitchFamily="18" charset="0"/>
                              <a:ea typeface="+mn-ea"/>
                              <a:cs typeface="+mn-cs"/>
                            </a:rPr>
                          </m:ctrlPr>
                        </m:dPr>
                        <m:e>
                          <m:r>
                            <a:rPr kumimoji="0" lang="en-US" sz="2800" b="0" i="1" u="none" strike="noStrike" kern="1200" cap="none" spc="0" normalizeH="0" baseline="0" noProof="0">
                              <a:ln>
                                <a:noFill/>
                              </a:ln>
                              <a:solidFill>
                                <a:srgbClr val="FF9300"/>
                              </a:solidFill>
                              <a:effectLst/>
                              <a:uLnTx/>
                              <a:uFillTx/>
                              <a:latin typeface="Cambria Math" panose="02040503050406030204" pitchFamily="18" charset="0"/>
                              <a:ea typeface="+mn-ea"/>
                              <a:cs typeface="+mn-cs"/>
                            </a:rPr>
                            <m:t>1−</m:t>
                          </m:r>
                          <m:r>
                            <a:rPr kumimoji="0" lang="en-US" sz="2800" b="0" i="1" u="none" strike="noStrike" kern="1200" cap="none" spc="0" normalizeH="0" baseline="0" noProof="0">
                              <a:ln>
                                <a:noFill/>
                              </a:ln>
                              <a:solidFill>
                                <a:srgbClr val="FF9300"/>
                              </a:solidFill>
                              <a:effectLst/>
                              <a:uLnTx/>
                              <a:uFillTx/>
                              <a:latin typeface="Cambria Math" panose="02040503050406030204" pitchFamily="18" charset="0"/>
                              <a:ea typeface="+mn-ea"/>
                              <a:cs typeface="+mn-cs"/>
                            </a:rPr>
                            <m:t>𝜏</m:t>
                          </m:r>
                        </m:e>
                      </m:d>
                      <m:d>
                        <m:dPr>
                          <m:begChr m:val="|"/>
                          <m:endChr m:val="|"/>
                          <m:ctrlPr>
                            <a:rPr lang="en-US" sz="2800" i="1" kern="1200">
                              <a:solidFill>
                                <a:prstClr val="black"/>
                              </a:solidFill>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𝜖</m:t>
                              </m:r>
                            </m:e>
                            <m:sub>
                              <m:r>
                                <a:rPr lang="en-US" sz="2800" i="1">
                                  <a:latin typeface="Cambria Math" panose="02040503050406030204" pitchFamily="18" charset="0"/>
                                </a:rPr>
                                <m:t>𝑖</m:t>
                              </m:r>
                            </m:sub>
                          </m:sSub>
                        </m:e>
                      </m:d>
                      <m:r>
                        <a:rPr kumimoji="0" lang="en-US" sz="2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𝑰</m:t>
                      </m:r>
                      <m:d>
                        <m:d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𝜖</m:t>
                              </m:r>
                            </m:e>
                            <m:sub>
                              <m:r>
                                <a:rPr lang="en-US" sz="2800" i="1">
                                  <a:latin typeface="Cambria Math" panose="02040503050406030204" pitchFamily="18" charset="0"/>
                                </a:rPr>
                                <m:t>𝑖</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&lt;0</m:t>
                          </m:r>
                        </m:e>
                      </m:d>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800" b="0" i="1" u="none" strike="noStrike" kern="1200" cap="none" spc="0" normalizeH="0" baseline="0" noProof="0">
                          <a:ln>
                            <a:noFill/>
                          </a:ln>
                          <a:solidFill>
                            <a:srgbClr val="FF9300"/>
                          </a:solidFill>
                          <a:effectLst/>
                          <a:uLnTx/>
                          <a:uFillTx/>
                          <a:latin typeface="Cambria Math" panose="02040503050406030204" pitchFamily="18" charset="0"/>
                          <a:ea typeface="+mn-ea"/>
                          <a:cs typeface="+mn-cs"/>
                        </a:rPr>
                        <m:t>𝜏</m:t>
                      </m:r>
                      <m:d>
                        <m:dPr>
                          <m:begChr m:val="|"/>
                          <m:endChr m:val="|"/>
                          <m:ctrlPr>
                            <a:rPr lang="en-US" sz="2800" i="1" kern="1200">
                              <a:solidFill>
                                <a:prstClr val="black"/>
                              </a:solidFill>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𝜖</m:t>
                              </m:r>
                            </m:e>
                            <m:sub>
                              <m:r>
                                <a:rPr lang="en-US" sz="2800" i="1">
                                  <a:latin typeface="Cambria Math" panose="02040503050406030204" pitchFamily="18" charset="0"/>
                                </a:rPr>
                                <m:t>𝑖</m:t>
                              </m:r>
                            </m:sub>
                          </m:sSub>
                        </m:e>
                      </m:d>
                      <m:r>
                        <a:rPr kumimoji="0" lang="en-US" sz="2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𝑰</m:t>
                      </m:r>
                      <m:d>
                        <m:d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𝜖</m:t>
                              </m:r>
                            </m:e>
                            <m:sub>
                              <m:r>
                                <a:rPr lang="en-US" sz="2800" i="1">
                                  <a:latin typeface="Cambria Math" panose="02040503050406030204" pitchFamily="18" charset="0"/>
                                </a:rPr>
                                <m:t>𝑖</m:t>
                              </m:r>
                            </m:sub>
                          </m:sSub>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d>
                    </m:oMath>
                  </m:oMathPara>
                </a14:m>
                <a:endParaRPr kumimoji="0" lang="en-US" sz="2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mc:Choice>
        <mc:Fallback xmlns="">
          <p:sp>
            <p:nvSpPr>
              <p:cNvPr id="5" name="TextBox 4">
                <a:extLst>
                  <a:ext uri="{FF2B5EF4-FFF2-40B4-BE49-F238E27FC236}">
                    <a16:creationId xmlns:a16="http://schemas.microsoft.com/office/drawing/2014/main" id="{E5350C00-2B5B-182F-6BF1-97B8467DB742}"/>
                  </a:ext>
                </a:extLst>
              </p:cNvPr>
              <p:cNvSpPr txBox="1">
                <a:spLocks noRot="1" noChangeAspect="1" noMove="1" noResize="1" noEditPoints="1" noAdjustHandles="1" noChangeArrowheads="1" noChangeShapeType="1" noTextEdit="1"/>
              </p:cNvSpPr>
              <p:nvPr/>
            </p:nvSpPr>
            <p:spPr>
              <a:xfrm>
                <a:off x="4611468" y="5604003"/>
                <a:ext cx="6542842" cy="523220"/>
              </a:xfrm>
              <a:prstGeom prst="rect">
                <a:avLst/>
              </a:prstGeom>
              <a:blipFill>
                <a:blip r:embed="rId4"/>
                <a:stretch>
                  <a:fillRect b="-4762"/>
                </a:stretch>
              </a:blipFill>
            </p:spPr>
            <p:txBody>
              <a:bodyPr/>
              <a:lstStyle/>
              <a:p>
                <a:r>
                  <a:rPr lang="en-US">
                    <a:noFill/>
                  </a:rPr>
                  <a:t> </a:t>
                </a:r>
              </a:p>
            </p:txBody>
          </p:sp>
        </mc:Fallback>
      </mc:AlternateContent>
    </p:spTree>
    <p:extLst>
      <p:ext uri="{BB962C8B-B14F-4D97-AF65-F5344CB8AC3E}">
        <p14:creationId xmlns:p14="http://schemas.microsoft.com/office/powerpoint/2010/main" val="1248906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326DF-E24C-9747-7ECD-DFBD4064CB36}"/>
              </a:ext>
            </a:extLst>
          </p:cNvPr>
          <p:cNvSpPr>
            <a:spLocks noGrp="1"/>
          </p:cNvSpPr>
          <p:nvPr>
            <p:ph type="title"/>
          </p:nvPr>
        </p:nvSpPr>
        <p:spPr/>
        <p:txBody>
          <a:bodyPr/>
          <a:lstStyle/>
          <a:p>
            <a:r>
              <a:rPr lang="en-US" b="1" dirty="0">
                <a:solidFill>
                  <a:srgbClr val="468C8A"/>
                </a:solidFill>
              </a:rPr>
              <a:t>Contextualizing rho (the special case)</a:t>
            </a:r>
            <a:endParaRPr lang="en-US" dirty="0">
              <a:highlight>
                <a:srgbClr val="FFFF00"/>
              </a:highlight>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681A27B-7483-BBC9-9F81-97F5759C3CEC}"/>
                  </a:ext>
                </a:extLst>
              </p:cNvPr>
              <p:cNvSpPr>
                <a:spLocks noGrp="1"/>
              </p:cNvSpPr>
              <p:nvPr>
                <p:ph type="body" idx="1"/>
              </p:nvPr>
            </p:nvSpPr>
            <p:spPr/>
            <p:txBody>
              <a:bodyPr>
                <a:normAutofit fontScale="92500"/>
              </a:bodyPr>
              <a:lstStyle/>
              <a:p>
                <a:pPr>
                  <a:buSzPct val="100000"/>
                </a:pPr>
                <a:r>
                  <a:rPr lang="en-US" dirty="0"/>
                  <a:t>We’ve said that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𝜏</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𝑖</m:t>
                        </m:r>
                      </m:sub>
                    </m:sSub>
                    <m:r>
                      <a:rPr lang="en-US" b="0" i="1" smtClean="0">
                        <a:latin typeface="Cambria Math" panose="02040503050406030204" pitchFamily="18" charset="0"/>
                      </a:rPr>
                      <m:t>)=</m:t>
                    </m:r>
                    <m:d>
                      <m:dPr>
                        <m:ctrlPr>
                          <a:rPr lang="en-US" i="1" kern="1200" smtClean="0">
                            <a:solidFill>
                              <a:schemeClr val="tx1"/>
                            </a:solidFill>
                            <a:latin typeface="Cambria Math" panose="02040503050406030204" pitchFamily="18" charset="0"/>
                          </a:rPr>
                        </m:ctrlPr>
                      </m:dPr>
                      <m:e>
                        <m:r>
                          <a:rPr lang="en-US" i="1" kern="1200">
                            <a:solidFill>
                              <a:schemeClr val="tx1"/>
                            </a:solidFill>
                            <a:latin typeface="Cambria Math" panose="02040503050406030204" pitchFamily="18" charset="0"/>
                          </a:rPr>
                          <m:t>1−</m:t>
                        </m:r>
                        <m:r>
                          <a:rPr lang="en-US" i="1" kern="1200">
                            <a:solidFill>
                              <a:schemeClr val="tx1"/>
                            </a:solidFill>
                            <a:latin typeface="Cambria Math" panose="02040503050406030204" pitchFamily="18" charset="0"/>
                          </a:rPr>
                          <m:t>𝜏</m:t>
                        </m:r>
                      </m:e>
                    </m:d>
                    <m:d>
                      <m:dPr>
                        <m:begChr m:val="|"/>
                        <m:endChr m:val="|"/>
                        <m:ctrlPr>
                          <a:rPr lang="en-US" i="1" kern="1200">
                            <a:solidFill>
                              <a:schemeClr val="tx1"/>
                            </a:solidFill>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𝑖</m:t>
                            </m:r>
                          </m:sub>
                        </m:sSub>
                      </m:e>
                    </m:d>
                    <m:r>
                      <a:rPr lang="en-US" b="1" i="1" kern="1200">
                        <a:solidFill>
                          <a:schemeClr val="tx1"/>
                        </a:solidFill>
                        <a:latin typeface="Cambria Math" panose="02040503050406030204" pitchFamily="18" charset="0"/>
                      </a:rPr>
                      <m:t>𝑰</m:t>
                    </m:r>
                    <m:d>
                      <m:dPr>
                        <m:ctrlPr>
                          <a:rPr lang="en-US" i="1" kern="1200">
                            <a:solidFill>
                              <a:schemeClr val="tx1"/>
                            </a:solidFill>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𝑖</m:t>
                            </m:r>
                          </m:sub>
                        </m:sSub>
                        <m:r>
                          <a:rPr lang="en-US" i="1" kern="1200">
                            <a:solidFill>
                              <a:schemeClr val="tx1"/>
                            </a:solidFill>
                            <a:latin typeface="Cambria Math" panose="02040503050406030204" pitchFamily="18" charset="0"/>
                          </a:rPr>
                          <m:t>&lt;0</m:t>
                        </m:r>
                      </m:e>
                    </m:d>
                    <m:r>
                      <a:rPr lang="en-US" i="1" kern="1200">
                        <a:solidFill>
                          <a:schemeClr val="tx1"/>
                        </a:solidFill>
                        <a:latin typeface="Cambria Math" panose="02040503050406030204" pitchFamily="18" charset="0"/>
                      </a:rPr>
                      <m:t>+</m:t>
                    </m:r>
                    <m:r>
                      <a:rPr lang="en-US" i="1" kern="1200">
                        <a:solidFill>
                          <a:schemeClr val="tx1"/>
                        </a:solidFill>
                        <a:latin typeface="Cambria Math" panose="02040503050406030204" pitchFamily="18" charset="0"/>
                      </a:rPr>
                      <m:t>𝜏</m:t>
                    </m:r>
                    <m:d>
                      <m:dPr>
                        <m:begChr m:val="|"/>
                        <m:endChr m:val="|"/>
                        <m:ctrlPr>
                          <a:rPr lang="en-US" i="1" kern="1200">
                            <a:solidFill>
                              <a:schemeClr val="tx1"/>
                            </a:solidFill>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𝑖</m:t>
                            </m:r>
                          </m:sub>
                        </m:sSub>
                      </m:e>
                    </m:d>
                    <m:r>
                      <a:rPr lang="en-US" b="1" i="1" kern="1200">
                        <a:solidFill>
                          <a:schemeClr val="tx1"/>
                        </a:solidFill>
                        <a:latin typeface="Cambria Math" panose="02040503050406030204" pitchFamily="18" charset="0"/>
                      </a:rPr>
                      <m:t>𝑰</m:t>
                    </m:r>
                    <m:d>
                      <m:dPr>
                        <m:ctrlPr>
                          <a:rPr lang="en-US" i="1" kern="1200">
                            <a:solidFill>
                              <a:schemeClr val="tx1"/>
                            </a:solidFill>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𝑖</m:t>
                            </m:r>
                          </m:sub>
                        </m:sSub>
                        <m:r>
                          <a:rPr lang="en-US" i="1" kern="1200">
                            <a:solidFill>
                              <a:schemeClr val="tx1"/>
                            </a:solidFill>
                            <a:latin typeface="Cambria Math" panose="02040503050406030204" pitchFamily="18" charset="0"/>
                          </a:rPr>
                          <m:t>≥0</m:t>
                        </m:r>
                      </m:e>
                    </m:d>
                  </m:oMath>
                </a14:m>
                <a:endParaRPr lang="en-US" dirty="0"/>
              </a:p>
              <a:p>
                <a:pPr>
                  <a:buSzPct val="100000"/>
                </a:pPr>
                <a:endParaRPr lang="en-US" dirty="0"/>
              </a:p>
              <a:p>
                <a:pPr>
                  <a:buSzPct val="100000"/>
                </a:pPr>
                <a:r>
                  <a:rPr lang="en-US" dirty="0"/>
                  <a:t>Suppose </a:t>
                </a:r>
                <a14:m>
                  <m:oMath xmlns:m="http://schemas.openxmlformats.org/officeDocument/2006/math">
                    <m:r>
                      <a:rPr lang="en-US" b="0" i="1" smtClean="0">
                        <a:latin typeface="Cambria Math" panose="02040503050406030204" pitchFamily="18" charset="0"/>
                      </a:rPr>
                      <m:t>𝜏</m:t>
                    </m:r>
                    <m:r>
                      <a:rPr lang="en-US" b="0" i="1" smtClean="0">
                        <a:latin typeface="Cambria Math" panose="02040503050406030204" pitchFamily="18" charset="0"/>
                      </a:rPr>
                      <m:t>=0.5</m:t>
                    </m:r>
                  </m:oMath>
                </a14:m>
                <a:endParaRPr lang="en-US" dirty="0"/>
              </a:p>
              <a:p>
                <a:pPr>
                  <a:buSzPct val="100000"/>
                </a:pPr>
                <a:endParaRPr lang="en-US" dirty="0"/>
              </a:p>
              <a:p>
                <a:pPr>
                  <a:buSzPct val="100000"/>
                </a:pPr>
                <a:r>
                  <a:rPr lang="en-US" dirty="0"/>
                  <a:t>Then, the sum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0.5</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𝑖</m:t>
                        </m:r>
                      </m:sub>
                    </m:sSub>
                    <m:r>
                      <a:rPr lang="en-US" i="1">
                        <a:latin typeface="Cambria Math" panose="02040503050406030204" pitchFamily="18" charset="0"/>
                      </a:rPr>
                      <m:t>)</m:t>
                    </m:r>
                  </m:oMath>
                </a14:m>
                <a:r>
                  <a:rPr lang="en-US" dirty="0"/>
                  <a:t> (which is what we’re minimizing) is</a:t>
                </a:r>
              </a:p>
              <a:p>
                <a:pPr marL="114300" indent="0">
                  <a:buNone/>
                </a:pPr>
                <a:endParaRPr lang="en-US" sz="2000" i="1" dirty="0">
                  <a:latin typeface="Cambria Math" panose="02040503050406030204" pitchFamily="18" charset="0"/>
                </a:endParaRPr>
              </a:p>
              <a:p>
                <a:pPr marL="114300" indent="0">
                  <a:buNone/>
                </a:pPr>
                <a14:m>
                  <m:oMathPara xmlns:m="http://schemas.openxmlformats.org/officeDocument/2006/math">
                    <m:oMathParaPr>
                      <m:jc m:val="centerGroup"/>
                    </m:oMathParaPr>
                    <m:oMath xmlns:m="http://schemas.openxmlformats.org/officeDocument/2006/math">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e>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0.5</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𝑖</m:t>
                                  </m:r>
                                </m:sub>
                              </m:sSub>
                            </m:e>
                          </m:d>
                        </m:e>
                      </m:nary>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e>
                          <m:d>
                            <m:dPr>
                              <m:ctrlPr>
                                <a:rPr lang="en-US" i="1" kern="1200">
                                  <a:solidFill>
                                    <a:schemeClr val="tx1"/>
                                  </a:solidFill>
                                  <a:latin typeface="Cambria Math" panose="02040503050406030204" pitchFamily="18" charset="0"/>
                                </a:rPr>
                              </m:ctrlPr>
                            </m:dPr>
                            <m:e>
                              <m:r>
                                <a:rPr lang="en-US" i="1" kern="1200">
                                  <a:solidFill>
                                    <a:schemeClr val="tx1"/>
                                  </a:solidFill>
                                  <a:latin typeface="Cambria Math" panose="02040503050406030204" pitchFamily="18" charset="0"/>
                                </a:rPr>
                                <m:t>1−0.5</m:t>
                              </m:r>
                            </m:e>
                          </m:d>
                          <m:d>
                            <m:dPr>
                              <m:begChr m:val="|"/>
                              <m:endChr m:val="|"/>
                              <m:ctrlPr>
                                <a:rPr lang="en-US" i="1" kern="1200">
                                  <a:solidFill>
                                    <a:schemeClr val="tx1"/>
                                  </a:solidFill>
                                  <a:latin typeface="Cambria Math" panose="02040503050406030204" pitchFamily="18" charset="0"/>
                                </a:rPr>
                              </m:ctrlPr>
                            </m:dPr>
                            <m:e>
                              <m:sSub>
                                <m:sSubPr>
                                  <m:ctrlPr>
                                    <a:rPr lang="en-US" i="1" kern="1200">
                                      <a:solidFill>
                                        <a:schemeClr val="tx1"/>
                                      </a:solidFill>
                                      <a:latin typeface="Cambria Math" panose="02040503050406030204" pitchFamily="18" charset="0"/>
                                    </a:rPr>
                                  </m:ctrlPr>
                                </m:sSubPr>
                                <m:e>
                                  <m:r>
                                    <a:rPr lang="en-US" i="1" kern="1200">
                                      <a:solidFill>
                                        <a:schemeClr val="tx1"/>
                                      </a:solidFill>
                                      <a:latin typeface="Cambria Math" panose="02040503050406030204" pitchFamily="18" charset="0"/>
                                    </a:rPr>
                                    <m:t>𝜖</m:t>
                                  </m:r>
                                </m:e>
                                <m:sub>
                                  <m:r>
                                    <a:rPr lang="en-US" i="1" kern="1200">
                                      <a:solidFill>
                                        <a:schemeClr val="tx1"/>
                                      </a:solidFill>
                                      <a:latin typeface="Cambria Math" panose="02040503050406030204" pitchFamily="18" charset="0"/>
                                    </a:rPr>
                                    <m:t>𝑖</m:t>
                                  </m:r>
                                </m:sub>
                              </m:sSub>
                            </m:e>
                          </m:d>
                          <m:r>
                            <a:rPr lang="en-US" b="1" i="1" kern="1200">
                              <a:solidFill>
                                <a:schemeClr val="tx1"/>
                              </a:solidFill>
                              <a:latin typeface="Cambria Math" panose="02040503050406030204" pitchFamily="18" charset="0"/>
                            </a:rPr>
                            <m:t>𝑰</m:t>
                          </m:r>
                          <m:d>
                            <m:dPr>
                              <m:ctrlPr>
                                <a:rPr lang="en-US" i="1" kern="1200">
                                  <a:solidFill>
                                    <a:schemeClr val="tx1"/>
                                  </a:solidFill>
                                  <a:latin typeface="Cambria Math" panose="02040503050406030204" pitchFamily="18" charset="0"/>
                                </a:rPr>
                              </m:ctrlPr>
                            </m:dPr>
                            <m:e>
                              <m:sSub>
                                <m:sSubPr>
                                  <m:ctrlPr>
                                    <a:rPr lang="en-US" i="1" kern="1200">
                                      <a:solidFill>
                                        <a:schemeClr val="tx1"/>
                                      </a:solidFill>
                                      <a:latin typeface="Cambria Math" panose="02040503050406030204" pitchFamily="18" charset="0"/>
                                    </a:rPr>
                                  </m:ctrlPr>
                                </m:sSubPr>
                                <m:e>
                                  <m:r>
                                    <a:rPr lang="en-US" i="1" kern="1200">
                                      <a:solidFill>
                                        <a:schemeClr val="tx1"/>
                                      </a:solidFill>
                                      <a:latin typeface="Cambria Math" panose="02040503050406030204" pitchFamily="18" charset="0"/>
                                    </a:rPr>
                                    <m:t>𝜖</m:t>
                                  </m:r>
                                </m:e>
                                <m:sub>
                                  <m:r>
                                    <a:rPr lang="en-US" i="1" kern="1200">
                                      <a:solidFill>
                                        <a:schemeClr val="tx1"/>
                                      </a:solidFill>
                                      <a:latin typeface="Cambria Math" panose="02040503050406030204" pitchFamily="18" charset="0"/>
                                    </a:rPr>
                                    <m:t>𝑖</m:t>
                                  </m:r>
                                </m:sub>
                              </m:sSub>
                              <m:r>
                                <a:rPr lang="en-US" i="1" kern="1200">
                                  <a:solidFill>
                                    <a:schemeClr val="tx1"/>
                                  </a:solidFill>
                                  <a:latin typeface="Cambria Math" panose="02040503050406030204" pitchFamily="18" charset="0"/>
                                </a:rPr>
                                <m:t>&lt;0</m:t>
                              </m:r>
                            </m:e>
                          </m:d>
                          <m:r>
                            <a:rPr lang="en-US" i="1" kern="1200">
                              <a:solidFill>
                                <a:schemeClr val="tx1"/>
                              </a:solidFill>
                              <a:latin typeface="Cambria Math" panose="02040503050406030204" pitchFamily="18" charset="0"/>
                            </a:rPr>
                            <m:t>+0.5</m:t>
                          </m:r>
                          <m:d>
                            <m:dPr>
                              <m:begChr m:val="|"/>
                              <m:endChr m:val="|"/>
                              <m:ctrlPr>
                                <a:rPr lang="en-US" i="1" kern="1200">
                                  <a:solidFill>
                                    <a:schemeClr val="tx1"/>
                                  </a:solidFill>
                                  <a:latin typeface="Cambria Math" panose="02040503050406030204" pitchFamily="18" charset="0"/>
                                </a:rPr>
                              </m:ctrlPr>
                            </m:dPr>
                            <m:e>
                              <m:sSub>
                                <m:sSubPr>
                                  <m:ctrlPr>
                                    <a:rPr lang="en-US" i="1" kern="1200">
                                      <a:solidFill>
                                        <a:schemeClr val="tx1"/>
                                      </a:solidFill>
                                      <a:latin typeface="Cambria Math" panose="02040503050406030204" pitchFamily="18" charset="0"/>
                                    </a:rPr>
                                  </m:ctrlPr>
                                </m:sSubPr>
                                <m:e>
                                  <m:r>
                                    <a:rPr lang="en-US" i="1" kern="1200">
                                      <a:solidFill>
                                        <a:schemeClr val="tx1"/>
                                      </a:solidFill>
                                      <a:latin typeface="Cambria Math" panose="02040503050406030204" pitchFamily="18" charset="0"/>
                                    </a:rPr>
                                    <m:t>𝜖</m:t>
                                  </m:r>
                                </m:e>
                                <m:sub>
                                  <m:r>
                                    <a:rPr lang="en-US" i="1" kern="1200">
                                      <a:solidFill>
                                        <a:schemeClr val="tx1"/>
                                      </a:solidFill>
                                      <a:latin typeface="Cambria Math" panose="02040503050406030204" pitchFamily="18" charset="0"/>
                                    </a:rPr>
                                    <m:t>𝑖</m:t>
                                  </m:r>
                                </m:sub>
                              </m:sSub>
                            </m:e>
                          </m:d>
                          <m:r>
                            <a:rPr lang="en-US" b="1" i="1" kern="1200">
                              <a:solidFill>
                                <a:schemeClr val="tx1"/>
                              </a:solidFill>
                              <a:latin typeface="Cambria Math" panose="02040503050406030204" pitchFamily="18" charset="0"/>
                            </a:rPr>
                            <m:t>𝑰</m:t>
                          </m:r>
                          <m:d>
                            <m:dPr>
                              <m:ctrlPr>
                                <a:rPr lang="en-US" i="1" kern="1200">
                                  <a:solidFill>
                                    <a:schemeClr val="tx1"/>
                                  </a:solidFill>
                                  <a:latin typeface="Cambria Math" panose="02040503050406030204" pitchFamily="18" charset="0"/>
                                </a:rPr>
                              </m:ctrlPr>
                            </m:dPr>
                            <m:e>
                              <m:sSub>
                                <m:sSubPr>
                                  <m:ctrlPr>
                                    <a:rPr lang="en-US" i="1" kern="1200">
                                      <a:solidFill>
                                        <a:schemeClr val="tx1"/>
                                      </a:solidFill>
                                      <a:latin typeface="Cambria Math" panose="02040503050406030204" pitchFamily="18" charset="0"/>
                                    </a:rPr>
                                  </m:ctrlPr>
                                </m:sSubPr>
                                <m:e>
                                  <m:r>
                                    <a:rPr lang="en-US" i="1" kern="1200">
                                      <a:solidFill>
                                        <a:schemeClr val="tx1"/>
                                      </a:solidFill>
                                      <a:latin typeface="Cambria Math" panose="02040503050406030204" pitchFamily="18" charset="0"/>
                                    </a:rPr>
                                    <m:t>𝜖</m:t>
                                  </m:r>
                                </m:e>
                                <m:sub>
                                  <m:r>
                                    <a:rPr lang="en-US" i="1" kern="1200">
                                      <a:solidFill>
                                        <a:schemeClr val="tx1"/>
                                      </a:solidFill>
                                      <a:latin typeface="Cambria Math" panose="02040503050406030204" pitchFamily="18" charset="0"/>
                                    </a:rPr>
                                    <m:t>𝑖</m:t>
                                  </m:r>
                                </m:sub>
                              </m:sSub>
                              <m:r>
                                <a:rPr lang="en-US" i="1" kern="1200">
                                  <a:solidFill>
                                    <a:schemeClr val="tx1"/>
                                  </a:solidFill>
                                  <a:latin typeface="Cambria Math" panose="02040503050406030204" pitchFamily="18" charset="0"/>
                                </a:rPr>
                                <m:t>≥0</m:t>
                              </m:r>
                            </m:e>
                          </m:d>
                        </m:e>
                      </m:nary>
                      <m:r>
                        <a:rPr lang="en-US" b="0" i="1" kern="1200" smtClean="0">
                          <a:solidFill>
                            <a:prstClr val="black"/>
                          </a:solidFill>
                          <a:latin typeface="Cambria Math" panose="02040503050406030204" pitchFamily="18" charset="0"/>
                        </a:rPr>
                        <m:t>=0.5</m:t>
                      </m:r>
                      <m:nary>
                        <m:naryPr>
                          <m:chr m:val="∑"/>
                          <m:ctrlPr>
                            <a:rPr lang="en-US" b="0" i="1" kern="1200" smtClean="0">
                              <a:solidFill>
                                <a:prstClr val="black"/>
                              </a:solidFill>
                              <a:latin typeface="Cambria Math" panose="02040503050406030204" pitchFamily="18" charset="0"/>
                            </a:rPr>
                          </m:ctrlPr>
                        </m:naryPr>
                        <m:sub>
                          <m:r>
                            <m:rPr>
                              <m:brk m:alnAt="23"/>
                            </m:rPr>
                            <a:rPr lang="en-US" b="0" i="1" kern="1200" smtClean="0">
                              <a:solidFill>
                                <a:prstClr val="black"/>
                              </a:solidFill>
                              <a:latin typeface="Cambria Math" panose="02040503050406030204" pitchFamily="18" charset="0"/>
                            </a:rPr>
                            <m:t>𝑖</m:t>
                          </m:r>
                          <m:r>
                            <a:rPr lang="en-US" b="0" i="1" kern="1200" smtClean="0">
                              <a:solidFill>
                                <a:prstClr val="black"/>
                              </a:solidFill>
                              <a:latin typeface="Cambria Math" panose="02040503050406030204" pitchFamily="18" charset="0"/>
                            </a:rPr>
                            <m:t>=1</m:t>
                          </m:r>
                        </m:sub>
                        <m:sup>
                          <m:r>
                            <a:rPr lang="en-US" b="0" i="1" kern="1200" smtClean="0">
                              <a:solidFill>
                                <a:prstClr val="black"/>
                              </a:solidFill>
                              <a:latin typeface="Cambria Math" panose="02040503050406030204" pitchFamily="18" charset="0"/>
                            </a:rPr>
                            <m:t>𝑁</m:t>
                          </m:r>
                        </m:sup>
                        <m:e>
                          <m:r>
                            <a:rPr lang="en-US" b="0" i="1" kern="1200" smtClean="0">
                              <a:solidFill>
                                <a:prstClr val="black"/>
                              </a:solidFill>
                              <a:latin typeface="Cambria Math" panose="02040503050406030204" pitchFamily="18" charset="0"/>
                            </a:rPr>
                            <m:t>|</m:t>
                          </m:r>
                          <m:sSub>
                            <m:sSubPr>
                              <m:ctrlPr>
                                <a:rPr lang="en-US" b="0" i="1" kern="1200" smtClean="0">
                                  <a:solidFill>
                                    <a:prstClr val="black"/>
                                  </a:solidFill>
                                  <a:latin typeface="Cambria Math" panose="02040503050406030204" pitchFamily="18" charset="0"/>
                                </a:rPr>
                              </m:ctrlPr>
                            </m:sSubPr>
                            <m:e>
                              <m:r>
                                <a:rPr lang="en-US" b="0" i="1" kern="1200" smtClean="0">
                                  <a:solidFill>
                                    <a:prstClr val="black"/>
                                  </a:solidFill>
                                  <a:latin typeface="Cambria Math" panose="02040503050406030204" pitchFamily="18" charset="0"/>
                                </a:rPr>
                                <m:t>𝜖</m:t>
                              </m:r>
                            </m:e>
                            <m:sub>
                              <m:r>
                                <a:rPr lang="en-US" b="0" i="1" kern="1200" smtClean="0">
                                  <a:solidFill>
                                    <a:prstClr val="black"/>
                                  </a:solidFill>
                                  <a:latin typeface="Cambria Math" panose="02040503050406030204" pitchFamily="18" charset="0"/>
                                </a:rPr>
                                <m:t>𝑖</m:t>
                              </m:r>
                            </m:sub>
                          </m:sSub>
                          <m:r>
                            <a:rPr lang="en-US" b="0" i="1" kern="1200" smtClean="0">
                              <a:solidFill>
                                <a:prstClr val="black"/>
                              </a:solidFill>
                              <a:latin typeface="Cambria Math" panose="02040503050406030204" pitchFamily="18" charset="0"/>
                            </a:rPr>
                            <m:t>|</m:t>
                          </m:r>
                        </m:e>
                      </m:nary>
                    </m:oMath>
                  </m:oMathPara>
                </a14:m>
                <a:endParaRPr lang="en-US" dirty="0"/>
              </a:p>
            </p:txBody>
          </p:sp>
        </mc:Choice>
        <mc:Fallback xmlns="">
          <p:sp>
            <p:nvSpPr>
              <p:cNvPr id="3" name="Text Placeholder 2">
                <a:extLst>
                  <a:ext uri="{FF2B5EF4-FFF2-40B4-BE49-F238E27FC236}">
                    <a16:creationId xmlns:a16="http://schemas.microsoft.com/office/drawing/2014/main" id="{5681A27B-7483-BBC9-9F81-97F5759C3CEC}"/>
                  </a:ext>
                </a:extLst>
              </p:cNvPr>
              <p:cNvSpPr>
                <a:spLocks noGrp="1" noRot="1" noChangeAspect="1" noMove="1" noResize="1" noEditPoints="1" noAdjustHandles="1" noChangeArrowheads="1" noChangeShapeType="1" noTextEdit="1"/>
              </p:cNvSpPr>
              <p:nvPr>
                <p:ph type="body" idx="1"/>
              </p:nvPr>
            </p:nvSpPr>
            <p:spPr>
              <a:blipFill>
                <a:blip r:embed="rId3"/>
                <a:stretch>
                  <a:fillRect l="-9891" b="-3575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D8FD519-46DD-3A08-DA52-78F7EFA9904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55</a:t>
            </a:fld>
            <a:endParaRPr lang="en-US"/>
          </a:p>
        </p:txBody>
      </p:sp>
    </p:spTree>
    <p:extLst>
      <p:ext uri="{BB962C8B-B14F-4D97-AF65-F5344CB8AC3E}">
        <p14:creationId xmlns:p14="http://schemas.microsoft.com/office/powerpoint/2010/main" val="3822300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326DF-E24C-9747-7ECD-DFBD4064CB36}"/>
              </a:ext>
            </a:extLst>
          </p:cNvPr>
          <p:cNvSpPr>
            <a:spLocks noGrp="1"/>
          </p:cNvSpPr>
          <p:nvPr>
            <p:ph type="title"/>
          </p:nvPr>
        </p:nvSpPr>
        <p:spPr/>
        <p:txBody>
          <a:bodyPr/>
          <a:lstStyle/>
          <a:p>
            <a:r>
              <a:rPr lang="en-US" b="1" dirty="0">
                <a:solidFill>
                  <a:srgbClr val="468C8A"/>
                </a:solidFill>
              </a:rPr>
              <a:t>Contextualizing rho (all other cases)</a:t>
            </a:r>
            <a:endParaRPr lang="en-US" dirty="0">
              <a:highlight>
                <a:srgbClr val="FFFF00"/>
              </a:highlight>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681A27B-7483-BBC9-9F81-97F5759C3CEC}"/>
                  </a:ext>
                </a:extLst>
              </p:cNvPr>
              <p:cNvSpPr>
                <a:spLocks noGrp="1"/>
              </p:cNvSpPr>
              <p:nvPr>
                <p:ph type="body" idx="1"/>
              </p:nvPr>
            </p:nvSpPr>
            <p:spPr/>
            <p:txBody>
              <a:bodyPr>
                <a:normAutofit fontScale="92500" lnSpcReduction="10000"/>
              </a:bodyPr>
              <a:lstStyle/>
              <a:p>
                <a:pPr>
                  <a:buSzPct val="100000"/>
                </a:pPr>
                <a:r>
                  <a:rPr lang="en-US" dirty="0"/>
                  <a:t>Suppose </a:t>
                </a:r>
                <a14:m>
                  <m:oMath xmlns:m="http://schemas.openxmlformats.org/officeDocument/2006/math">
                    <m:r>
                      <a:rPr lang="en-US" b="0" i="1" smtClean="0">
                        <a:latin typeface="Cambria Math" panose="02040503050406030204" pitchFamily="18" charset="0"/>
                      </a:rPr>
                      <m:t>𝜏</m:t>
                    </m:r>
                    <m:r>
                      <a:rPr lang="en-US" b="0" i="1" smtClean="0">
                        <a:latin typeface="Cambria Math" panose="02040503050406030204" pitchFamily="18" charset="0"/>
                      </a:rPr>
                      <m:t>=0.25</m:t>
                    </m:r>
                  </m:oMath>
                </a14:m>
                <a:endParaRPr lang="en-US" dirty="0"/>
              </a:p>
              <a:p>
                <a:pPr>
                  <a:buSzPct val="100000"/>
                </a:pPr>
                <a:endParaRPr lang="en-US" dirty="0"/>
              </a:p>
              <a:p>
                <a:pPr>
                  <a:buSzPct val="100000"/>
                </a:pPr>
                <a:r>
                  <a:rPr lang="en-US" dirty="0"/>
                  <a:t>Then, the sum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0.25</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𝑖</m:t>
                        </m:r>
                      </m:sub>
                    </m:sSub>
                    <m:r>
                      <a:rPr lang="en-US" i="1">
                        <a:latin typeface="Cambria Math" panose="02040503050406030204" pitchFamily="18" charset="0"/>
                      </a:rPr>
                      <m:t>)</m:t>
                    </m:r>
                  </m:oMath>
                </a14:m>
                <a:r>
                  <a:rPr lang="en-US" dirty="0"/>
                  <a:t> (which is what we’re minimizing) is</a:t>
                </a:r>
              </a:p>
              <a:p>
                <a:pPr marL="114300" indent="0">
                  <a:buNone/>
                </a:pPr>
                <a:endParaRPr lang="en-US" sz="2000" i="1" dirty="0">
                  <a:latin typeface="Cambria Math" panose="02040503050406030204" pitchFamily="18" charset="0"/>
                </a:endParaRPr>
              </a:p>
              <a:p>
                <a:pPr marL="114300" indent="0">
                  <a:buNone/>
                </a:pPr>
                <a14:m>
                  <m:oMathPara xmlns:m="http://schemas.openxmlformats.org/officeDocument/2006/math">
                    <m:oMathParaPr>
                      <m:jc m:val="center"/>
                    </m:oMathParaPr>
                    <m:oMath xmlns:m="http://schemas.openxmlformats.org/officeDocument/2006/math">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e>
                          <m:sSub>
                            <m:sSubPr>
                              <m:ctrlPr>
                                <a:rPr lang="en-US" i="1">
                                  <a:latin typeface="Cambria Math" panose="02040503050406030204" pitchFamily="18" charset="0"/>
                                </a:rPr>
                              </m:ctrlPr>
                            </m:sSubPr>
                            <m:e>
                              <m:r>
                                <a:rPr lang="en-US" i="1">
                                  <a:latin typeface="Cambria Math" panose="02040503050406030204" pitchFamily="18" charset="0"/>
                                </a:rPr>
                                <m:t>𝜌</m:t>
                              </m:r>
                            </m:e>
                            <m:sub>
                              <m:r>
                                <a:rPr lang="en-US" i="1">
                                  <a:latin typeface="Cambria Math" panose="02040503050406030204" pitchFamily="18" charset="0"/>
                                </a:rPr>
                                <m:t>0.</m:t>
                              </m:r>
                              <m:r>
                                <a:rPr lang="en-US" b="0" i="1" smtClean="0">
                                  <a:latin typeface="Cambria Math" panose="02040503050406030204" pitchFamily="18" charset="0"/>
                                </a:rPr>
                                <m:t>2</m:t>
                              </m:r>
                              <m:r>
                                <a:rPr lang="en-US" i="1">
                                  <a:latin typeface="Cambria Math" panose="02040503050406030204" pitchFamily="18" charset="0"/>
                                </a:rPr>
                                <m:t>5</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𝑖</m:t>
                                  </m:r>
                                </m:sub>
                              </m:sSub>
                            </m:e>
                          </m:d>
                        </m:e>
                      </m:nary>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e>
                          <m:d>
                            <m:dPr>
                              <m:ctrlPr>
                                <a:rPr lang="en-US" i="1" kern="1200">
                                  <a:solidFill>
                                    <a:schemeClr val="tx1"/>
                                  </a:solidFill>
                                  <a:latin typeface="Cambria Math" panose="02040503050406030204" pitchFamily="18" charset="0"/>
                                </a:rPr>
                              </m:ctrlPr>
                            </m:dPr>
                            <m:e>
                              <m:r>
                                <a:rPr lang="en-US" i="1" kern="1200">
                                  <a:solidFill>
                                    <a:schemeClr val="tx1"/>
                                  </a:solidFill>
                                  <a:latin typeface="Cambria Math" panose="02040503050406030204" pitchFamily="18" charset="0"/>
                                </a:rPr>
                                <m:t>1−0.</m:t>
                              </m:r>
                              <m:r>
                                <a:rPr lang="en-US" b="0" i="1" kern="1200" smtClean="0">
                                  <a:solidFill>
                                    <a:schemeClr val="tx1"/>
                                  </a:solidFill>
                                  <a:latin typeface="Cambria Math" panose="02040503050406030204" pitchFamily="18" charset="0"/>
                                </a:rPr>
                                <m:t>2</m:t>
                              </m:r>
                              <m:r>
                                <a:rPr lang="en-US" i="1" kern="1200">
                                  <a:solidFill>
                                    <a:schemeClr val="tx1"/>
                                  </a:solidFill>
                                  <a:latin typeface="Cambria Math" panose="02040503050406030204" pitchFamily="18" charset="0"/>
                                </a:rPr>
                                <m:t>5</m:t>
                              </m:r>
                            </m:e>
                          </m:d>
                          <m:d>
                            <m:dPr>
                              <m:begChr m:val="|"/>
                              <m:endChr m:val="|"/>
                              <m:ctrlPr>
                                <a:rPr lang="en-US" i="1" kern="1200">
                                  <a:solidFill>
                                    <a:schemeClr val="tx1"/>
                                  </a:solidFill>
                                  <a:latin typeface="Cambria Math" panose="02040503050406030204" pitchFamily="18" charset="0"/>
                                </a:rPr>
                              </m:ctrlPr>
                            </m:dPr>
                            <m:e>
                              <m:sSub>
                                <m:sSubPr>
                                  <m:ctrlPr>
                                    <a:rPr lang="en-US" i="1" kern="1200">
                                      <a:solidFill>
                                        <a:schemeClr val="tx1"/>
                                      </a:solidFill>
                                      <a:latin typeface="Cambria Math" panose="02040503050406030204" pitchFamily="18" charset="0"/>
                                    </a:rPr>
                                  </m:ctrlPr>
                                </m:sSubPr>
                                <m:e>
                                  <m:r>
                                    <a:rPr lang="en-US" i="1" kern="1200">
                                      <a:solidFill>
                                        <a:schemeClr val="tx1"/>
                                      </a:solidFill>
                                      <a:latin typeface="Cambria Math" panose="02040503050406030204" pitchFamily="18" charset="0"/>
                                    </a:rPr>
                                    <m:t>𝜖</m:t>
                                  </m:r>
                                </m:e>
                                <m:sub>
                                  <m:r>
                                    <a:rPr lang="en-US" i="1" kern="1200">
                                      <a:solidFill>
                                        <a:schemeClr val="tx1"/>
                                      </a:solidFill>
                                      <a:latin typeface="Cambria Math" panose="02040503050406030204" pitchFamily="18" charset="0"/>
                                    </a:rPr>
                                    <m:t>𝑖</m:t>
                                  </m:r>
                                </m:sub>
                              </m:sSub>
                            </m:e>
                          </m:d>
                          <m:r>
                            <a:rPr lang="en-US" b="1" i="1" kern="1200">
                              <a:solidFill>
                                <a:schemeClr val="tx1"/>
                              </a:solidFill>
                              <a:latin typeface="Cambria Math" panose="02040503050406030204" pitchFamily="18" charset="0"/>
                            </a:rPr>
                            <m:t>𝑰</m:t>
                          </m:r>
                          <m:d>
                            <m:dPr>
                              <m:ctrlPr>
                                <a:rPr lang="en-US" i="1" kern="1200">
                                  <a:solidFill>
                                    <a:schemeClr val="tx1"/>
                                  </a:solidFill>
                                  <a:latin typeface="Cambria Math" panose="02040503050406030204" pitchFamily="18" charset="0"/>
                                </a:rPr>
                              </m:ctrlPr>
                            </m:dPr>
                            <m:e>
                              <m:sSub>
                                <m:sSubPr>
                                  <m:ctrlPr>
                                    <a:rPr lang="en-US" i="1" kern="1200">
                                      <a:solidFill>
                                        <a:schemeClr val="tx1"/>
                                      </a:solidFill>
                                      <a:latin typeface="Cambria Math" panose="02040503050406030204" pitchFamily="18" charset="0"/>
                                    </a:rPr>
                                  </m:ctrlPr>
                                </m:sSubPr>
                                <m:e>
                                  <m:r>
                                    <a:rPr lang="en-US" i="1" kern="1200">
                                      <a:solidFill>
                                        <a:schemeClr val="tx1"/>
                                      </a:solidFill>
                                      <a:latin typeface="Cambria Math" panose="02040503050406030204" pitchFamily="18" charset="0"/>
                                    </a:rPr>
                                    <m:t>𝜖</m:t>
                                  </m:r>
                                </m:e>
                                <m:sub>
                                  <m:r>
                                    <a:rPr lang="en-US" i="1" kern="1200">
                                      <a:solidFill>
                                        <a:schemeClr val="tx1"/>
                                      </a:solidFill>
                                      <a:latin typeface="Cambria Math" panose="02040503050406030204" pitchFamily="18" charset="0"/>
                                    </a:rPr>
                                    <m:t>𝑖</m:t>
                                  </m:r>
                                </m:sub>
                              </m:sSub>
                              <m:r>
                                <a:rPr lang="en-US" i="1" kern="1200">
                                  <a:solidFill>
                                    <a:schemeClr val="tx1"/>
                                  </a:solidFill>
                                  <a:latin typeface="Cambria Math" panose="02040503050406030204" pitchFamily="18" charset="0"/>
                                </a:rPr>
                                <m:t>&lt;0</m:t>
                              </m:r>
                            </m:e>
                          </m:d>
                          <m:r>
                            <a:rPr lang="en-US" i="1" kern="1200">
                              <a:solidFill>
                                <a:schemeClr val="tx1"/>
                              </a:solidFill>
                              <a:latin typeface="Cambria Math" panose="02040503050406030204" pitchFamily="18" charset="0"/>
                            </a:rPr>
                            <m:t>+0.</m:t>
                          </m:r>
                          <m:r>
                            <a:rPr lang="en-US" b="0" i="1" kern="1200" smtClean="0">
                              <a:solidFill>
                                <a:schemeClr val="tx1"/>
                              </a:solidFill>
                              <a:latin typeface="Cambria Math" panose="02040503050406030204" pitchFamily="18" charset="0"/>
                            </a:rPr>
                            <m:t>2</m:t>
                          </m:r>
                          <m:r>
                            <a:rPr lang="en-US" i="1" kern="1200">
                              <a:solidFill>
                                <a:schemeClr val="tx1"/>
                              </a:solidFill>
                              <a:latin typeface="Cambria Math" panose="02040503050406030204" pitchFamily="18" charset="0"/>
                            </a:rPr>
                            <m:t>5</m:t>
                          </m:r>
                          <m:d>
                            <m:dPr>
                              <m:begChr m:val="|"/>
                              <m:endChr m:val="|"/>
                              <m:ctrlPr>
                                <a:rPr lang="en-US" i="1" kern="1200">
                                  <a:solidFill>
                                    <a:schemeClr val="tx1"/>
                                  </a:solidFill>
                                  <a:latin typeface="Cambria Math" panose="02040503050406030204" pitchFamily="18" charset="0"/>
                                </a:rPr>
                              </m:ctrlPr>
                            </m:dPr>
                            <m:e>
                              <m:sSub>
                                <m:sSubPr>
                                  <m:ctrlPr>
                                    <a:rPr lang="en-US" i="1" kern="1200">
                                      <a:solidFill>
                                        <a:schemeClr val="tx1"/>
                                      </a:solidFill>
                                      <a:latin typeface="Cambria Math" panose="02040503050406030204" pitchFamily="18" charset="0"/>
                                    </a:rPr>
                                  </m:ctrlPr>
                                </m:sSubPr>
                                <m:e>
                                  <m:r>
                                    <a:rPr lang="en-US" i="1" kern="1200">
                                      <a:solidFill>
                                        <a:schemeClr val="tx1"/>
                                      </a:solidFill>
                                      <a:latin typeface="Cambria Math" panose="02040503050406030204" pitchFamily="18" charset="0"/>
                                    </a:rPr>
                                    <m:t>𝜖</m:t>
                                  </m:r>
                                </m:e>
                                <m:sub>
                                  <m:r>
                                    <a:rPr lang="en-US" i="1" kern="1200">
                                      <a:solidFill>
                                        <a:schemeClr val="tx1"/>
                                      </a:solidFill>
                                      <a:latin typeface="Cambria Math" panose="02040503050406030204" pitchFamily="18" charset="0"/>
                                    </a:rPr>
                                    <m:t>𝑖</m:t>
                                  </m:r>
                                </m:sub>
                              </m:sSub>
                            </m:e>
                          </m:d>
                          <m:r>
                            <a:rPr lang="en-US" b="1" i="1" kern="1200">
                              <a:solidFill>
                                <a:schemeClr val="tx1"/>
                              </a:solidFill>
                              <a:latin typeface="Cambria Math" panose="02040503050406030204" pitchFamily="18" charset="0"/>
                            </a:rPr>
                            <m:t>𝑰</m:t>
                          </m:r>
                          <m:d>
                            <m:dPr>
                              <m:ctrlPr>
                                <a:rPr lang="en-US" i="1" kern="1200">
                                  <a:solidFill>
                                    <a:schemeClr val="tx1"/>
                                  </a:solidFill>
                                  <a:latin typeface="Cambria Math" panose="02040503050406030204" pitchFamily="18" charset="0"/>
                                </a:rPr>
                              </m:ctrlPr>
                            </m:dPr>
                            <m:e>
                              <m:sSub>
                                <m:sSubPr>
                                  <m:ctrlPr>
                                    <a:rPr lang="en-US" i="1" kern="1200">
                                      <a:solidFill>
                                        <a:schemeClr val="tx1"/>
                                      </a:solidFill>
                                      <a:latin typeface="Cambria Math" panose="02040503050406030204" pitchFamily="18" charset="0"/>
                                    </a:rPr>
                                  </m:ctrlPr>
                                </m:sSubPr>
                                <m:e>
                                  <m:r>
                                    <a:rPr lang="en-US" i="1" kern="1200">
                                      <a:solidFill>
                                        <a:schemeClr val="tx1"/>
                                      </a:solidFill>
                                      <a:latin typeface="Cambria Math" panose="02040503050406030204" pitchFamily="18" charset="0"/>
                                    </a:rPr>
                                    <m:t>𝜖</m:t>
                                  </m:r>
                                </m:e>
                                <m:sub>
                                  <m:r>
                                    <a:rPr lang="en-US" i="1" kern="1200">
                                      <a:solidFill>
                                        <a:schemeClr val="tx1"/>
                                      </a:solidFill>
                                      <a:latin typeface="Cambria Math" panose="02040503050406030204" pitchFamily="18" charset="0"/>
                                    </a:rPr>
                                    <m:t>𝑖</m:t>
                                  </m:r>
                                </m:sub>
                              </m:sSub>
                              <m:r>
                                <a:rPr lang="en-US" i="1" kern="1200">
                                  <a:solidFill>
                                    <a:schemeClr val="tx1"/>
                                  </a:solidFill>
                                  <a:latin typeface="Cambria Math" panose="02040503050406030204" pitchFamily="18" charset="0"/>
                                </a:rPr>
                                <m:t>≥0</m:t>
                              </m:r>
                            </m:e>
                          </m:d>
                        </m:e>
                      </m:nary>
                    </m:oMath>
                  </m:oMathPara>
                </a14:m>
                <a:endParaRPr lang="en-US" i="1" kern="1200" dirty="0">
                  <a:solidFill>
                    <a:schemeClr val="tx1"/>
                  </a:solidFill>
                  <a:latin typeface="Cambria Math" panose="02040503050406030204" pitchFamily="18" charset="0"/>
                </a:endParaRPr>
              </a:p>
              <a:p>
                <a:pPr marL="114300" indent="0">
                  <a:buNone/>
                </a:pPr>
                <a:endParaRPr lang="en-US" i="1" kern="1200" dirty="0">
                  <a:solidFill>
                    <a:schemeClr val="tx1"/>
                  </a:solidFill>
                  <a:latin typeface="Cambria Math" panose="02040503050406030204" pitchFamily="18" charset="0"/>
                </a:endParaRPr>
              </a:p>
              <a:p>
                <a:pPr marL="114300" indent="0">
                  <a:buNone/>
                </a:pPr>
                <a14:m>
                  <m:oMathPara xmlns:m="http://schemas.openxmlformats.org/officeDocument/2006/math">
                    <m:oMathParaPr>
                      <m:jc m:val="centerGroup"/>
                    </m:oMathParaPr>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0.25</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𝑖</m:t>
                                  </m:r>
                                </m:sub>
                              </m:sSub>
                            </m:e>
                          </m:d>
                        </m:e>
                      </m:nary>
                      <m:r>
                        <a:rPr lang="en-US" b="0" i="1" smtClean="0">
                          <a:latin typeface="Cambria Math" panose="02040503050406030204" pitchFamily="18" charset="0"/>
                        </a:rPr>
                        <m:t>=0.75</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𝐾</m:t>
                          </m:r>
                        </m:sup>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𝑖</m:t>
                              </m:r>
                            </m:sub>
                          </m:sSub>
                          <m:r>
                            <a:rPr lang="en-US" b="0" i="1" smtClean="0">
                              <a:latin typeface="Cambria Math" panose="02040503050406030204" pitchFamily="18" charset="0"/>
                            </a:rPr>
                            <m:t>|</m:t>
                          </m:r>
                        </m:e>
                      </m:nary>
                      <m:r>
                        <a:rPr lang="en-US" b="0" i="1" smtClean="0">
                          <a:latin typeface="Cambria Math" panose="02040503050406030204" pitchFamily="18" charset="0"/>
                        </a:rPr>
                        <m:t>+0.25</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+1</m:t>
                          </m:r>
                        </m:sub>
                        <m:sup>
                          <m:r>
                            <a:rPr lang="en-US" b="0" i="1" smtClean="0">
                              <a:latin typeface="Cambria Math" panose="02040503050406030204" pitchFamily="18" charset="0"/>
                            </a:rPr>
                            <m:t>𝑁</m:t>
                          </m:r>
                        </m:sup>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𝑖</m:t>
                              </m:r>
                            </m:sub>
                          </m:sSub>
                          <m:r>
                            <a:rPr lang="en-US" i="1">
                              <a:latin typeface="Cambria Math" panose="02040503050406030204" pitchFamily="18" charset="0"/>
                            </a:rPr>
                            <m:t>|</m:t>
                          </m:r>
                        </m:e>
                      </m:nary>
                    </m:oMath>
                  </m:oMathPara>
                </a14:m>
                <a:endParaRPr lang="en-US" i="1" dirty="0">
                  <a:latin typeface="Cambria Math" panose="02040503050406030204" pitchFamily="18" charset="0"/>
                </a:endParaRPr>
              </a:p>
            </p:txBody>
          </p:sp>
        </mc:Choice>
        <mc:Fallback xmlns="">
          <p:sp>
            <p:nvSpPr>
              <p:cNvPr id="3" name="Text Placeholder 2">
                <a:extLst>
                  <a:ext uri="{FF2B5EF4-FFF2-40B4-BE49-F238E27FC236}">
                    <a16:creationId xmlns:a16="http://schemas.microsoft.com/office/drawing/2014/main" id="{5681A27B-7483-BBC9-9F81-97F5759C3CEC}"/>
                  </a:ext>
                </a:extLst>
              </p:cNvPr>
              <p:cNvSpPr>
                <a:spLocks noGrp="1" noRot="1" noChangeAspect="1" noMove="1" noResize="1" noEditPoints="1" noAdjustHandles="1" noChangeArrowheads="1" noChangeShapeType="1" noTextEdit="1"/>
              </p:cNvSpPr>
              <p:nvPr>
                <p:ph type="body" idx="1"/>
              </p:nvPr>
            </p:nvSpPr>
            <p:spPr>
              <a:blipFill>
                <a:blip r:embed="rId3"/>
                <a:stretch>
                  <a:fillRect l="-3378" b="-43314"/>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D8FD519-46DD-3A08-DA52-78F7EFA9904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56</a:t>
            </a:fld>
            <a:endParaRPr lang="en-US"/>
          </a:p>
        </p:txBody>
      </p:sp>
    </p:spTree>
    <p:extLst>
      <p:ext uri="{BB962C8B-B14F-4D97-AF65-F5344CB8AC3E}">
        <p14:creationId xmlns:p14="http://schemas.microsoft.com/office/powerpoint/2010/main" val="3830658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Shape 384"/>
        <p:cNvGrpSpPr/>
        <p:nvPr/>
      </p:nvGrpSpPr>
      <p:grpSpPr>
        <a:xfrm>
          <a:off x="0" y="0"/>
          <a:ext cx="0" cy="0"/>
          <a:chOff x="0" y="0"/>
          <a:chExt cx="0" cy="0"/>
        </a:xfrm>
      </p:grpSpPr>
      <p:sp>
        <p:nvSpPr>
          <p:cNvPr id="385" name="Google Shape;385;p1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Estimating conditional quantile regression coefficients in our sample</a:t>
            </a:r>
            <a:endParaRPr dirty="0"/>
          </a:p>
        </p:txBody>
      </p:sp>
      <p:sp>
        <p:nvSpPr>
          <p:cNvPr id="387" name="Google Shape;387;p1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57</a:t>
            </a:fld>
            <a:endParaRP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0597D1B3-9748-9157-A84C-D71FB2E8BD6B}"/>
                  </a:ext>
                </a:extLst>
              </p:cNvPr>
              <p:cNvSpPr txBox="1">
                <a:spLocks/>
              </p:cNvSpPr>
              <p:nvPr/>
            </p:nvSpPr>
            <p:spPr>
              <a:xfrm>
                <a:off x="838200" y="1825624"/>
                <a:ext cx="10515600" cy="480095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a:buSzPct val="100000"/>
                </a:pPr>
                <a:r>
                  <a:rPr lang="en-US" dirty="0"/>
                  <a:t>We can use estimates of the error term to estimate CQR coefficients </a:t>
                </a:r>
              </a:p>
              <a:p>
                <a:pPr marL="0" indent="0">
                  <a:buSzPct val="100000"/>
                  <a:buFont typeface="Arial"/>
                  <a:buNone/>
                </a:pPr>
                <a:endParaRPr lang="en-US" dirty="0"/>
              </a:p>
              <a:p>
                <a:pPr marL="0" indent="0">
                  <a:buSzPct val="100000"/>
                  <a:buNone/>
                </a:pP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rPr>
                          </m:ctrlPr>
                        </m:dPr>
                        <m:e>
                          <m:acc>
                            <m:accPr>
                              <m:chr m:val="̂"/>
                              <m:ctrlPr>
                                <a:rPr lang="en-US" i="1" dirty="0" smtClean="0">
                                  <a:latin typeface="Cambria Math" panose="02040503050406030204" pitchFamily="18" charset="0"/>
                                </a:rPr>
                              </m:ctrlPr>
                            </m:accPr>
                            <m:e>
                              <m:sSub>
                                <m:sSubPr>
                                  <m:ctrlPr>
                                    <a:rPr lang="en-US" i="1" dirty="0" smtClean="0">
                                      <a:latin typeface="Cambria Math" panose="02040503050406030204" pitchFamily="18" charset="0"/>
                                    </a:rPr>
                                  </m:ctrlPr>
                                </m:sSubPr>
                                <m:e>
                                  <m:r>
                                    <a:rPr lang="en-US" i="1">
                                      <a:latin typeface="Cambria Math" panose="02040503050406030204" pitchFamily="18" charset="0"/>
                                    </a:rPr>
                                    <m:t>𝛼</m:t>
                                  </m:r>
                                </m:e>
                                <m:sub>
                                  <m:r>
                                    <a:rPr lang="en-US" i="1" dirty="0" smtClean="0">
                                      <a:latin typeface="Cambria Math" panose="02040503050406030204" pitchFamily="18" charset="0"/>
                                    </a:rPr>
                                    <m:t>0,</m:t>
                                  </m:r>
                                  <m:r>
                                    <a:rPr lang="en-US" i="1" dirty="0" smtClean="0">
                                      <a:latin typeface="Cambria Math" panose="02040503050406030204" pitchFamily="18" charset="0"/>
                                    </a:rPr>
                                    <m:t>𝜏</m:t>
                                  </m:r>
                                </m:sub>
                              </m:sSub>
                            </m:e>
                          </m:acc>
                          <m:r>
                            <a:rPr lang="en-US" i="1">
                              <a:latin typeface="Cambria Math" panose="02040503050406030204" pitchFamily="18" charset="0"/>
                            </a:rPr>
                            <m:t>,</m:t>
                          </m:r>
                          <m:acc>
                            <m:accPr>
                              <m:chr m:val="̂"/>
                              <m:ctrlPr>
                                <a:rPr lang="en-US" i="1" dirty="0" smtClean="0">
                                  <a:latin typeface="Cambria Math" panose="02040503050406030204" pitchFamily="18" charset="0"/>
                                </a:rPr>
                              </m:ctrlPr>
                            </m:accPr>
                            <m:e>
                              <m:sSub>
                                <m:sSubPr>
                                  <m:ctrlPr>
                                    <a:rPr lang="en-US" i="1" dirty="0" smtClean="0">
                                      <a:latin typeface="Cambria Math" panose="02040503050406030204" pitchFamily="18" charset="0"/>
                                    </a:rPr>
                                  </m:ctrlPr>
                                </m:sSubPr>
                                <m:e>
                                  <m:r>
                                    <a:rPr lang="en-US" i="1">
                                      <a:latin typeface="Cambria Math" panose="02040503050406030204" pitchFamily="18" charset="0"/>
                                    </a:rPr>
                                    <m:t>𝛼</m:t>
                                  </m:r>
                                </m:e>
                                <m:sub>
                                  <m:r>
                                    <a:rPr lang="en-US" i="1" dirty="0" smtClean="0">
                                      <a:latin typeface="Cambria Math" panose="02040503050406030204" pitchFamily="18" charset="0"/>
                                    </a:rPr>
                                    <m:t>1,</m:t>
                                  </m:r>
                                  <m:r>
                                    <a:rPr lang="en-US" i="1" dirty="0" smtClean="0">
                                      <a:latin typeface="Cambria Math" panose="02040503050406030204" pitchFamily="18" charset="0"/>
                                    </a:rPr>
                                    <m:t>𝜏</m:t>
                                  </m:r>
                                </m:sub>
                              </m:sSub>
                            </m:e>
                          </m:acc>
                        </m:e>
                      </m:d>
                      <m:r>
                        <a:rPr lang="en-US" i="1">
                          <a:latin typeface="Cambria Math" panose="02040503050406030204" pitchFamily="18" charset="0"/>
                        </a:rPr>
                        <m:t>=</m:t>
                      </m:r>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min</m:t>
                              </m:r>
                            </m:e>
                            <m:lim/>
                          </m:limLow>
                        </m:fName>
                        <m:e>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𝑖</m:t>
                              </m:r>
                            </m:sub>
                            <m:sup/>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𝜌</m:t>
                                  </m:r>
                                </m:e>
                                <m:sub>
                                  <m:r>
                                    <a:rPr lang="en-US" i="1" dirty="0" smtClean="0">
                                      <a:latin typeface="Cambria Math" panose="02040503050406030204" pitchFamily="18" charset="0"/>
                                    </a:rPr>
                                    <m:t>𝜏</m:t>
                                  </m:r>
                                </m:sub>
                              </m:sSub>
                              <m:r>
                                <a:rPr lang="en-US" i="1" dirty="0" smtClean="0">
                                  <a:latin typeface="Cambria Math" panose="02040503050406030204" pitchFamily="18" charset="0"/>
                                </a:rPr>
                                <m:t>(</m:t>
                              </m:r>
                              <m:acc>
                                <m:accPr>
                                  <m:chr m:val="̂"/>
                                  <m:ctrlPr>
                                    <a:rPr lang="en-US" i="1" dirty="0" smtClean="0">
                                      <a:latin typeface="Cambria Math" panose="02040503050406030204" pitchFamily="18" charset="0"/>
                                    </a:rPr>
                                  </m:ctrlPr>
                                </m:acc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𝜖</m:t>
                                      </m:r>
                                    </m:e>
                                    <m:sub>
                                      <m:r>
                                        <a:rPr lang="en-US" i="1" dirty="0" smtClean="0">
                                          <a:latin typeface="Cambria Math" panose="02040503050406030204" pitchFamily="18" charset="0"/>
                                        </a:rPr>
                                        <m:t>𝑖</m:t>
                                      </m:r>
                                    </m:sub>
                                  </m:sSub>
                                </m:e>
                              </m:acc>
                              <m:r>
                                <a:rPr lang="en-US" i="1" dirty="0" smtClean="0">
                                  <a:latin typeface="Cambria Math" panose="02040503050406030204" pitchFamily="18" charset="0"/>
                                </a:rPr>
                                <m:t>)</m:t>
                              </m:r>
                            </m:e>
                          </m:nary>
                        </m:e>
                      </m:func>
                      <m:r>
                        <a:rPr lang="en-US" i="1">
                          <a:latin typeface="Cambria Math" panose="02040503050406030204" pitchFamily="18" charset="0"/>
                        </a:rPr>
                        <m:t>=</m:t>
                      </m:r>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min</m:t>
                              </m:r>
                            </m:e>
                            <m:lim>
                              <m:acc>
                                <m:accPr>
                                  <m:chr m:val="̂"/>
                                  <m:ctrlPr>
                                    <a:rPr lang="en-US" i="1" dirty="0" smtClean="0">
                                      <a:latin typeface="Cambria Math" panose="02040503050406030204" pitchFamily="18" charset="0"/>
                                    </a:rPr>
                                  </m:ctrlPr>
                                </m:accPr>
                                <m:e>
                                  <m:sSub>
                                    <m:sSubPr>
                                      <m:ctrlPr>
                                        <a:rPr lang="en-US" i="1" dirty="0" smtClean="0">
                                          <a:latin typeface="Cambria Math" panose="02040503050406030204" pitchFamily="18" charset="0"/>
                                        </a:rPr>
                                      </m:ctrlPr>
                                    </m:sSubPr>
                                    <m:e>
                                      <m:r>
                                        <a:rPr lang="en-US" i="1">
                                          <a:latin typeface="Cambria Math" panose="02040503050406030204" pitchFamily="18" charset="0"/>
                                        </a:rPr>
                                        <m:t>𝛼</m:t>
                                      </m:r>
                                    </m:e>
                                    <m:sub>
                                      <m:r>
                                        <a:rPr lang="en-US" i="1" dirty="0" smtClean="0">
                                          <a:latin typeface="Cambria Math" panose="02040503050406030204" pitchFamily="18" charset="0"/>
                                        </a:rPr>
                                        <m:t>0,</m:t>
                                      </m:r>
                                      <m:r>
                                        <a:rPr lang="en-US" i="1" dirty="0" smtClean="0">
                                          <a:latin typeface="Cambria Math" panose="02040503050406030204" pitchFamily="18" charset="0"/>
                                        </a:rPr>
                                        <m:t>𝜏</m:t>
                                      </m:r>
                                    </m:sub>
                                  </m:sSub>
                                </m:e>
                              </m:acc>
                              <m:r>
                                <a:rPr lang="en-US" i="1" dirty="0" smtClean="0">
                                  <a:latin typeface="Cambria Math" panose="02040503050406030204" pitchFamily="18" charset="0"/>
                                </a:rPr>
                                <m:t>,</m:t>
                              </m:r>
                              <m:acc>
                                <m:accPr>
                                  <m:chr m:val="̂"/>
                                  <m:ctrlPr>
                                    <a:rPr lang="en-US" i="1" dirty="0" smtClean="0">
                                      <a:latin typeface="Cambria Math" panose="02040503050406030204" pitchFamily="18" charset="0"/>
                                    </a:rPr>
                                  </m:ctrlPr>
                                </m:accPr>
                                <m:e>
                                  <m:sSub>
                                    <m:sSubPr>
                                      <m:ctrlPr>
                                        <a:rPr lang="en-US" i="1" dirty="0" smtClean="0">
                                          <a:latin typeface="Cambria Math" panose="02040503050406030204" pitchFamily="18" charset="0"/>
                                        </a:rPr>
                                      </m:ctrlPr>
                                    </m:sSubPr>
                                    <m:e>
                                      <m:r>
                                        <a:rPr lang="en-US" i="1">
                                          <a:latin typeface="Cambria Math" panose="02040503050406030204" pitchFamily="18" charset="0"/>
                                        </a:rPr>
                                        <m:t>𝛼</m:t>
                                      </m:r>
                                    </m:e>
                                    <m:sub>
                                      <m:r>
                                        <a:rPr lang="en-US" i="1" dirty="0" smtClean="0">
                                          <a:latin typeface="Cambria Math" panose="02040503050406030204" pitchFamily="18" charset="0"/>
                                        </a:rPr>
                                        <m:t>1,</m:t>
                                      </m:r>
                                      <m:r>
                                        <a:rPr lang="en-US" i="1" dirty="0" smtClean="0">
                                          <a:latin typeface="Cambria Math" panose="02040503050406030204" pitchFamily="18" charset="0"/>
                                        </a:rPr>
                                        <m:t>𝜏</m:t>
                                      </m:r>
                                    </m:sub>
                                  </m:sSub>
                                </m:e>
                              </m:acc>
                            </m:lim>
                          </m:limLow>
                        </m:fName>
                        <m:e>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𝑖</m:t>
                              </m:r>
                            </m:sub>
                            <m:sup/>
                            <m:e>
                              <m:sSub>
                                <m:sSubPr>
                                  <m:ctrlPr>
                                    <a:rPr lang="en-US" i="1" smtClean="0">
                                      <a:latin typeface="Cambria Math" panose="02040503050406030204" pitchFamily="18" charset="0"/>
                                    </a:rPr>
                                  </m:ctrlPr>
                                </m:sSubPr>
                                <m:e>
                                  <m:r>
                                    <a:rPr lang="en-US" i="1" smtClean="0">
                                      <a:latin typeface="Cambria Math" panose="02040503050406030204" pitchFamily="18" charset="0"/>
                                    </a:rPr>
                                    <m:t>𝜌</m:t>
                                  </m:r>
                                </m:e>
                                <m:sub>
                                  <m:r>
                                    <a:rPr lang="en-US" i="1" smtClean="0">
                                      <a:latin typeface="Cambria Math" panose="02040503050406030204" pitchFamily="18" charset="0"/>
                                    </a:rPr>
                                    <m:t>𝜏</m:t>
                                  </m:r>
                                </m:sub>
                              </m:sSub>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i="1" smtClean="0">
                                          <a:latin typeface="Cambria Math" panose="02040503050406030204" pitchFamily="18" charset="0"/>
                                        </a:rPr>
                                        <m:t>𝑦</m:t>
                                      </m:r>
                                    </m:e>
                                    <m:sub>
                                      <m:r>
                                        <a:rPr lang="en-US" i="1" smtClean="0">
                                          <a:latin typeface="Cambria Math" panose="02040503050406030204" pitchFamily="18" charset="0"/>
                                        </a:rPr>
                                        <m:t>𝑖</m:t>
                                      </m:r>
                                    </m:sub>
                                  </m:sSub>
                                  <m:r>
                                    <a:rPr lang="en-US" i="1" smtClean="0">
                                      <a:latin typeface="Cambria Math" panose="02040503050406030204" pitchFamily="18" charset="0"/>
                                    </a:rPr>
                                    <m:t>−</m:t>
                                  </m:r>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i="1">
                                              <a:latin typeface="Cambria Math" panose="02040503050406030204" pitchFamily="18" charset="0"/>
                                            </a:rPr>
                                            <m:t>𝛼</m:t>
                                          </m:r>
                                        </m:e>
                                        <m:sub>
                                          <m:r>
                                            <a:rPr lang="en-US" i="1" smtClean="0">
                                              <a:latin typeface="Cambria Math" panose="02040503050406030204" pitchFamily="18" charset="0"/>
                                            </a:rPr>
                                            <m:t>0,</m:t>
                                          </m:r>
                                          <m:r>
                                            <a:rPr lang="en-US" i="1" smtClean="0">
                                              <a:latin typeface="Cambria Math" panose="02040503050406030204" pitchFamily="18" charset="0"/>
                                            </a:rPr>
                                            <m:t>𝜏</m:t>
                                          </m:r>
                                        </m:sub>
                                      </m:sSub>
                                    </m:e>
                                  </m:acc>
                                  <m:r>
                                    <a:rPr lang="en-US" i="1" smtClean="0">
                                      <a:latin typeface="Cambria Math" panose="02040503050406030204" pitchFamily="18" charset="0"/>
                                    </a:rPr>
                                    <m:t>−</m:t>
                                  </m:r>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i="1">
                                              <a:latin typeface="Cambria Math" panose="02040503050406030204" pitchFamily="18" charset="0"/>
                                            </a:rPr>
                                            <m:t>𝛼</m:t>
                                          </m:r>
                                        </m:e>
                                        <m:sub>
                                          <m:r>
                                            <a:rPr lang="en-US" i="1" smtClean="0">
                                              <a:latin typeface="Cambria Math" panose="02040503050406030204" pitchFamily="18" charset="0"/>
                                            </a:rPr>
                                            <m:t>1,</m:t>
                                          </m:r>
                                          <m:r>
                                            <a:rPr lang="en-US" i="1" smtClean="0">
                                              <a:latin typeface="Cambria Math" panose="02040503050406030204" pitchFamily="18" charset="0"/>
                                            </a:rPr>
                                            <m:t>𝜏</m:t>
                                          </m:r>
                                        </m:sub>
                                      </m:sSub>
                                    </m:e>
                                  </m:acc>
                                  <m:sSub>
                                    <m:sSubPr>
                                      <m:ctrlPr>
                                        <a:rPr lang="en-US" i="1" smtClean="0">
                                          <a:latin typeface="Cambria Math" panose="02040503050406030204" pitchFamily="18" charset="0"/>
                                        </a:rPr>
                                      </m:ctrlPr>
                                    </m:sSubPr>
                                    <m:e>
                                      <m:r>
                                        <a:rPr lang="en-US" i="1" smtClean="0">
                                          <a:latin typeface="Cambria Math" panose="02040503050406030204" pitchFamily="18" charset="0"/>
                                        </a:rPr>
                                        <m:t>𝑥</m:t>
                                      </m:r>
                                    </m:e>
                                    <m:sub>
                                      <m:r>
                                        <a:rPr lang="en-US" i="1" smtClean="0">
                                          <a:latin typeface="Cambria Math" panose="02040503050406030204" pitchFamily="18" charset="0"/>
                                        </a:rPr>
                                        <m:t>𝑖</m:t>
                                      </m:r>
                                    </m:sub>
                                  </m:sSub>
                                </m:e>
                              </m:d>
                            </m:e>
                          </m:nary>
                        </m:e>
                      </m:func>
                    </m:oMath>
                  </m:oMathPara>
                </a14:m>
                <a:endParaRPr lang="en-US" dirty="0"/>
              </a:p>
              <a:p>
                <a:pPr marL="0" indent="0">
                  <a:buSzPct val="100000"/>
                  <a:buFont typeface="Arial"/>
                  <a:buNone/>
                </a:pPr>
                <a:endParaRPr lang="en-US" dirty="0"/>
              </a:p>
              <a:p>
                <a:pPr>
                  <a:buSzPct val="100000"/>
                </a:pPr>
                <a:r>
                  <a:rPr lang="en-US" dirty="0"/>
                  <a:t>Unlike OLS, the conditional quantile regression minimization problem does not have an analytic solution</a:t>
                </a:r>
              </a:p>
              <a:p>
                <a:pPr lvl="1">
                  <a:buSzPct val="100000"/>
                </a:pPr>
                <a:r>
                  <a:rPr lang="en-US" dirty="0"/>
                  <a:t>However, this can be solved using </a:t>
                </a:r>
                <a:r>
                  <a:rPr lang="en-US" dirty="0">
                    <a:solidFill>
                      <a:srgbClr val="FF9300"/>
                    </a:solidFill>
                  </a:rPr>
                  <a:t>linear programming</a:t>
                </a:r>
                <a:r>
                  <a:rPr lang="en-US" dirty="0"/>
                  <a:t> algorithms!</a:t>
                </a:r>
              </a:p>
            </p:txBody>
          </p:sp>
        </mc:Choice>
        <mc:Fallback xmlns="">
          <p:sp>
            <p:nvSpPr>
              <p:cNvPr id="4" name="Content Placeholder 2">
                <a:extLst>
                  <a:ext uri="{FF2B5EF4-FFF2-40B4-BE49-F238E27FC236}">
                    <a16:creationId xmlns:a16="http://schemas.microsoft.com/office/drawing/2014/main" id="{0597D1B3-9748-9157-A84C-D71FB2E8BD6B}"/>
                  </a:ext>
                </a:extLst>
              </p:cNvPr>
              <p:cNvSpPr txBox="1">
                <a:spLocks noRot="1" noChangeAspect="1" noMove="1" noResize="1" noEditPoints="1" noAdjustHandles="1" noChangeArrowheads="1" noChangeShapeType="1" noTextEdit="1"/>
              </p:cNvSpPr>
              <p:nvPr/>
            </p:nvSpPr>
            <p:spPr>
              <a:xfrm>
                <a:off x="838200" y="1825624"/>
                <a:ext cx="10515600" cy="4800953"/>
              </a:xfrm>
              <a:prstGeom prst="rect">
                <a:avLst/>
              </a:prstGeom>
              <a:blipFill>
                <a:blip r:embed="rId3"/>
                <a:stretch>
                  <a:fillRect t="-3430"/>
                </a:stretch>
              </a:blipFill>
              <a:ln>
                <a:noFill/>
              </a:ln>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Table 2">
                <a:extLst>
                  <a:ext uri="{FF2B5EF4-FFF2-40B4-BE49-F238E27FC236}">
                    <a16:creationId xmlns:a16="http://schemas.microsoft.com/office/drawing/2014/main" id="{98DAE651-1D60-9AA6-D9C4-C4DCC1566D20}"/>
                  </a:ext>
                </a:extLst>
              </p:cNvPr>
              <p:cNvGraphicFramePr>
                <a:graphicFrameLocks noGrp="1"/>
              </p:cNvGraphicFramePr>
              <p:nvPr/>
            </p:nvGraphicFramePr>
            <p:xfrm>
              <a:off x="213321" y="760952"/>
              <a:ext cx="11765358" cy="5336096"/>
            </p:xfrm>
            <a:graphic>
              <a:graphicData uri="http://schemas.openxmlformats.org/drawingml/2006/table">
                <a:tbl>
                  <a:tblPr firstRow="1" bandRow="1">
                    <a:tableStyleId>{2D5ABB26-0587-4C30-8999-92F81FD0307C}</a:tableStyleId>
                  </a:tblPr>
                  <a:tblGrid>
                    <a:gridCol w="3556970">
                      <a:extLst>
                        <a:ext uri="{9D8B030D-6E8A-4147-A177-3AD203B41FA5}">
                          <a16:colId xmlns:a16="http://schemas.microsoft.com/office/drawing/2014/main" val="2485563793"/>
                        </a:ext>
                      </a:extLst>
                    </a:gridCol>
                    <a:gridCol w="4104194">
                      <a:extLst>
                        <a:ext uri="{9D8B030D-6E8A-4147-A177-3AD203B41FA5}">
                          <a16:colId xmlns:a16="http://schemas.microsoft.com/office/drawing/2014/main" val="1972392090"/>
                        </a:ext>
                      </a:extLst>
                    </a:gridCol>
                    <a:gridCol w="4104194">
                      <a:extLst>
                        <a:ext uri="{9D8B030D-6E8A-4147-A177-3AD203B41FA5}">
                          <a16:colId xmlns:a16="http://schemas.microsoft.com/office/drawing/2014/main" val="2831166234"/>
                        </a:ext>
                      </a:extLst>
                    </a:gridCol>
                  </a:tblGrid>
                  <a:tr h="548640">
                    <a:tc>
                      <a:txBody>
                        <a:bodyPr/>
                        <a:lstStyle/>
                        <a:p>
                          <a:endParaRPr lang="en-US" sz="16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rgbClr val="468C8A"/>
                              </a:solidFill>
                            </a:rPr>
                            <a:t>Linear Regression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rgbClr val="468C8A"/>
                              </a:solidFill>
                            </a:rPr>
                            <a:t>Conditional Quantile Regression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6389442"/>
                      </a:ext>
                    </a:extLst>
                  </a:tr>
                  <a:tr h="640080">
                    <a:tc>
                      <a:txBody>
                        <a:bodyPr/>
                        <a:lstStyle/>
                        <a:p>
                          <a:r>
                            <a:rPr lang="en-US" sz="1600" dirty="0"/>
                            <a:t>Model</a:t>
                          </a:r>
                        </a:p>
                      </a:txBody>
                      <a:tcPr anchor="ct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rPr>
                                  <m:t>𝐸</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𝑌</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𝑋</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𝑋</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𝛽</m:t>
                                </m:r>
                              </m:oMath>
                            </m:oMathPara>
                          </a14:m>
                          <a:endParaRPr lang="en-US" sz="1600"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𝑄</m:t>
                                    </m:r>
                                  </m:e>
                                  <m:sub>
                                    <m:r>
                                      <a:rPr lang="en-US" sz="1600" b="0" i="1" smtClean="0">
                                        <a:solidFill>
                                          <a:schemeClr val="tx1"/>
                                        </a:solidFill>
                                        <a:latin typeface="Cambria Math" panose="02040503050406030204" pitchFamily="18" charset="0"/>
                                      </a:rPr>
                                      <m:t>𝜏</m:t>
                                    </m:r>
                                  </m:sub>
                                </m:sSub>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𝑌</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𝑋</m:t>
                                </m:r>
                                <m:r>
                                  <a:rPr lang="en-US" sz="1600" b="0" i="1" smtClean="0">
                                    <a:solidFill>
                                      <a:schemeClr val="tx1"/>
                                    </a:solidFill>
                                    <a:latin typeface="Cambria Math" panose="02040503050406030204" pitchFamily="18" charset="0"/>
                                  </a:rPr>
                                  <m:t>)=</m:t>
                                </m:r>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𝑋</m:t>
                                    </m:r>
                                  </m:e>
                                  <m:sup>
                                    <m:r>
                                      <a:rPr lang="en-US" sz="1600" b="0" i="1" smtClean="0">
                                        <a:solidFill>
                                          <a:schemeClr val="tx1"/>
                                        </a:solidFill>
                                        <a:latin typeface="Cambria Math" panose="02040503050406030204" pitchFamily="18" charset="0"/>
                                      </a:rPr>
                                      <m:t>′</m:t>
                                    </m:r>
                                  </m:sup>
                                </m:sSup>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𝛽</m:t>
                                    </m:r>
                                  </m:e>
                                  <m:sub>
                                    <m:r>
                                      <a:rPr lang="en-US" sz="1600" b="0" i="1" smtClean="0">
                                        <a:solidFill>
                                          <a:schemeClr val="tx1"/>
                                        </a:solidFill>
                                        <a:latin typeface="Cambria Math" panose="02040503050406030204" pitchFamily="18" charset="0"/>
                                      </a:rPr>
                                      <m:t>𝜏</m:t>
                                    </m:r>
                                  </m:sub>
                                </m:sSub>
                                <m:r>
                                  <a:rPr lang="en-US" sz="1600" b="0" i="1" smtClean="0">
                                    <a:solidFill>
                                      <a:schemeClr val="tx1"/>
                                    </a:solidFill>
                                    <a:latin typeface="Cambria Math" panose="02040503050406030204" pitchFamily="18" charset="0"/>
                                  </a:rPr>
                                  <m:t>,  </m:t>
                                </m:r>
                              </m:oMath>
                              <m:oMath xmlns:m="http://schemas.openxmlformats.org/officeDocument/2006/math">
                                <m:r>
                                  <a:rPr lang="en-US" sz="1600" b="0" i="1" smtClean="0">
                                    <a:solidFill>
                                      <a:schemeClr val="tx1"/>
                                    </a:solidFill>
                                    <a:latin typeface="Cambria Math" panose="02040503050406030204" pitchFamily="18" charset="0"/>
                                  </a:rPr>
                                  <m:t>𝜏</m:t>
                                </m:r>
                                <m:r>
                                  <a:rPr lang="en-US" sz="1600" b="0" i="1" smtClean="0">
                                    <a:solidFill>
                                      <a:schemeClr val="tx1"/>
                                    </a:solidFill>
                                    <a:latin typeface="Cambria Math" panose="02040503050406030204" pitchFamily="18" charset="0"/>
                                  </a:rPr>
                                  <m:t>=(0,1)</m:t>
                                </m:r>
                              </m:oMath>
                            </m:oMathPara>
                          </a14:m>
                          <a:endParaRPr lang="en-US" sz="1600"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364835753"/>
                      </a:ext>
                    </a:extLst>
                  </a:tr>
                  <a:tr h="640080">
                    <a:tc>
                      <a:txBody>
                        <a:bodyPr/>
                        <a:lstStyle/>
                        <a:p>
                          <a:r>
                            <a:rPr lang="en-US" sz="1600" dirty="0"/>
                            <a:t>Error</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Standard assumptions about the error term (</a:t>
                          </a:r>
                          <a:r>
                            <a:rPr lang="en-US" sz="1600" dirty="0" err="1">
                              <a:solidFill>
                                <a:schemeClr val="tx1"/>
                              </a:solidFill>
                            </a:rPr>
                            <a:t>iid</a:t>
                          </a:r>
                          <a:r>
                            <a:rPr lang="en-US" sz="1600" dirty="0">
                              <a:solidFill>
                                <a:schemeClr val="tx1"/>
                              </a:solidFill>
                            </a:rPr>
                            <a:t>, Normal distribution) are usually violated</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No distributional assumption is made about the error</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643586111"/>
                      </a:ext>
                    </a:extLst>
                  </a:tr>
                  <a:tr h="370840">
                    <a:tc>
                      <a:txBody>
                        <a:bodyPr/>
                        <a:lstStyle/>
                        <a:p>
                          <a:r>
                            <a:rPr lang="en-US" sz="1600" dirty="0"/>
                            <a:t>Estimating coefficients</a:t>
                          </a:r>
                        </a:p>
                      </a:txBody>
                      <a:tcPr anchor="ctr">
                        <a:lnT w="12700" cap="flat" cmpd="sng" algn="ctr">
                          <a:solidFill>
                            <a:schemeClr val="bg1">
                              <a:lumMod val="85000"/>
                            </a:schemeClr>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unc>
                                  <m:funcPr>
                                    <m:ctrlPr>
                                      <a:rPr lang="en-US" sz="1600" i="1" smtClean="0">
                                        <a:solidFill>
                                          <a:schemeClr val="tx1"/>
                                        </a:solidFill>
                                        <a:latin typeface="Cambria Math" panose="02040503050406030204" pitchFamily="18" charset="0"/>
                                      </a:rPr>
                                    </m:ctrlPr>
                                  </m:funcPr>
                                  <m:fName>
                                    <m:limLow>
                                      <m:limLowPr>
                                        <m:ctrlPr>
                                          <a:rPr lang="en-US" sz="1600" i="1" smtClean="0">
                                            <a:solidFill>
                                              <a:schemeClr val="tx1"/>
                                            </a:solidFill>
                                            <a:latin typeface="Cambria Math" panose="02040503050406030204" pitchFamily="18" charset="0"/>
                                          </a:rPr>
                                        </m:ctrlPr>
                                      </m:limLowPr>
                                      <m:e>
                                        <m:r>
                                          <m:rPr>
                                            <m:sty m:val="p"/>
                                          </m:rPr>
                                          <a:rPr lang="en-US" sz="1600" i="0" smtClean="0">
                                            <a:solidFill>
                                              <a:schemeClr val="tx1"/>
                                            </a:solidFill>
                                            <a:latin typeface="Cambria Math" panose="02040503050406030204" pitchFamily="18" charset="0"/>
                                          </a:rPr>
                                          <m:t>min</m:t>
                                        </m:r>
                                      </m:e>
                                      <m:lim>
                                        <m:acc>
                                          <m:accPr>
                                            <m:chr m:val="̂"/>
                                            <m:ctrlPr>
                                              <a:rPr lang="en-US" sz="1600" b="0" i="1" smtClean="0">
                                                <a:solidFill>
                                                  <a:schemeClr val="tx1"/>
                                                </a:solidFill>
                                                <a:latin typeface="Cambria Math" panose="02040503050406030204" pitchFamily="18" charset="0"/>
                                              </a:rPr>
                                            </m:ctrlPr>
                                          </m:accPr>
                                          <m:e>
                                            <m:r>
                                              <a:rPr lang="en-US" sz="1600" b="0" i="1" smtClean="0">
                                                <a:solidFill>
                                                  <a:schemeClr val="tx1"/>
                                                </a:solidFill>
                                                <a:latin typeface="Cambria Math" panose="02040503050406030204" pitchFamily="18" charset="0"/>
                                              </a:rPr>
                                              <m:t>𝛽</m:t>
                                            </m:r>
                                          </m:e>
                                        </m:acc>
                                      </m:lim>
                                    </m:limLow>
                                  </m:fName>
                                  <m:e>
                                    <m:nary>
                                      <m:naryPr>
                                        <m:chr m:val="∑"/>
                                        <m:ctrlPr>
                                          <a:rPr lang="en-US" sz="1600" i="1" smtClean="0">
                                            <a:solidFill>
                                              <a:schemeClr val="tx1"/>
                                            </a:solidFill>
                                            <a:latin typeface="Cambria Math" panose="02040503050406030204" pitchFamily="18" charset="0"/>
                                          </a:rPr>
                                        </m:ctrlPr>
                                      </m:naryPr>
                                      <m:sub>
                                        <m:r>
                                          <m:rPr>
                                            <m:brk m:alnAt="23"/>
                                          </m:rPr>
                                          <a:rPr lang="en-US" sz="1600" b="0" i="1" smtClean="0">
                                            <a:solidFill>
                                              <a:schemeClr val="tx1"/>
                                            </a:solidFill>
                                            <a:latin typeface="Cambria Math" panose="02040503050406030204" pitchFamily="18" charset="0"/>
                                          </a:rPr>
                                          <m:t>𝑖</m:t>
                                        </m:r>
                                        <m:r>
                                          <a:rPr lang="en-US" sz="1600" b="0" i="1" smtClean="0">
                                            <a:solidFill>
                                              <a:schemeClr val="tx1"/>
                                            </a:solidFill>
                                            <a:latin typeface="Cambria Math" panose="02040503050406030204" pitchFamily="18" charset="0"/>
                                          </a:rPr>
                                          <m:t>=1</m:t>
                                        </m:r>
                                      </m:sub>
                                      <m:sup>
                                        <m:r>
                                          <a:rPr lang="en-US" sz="1600" b="0" i="1" smtClean="0">
                                            <a:solidFill>
                                              <a:schemeClr val="tx1"/>
                                            </a:solidFill>
                                            <a:latin typeface="Cambria Math" panose="02040503050406030204" pitchFamily="18" charset="0"/>
                                          </a:rPr>
                                          <m:t>𝑁</m:t>
                                        </m:r>
                                      </m:sup>
                                      <m:e>
                                        <m:sSup>
                                          <m:sSupPr>
                                            <m:ctrlPr>
                                              <a:rPr lang="en-US" sz="1600" b="0" i="1" smtClean="0">
                                                <a:solidFill>
                                                  <a:schemeClr val="tx1"/>
                                                </a:solidFill>
                                                <a:latin typeface="Cambria Math" panose="02040503050406030204" pitchFamily="18" charset="0"/>
                                              </a:rPr>
                                            </m:ctrlPr>
                                          </m:sSupPr>
                                          <m:e>
                                            <m:d>
                                              <m:dPr>
                                                <m:ctrlPr>
                                                  <a:rPr lang="en-US" sz="1600" b="0" i="1" smtClean="0">
                                                    <a:solidFill>
                                                      <a:schemeClr val="tx1"/>
                                                    </a:solidFill>
                                                    <a:latin typeface="Cambria Math" panose="02040503050406030204" pitchFamily="18" charset="0"/>
                                                  </a:rPr>
                                                </m:ctrlPr>
                                              </m:dPr>
                                              <m:e>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𝑦</m:t>
                                                    </m:r>
                                                  </m:e>
                                                  <m:sub>
                                                    <m:r>
                                                      <a:rPr lang="en-US" sz="1600" b="0" i="1" smtClean="0">
                                                        <a:solidFill>
                                                          <a:schemeClr val="tx1"/>
                                                        </a:solidFill>
                                                        <a:latin typeface="Cambria Math" panose="02040503050406030204" pitchFamily="18" charset="0"/>
                                                      </a:rPr>
                                                      <m:t>𝑖</m:t>
                                                    </m:r>
                                                  </m:sub>
                                                </m:sSub>
                                                <m:r>
                                                  <a:rPr lang="en-US" sz="1600" b="0" i="1" smtClean="0">
                                                    <a:solidFill>
                                                      <a:schemeClr val="tx1"/>
                                                    </a:solidFill>
                                                    <a:latin typeface="Cambria Math" panose="02040503050406030204" pitchFamily="18" charset="0"/>
                                                  </a:rPr>
                                                  <m:t>−</m:t>
                                                </m:r>
                                                <m:sSubSup>
                                                  <m:sSubSupPr>
                                                    <m:ctrlPr>
                                                      <a:rPr lang="en-US" sz="1600" b="0" i="1" smtClean="0">
                                                        <a:solidFill>
                                                          <a:schemeClr val="tx1"/>
                                                        </a:solidFill>
                                                        <a:latin typeface="Cambria Math" panose="02040503050406030204" pitchFamily="18" charset="0"/>
                                                      </a:rPr>
                                                    </m:ctrlPr>
                                                  </m:sSubSupPr>
                                                  <m:e>
                                                    <m:r>
                                                      <a:rPr lang="en-US" sz="1600" b="0" i="1" smtClean="0">
                                                        <a:solidFill>
                                                          <a:schemeClr val="tx1"/>
                                                        </a:solidFill>
                                                        <a:latin typeface="Cambria Math" panose="02040503050406030204" pitchFamily="18" charset="0"/>
                                                      </a:rPr>
                                                      <m:t>𝑥</m:t>
                                                    </m:r>
                                                  </m:e>
                                                  <m:sub>
                                                    <m:r>
                                                      <a:rPr lang="en-US" sz="1600" b="0" i="1" smtClean="0">
                                                        <a:solidFill>
                                                          <a:schemeClr val="tx1"/>
                                                        </a:solidFill>
                                                        <a:latin typeface="Cambria Math" panose="02040503050406030204" pitchFamily="18" charset="0"/>
                                                      </a:rPr>
                                                      <m:t>𝑖</m:t>
                                                    </m:r>
                                                  </m:sub>
                                                  <m:sup>
                                                    <m:r>
                                                      <a:rPr lang="en-US" sz="1600" b="0" i="1" smtClean="0">
                                                        <a:solidFill>
                                                          <a:schemeClr val="tx1"/>
                                                        </a:solidFill>
                                                        <a:latin typeface="Cambria Math" panose="02040503050406030204" pitchFamily="18" charset="0"/>
                                                      </a:rPr>
                                                      <m:t>′</m:t>
                                                    </m:r>
                                                  </m:sup>
                                                </m:sSubSup>
                                                <m:acc>
                                                  <m:accPr>
                                                    <m:chr m:val="̂"/>
                                                    <m:ctrlPr>
                                                      <a:rPr lang="en-US" sz="1600" b="0" i="1" smtClean="0">
                                                        <a:solidFill>
                                                          <a:schemeClr val="tx1"/>
                                                        </a:solidFill>
                                                        <a:latin typeface="Cambria Math" panose="02040503050406030204" pitchFamily="18" charset="0"/>
                                                      </a:rPr>
                                                    </m:ctrlPr>
                                                  </m:accPr>
                                                  <m:e>
                                                    <m:r>
                                                      <a:rPr lang="en-US" sz="1600" b="0" i="1" smtClean="0">
                                                        <a:solidFill>
                                                          <a:schemeClr val="tx1"/>
                                                        </a:solidFill>
                                                        <a:latin typeface="Cambria Math" panose="02040503050406030204" pitchFamily="18" charset="0"/>
                                                      </a:rPr>
                                                      <m:t>𝛽</m:t>
                                                    </m:r>
                                                  </m:e>
                                                </m:acc>
                                              </m:e>
                                            </m:d>
                                          </m:e>
                                          <m:sup>
                                            <m:r>
                                              <a:rPr lang="en-US" sz="1600" b="0" i="1" smtClean="0">
                                                <a:solidFill>
                                                  <a:schemeClr val="tx1"/>
                                                </a:solidFill>
                                                <a:latin typeface="Cambria Math" panose="02040503050406030204" pitchFamily="18" charset="0"/>
                                              </a:rPr>
                                              <m:t>2</m:t>
                                            </m:r>
                                          </m:sup>
                                        </m:sSup>
                                      </m:e>
                                    </m:nary>
                                  </m:e>
                                </m:func>
                              </m:oMath>
                            </m:oMathPara>
                          </a14:m>
                          <a:endParaRPr lang="en-US" sz="1600" dirty="0">
                            <a:solidFill>
                              <a:schemeClr val="tx1"/>
                            </a:solidFill>
                          </a:endParaRPr>
                        </a:p>
                      </a:txBody>
                      <a:tcPr anchor="ctr">
                        <a:lnT w="12700" cap="flat" cmpd="sng" algn="ctr">
                          <a:solidFill>
                            <a:schemeClr val="bg1">
                              <a:lumMod val="85000"/>
                            </a:schemeClr>
                          </a:solidFill>
                          <a:prstDash val="solid"/>
                          <a:round/>
                          <a:headEnd type="none" w="med" len="med"/>
                          <a:tailEnd type="none" w="med" len="med"/>
                        </a:lnT>
                      </a:tcPr>
                    </a:tc>
                    <a:tc>
                      <a:txBody>
                        <a:bodyPr/>
                        <a:lstStyle/>
                        <a:p>
                          <a:pPr/>
                          <a14:m>
                            <m:oMathPara xmlns:m="http://schemas.openxmlformats.org/officeDocument/2006/math">
                              <m:oMathParaPr>
                                <m:jc m:val="centerGroup"/>
                              </m:oMathParaPr>
                              <m:oMath xmlns:m="http://schemas.openxmlformats.org/officeDocument/2006/math">
                                <m:func>
                                  <m:funcPr>
                                    <m:ctrlPr>
                                      <a:rPr lang="en-US" sz="1600" i="1" smtClean="0">
                                        <a:solidFill>
                                          <a:schemeClr val="tx1"/>
                                        </a:solidFill>
                                        <a:latin typeface="Cambria Math" panose="02040503050406030204" pitchFamily="18" charset="0"/>
                                      </a:rPr>
                                    </m:ctrlPr>
                                  </m:funcPr>
                                  <m:fName>
                                    <m:limLow>
                                      <m:limLowPr>
                                        <m:ctrlPr>
                                          <a:rPr lang="en-US" sz="1600" i="1" smtClean="0">
                                            <a:solidFill>
                                              <a:schemeClr val="tx1"/>
                                            </a:solidFill>
                                            <a:latin typeface="Cambria Math" panose="02040503050406030204" pitchFamily="18" charset="0"/>
                                          </a:rPr>
                                        </m:ctrlPr>
                                      </m:limLowPr>
                                      <m:e>
                                        <m:r>
                                          <m:rPr>
                                            <m:sty m:val="p"/>
                                          </m:rPr>
                                          <a:rPr lang="en-US" sz="1600" i="0" smtClean="0">
                                            <a:solidFill>
                                              <a:schemeClr val="tx1"/>
                                            </a:solidFill>
                                            <a:latin typeface="Cambria Math" panose="02040503050406030204" pitchFamily="18" charset="0"/>
                                          </a:rPr>
                                          <m:t>min</m:t>
                                        </m:r>
                                      </m:e>
                                      <m:lim>
                                        <m:acc>
                                          <m:accPr>
                                            <m:chr m:val="̂"/>
                                            <m:ctrlPr>
                                              <a:rPr lang="en-US" sz="1600" b="0" i="1" smtClean="0">
                                                <a:solidFill>
                                                  <a:schemeClr val="tx1"/>
                                                </a:solidFill>
                                                <a:latin typeface="Cambria Math" panose="02040503050406030204" pitchFamily="18" charset="0"/>
                                              </a:rPr>
                                            </m:ctrlPr>
                                          </m:accPr>
                                          <m:e>
                                            <m:r>
                                              <a:rPr lang="en-US" sz="1600" b="0" i="1" smtClean="0">
                                                <a:solidFill>
                                                  <a:schemeClr val="tx1"/>
                                                </a:solidFill>
                                                <a:latin typeface="Cambria Math" panose="02040503050406030204" pitchFamily="18" charset="0"/>
                                              </a:rPr>
                                              <m:t>𝛽</m:t>
                                            </m:r>
                                          </m:e>
                                        </m:acc>
                                      </m:lim>
                                    </m:limLow>
                                  </m:fName>
                                  <m:e>
                                    <m:nary>
                                      <m:naryPr>
                                        <m:chr m:val="∑"/>
                                        <m:ctrlPr>
                                          <a:rPr lang="en-US" sz="1600" i="1" smtClean="0">
                                            <a:solidFill>
                                              <a:schemeClr val="tx1"/>
                                            </a:solidFill>
                                            <a:latin typeface="Cambria Math" panose="02040503050406030204" pitchFamily="18" charset="0"/>
                                          </a:rPr>
                                        </m:ctrlPr>
                                      </m:naryPr>
                                      <m:sub>
                                        <m:r>
                                          <m:rPr>
                                            <m:brk m:alnAt="23"/>
                                          </m:rPr>
                                          <a:rPr lang="en-US" sz="1600" b="0" i="1" smtClean="0">
                                            <a:solidFill>
                                              <a:schemeClr val="tx1"/>
                                            </a:solidFill>
                                            <a:latin typeface="Cambria Math" panose="02040503050406030204" pitchFamily="18" charset="0"/>
                                          </a:rPr>
                                          <m:t>𝑖</m:t>
                                        </m:r>
                                        <m:r>
                                          <a:rPr lang="en-US" sz="1600" b="0" i="1" smtClean="0">
                                            <a:solidFill>
                                              <a:schemeClr val="tx1"/>
                                            </a:solidFill>
                                            <a:latin typeface="Cambria Math" panose="02040503050406030204" pitchFamily="18" charset="0"/>
                                          </a:rPr>
                                          <m:t>=1</m:t>
                                        </m:r>
                                      </m:sub>
                                      <m:sup>
                                        <m:r>
                                          <a:rPr lang="en-US" sz="1600" b="0" i="1" smtClean="0">
                                            <a:solidFill>
                                              <a:schemeClr val="tx1"/>
                                            </a:solidFill>
                                            <a:latin typeface="Cambria Math" panose="02040503050406030204" pitchFamily="18" charset="0"/>
                                          </a:rPr>
                                          <m:t>𝑁</m:t>
                                        </m:r>
                                      </m:sup>
                                      <m:e>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𝜌</m:t>
                                            </m:r>
                                          </m:e>
                                          <m:sub>
                                            <m:r>
                                              <a:rPr lang="en-US" sz="1600" b="0" i="1" smtClean="0">
                                                <a:solidFill>
                                                  <a:schemeClr val="tx1"/>
                                                </a:solidFill>
                                                <a:latin typeface="Cambria Math" panose="02040503050406030204" pitchFamily="18" charset="0"/>
                                              </a:rPr>
                                              <m:t>𝜏</m:t>
                                            </m:r>
                                          </m:sub>
                                        </m:sSub>
                                        <m:d>
                                          <m:dPr>
                                            <m:ctrlPr>
                                              <a:rPr lang="en-US" sz="1600" b="0" i="1" smtClean="0">
                                                <a:solidFill>
                                                  <a:schemeClr val="tx1"/>
                                                </a:solidFill>
                                                <a:latin typeface="Cambria Math" panose="02040503050406030204" pitchFamily="18" charset="0"/>
                                              </a:rPr>
                                            </m:ctrlPr>
                                          </m:dPr>
                                          <m:e>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𝑦</m:t>
                                                </m:r>
                                              </m:e>
                                              <m:sub>
                                                <m:r>
                                                  <a:rPr lang="en-US" sz="1600" b="0" i="1" smtClean="0">
                                                    <a:solidFill>
                                                      <a:schemeClr val="tx1"/>
                                                    </a:solidFill>
                                                    <a:latin typeface="Cambria Math" panose="02040503050406030204" pitchFamily="18" charset="0"/>
                                                  </a:rPr>
                                                  <m:t>𝑖</m:t>
                                                </m:r>
                                              </m:sub>
                                            </m:sSub>
                                            <m:r>
                                              <a:rPr lang="en-US" sz="1600" b="0" i="1" smtClean="0">
                                                <a:solidFill>
                                                  <a:schemeClr val="tx1"/>
                                                </a:solidFill>
                                                <a:latin typeface="Cambria Math" panose="02040503050406030204" pitchFamily="18" charset="0"/>
                                              </a:rPr>
                                              <m:t>−</m:t>
                                            </m:r>
                                            <m:sSubSup>
                                              <m:sSubSupPr>
                                                <m:ctrlPr>
                                                  <a:rPr lang="en-US" sz="1600" b="0" i="1" smtClean="0">
                                                    <a:solidFill>
                                                      <a:schemeClr val="tx1"/>
                                                    </a:solidFill>
                                                    <a:latin typeface="Cambria Math" panose="02040503050406030204" pitchFamily="18" charset="0"/>
                                                  </a:rPr>
                                                </m:ctrlPr>
                                              </m:sSubSupPr>
                                              <m:e>
                                                <m:r>
                                                  <a:rPr lang="en-US" sz="1600" b="0" i="1" smtClean="0">
                                                    <a:solidFill>
                                                      <a:schemeClr val="tx1"/>
                                                    </a:solidFill>
                                                    <a:latin typeface="Cambria Math" panose="02040503050406030204" pitchFamily="18" charset="0"/>
                                                  </a:rPr>
                                                  <m:t>𝑥</m:t>
                                                </m:r>
                                              </m:e>
                                              <m:sub>
                                                <m:r>
                                                  <a:rPr lang="en-US" sz="1600" b="0" i="1" smtClean="0">
                                                    <a:solidFill>
                                                      <a:schemeClr val="tx1"/>
                                                    </a:solidFill>
                                                    <a:latin typeface="Cambria Math" panose="02040503050406030204" pitchFamily="18" charset="0"/>
                                                  </a:rPr>
                                                  <m:t>𝑖</m:t>
                                                </m:r>
                                              </m:sub>
                                              <m:sup>
                                                <m:r>
                                                  <a:rPr lang="en-US" sz="1600" b="0" i="1" smtClean="0">
                                                    <a:solidFill>
                                                      <a:schemeClr val="tx1"/>
                                                    </a:solidFill>
                                                    <a:latin typeface="Cambria Math" panose="02040503050406030204" pitchFamily="18" charset="0"/>
                                                  </a:rPr>
                                                  <m:t>′</m:t>
                                                </m:r>
                                              </m:sup>
                                            </m:sSubSup>
                                            <m:acc>
                                              <m:accPr>
                                                <m:chr m:val="̂"/>
                                                <m:ctrlPr>
                                                  <a:rPr lang="en-US" sz="1600" b="0" i="1" smtClean="0">
                                                    <a:solidFill>
                                                      <a:schemeClr val="tx1"/>
                                                    </a:solidFill>
                                                    <a:latin typeface="Cambria Math" panose="02040503050406030204" pitchFamily="18" charset="0"/>
                                                  </a:rPr>
                                                </m:ctrlPr>
                                              </m:accPr>
                                              <m:e>
                                                <m:r>
                                                  <a:rPr lang="en-US" sz="1600" b="0" i="1" smtClean="0">
                                                    <a:solidFill>
                                                      <a:schemeClr val="tx1"/>
                                                    </a:solidFill>
                                                    <a:latin typeface="Cambria Math" panose="02040503050406030204" pitchFamily="18" charset="0"/>
                                                  </a:rPr>
                                                  <m:t>𝛽</m:t>
                                                </m:r>
                                              </m:e>
                                            </m:acc>
                                          </m:e>
                                        </m:d>
                                      </m:e>
                                    </m:nary>
                                  </m:e>
                                </m:func>
                              </m:oMath>
                            </m:oMathPara>
                          </a14:m>
                          <a:endParaRPr lang="en-US" sz="1600" dirty="0">
                            <a:solidFill>
                              <a:schemeClr val="tx1"/>
                            </a:solidFill>
                          </a:endParaRPr>
                        </a:p>
                      </a:txBody>
                      <a:tcPr anchor="ctr">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3631978337"/>
                      </a:ext>
                    </a:extLst>
                  </a:tr>
                  <a:tr h="640080">
                    <a:tc>
                      <a:txBody>
                        <a:bodyPr/>
                        <a:lstStyle/>
                        <a:p>
                          <a:pPr algn="r"/>
                          <a:r>
                            <a:rPr lang="en-US" sz="1600" dirty="0"/>
                            <a:t>Solution</a:t>
                          </a:r>
                        </a:p>
                      </a:txBody>
                      <a:tcPr anchor="ctr">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Analytic solution</a:t>
                          </a:r>
                        </a:p>
                      </a:txBody>
                      <a:tcPr anchor="ctr">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Linear programming methods</a:t>
                          </a:r>
                        </a:p>
                      </a:txBody>
                      <a:tcPr anchor="ctr">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20005246"/>
                      </a:ext>
                    </a:extLst>
                  </a:tr>
                  <a:tr h="370840">
                    <a:tc>
                      <a:txBody>
                        <a:bodyPr/>
                        <a:lstStyle/>
                        <a:p>
                          <a:r>
                            <a:rPr lang="en-US" sz="1600" dirty="0">
                              <a:solidFill>
                                <a:srgbClr val="BFBFBF"/>
                              </a:solidFill>
                            </a:rPr>
                            <a:t>Estimating standard errors</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rgbClr val="BFBFBF"/>
                              </a:solidFill>
                            </a:rPr>
                            <a:t>Several estimators are available + bootstrap</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rgbClr val="BFBFBF"/>
                              </a:solidFill>
                            </a:rPr>
                            <a:t>Several estimators are available and key point is that we need to estimate the error density + bootstrap</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7421977"/>
                      </a:ext>
                    </a:extLst>
                  </a:tr>
                  <a:tr h="548640">
                    <a:tc>
                      <a:txBody>
                        <a:bodyPr/>
                        <a:lstStyle/>
                        <a:p>
                          <a:r>
                            <a:rPr lang="en-US" sz="1600" dirty="0"/>
                            <a:t>Interpretation</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One unit increase in the independent variable of interest is associated with a </a:t>
                          </a:r>
                          <a14:m>
                            <m:oMath xmlns:m="http://schemas.openxmlformats.org/officeDocument/2006/math">
                              <m:acc>
                                <m:accPr>
                                  <m:chr m:val="̂"/>
                                  <m:ctrlPr>
                                    <a:rPr lang="en-US" sz="1600" b="0" i="1" smtClean="0">
                                      <a:solidFill>
                                        <a:schemeClr val="tx1"/>
                                      </a:solidFill>
                                      <a:latin typeface="Cambria Math" panose="02040503050406030204" pitchFamily="18" charset="0"/>
                                    </a:rPr>
                                  </m:ctrlPr>
                                </m:accPr>
                                <m:e>
                                  <m:r>
                                    <a:rPr lang="en-US" sz="1600" b="0" i="1" smtClean="0">
                                      <a:solidFill>
                                        <a:schemeClr val="tx1"/>
                                      </a:solidFill>
                                      <a:latin typeface="Cambria Math" panose="02040503050406030204" pitchFamily="18" charset="0"/>
                                    </a:rPr>
                                    <m:t>𝛽</m:t>
                                  </m:r>
                                </m:e>
                              </m:acc>
                            </m:oMath>
                          </a14:m>
                          <a:r>
                            <a:rPr lang="en-US" sz="1600" dirty="0">
                              <a:solidFill>
                                <a:schemeClr val="tx1"/>
                              </a:solidFill>
                            </a:rPr>
                            <a:t> unit</a:t>
                          </a:r>
                          <a:r>
                            <a:rPr lang="en-US" sz="1600" baseline="0" dirty="0">
                              <a:solidFill>
                                <a:schemeClr val="tx1"/>
                              </a:solidFill>
                            </a:rPr>
                            <a:t> change</a:t>
                          </a:r>
                          <a:r>
                            <a:rPr lang="en-US" sz="1600" dirty="0">
                              <a:solidFill>
                                <a:schemeClr val="tx1"/>
                              </a:solidFill>
                            </a:rPr>
                            <a:t> in the conditional</a:t>
                          </a:r>
                          <a:r>
                            <a:rPr lang="en-US" sz="1600" baseline="0" dirty="0">
                              <a:solidFill>
                                <a:schemeClr val="tx1"/>
                              </a:solidFill>
                            </a:rPr>
                            <a:t> mean of the outcome</a:t>
                          </a:r>
                          <a:endParaRPr lang="en-US" sz="1600" dirty="0">
                            <a:solidFill>
                              <a:schemeClr val="tx1"/>
                            </a:solidFill>
                          </a:endParaRP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One unit increase in the independent</a:t>
                          </a:r>
                          <a:r>
                            <a:rPr lang="en-US" sz="1600" baseline="0" dirty="0">
                              <a:solidFill>
                                <a:schemeClr val="tx1"/>
                              </a:solidFill>
                            </a:rPr>
                            <a:t> variable of interest is associated with a </a:t>
                          </a:r>
                          <a14:m>
                            <m:oMath xmlns:m="http://schemas.openxmlformats.org/officeDocument/2006/math">
                              <m:acc>
                                <m:accPr>
                                  <m:chr m:val="̂"/>
                                  <m:ctrlPr>
                                    <a:rPr lang="en-US" sz="1600" b="0" i="1" smtClean="0">
                                      <a:solidFill>
                                        <a:schemeClr val="tx1"/>
                                      </a:solidFill>
                                      <a:latin typeface="Cambria Math" panose="02040503050406030204" pitchFamily="18" charset="0"/>
                                    </a:rPr>
                                  </m:ctrlPr>
                                </m:accPr>
                                <m:e>
                                  <m:r>
                                    <a:rPr lang="en-US" sz="1600" b="0" i="1" smtClean="0">
                                      <a:solidFill>
                                        <a:schemeClr val="tx1"/>
                                      </a:solidFill>
                                      <a:latin typeface="Cambria Math" panose="02040503050406030204" pitchFamily="18" charset="0"/>
                                    </a:rPr>
                                    <m:t>𝛽</m:t>
                                  </m:r>
                                </m:e>
                              </m:acc>
                            </m:oMath>
                          </a14:m>
                          <a:r>
                            <a:rPr lang="en-US" sz="1600" dirty="0">
                              <a:solidFill>
                                <a:schemeClr val="tx1"/>
                              </a:solidFill>
                            </a:rPr>
                            <a:t> unit change</a:t>
                          </a:r>
                          <a:r>
                            <a:rPr lang="en-US" sz="1600" baseline="0" dirty="0">
                              <a:solidFill>
                                <a:schemeClr val="tx1"/>
                              </a:solidFill>
                            </a:rPr>
                            <a:t> in </a:t>
                          </a:r>
                          <a:r>
                            <a:rPr lang="en-US" sz="1600" dirty="0">
                              <a:solidFill>
                                <a:schemeClr val="tx1"/>
                              </a:solidFill>
                            </a:rPr>
                            <a:t>the </a:t>
                          </a:r>
                          <a14:m>
                            <m:oMath xmlns:m="http://schemas.openxmlformats.org/officeDocument/2006/math">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𝜏</m:t>
                                  </m:r>
                                </m:e>
                                <m:sup>
                                  <m:r>
                                    <a:rPr lang="en-US" sz="1600" b="0" i="1" smtClean="0">
                                      <a:solidFill>
                                        <a:schemeClr val="tx1"/>
                                      </a:solidFill>
                                      <a:latin typeface="Cambria Math" panose="02040503050406030204" pitchFamily="18" charset="0"/>
                                    </a:rPr>
                                    <m:t>𝑡h</m:t>
                                  </m:r>
                                </m:sup>
                              </m:sSup>
                            </m:oMath>
                          </a14:m>
                          <a:r>
                            <a:rPr lang="en-US" sz="1600" dirty="0">
                              <a:solidFill>
                                <a:schemeClr val="tx1"/>
                              </a:solidFill>
                            </a:rPr>
                            <a:t> quantile of the conditional outcome distribution</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5207593"/>
                      </a:ext>
                    </a:extLst>
                  </a:tr>
                </a:tbl>
              </a:graphicData>
            </a:graphic>
          </p:graphicFrame>
        </mc:Choice>
        <mc:Fallback xmlns="">
          <p:graphicFrame>
            <p:nvGraphicFramePr>
              <p:cNvPr id="2" name="Table 2">
                <a:extLst>
                  <a:ext uri="{FF2B5EF4-FFF2-40B4-BE49-F238E27FC236}">
                    <a16:creationId xmlns:a16="http://schemas.microsoft.com/office/drawing/2014/main" id="{98DAE651-1D60-9AA6-D9C4-C4DCC1566D20}"/>
                  </a:ext>
                </a:extLst>
              </p:cNvPr>
              <p:cNvGraphicFramePr>
                <a:graphicFrameLocks noGrp="1"/>
              </p:cNvGraphicFramePr>
              <p:nvPr>
                <p:extLst>
                  <p:ext uri="{D42A27DB-BD31-4B8C-83A1-F6EECF244321}">
                    <p14:modId xmlns:p14="http://schemas.microsoft.com/office/powerpoint/2010/main" val="1544484394"/>
                  </p:ext>
                </p:extLst>
              </p:nvPr>
            </p:nvGraphicFramePr>
            <p:xfrm>
              <a:off x="213321" y="760952"/>
              <a:ext cx="11765358" cy="5336096"/>
            </p:xfrm>
            <a:graphic>
              <a:graphicData uri="http://schemas.openxmlformats.org/drawingml/2006/table">
                <a:tbl>
                  <a:tblPr firstRow="1" bandRow="1">
                    <a:tableStyleId>{2D5ABB26-0587-4C30-8999-92F81FD0307C}</a:tableStyleId>
                  </a:tblPr>
                  <a:tblGrid>
                    <a:gridCol w="3556970">
                      <a:extLst>
                        <a:ext uri="{9D8B030D-6E8A-4147-A177-3AD203B41FA5}">
                          <a16:colId xmlns:a16="http://schemas.microsoft.com/office/drawing/2014/main" val="2485563793"/>
                        </a:ext>
                      </a:extLst>
                    </a:gridCol>
                    <a:gridCol w="4104194">
                      <a:extLst>
                        <a:ext uri="{9D8B030D-6E8A-4147-A177-3AD203B41FA5}">
                          <a16:colId xmlns:a16="http://schemas.microsoft.com/office/drawing/2014/main" val="1972392090"/>
                        </a:ext>
                      </a:extLst>
                    </a:gridCol>
                    <a:gridCol w="4104194">
                      <a:extLst>
                        <a:ext uri="{9D8B030D-6E8A-4147-A177-3AD203B41FA5}">
                          <a16:colId xmlns:a16="http://schemas.microsoft.com/office/drawing/2014/main" val="2831166234"/>
                        </a:ext>
                      </a:extLst>
                    </a:gridCol>
                  </a:tblGrid>
                  <a:tr h="548640">
                    <a:tc>
                      <a:txBody>
                        <a:bodyPr/>
                        <a:lstStyle/>
                        <a:p>
                          <a:endParaRPr lang="en-US" sz="16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rgbClr val="468C8A"/>
                              </a:solidFill>
                            </a:rPr>
                            <a:t>Linear Regression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rgbClr val="468C8A"/>
                              </a:solidFill>
                            </a:rPr>
                            <a:t>Conditional Quantile Regression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6389442"/>
                      </a:ext>
                    </a:extLst>
                  </a:tr>
                  <a:tr h="640080">
                    <a:tc>
                      <a:txBody>
                        <a:bodyPr/>
                        <a:lstStyle/>
                        <a:p>
                          <a:r>
                            <a:rPr lang="en-US" sz="1600" dirty="0"/>
                            <a:t>Model</a:t>
                          </a:r>
                        </a:p>
                      </a:txBody>
                      <a:tcPr anchor="ct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nchor="ct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blipFill>
                          <a:blip r:embed="rId3"/>
                          <a:stretch>
                            <a:fillRect l="-86997" t="-84314" r="-100619" b="-656863"/>
                          </a:stretch>
                        </a:blipFill>
                      </a:tcPr>
                    </a:tc>
                    <a:tc>
                      <a:txBody>
                        <a:bodyPr/>
                        <a:lstStyle/>
                        <a:p>
                          <a:endParaRPr lang="en-US"/>
                        </a:p>
                      </a:txBody>
                      <a:tcPr anchor="ct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blipFill>
                          <a:blip r:embed="rId3"/>
                          <a:stretch>
                            <a:fillRect l="-186420" t="-84314" r="-309" b="-656863"/>
                          </a:stretch>
                        </a:blipFill>
                      </a:tcPr>
                    </a:tc>
                    <a:extLst>
                      <a:ext uri="{0D108BD9-81ED-4DB2-BD59-A6C34878D82A}">
                        <a16:rowId xmlns:a16="http://schemas.microsoft.com/office/drawing/2014/main" val="3364835753"/>
                      </a:ext>
                    </a:extLst>
                  </a:tr>
                  <a:tr h="822960">
                    <a:tc>
                      <a:txBody>
                        <a:bodyPr/>
                        <a:lstStyle/>
                        <a:p>
                          <a:r>
                            <a:rPr lang="en-US" sz="1600" dirty="0"/>
                            <a:t>Error</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Standard assumptions about the error term (</a:t>
                          </a:r>
                          <a:r>
                            <a:rPr lang="en-US" sz="1600" dirty="0" err="1">
                              <a:solidFill>
                                <a:schemeClr val="tx1"/>
                              </a:solidFill>
                            </a:rPr>
                            <a:t>iid</a:t>
                          </a:r>
                          <a:r>
                            <a:rPr lang="en-US" sz="1600" dirty="0">
                              <a:solidFill>
                                <a:schemeClr val="tx1"/>
                              </a:solidFill>
                            </a:rPr>
                            <a:t>, Normal distribution) are usually violated</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No distributional assumption is made about the error</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643586111"/>
                      </a:ext>
                    </a:extLst>
                  </a:tr>
                  <a:tr h="777050">
                    <a:tc>
                      <a:txBody>
                        <a:bodyPr/>
                        <a:lstStyle/>
                        <a:p>
                          <a:r>
                            <a:rPr lang="en-US" sz="1600" dirty="0"/>
                            <a:t>Estimating coefficients</a:t>
                          </a:r>
                        </a:p>
                      </a:txBody>
                      <a:tcPr anchor="ctr">
                        <a:lnT w="12700" cap="flat" cmpd="sng" algn="ctr">
                          <a:solidFill>
                            <a:schemeClr val="bg1">
                              <a:lumMod val="85000"/>
                            </a:schemeClr>
                          </a:solidFill>
                          <a:prstDash val="solid"/>
                          <a:round/>
                          <a:headEnd type="none" w="med" len="med"/>
                          <a:tailEnd type="none" w="med" len="med"/>
                        </a:lnT>
                      </a:tcPr>
                    </a:tc>
                    <a:tc>
                      <a:txBody>
                        <a:bodyPr/>
                        <a:lstStyle/>
                        <a:p>
                          <a:endParaRPr lang="en-US"/>
                        </a:p>
                      </a:txBody>
                      <a:tcPr anchor="ctr">
                        <a:lnT w="12700" cap="flat" cmpd="sng" algn="ctr">
                          <a:solidFill>
                            <a:schemeClr val="bg1">
                              <a:lumMod val="85000"/>
                            </a:schemeClr>
                          </a:solidFill>
                          <a:prstDash val="solid"/>
                          <a:round/>
                          <a:headEnd type="none" w="med" len="med"/>
                          <a:tailEnd type="none" w="med" len="med"/>
                        </a:lnT>
                        <a:blipFill>
                          <a:blip r:embed="rId3"/>
                          <a:stretch>
                            <a:fillRect l="-86997" t="-256452" r="-100619" b="-335484"/>
                          </a:stretch>
                        </a:blipFill>
                      </a:tcPr>
                    </a:tc>
                    <a:tc>
                      <a:txBody>
                        <a:bodyPr/>
                        <a:lstStyle/>
                        <a:p>
                          <a:endParaRPr lang="en-US"/>
                        </a:p>
                      </a:txBody>
                      <a:tcPr anchor="ctr">
                        <a:lnT w="12700" cap="flat" cmpd="sng" algn="ctr">
                          <a:solidFill>
                            <a:schemeClr val="bg1">
                              <a:lumMod val="85000"/>
                            </a:schemeClr>
                          </a:solidFill>
                          <a:prstDash val="solid"/>
                          <a:round/>
                          <a:headEnd type="none" w="med" len="med"/>
                          <a:tailEnd type="none" w="med" len="med"/>
                        </a:lnT>
                        <a:blipFill>
                          <a:blip r:embed="rId3"/>
                          <a:stretch>
                            <a:fillRect l="-186420" t="-256452" r="-309" b="-335484"/>
                          </a:stretch>
                        </a:blipFill>
                      </a:tcPr>
                    </a:tc>
                    <a:extLst>
                      <a:ext uri="{0D108BD9-81ED-4DB2-BD59-A6C34878D82A}">
                        <a16:rowId xmlns:a16="http://schemas.microsoft.com/office/drawing/2014/main" val="3631978337"/>
                      </a:ext>
                    </a:extLst>
                  </a:tr>
                  <a:tr h="640080">
                    <a:tc>
                      <a:txBody>
                        <a:bodyPr/>
                        <a:lstStyle/>
                        <a:p>
                          <a:pPr algn="r"/>
                          <a:r>
                            <a:rPr lang="en-US" sz="1600" dirty="0"/>
                            <a:t>Solution</a:t>
                          </a:r>
                        </a:p>
                      </a:txBody>
                      <a:tcPr anchor="ctr">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Analytic solution</a:t>
                          </a:r>
                        </a:p>
                      </a:txBody>
                      <a:tcPr anchor="ctr">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Linear programming methods</a:t>
                          </a:r>
                        </a:p>
                      </a:txBody>
                      <a:tcPr anchor="ctr">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20005246"/>
                      </a:ext>
                    </a:extLst>
                  </a:tr>
                  <a:tr h="822960">
                    <a:tc>
                      <a:txBody>
                        <a:bodyPr/>
                        <a:lstStyle/>
                        <a:p>
                          <a:r>
                            <a:rPr lang="en-US" sz="1600" dirty="0">
                              <a:solidFill>
                                <a:srgbClr val="BFBFBF"/>
                              </a:solidFill>
                            </a:rPr>
                            <a:t>Estimating standard errors</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rgbClr val="BFBFBF"/>
                              </a:solidFill>
                            </a:rPr>
                            <a:t>Several estimators are available + bootstrap</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rgbClr val="BFBFBF"/>
                              </a:solidFill>
                            </a:rPr>
                            <a:t>Several estimators are available and key point is that we need to estimate the error density + bootstrap</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7421977"/>
                      </a:ext>
                    </a:extLst>
                  </a:tr>
                  <a:tr h="1084326">
                    <a:tc>
                      <a:txBody>
                        <a:bodyPr/>
                        <a:lstStyle/>
                        <a:p>
                          <a:r>
                            <a:rPr lang="en-US" sz="1600" dirty="0"/>
                            <a:t>Interpretation</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6997" t="-390698" r="-100619" b="-8140"/>
                          </a:stretch>
                        </a:blipFill>
                      </a:tcPr>
                    </a:tc>
                    <a:tc>
                      <a:txBody>
                        <a:bodyPr/>
                        <a:lstStyle/>
                        <a:p>
                          <a:endParaRPr lang="en-US"/>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86420" t="-390698" r="-309" b="-8140"/>
                          </a:stretch>
                        </a:blipFill>
                      </a:tcPr>
                    </a:tc>
                    <a:extLst>
                      <a:ext uri="{0D108BD9-81ED-4DB2-BD59-A6C34878D82A}">
                        <a16:rowId xmlns:a16="http://schemas.microsoft.com/office/drawing/2014/main" val="2715207593"/>
                      </a:ext>
                    </a:extLst>
                  </a:tr>
                </a:tbl>
              </a:graphicData>
            </a:graphic>
          </p:graphicFrame>
        </mc:Fallback>
      </mc:AlternateContent>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130"/>
          <p:cNvSpPr txBox="1">
            <a:spLocks noGrp="1"/>
          </p:cNvSpPr>
          <p:nvPr>
            <p:ph type="title"/>
          </p:nvPr>
        </p:nvSpPr>
        <p:spPr>
          <a:xfrm>
            <a:off x="613718" y="1580341"/>
            <a:ext cx="10964563" cy="3697318"/>
          </a:xfrm>
          <a:prstGeom prst="rect">
            <a:avLst/>
          </a:prstGeom>
          <a:noFill/>
          <a:ln>
            <a:noFill/>
          </a:ln>
        </p:spPr>
        <p:txBody>
          <a:bodyPr spcFirstLastPara="1" wrap="square" lIns="91425" tIns="45700" rIns="91425" bIns="45700" anchor="b" anchorCtr="0">
            <a:normAutofit/>
          </a:bodyPr>
          <a:lstStyle/>
          <a:p>
            <a:pPr algn="ctr">
              <a:buClr>
                <a:srgbClr val="468C8A"/>
              </a:buClr>
            </a:pPr>
            <a:r>
              <a:rPr lang="en-US" sz="6400" b="1" dirty="0">
                <a:solidFill>
                  <a:srgbClr val="FF9300"/>
                </a:solidFill>
              </a:rPr>
              <a:t>Why is the mean model one of the most common choices of method for analyses? </a:t>
            </a:r>
            <a:endParaRPr sz="5300" dirty="0">
              <a:solidFill>
                <a:srgbClr val="F2494C"/>
              </a:solidFill>
            </a:endParaRPr>
          </a:p>
        </p:txBody>
      </p:sp>
      <p:sp>
        <p:nvSpPr>
          <p:cNvPr id="353" name="Google Shape;353;p1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59</a:t>
            </a:fld>
            <a:endParaRPr/>
          </a:p>
        </p:txBody>
      </p:sp>
    </p:spTree>
    <p:extLst>
      <p:ext uri="{BB962C8B-B14F-4D97-AF65-F5344CB8AC3E}">
        <p14:creationId xmlns:p14="http://schemas.microsoft.com/office/powerpoint/2010/main" val="4738172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Shape 351"/>
        <p:cNvGrpSpPr/>
        <p:nvPr/>
      </p:nvGrpSpPr>
      <p:grpSpPr>
        <a:xfrm>
          <a:off x="0" y="0"/>
          <a:ext cx="0" cy="0"/>
          <a:chOff x="0" y="0"/>
          <a:chExt cx="0" cy="0"/>
        </a:xfrm>
      </p:grpSpPr>
      <p:sp>
        <p:nvSpPr>
          <p:cNvPr id="352" name="Google Shape;352;p130"/>
          <p:cNvSpPr txBox="1">
            <a:spLocks noGrp="1"/>
          </p:cNvSpPr>
          <p:nvPr>
            <p:ph type="title"/>
          </p:nvPr>
        </p:nvSpPr>
        <p:spPr>
          <a:xfrm>
            <a:off x="690789" y="2534608"/>
            <a:ext cx="10810421" cy="1788783"/>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468C8A"/>
              </a:buClr>
              <a:buSzPts val="6000"/>
              <a:buFont typeface="Arial"/>
              <a:buNone/>
            </a:pPr>
            <a:r>
              <a:rPr lang="en-US" b="1" dirty="0">
                <a:solidFill>
                  <a:srgbClr val="468C8A"/>
                </a:solidFill>
              </a:rPr>
              <a:t>What about heterogeneous effects?</a:t>
            </a:r>
            <a:endParaRPr dirty="0"/>
          </a:p>
        </p:txBody>
      </p:sp>
      <p:sp>
        <p:nvSpPr>
          <p:cNvPr id="353" name="Google Shape;353;p1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60</a:t>
            </a:fld>
            <a:endParaRPr/>
          </a:p>
        </p:txBody>
      </p:sp>
    </p:spTree>
    <p:extLst>
      <p:ext uri="{BB962C8B-B14F-4D97-AF65-F5344CB8AC3E}">
        <p14:creationId xmlns:p14="http://schemas.microsoft.com/office/powerpoint/2010/main" val="21005190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8020C-593C-5E92-9220-1464AD7A57BD}"/>
              </a:ext>
            </a:extLst>
          </p:cNvPr>
          <p:cNvSpPr>
            <a:spLocks noGrp="1"/>
          </p:cNvSpPr>
          <p:nvPr>
            <p:ph type="title"/>
          </p:nvPr>
        </p:nvSpPr>
        <p:spPr/>
        <p:txBody>
          <a:bodyPr>
            <a:normAutofit fontScale="90000"/>
          </a:bodyPr>
          <a:lstStyle/>
          <a:p>
            <a:r>
              <a:rPr lang="en-US" b="1" dirty="0">
                <a:solidFill>
                  <a:srgbClr val="468C8A"/>
                </a:solidFill>
              </a:rPr>
              <a:t>Linear regression results suggest no association between breastfeeding and BMI</a:t>
            </a:r>
            <a:endParaRPr lang="en-US" dirty="0">
              <a:solidFill>
                <a:srgbClr val="0070C0"/>
              </a:solidFill>
            </a:endParaRPr>
          </a:p>
        </p:txBody>
      </p:sp>
      <p:sp>
        <p:nvSpPr>
          <p:cNvPr id="4" name="Slide Number Placeholder 3">
            <a:extLst>
              <a:ext uri="{FF2B5EF4-FFF2-40B4-BE49-F238E27FC236}">
                <a16:creationId xmlns:a16="http://schemas.microsoft.com/office/drawing/2014/main" id="{C664370D-70F8-C6C3-2F11-64DB31ED8D7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61</a:t>
            </a:fld>
            <a:endParaRPr lang="en-US"/>
          </a:p>
        </p:txBody>
      </p:sp>
      <p:pic>
        <p:nvPicPr>
          <p:cNvPr id="5" name="Main graphic">
            <a:extLst>
              <a:ext uri="{FF2B5EF4-FFF2-40B4-BE49-F238E27FC236}">
                <a16:creationId xmlns:a16="http://schemas.microsoft.com/office/drawing/2014/main" id="{2D240BEB-8CB8-11AE-029E-69D2860CD602}"/>
              </a:ext>
            </a:extLst>
          </p:cNvPr>
          <p:cNvPicPr>
            <a:picLocks noChangeAspect="1"/>
          </p:cNvPicPr>
          <p:nvPr/>
        </p:nvPicPr>
        <p:blipFill>
          <a:blip r:embed="rId3"/>
          <a:stretch/>
        </p:blipFill>
        <p:spPr>
          <a:xfrm>
            <a:off x="3078480" y="1690688"/>
            <a:ext cx="6035040" cy="5123036"/>
          </a:xfrm>
          <a:prstGeom prst="rect">
            <a:avLst/>
          </a:prstGeom>
          <a:ln>
            <a:noFill/>
          </a:ln>
        </p:spPr>
      </p:pic>
      <p:cxnSp>
        <p:nvCxnSpPr>
          <p:cNvPr id="8" name="Straight Connector 7">
            <a:extLst>
              <a:ext uri="{FF2B5EF4-FFF2-40B4-BE49-F238E27FC236}">
                <a16:creationId xmlns:a16="http://schemas.microsoft.com/office/drawing/2014/main" id="{3BF3BB82-A91A-F4CD-07D6-94D3134A1137}"/>
              </a:ext>
            </a:extLst>
          </p:cNvPr>
          <p:cNvCxnSpPr/>
          <p:nvPr/>
        </p:nvCxnSpPr>
        <p:spPr>
          <a:xfrm>
            <a:off x="3877408" y="3596054"/>
            <a:ext cx="5125915" cy="0"/>
          </a:xfrm>
          <a:prstGeom prst="line">
            <a:avLst/>
          </a:prstGeom>
          <a:ln w="38100">
            <a:solidFill>
              <a:srgbClr val="FF9300"/>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2F5D1D1-B1EE-9FD6-FC7F-C6E054B8E209}"/>
              </a:ext>
            </a:extLst>
          </p:cNvPr>
          <p:cNvSpPr/>
          <p:nvPr/>
        </p:nvSpPr>
        <p:spPr>
          <a:xfrm>
            <a:off x="3859823" y="3217985"/>
            <a:ext cx="5125915" cy="888023"/>
          </a:xfrm>
          <a:prstGeom prst="rect">
            <a:avLst/>
          </a:prstGeom>
          <a:solidFill>
            <a:srgbClr val="FF9300">
              <a:alpha val="2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980933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DD119-9367-DEAE-36AD-0CAFDDB922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334D1A-7932-9CAB-6166-98B0DCF44D80}"/>
              </a:ext>
            </a:extLst>
          </p:cNvPr>
          <p:cNvSpPr>
            <a:spLocks noGrp="1"/>
          </p:cNvSpPr>
          <p:nvPr>
            <p:ph type="title"/>
          </p:nvPr>
        </p:nvSpPr>
        <p:spPr/>
        <p:txBody>
          <a:bodyPr>
            <a:normAutofit fontScale="90000"/>
          </a:bodyPr>
          <a:lstStyle/>
          <a:p>
            <a:r>
              <a:rPr lang="en-US" b="1" dirty="0">
                <a:solidFill>
                  <a:srgbClr val="468C8A"/>
                </a:solidFill>
              </a:rPr>
              <a:t>Breastfeeding </a:t>
            </a:r>
            <a:r>
              <a:rPr lang="en-US" b="1" dirty="0">
                <a:solidFill>
                  <a:srgbClr val="0070C0"/>
                </a:solidFill>
              </a:rPr>
              <a:t>increased BMI values at low levels </a:t>
            </a:r>
            <a:r>
              <a:rPr lang="en-US" b="1" dirty="0">
                <a:solidFill>
                  <a:srgbClr val="468C8A"/>
                </a:solidFill>
              </a:rPr>
              <a:t>and </a:t>
            </a:r>
            <a:r>
              <a:rPr lang="en-US" b="1" dirty="0">
                <a:solidFill>
                  <a:srgbClr val="F2494C"/>
                </a:solidFill>
              </a:rPr>
              <a:t>reduced BMI values at high levels</a:t>
            </a:r>
            <a:r>
              <a:rPr lang="en-US" b="1" dirty="0">
                <a:solidFill>
                  <a:srgbClr val="468C8A"/>
                </a:solidFill>
              </a:rPr>
              <a:t> </a:t>
            </a:r>
            <a:endParaRPr lang="en-US" dirty="0">
              <a:solidFill>
                <a:srgbClr val="0070C0"/>
              </a:solidFill>
            </a:endParaRPr>
          </a:p>
        </p:txBody>
      </p:sp>
      <p:sp>
        <p:nvSpPr>
          <p:cNvPr id="4" name="Slide Number Placeholder 3">
            <a:extLst>
              <a:ext uri="{FF2B5EF4-FFF2-40B4-BE49-F238E27FC236}">
                <a16:creationId xmlns:a16="http://schemas.microsoft.com/office/drawing/2014/main" id="{61CDF32D-92B1-B5A9-45CA-304610523CD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62</a:t>
            </a:fld>
            <a:endParaRPr lang="en-US"/>
          </a:p>
        </p:txBody>
      </p:sp>
      <p:pic>
        <p:nvPicPr>
          <p:cNvPr id="5" name="Main graphic">
            <a:extLst>
              <a:ext uri="{FF2B5EF4-FFF2-40B4-BE49-F238E27FC236}">
                <a16:creationId xmlns:a16="http://schemas.microsoft.com/office/drawing/2014/main" id="{F761E07D-8146-1221-FD17-4D6DE56E5E7E}"/>
              </a:ext>
            </a:extLst>
          </p:cNvPr>
          <p:cNvPicPr>
            <a:picLocks noChangeAspect="1"/>
          </p:cNvPicPr>
          <p:nvPr/>
        </p:nvPicPr>
        <p:blipFill>
          <a:blip r:embed="rId3"/>
          <a:stretch/>
        </p:blipFill>
        <p:spPr>
          <a:xfrm>
            <a:off x="3078480" y="1690688"/>
            <a:ext cx="6035040" cy="5123036"/>
          </a:xfrm>
          <a:prstGeom prst="rect">
            <a:avLst/>
          </a:prstGeom>
          <a:ln>
            <a:noFill/>
          </a:ln>
        </p:spPr>
      </p:pic>
      <p:sp>
        <p:nvSpPr>
          <p:cNvPr id="6" name="Rectangle 5">
            <a:extLst>
              <a:ext uri="{FF2B5EF4-FFF2-40B4-BE49-F238E27FC236}">
                <a16:creationId xmlns:a16="http://schemas.microsoft.com/office/drawing/2014/main" id="{C53D9665-A7D9-BFD7-44E6-EBF13486E3D6}"/>
              </a:ext>
            </a:extLst>
          </p:cNvPr>
          <p:cNvSpPr/>
          <p:nvPr/>
        </p:nvSpPr>
        <p:spPr>
          <a:xfrm>
            <a:off x="8299938" y="3147646"/>
            <a:ext cx="624254" cy="3042139"/>
          </a:xfrm>
          <a:prstGeom prst="rect">
            <a:avLst/>
          </a:prstGeom>
          <a:noFill/>
          <a:ln w="57150">
            <a:solidFill>
              <a:srgbClr val="F249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2D7325D-3CD8-AA9C-2E07-05F316FF01E0}"/>
              </a:ext>
            </a:extLst>
          </p:cNvPr>
          <p:cNvSpPr/>
          <p:nvPr/>
        </p:nvSpPr>
        <p:spPr>
          <a:xfrm>
            <a:off x="3892063" y="1761393"/>
            <a:ext cx="1780441" cy="3042139"/>
          </a:xfrm>
          <a:prstGeom prst="rect">
            <a:avLst/>
          </a:prstGeom>
          <a:no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66952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34"/>
          <p:cNvSpPr txBox="1">
            <a:spLocks noGrp="1"/>
          </p:cNvSpPr>
          <p:nvPr>
            <p:ph type="title"/>
          </p:nvPr>
        </p:nvSpPr>
        <p:spPr>
          <a:xfrm>
            <a:off x="838200" y="15786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Imagine that a treatment shifts the outcome distribution uniformly</a:t>
            </a:r>
            <a:endParaRPr dirty="0">
              <a:solidFill>
                <a:srgbClr val="468C8A"/>
              </a:solidFill>
            </a:endParaRPr>
          </a:p>
        </p:txBody>
      </p:sp>
      <p:sp>
        <p:nvSpPr>
          <p:cNvPr id="525" name="Google Shape;525;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63</a:t>
            </a:fld>
            <a:endParaRPr/>
          </a:p>
        </p:txBody>
      </p:sp>
      <p:pic>
        <p:nvPicPr>
          <p:cNvPr id="2" name="Google Shape;533;p35" descr="A picture containing diagram, design, illustration&#10;&#10;Description automatically generated">
            <a:extLst>
              <a:ext uri="{FF2B5EF4-FFF2-40B4-BE49-F238E27FC236}">
                <a16:creationId xmlns:a16="http://schemas.microsoft.com/office/drawing/2014/main" id="{516D3337-F105-0CE9-C77C-6E564976FF6B}"/>
              </a:ext>
            </a:extLst>
          </p:cNvPr>
          <p:cNvPicPr preferRelativeResize="0"/>
          <p:nvPr/>
        </p:nvPicPr>
        <p:blipFill rotWithShape="1">
          <a:blip r:embed="rId3">
            <a:alphaModFix/>
          </a:blip>
          <a:srcRect/>
          <a:stretch/>
        </p:blipFill>
        <p:spPr>
          <a:xfrm>
            <a:off x="2209800" y="1676401"/>
            <a:ext cx="7772400" cy="5181599"/>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Difference in means</a:t>
            </a:r>
            <a:br>
              <a:rPr lang="en-US" b="1">
                <a:solidFill>
                  <a:srgbClr val="468C8A"/>
                </a:solidFill>
              </a:rPr>
            </a:br>
            <a:endParaRPr>
              <a:solidFill>
                <a:srgbClr val="468C8A"/>
              </a:solidFill>
            </a:endParaRPr>
          </a:p>
        </p:txBody>
      </p:sp>
      <p:sp>
        <p:nvSpPr>
          <p:cNvPr id="531" name="Google Shape;531;p35"/>
          <p:cNvSpPr/>
          <p:nvPr/>
        </p:nvSpPr>
        <p:spPr>
          <a:xfrm rot="5400000">
            <a:off x="6714456" y="1093296"/>
            <a:ext cx="156738" cy="1009475"/>
          </a:xfrm>
          <a:prstGeom prst="leftBrace">
            <a:avLst>
              <a:gd name="adj1" fmla="val 8333"/>
              <a:gd name="adj2" fmla="val 50000"/>
            </a:avLst>
          </a:prstGeom>
          <a:noFill/>
          <a:ln w="19050" cap="flat" cmpd="sng">
            <a:solidFill>
              <a:srgbClr val="F2494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532" name="Google Shape;532;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64</a:t>
            </a:fld>
            <a:endParaRPr/>
          </a:p>
        </p:txBody>
      </p:sp>
      <p:pic>
        <p:nvPicPr>
          <p:cNvPr id="533" name="Google Shape;533;p35" descr="A picture containing diagram, design, illustration&#10;&#10;Description automatically generated"/>
          <p:cNvPicPr preferRelativeResize="0"/>
          <p:nvPr/>
        </p:nvPicPr>
        <p:blipFill rotWithShape="1">
          <a:blip r:embed="rId3">
            <a:alphaModFix/>
          </a:blip>
          <a:srcRect/>
          <a:stretch/>
        </p:blipFill>
        <p:spPr>
          <a:xfrm>
            <a:off x="2209800" y="1676401"/>
            <a:ext cx="7772400" cy="5181599"/>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pic>
        <p:nvPicPr>
          <p:cNvPr id="538" name="Google Shape;538;p36" descr="A picture containing diagram, design, illustration&#10;&#10;Description automatically generated"/>
          <p:cNvPicPr preferRelativeResize="0"/>
          <p:nvPr/>
        </p:nvPicPr>
        <p:blipFill rotWithShape="1">
          <a:blip r:embed="rId3">
            <a:alphaModFix/>
          </a:blip>
          <a:srcRect/>
          <a:stretch/>
        </p:blipFill>
        <p:spPr>
          <a:xfrm>
            <a:off x="2209800" y="1676401"/>
            <a:ext cx="7772400" cy="5181599"/>
          </a:xfrm>
          <a:prstGeom prst="rect">
            <a:avLst/>
          </a:prstGeom>
          <a:noFill/>
          <a:ln>
            <a:noFill/>
          </a:ln>
        </p:spPr>
      </p:pic>
      <p:sp>
        <p:nvSpPr>
          <p:cNvPr id="539" name="Google Shape;539;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Difference in means </a:t>
            </a:r>
            <a:r>
              <a:rPr lang="en-US" b="1">
                <a:solidFill>
                  <a:srgbClr val="F2494C"/>
                </a:solidFill>
              </a:rPr>
              <a:t>=</a:t>
            </a:r>
            <a:r>
              <a:rPr lang="en-US" b="1">
                <a:solidFill>
                  <a:srgbClr val="468C8A"/>
                </a:solidFill>
              </a:rPr>
              <a:t> difference in 75</a:t>
            </a:r>
            <a:r>
              <a:rPr lang="en-US" b="1" baseline="30000">
                <a:solidFill>
                  <a:srgbClr val="468C8A"/>
                </a:solidFill>
              </a:rPr>
              <a:t>th</a:t>
            </a:r>
            <a:r>
              <a:rPr lang="en-US" b="1">
                <a:solidFill>
                  <a:srgbClr val="468C8A"/>
                </a:solidFill>
              </a:rPr>
              <a:t> percentiles</a:t>
            </a:r>
            <a:endParaRPr>
              <a:solidFill>
                <a:srgbClr val="468C8A"/>
              </a:solidFill>
            </a:endParaRPr>
          </a:p>
        </p:txBody>
      </p:sp>
      <p:sp>
        <p:nvSpPr>
          <p:cNvPr id="540" name="Google Shape;540;p36"/>
          <p:cNvSpPr/>
          <p:nvPr/>
        </p:nvSpPr>
        <p:spPr>
          <a:xfrm rot="5400000" flipH="1">
            <a:off x="6952601" y="5688008"/>
            <a:ext cx="156738" cy="1009475"/>
          </a:xfrm>
          <a:prstGeom prst="leftBrace">
            <a:avLst>
              <a:gd name="adj1" fmla="val 8333"/>
              <a:gd name="adj2" fmla="val 50000"/>
            </a:avLst>
          </a:prstGeom>
          <a:no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541" name="Google Shape;541;p36"/>
          <p:cNvSpPr/>
          <p:nvPr/>
        </p:nvSpPr>
        <p:spPr>
          <a:xfrm rot="5400000">
            <a:off x="6723981" y="1093296"/>
            <a:ext cx="156738" cy="1009475"/>
          </a:xfrm>
          <a:prstGeom prst="leftBrace">
            <a:avLst>
              <a:gd name="adj1" fmla="val 8333"/>
              <a:gd name="adj2" fmla="val 50000"/>
            </a:avLst>
          </a:prstGeom>
          <a:noFill/>
          <a:ln w="19050" cap="flat" cmpd="sng">
            <a:solidFill>
              <a:srgbClr val="F2494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542" name="Google Shape;542;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65</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Imagine that a treatment affects the outcome distribution’s scale only</a:t>
            </a:r>
            <a:endParaRPr>
              <a:solidFill>
                <a:srgbClr val="468C8A"/>
              </a:solidFill>
            </a:endParaRPr>
          </a:p>
        </p:txBody>
      </p:sp>
      <p:sp>
        <p:nvSpPr>
          <p:cNvPr id="549" name="Google Shape;549;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66</a:t>
            </a:fld>
            <a:endParaRPr/>
          </a:p>
        </p:txBody>
      </p:sp>
      <p:pic>
        <p:nvPicPr>
          <p:cNvPr id="2" name="Google Shape;556;p38" descr="A picture containing diagram, design&#10;&#10;Description automatically generated">
            <a:extLst>
              <a:ext uri="{FF2B5EF4-FFF2-40B4-BE49-F238E27FC236}">
                <a16:creationId xmlns:a16="http://schemas.microsoft.com/office/drawing/2014/main" id="{B8A0F1FB-ABEE-1343-D0A8-D236DE7BF6D5}"/>
              </a:ext>
            </a:extLst>
          </p:cNvPr>
          <p:cNvPicPr preferRelativeResize="0"/>
          <p:nvPr/>
        </p:nvPicPr>
        <p:blipFill rotWithShape="1">
          <a:blip r:embed="rId3">
            <a:alphaModFix/>
          </a:blip>
          <a:srcRect/>
          <a:stretch/>
        </p:blipFill>
        <p:spPr>
          <a:xfrm>
            <a:off x="2209800" y="1676401"/>
            <a:ext cx="7772400" cy="5181599"/>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Difference in means</a:t>
            </a:r>
            <a:br>
              <a:rPr lang="en-US" b="1">
                <a:solidFill>
                  <a:srgbClr val="468C8A"/>
                </a:solidFill>
              </a:rPr>
            </a:br>
            <a:endParaRPr>
              <a:solidFill>
                <a:srgbClr val="468C8A"/>
              </a:solidFill>
            </a:endParaRPr>
          </a:p>
        </p:txBody>
      </p:sp>
      <p:sp>
        <p:nvSpPr>
          <p:cNvPr id="555" name="Google Shape;555;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67</a:t>
            </a:fld>
            <a:endParaRPr/>
          </a:p>
        </p:txBody>
      </p:sp>
      <p:pic>
        <p:nvPicPr>
          <p:cNvPr id="556" name="Google Shape;556;p38" descr="A picture containing diagram, design&#10;&#10;Description automatically generated"/>
          <p:cNvPicPr preferRelativeResize="0"/>
          <p:nvPr/>
        </p:nvPicPr>
        <p:blipFill rotWithShape="1">
          <a:blip r:embed="rId3">
            <a:alphaModFix/>
          </a:blip>
          <a:srcRect/>
          <a:stretch/>
        </p:blipFill>
        <p:spPr>
          <a:xfrm>
            <a:off x="2209800" y="1676401"/>
            <a:ext cx="7772400" cy="5181599"/>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pic>
        <p:nvPicPr>
          <p:cNvPr id="561" name="Google Shape;561;p39" descr="A picture containing screenshot, diagram, design&#10;&#10;Description automatically generated"/>
          <p:cNvPicPr preferRelativeResize="0"/>
          <p:nvPr/>
        </p:nvPicPr>
        <p:blipFill rotWithShape="1">
          <a:blip r:embed="rId3">
            <a:alphaModFix/>
          </a:blip>
          <a:srcRect/>
          <a:stretch/>
        </p:blipFill>
        <p:spPr>
          <a:xfrm>
            <a:off x="2209800" y="1676400"/>
            <a:ext cx="7772400" cy="5181600"/>
          </a:xfrm>
          <a:prstGeom prst="rect">
            <a:avLst/>
          </a:prstGeom>
          <a:noFill/>
          <a:ln>
            <a:noFill/>
          </a:ln>
        </p:spPr>
      </p:pic>
      <p:sp>
        <p:nvSpPr>
          <p:cNvPr id="562" name="Google Shape;562;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Difference in means </a:t>
            </a:r>
            <a:r>
              <a:rPr lang="en-US" b="1">
                <a:solidFill>
                  <a:srgbClr val="F2494C"/>
                </a:solidFill>
              </a:rPr>
              <a:t>≠</a:t>
            </a:r>
            <a:r>
              <a:rPr lang="en-US" b="1">
                <a:solidFill>
                  <a:srgbClr val="468C8A"/>
                </a:solidFill>
              </a:rPr>
              <a:t> difference in 75</a:t>
            </a:r>
            <a:r>
              <a:rPr lang="en-US" b="1" baseline="30000">
                <a:solidFill>
                  <a:srgbClr val="468C8A"/>
                </a:solidFill>
              </a:rPr>
              <a:t>th</a:t>
            </a:r>
            <a:r>
              <a:rPr lang="en-US" b="1">
                <a:solidFill>
                  <a:srgbClr val="468C8A"/>
                </a:solidFill>
              </a:rPr>
              <a:t> percentiles</a:t>
            </a:r>
            <a:endParaRPr>
              <a:solidFill>
                <a:srgbClr val="468C8A"/>
              </a:solidFill>
            </a:endParaRPr>
          </a:p>
        </p:txBody>
      </p:sp>
      <p:sp>
        <p:nvSpPr>
          <p:cNvPr id="563" name="Google Shape;563;p39"/>
          <p:cNvSpPr/>
          <p:nvPr/>
        </p:nvSpPr>
        <p:spPr>
          <a:xfrm rot="5400000" flipH="1">
            <a:off x="6687945" y="5931800"/>
            <a:ext cx="103679" cy="431648"/>
          </a:xfrm>
          <a:prstGeom prst="leftBrace">
            <a:avLst>
              <a:gd name="adj1" fmla="val 8333"/>
              <a:gd name="adj2" fmla="val 50000"/>
            </a:avLst>
          </a:prstGeom>
          <a:no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564" name="Google Shape;564;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68</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Shape 516"/>
        <p:cNvGrpSpPr/>
        <p:nvPr/>
      </p:nvGrpSpPr>
      <p:grpSpPr>
        <a:xfrm>
          <a:off x="0" y="0"/>
          <a:ext cx="0" cy="0"/>
          <a:chOff x="0" y="0"/>
          <a:chExt cx="0" cy="0"/>
        </a:xfrm>
      </p:grpSpPr>
      <p:sp>
        <p:nvSpPr>
          <p:cNvPr id="517" name="Google Shape;517;p33"/>
          <p:cNvSpPr txBox="1">
            <a:spLocks noGrp="1"/>
          </p:cNvSpPr>
          <p:nvPr>
            <p:ph type="title"/>
          </p:nvPr>
        </p:nvSpPr>
        <p:spPr>
          <a:xfrm>
            <a:off x="838200" y="2105937"/>
            <a:ext cx="10515600" cy="2646126"/>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2494C"/>
              </a:buClr>
              <a:buSzPts val="6000"/>
              <a:buFont typeface="Arial"/>
              <a:buNone/>
            </a:pPr>
            <a:r>
              <a:rPr lang="en-US" b="1" dirty="0">
                <a:solidFill>
                  <a:srgbClr val="F2494C"/>
                </a:solidFill>
              </a:rPr>
              <a:t>Means may tell tall tales about tails</a:t>
            </a:r>
            <a:br>
              <a:rPr lang="en-US" b="1" dirty="0">
                <a:solidFill>
                  <a:srgbClr val="F2494C"/>
                </a:solidFill>
              </a:rPr>
            </a:br>
            <a:r>
              <a:rPr lang="en-US" sz="4800" b="1" dirty="0">
                <a:solidFill>
                  <a:srgbClr val="FF9300"/>
                </a:solidFill>
              </a:rPr>
              <a:t>(repeat that 5 times fast)</a:t>
            </a:r>
            <a:endParaRPr b="1" dirty="0">
              <a:solidFill>
                <a:srgbClr val="F2494C"/>
              </a:solidFill>
            </a:endParaRPr>
          </a:p>
        </p:txBody>
      </p:sp>
      <p:sp>
        <p:nvSpPr>
          <p:cNvPr id="518" name="Google Shape;518;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69</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130"/>
          <p:cNvSpPr txBox="1">
            <a:spLocks noGrp="1"/>
          </p:cNvSpPr>
          <p:nvPr>
            <p:ph type="title"/>
          </p:nvPr>
        </p:nvSpPr>
        <p:spPr>
          <a:xfrm>
            <a:off x="690789" y="2534608"/>
            <a:ext cx="10810421" cy="1788783"/>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468C8A"/>
              </a:buClr>
              <a:buSzPts val="6000"/>
              <a:buFont typeface="Arial"/>
              <a:buNone/>
            </a:pPr>
            <a:r>
              <a:rPr lang="en-US" b="1" dirty="0">
                <a:solidFill>
                  <a:srgbClr val="468C8A"/>
                </a:solidFill>
              </a:rPr>
              <a:t>But in reality, the changes might not be so dramatic</a:t>
            </a:r>
            <a:endParaRPr dirty="0"/>
          </a:p>
        </p:txBody>
      </p:sp>
      <p:sp>
        <p:nvSpPr>
          <p:cNvPr id="353" name="Google Shape;353;p1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70</a:t>
            </a:fld>
            <a:endParaRPr/>
          </a:p>
        </p:txBody>
      </p:sp>
    </p:spTree>
    <p:extLst>
      <p:ext uri="{BB962C8B-B14F-4D97-AF65-F5344CB8AC3E}">
        <p14:creationId xmlns:p14="http://schemas.microsoft.com/office/powerpoint/2010/main" val="41180619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3" name="Google Shape;503;g2b790785aef_0_106"/>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71</a:t>
            </a:fld>
            <a:endParaRPr/>
          </a:p>
        </p:txBody>
      </p:sp>
      <p:sp>
        <p:nvSpPr>
          <p:cNvPr id="6" name="Google Shape;509;g2b790785aef_0_113">
            <a:extLst>
              <a:ext uri="{FF2B5EF4-FFF2-40B4-BE49-F238E27FC236}">
                <a16:creationId xmlns:a16="http://schemas.microsoft.com/office/drawing/2014/main" id="{30E2F79E-D84C-C095-7D42-E076343A0BF2}"/>
              </a:ext>
            </a:extLst>
          </p:cNvPr>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b="1" dirty="0">
                <a:solidFill>
                  <a:srgbClr val="468C8A"/>
                </a:solidFill>
              </a:rPr>
              <a:t>Distribution for participants with 12 years of education</a:t>
            </a:r>
            <a:endParaRPr dirty="0"/>
          </a:p>
        </p:txBody>
      </p:sp>
      <p:pic>
        <p:nvPicPr>
          <p:cNvPr id="2" name="Picture 1">
            <a:extLst>
              <a:ext uri="{FF2B5EF4-FFF2-40B4-BE49-F238E27FC236}">
                <a16:creationId xmlns:a16="http://schemas.microsoft.com/office/drawing/2014/main" id="{70208628-0EDD-660D-B275-46E3D6425C56}"/>
              </a:ext>
            </a:extLst>
          </p:cNvPr>
          <p:cNvPicPr>
            <a:picLocks noChangeAspect="1"/>
          </p:cNvPicPr>
          <p:nvPr/>
        </p:nvPicPr>
        <p:blipFill>
          <a:blip r:embed="rId3"/>
          <a:stretch>
            <a:fillRect/>
          </a:stretch>
        </p:blipFill>
        <p:spPr>
          <a:xfrm>
            <a:off x="1985772" y="1690825"/>
            <a:ext cx="8220456" cy="4994892"/>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3" name="Google Shape;503;g2b790785aef_0_106"/>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72</a:t>
            </a:fld>
            <a:endParaRPr/>
          </a:p>
        </p:txBody>
      </p:sp>
      <p:sp>
        <p:nvSpPr>
          <p:cNvPr id="6" name="Google Shape;509;g2b790785aef_0_113">
            <a:extLst>
              <a:ext uri="{FF2B5EF4-FFF2-40B4-BE49-F238E27FC236}">
                <a16:creationId xmlns:a16="http://schemas.microsoft.com/office/drawing/2014/main" id="{30E2F79E-D84C-C095-7D42-E076343A0BF2}"/>
              </a:ext>
            </a:extLst>
          </p:cNvPr>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b="1" dirty="0">
                <a:solidFill>
                  <a:srgbClr val="468C8A"/>
                </a:solidFill>
              </a:rPr>
              <a:t>Linear Regression Counterfactual Distribution (12 years)</a:t>
            </a:r>
            <a:endParaRPr dirty="0"/>
          </a:p>
        </p:txBody>
      </p:sp>
      <p:pic>
        <p:nvPicPr>
          <p:cNvPr id="2" name="Picture 1">
            <a:extLst>
              <a:ext uri="{FF2B5EF4-FFF2-40B4-BE49-F238E27FC236}">
                <a16:creationId xmlns:a16="http://schemas.microsoft.com/office/drawing/2014/main" id="{FDAD9318-CF80-AB33-0446-616F0F28153F}"/>
              </a:ext>
            </a:extLst>
          </p:cNvPr>
          <p:cNvPicPr>
            <a:picLocks noChangeAspect="1"/>
          </p:cNvPicPr>
          <p:nvPr/>
        </p:nvPicPr>
        <p:blipFill>
          <a:blip r:embed="rId3"/>
          <a:stretch>
            <a:fillRect/>
          </a:stretch>
        </p:blipFill>
        <p:spPr>
          <a:xfrm>
            <a:off x="1985772" y="1690825"/>
            <a:ext cx="8220456" cy="4994892"/>
          </a:xfrm>
          <a:prstGeom prst="rect">
            <a:avLst/>
          </a:prstGeom>
        </p:spPr>
      </p:pic>
    </p:spTree>
    <p:extLst>
      <p:ext uri="{BB962C8B-B14F-4D97-AF65-F5344CB8AC3E}">
        <p14:creationId xmlns:p14="http://schemas.microsoft.com/office/powerpoint/2010/main" val="1096477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g2b790785aef_0_113"/>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b="1" dirty="0">
                <a:solidFill>
                  <a:srgbClr val="468C8A"/>
                </a:solidFill>
              </a:rPr>
              <a:t>CQR Counterfactual Distribution </a:t>
            </a:r>
            <a:br>
              <a:rPr lang="en-US" b="1" dirty="0">
                <a:solidFill>
                  <a:srgbClr val="468C8A"/>
                </a:solidFill>
              </a:rPr>
            </a:br>
            <a:r>
              <a:rPr lang="en-US" b="1" dirty="0">
                <a:solidFill>
                  <a:srgbClr val="468C8A"/>
                </a:solidFill>
              </a:rPr>
              <a:t>(12 years)</a:t>
            </a:r>
            <a:endParaRPr dirty="0"/>
          </a:p>
        </p:txBody>
      </p:sp>
      <p:sp>
        <p:nvSpPr>
          <p:cNvPr id="511" name="Google Shape;511;g2b790785aef_0_11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73</a:t>
            </a:fld>
            <a:endParaRPr/>
          </a:p>
        </p:txBody>
      </p:sp>
      <p:pic>
        <p:nvPicPr>
          <p:cNvPr id="2" name="Picture 1">
            <a:extLst>
              <a:ext uri="{FF2B5EF4-FFF2-40B4-BE49-F238E27FC236}">
                <a16:creationId xmlns:a16="http://schemas.microsoft.com/office/drawing/2014/main" id="{FB37E755-A91F-E899-249B-40EEE8AB4AC0}"/>
              </a:ext>
            </a:extLst>
          </p:cNvPr>
          <p:cNvPicPr>
            <a:picLocks noChangeAspect="1"/>
          </p:cNvPicPr>
          <p:nvPr/>
        </p:nvPicPr>
        <p:blipFill>
          <a:blip r:embed="rId3"/>
          <a:stretch>
            <a:fillRect/>
          </a:stretch>
        </p:blipFill>
        <p:spPr>
          <a:xfrm>
            <a:off x="1985772" y="1690825"/>
            <a:ext cx="8220456" cy="4994892"/>
          </a:xfrm>
          <a:prstGeom prst="rect">
            <a:avLst/>
          </a:prstGeom>
        </p:spPr>
      </p:pic>
    </p:spTree>
    <p:extLst>
      <p:ext uri="{BB962C8B-B14F-4D97-AF65-F5344CB8AC3E}">
        <p14:creationId xmlns:p14="http://schemas.microsoft.com/office/powerpoint/2010/main" val="33470356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130"/>
          <p:cNvSpPr txBox="1">
            <a:spLocks noGrp="1"/>
          </p:cNvSpPr>
          <p:nvPr>
            <p:ph type="title"/>
          </p:nvPr>
        </p:nvSpPr>
        <p:spPr>
          <a:xfrm>
            <a:off x="690789" y="2534608"/>
            <a:ext cx="10810421" cy="1788783"/>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468C8A"/>
              </a:buClr>
              <a:buSzPts val="6000"/>
              <a:buFont typeface="Arial"/>
              <a:buNone/>
            </a:pPr>
            <a:r>
              <a:rPr lang="en-US" b="1" dirty="0">
                <a:solidFill>
                  <a:srgbClr val="468C8A"/>
                </a:solidFill>
              </a:rPr>
              <a:t>Why do we care about distributions?</a:t>
            </a:r>
            <a:endParaRPr dirty="0"/>
          </a:p>
        </p:txBody>
      </p:sp>
      <p:sp>
        <p:nvSpPr>
          <p:cNvPr id="353" name="Google Shape;353;p1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74</a:t>
            </a:fld>
            <a:endParaRPr/>
          </a:p>
        </p:txBody>
      </p:sp>
    </p:spTree>
    <p:extLst>
      <p:ext uri="{BB962C8B-B14F-4D97-AF65-F5344CB8AC3E}">
        <p14:creationId xmlns:p14="http://schemas.microsoft.com/office/powerpoint/2010/main" val="58460976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The tails matter too: case of blood pressure</a:t>
            </a:r>
            <a:endParaRPr dirty="0"/>
          </a:p>
        </p:txBody>
      </p:sp>
      <p:sp>
        <p:nvSpPr>
          <p:cNvPr id="489" name="Google Shape;489;p30"/>
          <p:cNvSpPr txBox="1"/>
          <p:nvPr/>
        </p:nvSpPr>
        <p:spPr>
          <a:xfrm>
            <a:off x="9794449" y="6457890"/>
            <a:ext cx="256409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i="1">
                <a:solidFill>
                  <a:srgbClr val="BFBFBF"/>
                </a:solidFill>
                <a:latin typeface="Arial"/>
                <a:ea typeface="Arial"/>
                <a:cs typeface="Arial"/>
                <a:sym typeface="Arial"/>
              </a:rPr>
              <a:t>This figure is a recreation of a figure from Fuchs et. al. (2020 with simulated data.</a:t>
            </a:r>
            <a:endParaRPr/>
          </a:p>
        </p:txBody>
      </p:sp>
      <p:sp>
        <p:nvSpPr>
          <p:cNvPr id="490" name="Google Shape;490;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75</a:t>
            </a:fld>
            <a:endParaRPr/>
          </a:p>
        </p:txBody>
      </p:sp>
      <p:pic>
        <p:nvPicPr>
          <p:cNvPr id="491" name="Google Shape;491;p30" descr="A picture containing text, diagram, line, screenshot&#10;&#10;Description automatically generated"/>
          <p:cNvPicPr preferRelativeResize="0"/>
          <p:nvPr/>
        </p:nvPicPr>
        <p:blipFill rotWithShape="1">
          <a:blip r:embed="rId3">
            <a:alphaModFix/>
          </a:blip>
          <a:srcRect/>
          <a:stretch/>
        </p:blipFill>
        <p:spPr>
          <a:xfrm>
            <a:off x="1887718" y="1676401"/>
            <a:ext cx="7772400" cy="5181599"/>
          </a:xfrm>
          <a:prstGeom prst="rect">
            <a:avLst/>
          </a:prstGeom>
          <a:noFill/>
          <a:ln>
            <a:noFill/>
          </a:ln>
        </p:spPr>
      </p:pic>
      <p:sp>
        <p:nvSpPr>
          <p:cNvPr id="492" name="Google Shape;492;p30"/>
          <p:cNvSpPr/>
          <p:nvPr/>
        </p:nvSpPr>
        <p:spPr>
          <a:xfrm rot="-5400000">
            <a:off x="8093697" y="5958525"/>
            <a:ext cx="197963" cy="1600985"/>
          </a:xfrm>
          <a:prstGeom prst="leftBrace">
            <a:avLst>
              <a:gd name="adj1" fmla="val 8333"/>
              <a:gd name="adj2" fmla="val 50000"/>
            </a:avLst>
          </a:prstGeom>
          <a:noFill/>
          <a:ln w="38100" cap="flat" cmpd="sng">
            <a:solidFill>
              <a:srgbClr val="F2494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493" name="Google Shape;493;p30"/>
          <p:cNvSpPr/>
          <p:nvPr/>
        </p:nvSpPr>
        <p:spPr>
          <a:xfrm>
            <a:off x="1687399" y="2422533"/>
            <a:ext cx="200320" cy="1772395"/>
          </a:xfrm>
          <a:prstGeom prst="leftBrace">
            <a:avLst>
              <a:gd name="adj1" fmla="val 8333"/>
              <a:gd name="adj2" fmla="val 50000"/>
            </a:avLst>
          </a:prstGeom>
          <a:noFill/>
          <a:ln w="38100" cap="flat" cmpd="sng">
            <a:solidFill>
              <a:srgbClr val="F2494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494" name="Google Shape;494;p30"/>
          <p:cNvSpPr/>
          <p:nvPr/>
        </p:nvSpPr>
        <p:spPr>
          <a:xfrm rot="-5400000">
            <a:off x="4974996" y="5956434"/>
            <a:ext cx="197963" cy="1600985"/>
          </a:xfrm>
          <a:prstGeom prst="leftBrace">
            <a:avLst>
              <a:gd name="adj1" fmla="val 8333"/>
              <a:gd name="adj2" fmla="val 50000"/>
            </a:avLst>
          </a:prstGeom>
          <a:noFill/>
          <a:ln w="38100" cap="flat" cmpd="sng">
            <a:solidFill>
              <a:srgbClr val="FF93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9300"/>
              </a:solidFill>
              <a:latin typeface="Arial"/>
              <a:ea typeface="Arial"/>
              <a:cs typeface="Arial"/>
              <a:sym typeface="Arial"/>
            </a:endParaRPr>
          </a:p>
        </p:txBody>
      </p:sp>
      <p:sp>
        <p:nvSpPr>
          <p:cNvPr id="495" name="Google Shape;495;p30"/>
          <p:cNvSpPr/>
          <p:nvPr/>
        </p:nvSpPr>
        <p:spPr>
          <a:xfrm>
            <a:off x="1687398" y="5148771"/>
            <a:ext cx="200319" cy="771263"/>
          </a:xfrm>
          <a:prstGeom prst="leftBrace">
            <a:avLst>
              <a:gd name="adj1" fmla="val 8333"/>
              <a:gd name="adj2" fmla="val 50000"/>
            </a:avLst>
          </a:prstGeom>
          <a:noFill/>
          <a:ln w="38100" cap="flat" cmpd="sng">
            <a:solidFill>
              <a:srgbClr val="FF93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9300"/>
              </a:solidFill>
              <a:latin typeface="Arial"/>
              <a:ea typeface="Arial"/>
              <a:cs typeface="Arial"/>
              <a:sym typeface="Arial"/>
            </a:endParaRPr>
          </a:p>
        </p:txBody>
      </p:sp>
    </p:spTree>
    <p:extLst>
      <p:ext uri="{BB962C8B-B14F-4D97-AF65-F5344CB8AC3E}">
        <p14:creationId xmlns:p14="http://schemas.microsoft.com/office/powerpoint/2010/main" val="300310224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“Geoffrey Rose’s big idea”</a:t>
            </a:r>
            <a:r>
              <a:rPr lang="en-US" b="1">
                <a:solidFill>
                  <a:srgbClr val="FF9300"/>
                </a:solidFill>
              </a:rPr>
              <a:t>*</a:t>
            </a:r>
            <a:endParaRPr>
              <a:solidFill>
                <a:srgbClr val="FF9300"/>
              </a:solidFill>
            </a:endParaRPr>
          </a:p>
        </p:txBody>
      </p:sp>
      <p:pic>
        <p:nvPicPr>
          <p:cNvPr id="603" name="Google Shape;603;p22"/>
          <p:cNvPicPr preferRelativeResize="0"/>
          <p:nvPr/>
        </p:nvPicPr>
        <p:blipFill rotWithShape="1">
          <a:blip r:embed="rId3">
            <a:alphaModFix/>
          </a:blip>
          <a:srcRect/>
          <a:stretch/>
        </p:blipFill>
        <p:spPr>
          <a:xfrm>
            <a:off x="838200" y="1690688"/>
            <a:ext cx="3657600" cy="4858043"/>
          </a:xfrm>
          <a:prstGeom prst="rect">
            <a:avLst/>
          </a:prstGeom>
          <a:noFill/>
          <a:ln>
            <a:noFill/>
          </a:ln>
        </p:spPr>
      </p:pic>
      <p:pic>
        <p:nvPicPr>
          <p:cNvPr id="604" name="Google Shape;604;p22"/>
          <p:cNvPicPr preferRelativeResize="0"/>
          <p:nvPr/>
        </p:nvPicPr>
        <p:blipFill rotWithShape="1">
          <a:blip r:embed="rId4">
            <a:alphaModFix/>
          </a:blip>
          <a:srcRect/>
          <a:stretch/>
        </p:blipFill>
        <p:spPr>
          <a:xfrm>
            <a:off x="4773314" y="2544152"/>
            <a:ext cx="7223760" cy="3207100"/>
          </a:xfrm>
          <a:prstGeom prst="rect">
            <a:avLst/>
          </a:prstGeom>
          <a:noFill/>
          <a:ln>
            <a:noFill/>
          </a:ln>
        </p:spPr>
      </p:pic>
      <p:sp>
        <p:nvSpPr>
          <p:cNvPr id="605" name="Google Shape;60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76</a:t>
            </a:fld>
            <a:endParaRPr/>
          </a:p>
        </p:txBody>
      </p:sp>
      <p:sp>
        <p:nvSpPr>
          <p:cNvPr id="606" name="Google Shape;606;p22"/>
          <p:cNvSpPr txBox="1"/>
          <p:nvPr/>
        </p:nvSpPr>
        <p:spPr>
          <a:xfrm>
            <a:off x="5970493" y="6548730"/>
            <a:ext cx="622150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1" u="none" strike="noStrike" cap="none">
                <a:solidFill>
                  <a:srgbClr val="FF9300"/>
                </a:solidFill>
                <a:latin typeface="Arial"/>
                <a:ea typeface="Arial"/>
                <a:cs typeface="Arial"/>
                <a:sym typeface="Arial"/>
              </a:rPr>
              <a:t>*</a:t>
            </a:r>
            <a:r>
              <a:rPr lang="en-US" sz="1000" b="0" i="1" u="none" strike="noStrike" cap="none">
                <a:solidFill>
                  <a:srgbClr val="BFBFBF"/>
                </a:solidFill>
                <a:latin typeface="Arial"/>
                <a:ea typeface="Arial"/>
                <a:cs typeface="Arial"/>
                <a:sym typeface="Arial"/>
              </a:rPr>
              <a:t>The title of this slide comes from a Commentary written by A Hofman and JP Vandenbroucke (1992). </a:t>
            </a:r>
            <a:r>
              <a:rPr lang="en-US" sz="1000" b="0" i="1" u="sng" strike="noStrike" cap="none">
                <a:solidFill>
                  <a:srgbClr val="BFBFBF"/>
                </a:solidFill>
                <a:latin typeface="Arial"/>
                <a:ea typeface="Arial"/>
                <a:cs typeface="Arial"/>
                <a:sym typeface="Arial"/>
                <a:hlinkClick r:id="rId5">
                  <a:extLst>
                    <a:ext uri="{A12FA001-AC4F-418D-AE19-62706E023703}">
                      <ahyp:hlinkClr xmlns:ahyp="http://schemas.microsoft.com/office/drawing/2018/hyperlinkcolor" val="tx"/>
                    </a:ext>
                  </a:extLst>
                </a:hlinkClick>
              </a:rPr>
              <a:t>Link</a:t>
            </a:r>
            <a:r>
              <a:rPr lang="en-US" sz="1000" b="0" i="1" u="none" strike="noStrike" cap="none">
                <a:solidFill>
                  <a:srgbClr val="BFBFBF"/>
                </a:solidFill>
                <a:latin typeface="Arial"/>
                <a:ea typeface="Arial"/>
                <a:cs typeface="Arial"/>
                <a:sym typeface="Arial"/>
              </a:rPr>
              <a:t>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Illustrating Rose’s big idea</a:t>
            </a:r>
            <a:endParaRPr/>
          </a:p>
        </p:txBody>
      </p:sp>
      <p:pic>
        <p:nvPicPr>
          <p:cNvPr id="612" name="Google Shape;612;p26"/>
          <p:cNvPicPr preferRelativeResize="0"/>
          <p:nvPr/>
        </p:nvPicPr>
        <p:blipFill rotWithShape="1">
          <a:blip r:embed="rId3">
            <a:alphaModFix/>
          </a:blip>
          <a:srcRect/>
          <a:stretch/>
        </p:blipFill>
        <p:spPr>
          <a:xfrm>
            <a:off x="2209800" y="1676401"/>
            <a:ext cx="7772400" cy="5181599"/>
          </a:xfrm>
          <a:prstGeom prst="rect">
            <a:avLst/>
          </a:prstGeom>
          <a:noFill/>
          <a:ln>
            <a:noFill/>
          </a:ln>
        </p:spPr>
      </p:pic>
      <p:sp>
        <p:nvSpPr>
          <p:cNvPr id="613" name="Google Shape;613;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77</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High risk approach for prevention</a:t>
            </a:r>
            <a:endParaRPr/>
          </a:p>
        </p:txBody>
      </p:sp>
      <p:pic>
        <p:nvPicPr>
          <p:cNvPr id="619" name="Google Shape;619;p27"/>
          <p:cNvPicPr preferRelativeResize="0"/>
          <p:nvPr/>
        </p:nvPicPr>
        <p:blipFill rotWithShape="1">
          <a:blip r:embed="rId3">
            <a:alphaModFix/>
          </a:blip>
          <a:srcRect/>
          <a:stretch/>
        </p:blipFill>
        <p:spPr>
          <a:xfrm>
            <a:off x="2209780" y="1676401"/>
            <a:ext cx="7772400" cy="5181599"/>
          </a:xfrm>
          <a:prstGeom prst="rect">
            <a:avLst/>
          </a:prstGeom>
          <a:noFill/>
          <a:ln>
            <a:noFill/>
          </a:ln>
        </p:spPr>
      </p:pic>
      <p:sp>
        <p:nvSpPr>
          <p:cNvPr id="620" name="Google Shape;620;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78</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Population approach for prevention</a:t>
            </a:r>
            <a:endParaRPr/>
          </a:p>
        </p:txBody>
      </p:sp>
      <p:pic>
        <p:nvPicPr>
          <p:cNvPr id="626" name="Google Shape;626;p28"/>
          <p:cNvPicPr preferRelativeResize="0"/>
          <p:nvPr/>
        </p:nvPicPr>
        <p:blipFill rotWithShape="1">
          <a:blip r:embed="rId3">
            <a:alphaModFix/>
          </a:blip>
          <a:srcRect/>
          <a:stretch/>
        </p:blipFill>
        <p:spPr>
          <a:xfrm>
            <a:off x="2209800" y="1676401"/>
            <a:ext cx="7772400" cy="5181599"/>
          </a:xfrm>
          <a:prstGeom prst="rect">
            <a:avLst/>
          </a:prstGeom>
          <a:noFill/>
          <a:ln>
            <a:noFill/>
          </a:ln>
        </p:spPr>
      </p:pic>
      <p:sp>
        <p:nvSpPr>
          <p:cNvPr id="627" name="Google Shape;62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79</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Shape 369"/>
        <p:cNvGrpSpPr/>
        <p:nvPr/>
      </p:nvGrpSpPr>
      <p:grpSpPr>
        <a:xfrm>
          <a:off x="0" y="0"/>
          <a:ext cx="0" cy="0"/>
          <a:chOff x="0" y="0"/>
          <a:chExt cx="0" cy="0"/>
        </a:xfrm>
      </p:grpSpPr>
      <p:sp>
        <p:nvSpPr>
          <p:cNvPr id="370" name="Google Shape;370;p1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Prevention approaches</a:t>
            </a:r>
            <a:endParaRPr dirty="0"/>
          </a:p>
        </p:txBody>
      </p:sp>
      <p:sp>
        <p:nvSpPr>
          <p:cNvPr id="372" name="Google Shape;372;p1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80</a:t>
            </a:fld>
            <a:endParaRPr/>
          </a:p>
        </p:txBody>
      </p:sp>
      <p:sp>
        <p:nvSpPr>
          <p:cNvPr id="5" name="Content Placeholder 2">
            <a:extLst>
              <a:ext uri="{FF2B5EF4-FFF2-40B4-BE49-F238E27FC236}">
                <a16:creationId xmlns:a16="http://schemas.microsoft.com/office/drawing/2014/main" id="{4B10F104-802E-2FF3-E8CC-6F5D5D3A4672}"/>
              </a:ext>
            </a:extLst>
          </p:cNvPr>
          <p:cNvSpPr txBox="1">
            <a:spLocks/>
          </p:cNvSpPr>
          <p:nvPr/>
        </p:nvSpPr>
        <p:spPr>
          <a:xfrm>
            <a:off x="838200" y="1825625"/>
            <a:ext cx="10515600" cy="4667250"/>
          </a:xfrm>
          <a:prstGeom prst="rect">
            <a:avLst/>
          </a:prstGeom>
          <a:noFill/>
          <a:ln>
            <a:noFill/>
          </a:ln>
        </p:spPr>
        <p:txBody>
          <a:bodyPr spcFirstLastPara="1" wrap="square" lIns="91425" tIns="45700" rIns="91425" bIns="45700" anchor="t" anchorCtr="0">
            <a:normAutofit fontScale="92500" lnSpcReduction="2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a:buSzPct val="100000"/>
            </a:pPr>
            <a:r>
              <a:rPr lang="en-US" dirty="0"/>
              <a:t>High risk approach is useful when…</a:t>
            </a:r>
          </a:p>
          <a:p>
            <a:pPr lvl="1">
              <a:buSzPct val="100000"/>
            </a:pPr>
            <a:r>
              <a:rPr lang="en-US" dirty="0"/>
              <a:t>There are identifiable risk factors that can be targeted in specific individuals/groups</a:t>
            </a:r>
          </a:p>
          <a:p>
            <a:pPr lvl="1">
              <a:buSzPct val="100000"/>
            </a:pPr>
            <a:r>
              <a:rPr lang="en-US" dirty="0"/>
              <a:t>Effective interventions are available for high-risk populations</a:t>
            </a:r>
          </a:p>
          <a:p>
            <a:pPr lvl="1">
              <a:buSzPct val="100000"/>
            </a:pPr>
            <a:r>
              <a:rPr lang="en-US" dirty="0"/>
              <a:t>Targeting individuals can lead to significant reductions in disease incidence or severity</a:t>
            </a:r>
          </a:p>
          <a:p>
            <a:pPr lvl="1">
              <a:buSzPct val="100000"/>
            </a:pPr>
            <a:r>
              <a:rPr lang="en-US" dirty="0"/>
              <a:t>Resources are limited</a:t>
            </a:r>
          </a:p>
          <a:p>
            <a:pPr marL="0" indent="0">
              <a:buSzPct val="100000"/>
              <a:buFont typeface="Arial"/>
              <a:buNone/>
            </a:pPr>
            <a:endParaRPr lang="en-US" sz="1000" dirty="0"/>
          </a:p>
          <a:p>
            <a:pPr>
              <a:buSzPct val="100000"/>
            </a:pPr>
            <a:r>
              <a:rPr lang="en-US" dirty="0"/>
              <a:t>Population approach is useful when…</a:t>
            </a:r>
          </a:p>
          <a:p>
            <a:pPr lvl="1">
              <a:buSzPct val="100000"/>
            </a:pPr>
            <a:r>
              <a:rPr lang="en-US" dirty="0"/>
              <a:t>Addressing social determinants, environmental factors, or behavioral norms can lead to population-wide improvements in health outcomes</a:t>
            </a:r>
          </a:p>
          <a:p>
            <a:pPr lvl="1">
              <a:buSzPct val="100000"/>
            </a:pPr>
            <a:r>
              <a:rPr lang="en-US" dirty="0"/>
              <a:t>The disease or health issue is widespread across the population</a:t>
            </a:r>
          </a:p>
          <a:p>
            <a:pPr lvl="1">
              <a:buSzPct val="100000"/>
            </a:pPr>
            <a:r>
              <a:rPr lang="en-US" dirty="0"/>
              <a:t>There are opportunities for policy changes or community-level interventions</a:t>
            </a:r>
          </a:p>
          <a:p>
            <a:pPr lvl="1">
              <a:buSzPct val="100000"/>
            </a:pPr>
            <a:r>
              <a:rPr lang="en-US" dirty="0"/>
              <a:t>Preventative measures benefit from reaching a broad audience (e.g., vaccinations)</a:t>
            </a:r>
          </a:p>
        </p:txBody>
      </p:sp>
    </p:spTree>
    <p:extLst>
      <p:ext uri="{BB962C8B-B14F-4D97-AF65-F5344CB8AC3E}">
        <p14:creationId xmlns:p14="http://schemas.microsoft.com/office/powerpoint/2010/main" val="3375240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1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Equity in Epidemiology </a:t>
            </a:r>
            <a:br>
              <a:rPr lang="en-US" b="1" dirty="0">
                <a:solidFill>
                  <a:srgbClr val="468C8A"/>
                </a:solidFill>
              </a:rPr>
            </a:br>
            <a:r>
              <a:rPr lang="en-US" b="1" dirty="0">
                <a:solidFill>
                  <a:srgbClr val="468C8A"/>
                </a:solidFill>
              </a:rPr>
              <a:t>(and Research)</a:t>
            </a:r>
            <a:endParaRPr dirty="0"/>
          </a:p>
        </p:txBody>
      </p:sp>
      <p:sp>
        <p:nvSpPr>
          <p:cNvPr id="372" name="Google Shape;372;p1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81</a:t>
            </a:fld>
            <a:endParaRPr/>
          </a:p>
        </p:txBody>
      </p:sp>
      <p:sp>
        <p:nvSpPr>
          <p:cNvPr id="5" name="Content Placeholder 2">
            <a:extLst>
              <a:ext uri="{FF2B5EF4-FFF2-40B4-BE49-F238E27FC236}">
                <a16:creationId xmlns:a16="http://schemas.microsoft.com/office/drawing/2014/main" id="{4B10F104-802E-2FF3-E8CC-6F5D5D3A4672}"/>
              </a:ext>
            </a:extLst>
          </p:cNvPr>
          <p:cNvSpPr txBox="1">
            <a:spLocks/>
          </p:cNvSpPr>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a:buSzPct val="100000"/>
            </a:pPr>
            <a:endParaRPr lang="en-US" dirty="0"/>
          </a:p>
          <a:p>
            <a:pPr>
              <a:buSzPct val="100000"/>
            </a:pPr>
            <a:r>
              <a:rPr lang="en-US" dirty="0"/>
              <a:t>Population level interventions address structural determinants of health which primarily tend to effect minoritized populations</a:t>
            </a:r>
          </a:p>
          <a:p>
            <a:pPr>
              <a:buSzPct val="100000"/>
            </a:pPr>
            <a:endParaRPr lang="en-US" dirty="0"/>
          </a:p>
          <a:p>
            <a:pPr>
              <a:buSzPct val="100000"/>
            </a:pPr>
            <a:r>
              <a:rPr lang="en-US" dirty="0"/>
              <a:t>Quantile regressions offer a more nuanced way of evaluating population interventions</a:t>
            </a:r>
          </a:p>
        </p:txBody>
      </p:sp>
    </p:spTree>
    <p:extLst>
      <p:ext uri="{BB962C8B-B14F-4D97-AF65-F5344CB8AC3E}">
        <p14:creationId xmlns:p14="http://schemas.microsoft.com/office/powerpoint/2010/main" val="119160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130"/>
          <p:cNvSpPr txBox="1">
            <a:spLocks noGrp="1"/>
          </p:cNvSpPr>
          <p:nvPr>
            <p:ph type="title"/>
          </p:nvPr>
        </p:nvSpPr>
        <p:spPr>
          <a:xfrm>
            <a:off x="690789" y="1938528"/>
            <a:ext cx="10810421" cy="2384863"/>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468C8A"/>
              </a:buClr>
              <a:buSzPts val="6000"/>
              <a:buFont typeface="Arial"/>
              <a:buNone/>
            </a:pPr>
            <a:r>
              <a:rPr lang="en-US" b="1" dirty="0">
                <a:solidFill>
                  <a:srgbClr val="468C8A"/>
                </a:solidFill>
              </a:rPr>
              <a:t>Any other reasons to use quantile regressions?</a:t>
            </a:r>
            <a:endParaRPr dirty="0"/>
          </a:p>
        </p:txBody>
      </p:sp>
      <p:sp>
        <p:nvSpPr>
          <p:cNvPr id="353" name="Google Shape;353;p1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82</a:t>
            </a:fld>
            <a:endParaRPr/>
          </a:p>
        </p:txBody>
      </p:sp>
    </p:spTree>
    <p:extLst>
      <p:ext uri="{BB962C8B-B14F-4D97-AF65-F5344CB8AC3E}">
        <p14:creationId xmlns:p14="http://schemas.microsoft.com/office/powerpoint/2010/main" val="24304492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1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Quantile regressions are robust</a:t>
            </a:r>
            <a:endParaRPr dirty="0"/>
          </a:p>
        </p:txBody>
      </p:sp>
      <p:sp>
        <p:nvSpPr>
          <p:cNvPr id="448" name="Google Shape;448;p1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endParaRPr dirty="0"/>
          </a:p>
          <a:p>
            <a:pPr marL="228600" lvl="0" indent="-228600" algn="l" rtl="0">
              <a:lnSpc>
                <a:spcPct val="90000"/>
              </a:lnSpc>
              <a:spcBef>
                <a:spcPts val="1000"/>
              </a:spcBef>
              <a:spcAft>
                <a:spcPts val="0"/>
              </a:spcAft>
              <a:buClr>
                <a:schemeClr val="dk1"/>
              </a:buClr>
              <a:buSzPts val="2800"/>
              <a:buChar char="•"/>
            </a:pPr>
            <a:r>
              <a:rPr lang="en-US" dirty="0"/>
              <a:t>Quantile regression estimates are usually unaffected by:</a:t>
            </a:r>
            <a:endParaRPr dirty="0"/>
          </a:p>
          <a:p>
            <a:pPr marL="914400" lvl="1" indent="-457200" algn="l" rtl="0">
              <a:lnSpc>
                <a:spcPct val="90000"/>
              </a:lnSpc>
              <a:spcBef>
                <a:spcPts val="500"/>
              </a:spcBef>
              <a:spcAft>
                <a:spcPts val="0"/>
              </a:spcAft>
              <a:buClr>
                <a:schemeClr val="dk1"/>
              </a:buClr>
              <a:buSzPts val="2400"/>
              <a:buFont typeface="Arial"/>
              <a:buAutoNum type="arabicPeriod"/>
            </a:pPr>
            <a:r>
              <a:rPr lang="en-US" dirty="0"/>
              <a:t>Outliers in the outcome</a:t>
            </a:r>
            <a:endParaRPr dirty="0"/>
          </a:p>
          <a:p>
            <a:pPr marL="914400" lvl="1" indent="-457200" algn="l" rtl="0">
              <a:lnSpc>
                <a:spcPct val="90000"/>
              </a:lnSpc>
              <a:spcBef>
                <a:spcPts val="500"/>
              </a:spcBef>
              <a:spcAft>
                <a:spcPts val="0"/>
              </a:spcAft>
              <a:buClr>
                <a:schemeClr val="dk1"/>
              </a:buClr>
              <a:buSzPts val="2400"/>
              <a:buFont typeface="Arial"/>
              <a:buAutoNum type="arabicPeriod"/>
            </a:pPr>
            <a:r>
              <a:rPr lang="en-US" dirty="0"/>
              <a:t>Monotonic transformation of the outcome (e.g., natural log)</a:t>
            </a:r>
            <a:endParaRPr dirty="0"/>
          </a:p>
          <a:p>
            <a:pPr marL="914400" lvl="1" indent="-457200" algn="l" rtl="0">
              <a:lnSpc>
                <a:spcPct val="90000"/>
              </a:lnSpc>
              <a:spcBef>
                <a:spcPts val="500"/>
              </a:spcBef>
              <a:spcAft>
                <a:spcPts val="0"/>
              </a:spcAft>
              <a:buClr>
                <a:schemeClr val="dk1"/>
              </a:buClr>
              <a:buSzPts val="2400"/>
              <a:buFont typeface="Arial"/>
              <a:buAutoNum type="arabicPeriod"/>
            </a:pPr>
            <a:r>
              <a:rPr lang="en-US" dirty="0"/>
              <a:t>Top coded or bottom coded outcomes</a:t>
            </a:r>
            <a:endParaRPr dirty="0"/>
          </a:p>
        </p:txBody>
      </p:sp>
      <p:sp>
        <p:nvSpPr>
          <p:cNvPr id="449" name="Google Shape;449;p1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83</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2" name="Google Shape;442;g2b790785aef_0_9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84</a:t>
            </a:fld>
            <a:endParaRPr/>
          </a:p>
        </p:txBody>
      </p:sp>
      <p:sp>
        <p:nvSpPr>
          <p:cNvPr id="4" name="Google Shape;488;p30">
            <a:extLst>
              <a:ext uri="{FF2B5EF4-FFF2-40B4-BE49-F238E27FC236}">
                <a16:creationId xmlns:a16="http://schemas.microsoft.com/office/drawing/2014/main" id="{92428DC8-2604-85B3-A05F-CEC566B38C38}"/>
              </a:ext>
            </a:extLst>
          </p:cNvPr>
          <p:cNvSpPr txBox="1">
            <a:spLocks/>
          </p:cNvSpPr>
          <p:nvPr/>
        </p:nvSpPr>
        <p:spPr>
          <a:xfrm>
            <a:off x="990600" y="517525"/>
            <a:ext cx="10515600"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468C8A"/>
              </a:buClr>
              <a:buSzPts val="4400"/>
            </a:pPr>
            <a:r>
              <a:rPr lang="en-US" b="1" dirty="0">
                <a:solidFill>
                  <a:srgbClr val="468C8A"/>
                </a:solidFill>
              </a:rPr>
              <a:t>How does an outlier change the distributions? (SBP = 1,000,000)</a:t>
            </a:r>
            <a:endParaRPr lang="en-US" dirty="0"/>
          </a:p>
        </p:txBody>
      </p:sp>
      <p:sp>
        <p:nvSpPr>
          <p:cNvPr id="7" name="Google Shape;448;p129">
            <a:extLst>
              <a:ext uri="{FF2B5EF4-FFF2-40B4-BE49-F238E27FC236}">
                <a16:creationId xmlns:a16="http://schemas.microsoft.com/office/drawing/2014/main" id="{AFFBD5CA-82CA-0DD6-1B00-C565BD19F496}"/>
              </a:ext>
            </a:extLst>
          </p:cNvPr>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endParaRPr dirty="0"/>
          </a:p>
          <a:p>
            <a:pPr marL="228600" lvl="0" indent="-228600" algn="l" rtl="0">
              <a:lnSpc>
                <a:spcPct val="90000"/>
              </a:lnSpc>
              <a:spcBef>
                <a:spcPts val="1000"/>
              </a:spcBef>
              <a:spcAft>
                <a:spcPts val="0"/>
              </a:spcAft>
              <a:buClr>
                <a:schemeClr val="dk1"/>
              </a:buClr>
              <a:buSzPts val="2800"/>
              <a:buChar char="•"/>
            </a:pPr>
            <a:r>
              <a:rPr lang="en-US" dirty="0"/>
              <a:t>Mean</a:t>
            </a:r>
          </a:p>
          <a:p>
            <a:pPr marL="685800" lvl="1" indent="-228600">
              <a:spcBef>
                <a:spcPts val="1000"/>
              </a:spcBef>
              <a:buSzPts val="2800"/>
            </a:pPr>
            <a:r>
              <a:rPr lang="en-US" dirty="0"/>
              <a:t>Without outlier: 127.63mmHg</a:t>
            </a:r>
          </a:p>
          <a:p>
            <a:pPr marL="685800" lvl="1" indent="-228600">
              <a:spcBef>
                <a:spcPts val="1000"/>
              </a:spcBef>
              <a:buSzPts val="2800"/>
            </a:pPr>
            <a:r>
              <a:rPr lang="en-US" dirty="0"/>
              <a:t>With outlier: 240.28mmHg</a:t>
            </a:r>
          </a:p>
          <a:p>
            <a:pPr marL="457200" lvl="1" indent="0">
              <a:spcBef>
                <a:spcPts val="1000"/>
              </a:spcBef>
              <a:buSzPts val="2800"/>
              <a:buNone/>
            </a:pPr>
            <a:endParaRPr lang="en-US" dirty="0"/>
          </a:p>
          <a:p>
            <a:pPr marL="228600" lvl="0" indent="-228600" algn="l" rtl="0">
              <a:lnSpc>
                <a:spcPct val="90000"/>
              </a:lnSpc>
              <a:spcBef>
                <a:spcPts val="1000"/>
              </a:spcBef>
              <a:spcAft>
                <a:spcPts val="0"/>
              </a:spcAft>
              <a:buClr>
                <a:schemeClr val="dk1"/>
              </a:buClr>
              <a:buSzPts val="2800"/>
              <a:buChar char="•"/>
            </a:pPr>
            <a:r>
              <a:rPr lang="en-US" dirty="0"/>
              <a:t>75</a:t>
            </a:r>
            <a:r>
              <a:rPr lang="en-US" baseline="30000" dirty="0"/>
              <a:t>th</a:t>
            </a:r>
            <a:r>
              <a:rPr lang="en-US" dirty="0"/>
              <a:t> Quantile</a:t>
            </a:r>
          </a:p>
          <a:p>
            <a:pPr marL="685800" lvl="1" indent="-228600">
              <a:spcBef>
                <a:spcPts val="1000"/>
              </a:spcBef>
              <a:buSzPts val="2800"/>
            </a:pPr>
            <a:r>
              <a:rPr lang="en-US" dirty="0"/>
              <a:t>Without outlier: 138.50mmHg</a:t>
            </a:r>
          </a:p>
          <a:p>
            <a:pPr marL="685800" lvl="1" indent="-228600">
              <a:spcBef>
                <a:spcPts val="1000"/>
              </a:spcBef>
              <a:buSzPts val="2800"/>
            </a:pPr>
            <a:r>
              <a:rPr lang="en-US" dirty="0"/>
              <a:t>With outlier: 138.50mmHg</a:t>
            </a:r>
          </a:p>
          <a:p>
            <a:pPr marL="685800" lvl="1" indent="-228600">
              <a:spcBef>
                <a:spcPts val="1000"/>
              </a:spcBef>
              <a:buSzPts val="2800"/>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59"/>
          <p:cNvSpPr txBox="1">
            <a:spLocks noGrp="1"/>
          </p:cNvSpPr>
          <p:nvPr>
            <p:ph type="title"/>
          </p:nvPr>
        </p:nvSpPr>
        <p:spPr>
          <a:xfrm>
            <a:off x="838200" y="6856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ct val="100000"/>
              <a:buFont typeface="Arial"/>
              <a:buNone/>
            </a:pPr>
            <a:r>
              <a:rPr lang="en-US" b="1" dirty="0">
                <a:solidFill>
                  <a:srgbClr val="468C8A"/>
                </a:solidFill>
              </a:rPr>
              <a:t>Distribution of SBP in our sample</a:t>
            </a:r>
            <a:endParaRPr dirty="0"/>
          </a:p>
        </p:txBody>
      </p:sp>
      <p:sp>
        <p:nvSpPr>
          <p:cNvPr id="464" name="Google Shape;464;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85</a:t>
            </a:fld>
            <a:endParaRPr/>
          </a:p>
        </p:txBody>
      </p:sp>
      <p:pic>
        <p:nvPicPr>
          <p:cNvPr id="3" name="Picture 2">
            <a:extLst>
              <a:ext uri="{FF2B5EF4-FFF2-40B4-BE49-F238E27FC236}">
                <a16:creationId xmlns:a16="http://schemas.microsoft.com/office/drawing/2014/main" id="{93CAA0E1-0D2D-6C27-A5BE-074BFE843C62}"/>
              </a:ext>
            </a:extLst>
          </p:cNvPr>
          <p:cNvPicPr>
            <a:picLocks noChangeAspect="1"/>
          </p:cNvPicPr>
          <p:nvPr/>
        </p:nvPicPr>
        <p:blipFill>
          <a:blip r:embed="rId3"/>
          <a:stretch>
            <a:fillRect/>
          </a:stretch>
        </p:blipFill>
        <p:spPr>
          <a:xfrm>
            <a:off x="1443567" y="1067677"/>
            <a:ext cx="9304866" cy="5653798"/>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5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ct val="100000"/>
              <a:buFont typeface="Arial"/>
              <a:buNone/>
            </a:pPr>
            <a:r>
              <a:rPr lang="en-US" b="1" dirty="0">
                <a:solidFill>
                  <a:srgbClr val="468C8A"/>
                </a:solidFill>
              </a:rPr>
              <a:t>Robust quantiles: Most quantiles unaffected by top/bottom coding</a:t>
            </a:r>
            <a:endParaRPr dirty="0"/>
          </a:p>
        </p:txBody>
      </p:sp>
      <p:sp>
        <p:nvSpPr>
          <p:cNvPr id="464" name="Google Shape;464;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86</a:t>
            </a:fld>
            <a:endParaRPr/>
          </a:p>
        </p:txBody>
      </p:sp>
      <p:pic>
        <p:nvPicPr>
          <p:cNvPr id="465" name="Google Shape;465;p59" descr="A picture containing diagram, text, plot, line&#10;&#10;Description automatically generated"/>
          <p:cNvPicPr preferRelativeResize="0"/>
          <p:nvPr/>
        </p:nvPicPr>
        <p:blipFill rotWithShape="1">
          <a:blip r:embed="rId3">
            <a:alphaModFix/>
          </a:blip>
          <a:srcRect/>
          <a:stretch/>
        </p:blipFill>
        <p:spPr>
          <a:xfrm>
            <a:off x="2209800" y="1690688"/>
            <a:ext cx="7772400" cy="5181599"/>
          </a:xfrm>
          <a:prstGeom prst="rect">
            <a:avLst/>
          </a:prstGeom>
          <a:noFill/>
          <a:ln>
            <a:noFill/>
          </a:ln>
        </p:spPr>
      </p:pic>
    </p:spTree>
    <p:extLst>
      <p:ext uri="{BB962C8B-B14F-4D97-AF65-F5344CB8AC3E}">
        <p14:creationId xmlns:p14="http://schemas.microsoft.com/office/powerpoint/2010/main" val="331919942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6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ct val="100000"/>
              <a:buFont typeface="Arial"/>
              <a:buNone/>
            </a:pPr>
            <a:r>
              <a:rPr lang="en-US" b="1" dirty="0">
                <a:solidFill>
                  <a:srgbClr val="468C8A"/>
                </a:solidFill>
              </a:rPr>
              <a:t>Robust quantiles: Most quantiles unaffected by top/bottom coding  </a:t>
            </a:r>
            <a:endParaRPr dirty="0"/>
          </a:p>
        </p:txBody>
      </p:sp>
      <p:sp>
        <p:nvSpPr>
          <p:cNvPr id="472" name="Google Shape;472;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87</a:t>
            </a:fld>
            <a:endParaRPr/>
          </a:p>
        </p:txBody>
      </p:sp>
      <p:pic>
        <p:nvPicPr>
          <p:cNvPr id="473" name="Google Shape;473;p60" descr="A graph of blood pressure&#10;&#10;Description automatically generated with low confidence"/>
          <p:cNvPicPr preferRelativeResize="0"/>
          <p:nvPr/>
        </p:nvPicPr>
        <p:blipFill rotWithShape="1">
          <a:blip r:embed="rId3">
            <a:alphaModFix/>
          </a:blip>
          <a:srcRect/>
          <a:stretch/>
        </p:blipFill>
        <p:spPr>
          <a:xfrm>
            <a:off x="2209800" y="1676401"/>
            <a:ext cx="7772400" cy="5181599"/>
          </a:xfrm>
          <a:prstGeom prst="rect">
            <a:avLst/>
          </a:prstGeom>
          <a:noFill/>
          <a:ln>
            <a:noFill/>
          </a:ln>
        </p:spPr>
      </p:pic>
      <p:sp>
        <p:nvSpPr>
          <p:cNvPr id="474" name="Google Shape;474;p60"/>
          <p:cNvSpPr txBox="1"/>
          <p:nvPr/>
        </p:nvSpPr>
        <p:spPr>
          <a:xfrm>
            <a:off x="3036815" y="2357306"/>
            <a:ext cx="2583809"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Arial"/>
                <a:ea typeface="Arial"/>
                <a:cs typeface="Arial"/>
                <a:sym typeface="Arial"/>
              </a:rPr>
              <a:t>Mean </a:t>
            </a:r>
            <a:r>
              <a:rPr lang="en-US" sz="1800" b="1" dirty="0">
                <a:solidFill>
                  <a:srgbClr val="F2494C"/>
                </a:solidFill>
                <a:latin typeface="Arial"/>
                <a:ea typeface="Arial"/>
                <a:cs typeface="Arial"/>
                <a:sym typeface="Arial"/>
              </a:rPr>
              <a:t>changed</a:t>
            </a:r>
            <a:r>
              <a:rPr lang="en-US" sz="1800" dirty="0">
                <a:solidFill>
                  <a:schemeClr val="dk1"/>
                </a:solidFill>
                <a:latin typeface="Arial"/>
                <a:ea typeface="Arial"/>
                <a:cs typeface="Arial"/>
                <a:sym typeface="Arial"/>
              </a:rPr>
              <a:t> from </a:t>
            </a:r>
            <a:r>
              <a:rPr lang="en-US" sz="1800" dirty="0">
                <a:solidFill>
                  <a:srgbClr val="FF9300"/>
                </a:solidFill>
                <a:latin typeface="Arial"/>
                <a:ea typeface="Arial"/>
                <a:cs typeface="Arial"/>
                <a:sym typeface="Arial"/>
              </a:rPr>
              <a:t>127.6mmHg</a:t>
            </a:r>
            <a:r>
              <a:rPr lang="en-US" sz="1800" dirty="0">
                <a:solidFill>
                  <a:schemeClr val="dk1"/>
                </a:solidFill>
                <a:latin typeface="Arial"/>
                <a:ea typeface="Arial"/>
                <a:cs typeface="Arial"/>
                <a:sym typeface="Arial"/>
              </a:rPr>
              <a:t> to </a:t>
            </a:r>
            <a:r>
              <a:rPr lang="en-US" sz="1800" dirty="0">
                <a:solidFill>
                  <a:srgbClr val="FF9300"/>
                </a:solidFill>
                <a:latin typeface="Arial"/>
                <a:ea typeface="Arial"/>
                <a:cs typeface="Arial"/>
                <a:sym typeface="Arial"/>
              </a:rPr>
              <a:t>125.8mmHg</a:t>
            </a:r>
            <a:r>
              <a:rPr lang="en-US" sz="1800" dirty="0">
                <a:solidFill>
                  <a:schemeClr val="dk1"/>
                </a:solidFill>
                <a:latin typeface="Arial"/>
                <a:ea typeface="Arial"/>
                <a:cs typeface="Arial"/>
                <a:sym typeface="Arial"/>
              </a:rPr>
              <a:t>, but the 75</a:t>
            </a:r>
            <a:r>
              <a:rPr lang="en-US" sz="1800" baseline="30000" dirty="0">
                <a:solidFill>
                  <a:schemeClr val="dk1"/>
                </a:solidFill>
                <a:latin typeface="Arial"/>
                <a:ea typeface="Arial"/>
                <a:cs typeface="Arial"/>
                <a:sym typeface="Arial"/>
              </a:rPr>
              <a:t>th</a:t>
            </a:r>
            <a:r>
              <a:rPr lang="en-US" sz="1800" dirty="0">
                <a:solidFill>
                  <a:schemeClr val="dk1"/>
                </a:solidFill>
                <a:latin typeface="Arial"/>
                <a:ea typeface="Arial"/>
                <a:cs typeface="Arial"/>
                <a:sym typeface="Arial"/>
              </a:rPr>
              <a:t> quantile </a:t>
            </a:r>
            <a:r>
              <a:rPr lang="en-US" sz="1800" b="1" dirty="0">
                <a:solidFill>
                  <a:srgbClr val="F2494C"/>
                </a:solidFill>
                <a:latin typeface="Arial"/>
                <a:ea typeface="Arial"/>
                <a:cs typeface="Arial"/>
                <a:sym typeface="Arial"/>
              </a:rPr>
              <a:t>did not change</a:t>
            </a:r>
            <a:r>
              <a:rPr lang="en-US" sz="1800" dirty="0">
                <a:solidFill>
                  <a:schemeClr val="dk1"/>
                </a:solidFill>
                <a:latin typeface="Arial"/>
                <a:ea typeface="Arial"/>
                <a:cs typeface="Arial"/>
                <a:sym typeface="Arial"/>
              </a:rPr>
              <a:t>!</a:t>
            </a:r>
            <a:endParaRPr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5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Robust quantiles: Equivariance to monotonic transformations</a:t>
            </a:r>
            <a:endParaRPr dirty="0"/>
          </a:p>
        </p:txBody>
      </p:sp>
      <p:sp>
        <p:nvSpPr>
          <p:cNvPr id="455" name="Google Shape;455;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88</a:t>
            </a:fld>
            <a:endParaRPr/>
          </a:p>
        </p:txBody>
      </p:sp>
      <p:pic>
        <p:nvPicPr>
          <p:cNvPr id="456" name="Google Shape;456;p58" descr="A picture containing text, diagram, line, plot&#10;&#10;Description automatically generated"/>
          <p:cNvPicPr preferRelativeResize="0"/>
          <p:nvPr/>
        </p:nvPicPr>
        <p:blipFill rotWithShape="1">
          <a:blip r:embed="rId3">
            <a:alphaModFix/>
          </a:blip>
          <a:srcRect/>
          <a:stretch/>
        </p:blipFill>
        <p:spPr>
          <a:xfrm>
            <a:off x="0" y="2125905"/>
            <a:ext cx="6126480" cy="4084320"/>
          </a:xfrm>
          <a:prstGeom prst="rect">
            <a:avLst/>
          </a:prstGeom>
          <a:noFill/>
          <a:ln>
            <a:noFill/>
          </a:ln>
        </p:spPr>
      </p:pic>
      <p:pic>
        <p:nvPicPr>
          <p:cNvPr id="457" name="Google Shape;457;p58" descr="A picture containing text, diagram, line, plot&#10;&#10;Description automatically generated"/>
          <p:cNvPicPr preferRelativeResize="0"/>
          <p:nvPr/>
        </p:nvPicPr>
        <p:blipFill rotWithShape="1">
          <a:blip r:embed="rId4">
            <a:alphaModFix/>
          </a:blip>
          <a:srcRect/>
          <a:stretch/>
        </p:blipFill>
        <p:spPr>
          <a:xfrm>
            <a:off x="6043575" y="2125905"/>
            <a:ext cx="6126480" cy="408432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083"/>
        <p:cNvGrpSpPr/>
        <p:nvPr/>
      </p:nvGrpSpPr>
      <p:grpSpPr>
        <a:xfrm>
          <a:off x="0" y="0"/>
          <a:ext cx="0" cy="0"/>
          <a:chOff x="0" y="0"/>
          <a:chExt cx="0" cy="0"/>
        </a:xfrm>
      </p:grpSpPr>
      <p:sp>
        <p:nvSpPr>
          <p:cNvPr id="1084" name="Google Shape;1084;g2b9424a3ee5_0_7"/>
          <p:cNvSpPr txBox="1">
            <a:spLocks noGrp="1"/>
          </p:cNvSpPr>
          <p:nvPr>
            <p:ph type="title"/>
          </p:nvPr>
        </p:nvSpPr>
        <p:spPr>
          <a:xfrm>
            <a:off x="2925462" y="2950200"/>
            <a:ext cx="6341076" cy="95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0070C0"/>
              </a:buClr>
              <a:buSzPts val="6000"/>
              <a:buFont typeface="Arial"/>
              <a:buNone/>
            </a:pPr>
            <a:r>
              <a:rPr lang="en-US" b="1" dirty="0">
                <a:solidFill>
                  <a:srgbClr val="0070C0"/>
                </a:solidFill>
              </a:rPr>
              <a:t>10-minute break</a:t>
            </a:r>
            <a:endParaRPr dirty="0"/>
          </a:p>
        </p:txBody>
      </p:sp>
      <p:sp>
        <p:nvSpPr>
          <p:cNvPr id="1085" name="Google Shape;1085;g2b9424a3ee5_0_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89</a:t>
            </a:fld>
            <a:endParaRPr/>
          </a:p>
        </p:txBody>
      </p:sp>
    </p:spTree>
    <p:extLst>
      <p:ext uri="{BB962C8B-B14F-4D97-AF65-F5344CB8AC3E}">
        <p14:creationId xmlns:p14="http://schemas.microsoft.com/office/powerpoint/2010/main" val="393076490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351">
          <a:extLst>
            <a:ext uri="{FF2B5EF4-FFF2-40B4-BE49-F238E27FC236}">
              <a16:creationId xmlns:a16="http://schemas.microsoft.com/office/drawing/2014/main" id="{25FA4CFA-D890-D853-C2D8-9C66AEB264AF}"/>
            </a:ext>
          </a:extLst>
        </p:cNvPr>
        <p:cNvGrpSpPr/>
        <p:nvPr/>
      </p:nvGrpSpPr>
      <p:grpSpPr>
        <a:xfrm>
          <a:off x="0" y="0"/>
          <a:ext cx="0" cy="0"/>
          <a:chOff x="0" y="0"/>
          <a:chExt cx="0" cy="0"/>
        </a:xfrm>
      </p:grpSpPr>
      <p:sp>
        <p:nvSpPr>
          <p:cNvPr id="352" name="Google Shape;352;p130">
            <a:extLst>
              <a:ext uri="{FF2B5EF4-FFF2-40B4-BE49-F238E27FC236}">
                <a16:creationId xmlns:a16="http://schemas.microsoft.com/office/drawing/2014/main" id="{0A8EB20A-00D8-0DB0-680B-B96778EA97E9}"/>
              </a:ext>
            </a:extLst>
          </p:cNvPr>
          <p:cNvSpPr txBox="1">
            <a:spLocks noGrp="1"/>
          </p:cNvSpPr>
          <p:nvPr>
            <p:ph type="title"/>
          </p:nvPr>
        </p:nvSpPr>
        <p:spPr>
          <a:xfrm>
            <a:off x="3567566" y="2904144"/>
            <a:ext cx="5056868" cy="104971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468C8A"/>
              </a:buClr>
              <a:buSzPts val="6000"/>
              <a:buFont typeface="Arial"/>
              <a:buNone/>
            </a:pPr>
            <a:r>
              <a:rPr lang="en-US" b="1" dirty="0">
                <a:solidFill>
                  <a:srgbClr val="FF9300"/>
                </a:solidFill>
              </a:rPr>
              <a:t>Poll Time!</a:t>
            </a:r>
            <a:endParaRPr dirty="0">
              <a:solidFill>
                <a:srgbClr val="FF9300"/>
              </a:solidFill>
            </a:endParaRPr>
          </a:p>
        </p:txBody>
      </p:sp>
      <p:sp>
        <p:nvSpPr>
          <p:cNvPr id="353" name="Google Shape;353;p130">
            <a:extLst>
              <a:ext uri="{FF2B5EF4-FFF2-40B4-BE49-F238E27FC236}">
                <a16:creationId xmlns:a16="http://schemas.microsoft.com/office/drawing/2014/main" id="{62665034-8E7A-1136-379B-5906684C5744}"/>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90</a:t>
            </a:fld>
            <a:endParaRPr/>
          </a:p>
        </p:txBody>
      </p:sp>
    </p:spTree>
    <p:extLst>
      <p:ext uri="{BB962C8B-B14F-4D97-AF65-F5344CB8AC3E}">
        <p14:creationId xmlns:p14="http://schemas.microsoft.com/office/powerpoint/2010/main" val="107821613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159"/>
          <p:cNvSpPr txBox="1">
            <a:spLocks noGrp="1"/>
          </p:cNvSpPr>
          <p:nvPr>
            <p:ph type="title"/>
          </p:nvPr>
        </p:nvSpPr>
        <p:spPr>
          <a:xfrm>
            <a:off x="838200" y="365124"/>
            <a:ext cx="10515600" cy="2029521"/>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Why can(’t) we use CQR estimates to to get estimates for the unconditional distribution?</a:t>
            </a:r>
            <a:endParaRPr dirty="0"/>
          </a:p>
        </p:txBody>
      </p:sp>
      <p:sp>
        <p:nvSpPr>
          <p:cNvPr id="674" name="Google Shape;674;p159"/>
          <p:cNvSpPr txBox="1">
            <a:spLocks noGrp="1"/>
          </p:cNvSpPr>
          <p:nvPr>
            <p:ph type="body" idx="1"/>
          </p:nvPr>
        </p:nvSpPr>
        <p:spPr>
          <a:xfrm>
            <a:off x="838200" y="3022950"/>
            <a:ext cx="10515600" cy="202952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Technically possible…</a:t>
            </a:r>
            <a:br>
              <a:rPr lang="en-US" dirty="0"/>
            </a:br>
            <a:endParaRPr lang="en-US" dirty="0"/>
          </a:p>
          <a:p>
            <a:pPr marL="0" lvl="0" indent="0" algn="l" rtl="0">
              <a:lnSpc>
                <a:spcPct val="90000"/>
              </a:lnSpc>
              <a:spcBef>
                <a:spcPts val="0"/>
              </a:spcBef>
              <a:spcAft>
                <a:spcPts val="0"/>
              </a:spcAft>
              <a:buClr>
                <a:schemeClr val="dk1"/>
              </a:buClr>
              <a:buSzPts val="2800"/>
              <a:buNone/>
            </a:pPr>
            <a:endParaRPr dirty="0"/>
          </a:p>
          <a:p>
            <a:pPr marL="228600" lvl="0" indent="-228600" algn="l" rtl="0">
              <a:lnSpc>
                <a:spcPct val="90000"/>
              </a:lnSpc>
              <a:spcBef>
                <a:spcPts val="1000"/>
              </a:spcBef>
              <a:spcAft>
                <a:spcPts val="0"/>
              </a:spcAft>
              <a:buClr>
                <a:schemeClr val="dk1"/>
              </a:buClr>
              <a:buSzPts val="2800"/>
              <a:buChar char="•"/>
            </a:pPr>
            <a:r>
              <a:rPr lang="en-US" dirty="0"/>
              <a:t>Computationally difficult </a:t>
            </a:r>
            <a:r>
              <a:rPr lang="en-US" dirty="0">
                <a:sym typeface="Wingdings" pitchFamily="2" charset="2"/>
              </a:rPr>
              <a:t></a:t>
            </a:r>
            <a:endParaRPr dirty="0"/>
          </a:p>
        </p:txBody>
      </p:sp>
      <p:sp>
        <p:nvSpPr>
          <p:cNvPr id="675" name="Google Shape;675;p1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91</a:t>
            </a:fld>
            <a:endParaRPr/>
          </a:p>
        </p:txBody>
      </p:sp>
    </p:spTree>
    <p:extLst>
      <p:ext uri="{BB962C8B-B14F-4D97-AF65-F5344CB8AC3E}">
        <p14:creationId xmlns:p14="http://schemas.microsoft.com/office/powerpoint/2010/main" val="3693909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15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According to Borah and Basu (2013)</a:t>
            </a:r>
            <a:endParaRPr dirty="0"/>
          </a:p>
        </p:txBody>
      </p:sp>
      <p:sp>
        <p:nvSpPr>
          <p:cNvPr id="674" name="Google Shape;674;p15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Conditional quantile regressions quantify contrasts of the unconditional outcome distribution if:</a:t>
            </a:r>
            <a:br>
              <a:rPr lang="en-US" dirty="0"/>
            </a:br>
            <a:endParaRPr dirty="0"/>
          </a:p>
          <a:p>
            <a:pPr marL="914400" lvl="1" indent="-457200" algn="l" rtl="0">
              <a:lnSpc>
                <a:spcPct val="90000"/>
              </a:lnSpc>
              <a:spcBef>
                <a:spcPts val="500"/>
              </a:spcBef>
              <a:spcAft>
                <a:spcPts val="0"/>
              </a:spcAft>
              <a:buClr>
                <a:schemeClr val="dk1"/>
              </a:buClr>
              <a:buSzPts val="2400"/>
              <a:buFont typeface="Arial"/>
              <a:buAutoNum type="arabicPeriod"/>
            </a:pPr>
            <a:r>
              <a:rPr lang="en-US" dirty="0"/>
              <a:t>Outcome is </a:t>
            </a:r>
            <a:r>
              <a:rPr lang="en-US" dirty="0">
                <a:solidFill>
                  <a:srgbClr val="FF9300"/>
                </a:solidFill>
              </a:rPr>
              <a:t>only</a:t>
            </a:r>
            <a:r>
              <a:rPr lang="en-US" dirty="0"/>
              <a:t> a function of the exposure</a:t>
            </a:r>
            <a:endParaRPr dirty="0"/>
          </a:p>
          <a:p>
            <a:pPr marL="914400" lvl="1" indent="-457200" algn="l" rtl="0">
              <a:lnSpc>
                <a:spcPct val="90000"/>
              </a:lnSpc>
              <a:spcBef>
                <a:spcPts val="500"/>
              </a:spcBef>
              <a:spcAft>
                <a:spcPts val="0"/>
              </a:spcAft>
              <a:buClr>
                <a:schemeClr val="dk1"/>
              </a:buClr>
              <a:buSzPts val="2400"/>
              <a:buFont typeface="Arial"/>
              <a:buAutoNum type="arabicPeriod"/>
            </a:pPr>
            <a:r>
              <a:rPr lang="en-US" dirty="0"/>
              <a:t>Exposure induces </a:t>
            </a:r>
            <a:r>
              <a:rPr lang="en-US" dirty="0">
                <a:solidFill>
                  <a:srgbClr val="FF9300"/>
                </a:solidFill>
              </a:rPr>
              <a:t>only a location shift </a:t>
            </a:r>
            <a:r>
              <a:rPr lang="en-US" dirty="0"/>
              <a:t>in the outcome in the presence of other covariates</a:t>
            </a:r>
            <a:endParaRPr dirty="0"/>
          </a:p>
          <a:p>
            <a:pPr marL="228600" lvl="0" indent="-50800" algn="l" rtl="0">
              <a:lnSpc>
                <a:spcPct val="90000"/>
              </a:lnSpc>
              <a:spcBef>
                <a:spcPts val="1000"/>
              </a:spcBef>
              <a:spcAft>
                <a:spcPts val="0"/>
              </a:spcAft>
              <a:buClr>
                <a:schemeClr val="dk1"/>
              </a:buClr>
              <a:buSzPts val="2800"/>
              <a:buNone/>
            </a:pPr>
            <a:endParaRPr dirty="0"/>
          </a:p>
          <a:p>
            <a:pPr marL="228600" lvl="0" indent="-228600" algn="l" rtl="0">
              <a:lnSpc>
                <a:spcPct val="90000"/>
              </a:lnSpc>
              <a:spcBef>
                <a:spcPts val="1000"/>
              </a:spcBef>
              <a:spcAft>
                <a:spcPts val="0"/>
              </a:spcAft>
              <a:buClr>
                <a:schemeClr val="dk1"/>
              </a:buClr>
              <a:buSzPts val="2800"/>
              <a:buChar char="•"/>
            </a:pPr>
            <a:r>
              <a:rPr lang="en-US" dirty="0"/>
              <a:t>But not if</a:t>
            </a:r>
            <a:br>
              <a:rPr lang="en-US" dirty="0"/>
            </a:br>
            <a:endParaRPr dirty="0"/>
          </a:p>
          <a:p>
            <a:pPr marL="914400" lvl="1" indent="-457200" algn="l" rtl="0">
              <a:lnSpc>
                <a:spcPct val="90000"/>
              </a:lnSpc>
              <a:spcBef>
                <a:spcPts val="500"/>
              </a:spcBef>
              <a:spcAft>
                <a:spcPts val="0"/>
              </a:spcAft>
              <a:buClr>
                <a:schemeClr val="dk1"/>
              </a:buClr>
              <a:buSzPts val="2400"/>
              <a:buFont typeface="Arial"/>
              <a:buAutoNum type="arabicPeriod"/>
            </a:pPr>
            <a:r>
              <a:rPr lang="en-US" dirty="0"/>
              <a:t>Exposure </a:t>
            </a:r>
            <a:r>
              <a:rPr lang="en-US" dirty="0">
                <a:solidFill>
                  <a:srgbClr val="FF9300"/>
                </a:solidFill>
              </a:rPr>
              <a:t>interacts</a:t>
            </a:r>
            <a:r>
              <a:rPr lang="en-US" dirty="0"/>
              <a:t> with other covariates in the DGP</a:t>
            </a:r>
            <a:endParaRPr dirty="0"/>
          </a:p>
        </p:txBody>
      </p:sp>
      <p:sp>
        <p:nvSpPr>
          <p:cNvPr id="675" name="Google Shape;675;p1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92</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7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B1F4F-5157-A4F3-0422-2AC896D2B0E1}"/>
              </a:ext>
            </a:extLst>
          </p:cNvPr>
          <p:cNvSpPr>
            <a:spLocks noGrp="1"/>
          </p:cNvSpPr>
          <p:nvPr>
            <p:ph type="title"/>
          </p:nvPr>
        </p:nvSpPr>
        <p:spPr/>
        <p:txBody>
          <a:bodyPr/>
          <a:lstStyle/>
          <a:p>
            <a:r>
              <a:rPr lang="en-US" b="1" dirty="0">
                <a:solidFill>
                  <a:srgbClr val="468C8A"/>
                </a:solidFill>
              </a:rPr>
              <a:t>Controversy about the motherhood wage penalty for low-wage women</a:t>
            </a:r>
            <a:endParaRPr lang="en-US" dirty="0"/>
          </a:p>
        </p:txBody>
      </p:sp>
      <p:sp>
        <p:nvSpPr>
          <p:cNvPr id="4" name="Slide Number Placeholder 3">
            <a:extLst>
              <a:ext uri="{FF2B5EF4-FFF2-40B4-BE49-F238E27FC236}">
                <a16:creationId xmlns:a16="http://schemas.microsoft.com/office/drawing/2014/main" id="{DEA81DD8-4C06-B454-B6CD-D0F9FA1E8A8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93</a:t>
            </a:fld>
            <a:endParaRPr lang="en-US"/>
          </a:p>
        </p:txBody>
      </p:sp>
      <p:pic>
        <p:nvPicPr>
          <p:cNvPr id="8" name="Picture 7">
            <a:extLst>
              <a:ext uri="{FF2B5EF4-FFF2-40B4-BE49-F238E27FC236}">
                <a16:creationId xmlns:a16="http://schemas.microsoft.com/office/drawing/2014/main" id="{C82FAA6C-79C0-D903-A8B9-109A291E2BDE}"/>
              </a:ext>
            </a:extLst>
          </p:cNvPr>
          <p:cNvPicPr>
            <a:picLocks noChangeAspect="1"/>
          </p:cNvPicPr>
          <p:nvPr/>
        </p:nvPicPr>
        <p:blipFill>
          <a:blip r:embed="rId3"/>
          <a:stretch>
            <a:fillRect/>
          </a:stretch>
        </p:blipFill>
        <p:spPr>
          <a:xfrm>
            <a:off x="2524125" y="2076450"/>
            <a:ext cx="7143750" cy="3752850"/>
          </a:xfrm>
          <a:prstGeom prst="rect">
            <a:avLst/>
          </a:prstGeom>
        </p:spPr>
      </p:pic>
    </p:spTree>
    <p:extLst>
      <p:ext uri="{BB962C8B-B14F-4D97-AF65-F5344CB8AC3E}">
        <p14:creationId xmlns:p14="http://schemas.microsoft.com/office/powerpoint/2010/main" val="1390906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8020C-593C-5E92-9220-1464AD7A57BD}"/>
              </a:ext>
            </a:extLst>
          </p:cNvPr>
          <p:cNvSpPr>
            <a:spLocks noGrp="1"/>
          </p:cNvSpPr>
          <p:nvPr>
            <p:ph type="title"/>
          </p:nvPr>
        </p:nvSpPr>
        <p:spPr/>
        <p:txBody>
          <a:bodyPr/>
          <a:lstStyle/>
          <a:p>
            <a:r>
              <a:rPr lang="en-US" b="1" dirty="0">
                <a:solidFill>
                  <a:srgbClr val="468C8A"/>
                </a:solidFill>
              </a:rPr>
              <a:t>Variation in motherhood wage penalty</a:t>
            </a:r>
            <a:br>
              <a:rPr lang="en-US" b="1" dirty="0">
                <a:solidFill>
                  <a:srgbClr val="468C8A"/>
                </a:solidFill>
              </a:rPr>
            </a:br>
            <a:r>
              <a:rPr lang="en-US" sz="3600" b="1" dirty="0" err="1">
                <a:solidFill>
                  <a:srgbClr val="FF9300"/>
                </a:solidFill>
              </a:rPr>
              <a:t>Budig</a:t>
            </a:r>
            <a:r>
              <a:rPr lang="en-US" sz="3600" b="1" dirty="0">
                <a:solidFill>
                  <a:srgbClr val="FF9300"/>
                </a:solidFill>
              </a:rPr>
              <a:t> et. al. (2010)</a:t>
            </a:r>
            <a:endParaRPr lang="en-US" dirty="0">
              <a:solidFill>
                <a:srgbClr val="FF9300"/>
              </a:solidFill>
            </a:endParaRPr>
          </a:p>
        </p:txBody>
      </p:sp>
      <p:sp>
        <p:nvSpPr>
          <p:cNvPr id="3" name="Text Placeholder 2">
            <a:extLst>
              <a:ext uri="{FF2B5EF4-FFF2-40B4-BE49-F238E27FC236}">
                <a16:creationId xmlns:a16="http://schemas.microsoft.com/office/drawing/2014/main" id="{93B73016-52F1-B879-606C-A92FAA6777F6}"/>
              </a:ext>
            </a:extLst>
          </p:cNvPr>
          <p:cNvSpPr>
            <a:spLocks noGrp="1"/>
          </p:cNvSpPr>
          <p:nvPr>
            <p:ph type="body" idx="1"/>
          </p:nvPr>
        </p:nvSpPr>
        <p:spPr>
          <a:xfrm>
            <a:off x="838200" y="1825625"/>
            <a:ext cx="10515600" cy="4667250"/>
          </a:xfrm>
        </p:spPr>
        <p:txBody>
          <a:bodyPr>
            <a:normAutofit/>
          </a:bodyPr>
          <a:lstStyle/>
          <a:p>
            <a:pPr marL="228600" lvl="0" indent="-228600" algn="l" rtl="0">
              <a:lnSpc>
                <a:spcPct val="90000"/>
              </a:lnSpc>
              <a:spcBef>
                <a:spcPts val="0"/>
              </a:spcBef>
              <a:spcAft>
                <a:spcPts val="0"/>
              </a:spcAft>
              <a:buClr>
                <a:schemeClr val="dk1"/>
              </a:buClr>
              <a:buSzPts val="2800"/>
              <a:buChar char="•"/>
            </a:pPr>
            <a:r>
              <a:rPr lang="en-US" dirty="0"/>
              <a:t>Several studies show there is a motherhood wage penalty for American women</a:t>
            </a:r>
          </a:p>
          <a:p>
            <a:pPr marL="685800" lvl="1" indent="-228600">
              <a:spcBef>
                <a:spcPts val="0"/>
              </a:spcBef>
              <a:buSzPts val="2800"/>
            </a:pPr>
            <a:r>
              <a:rPr lang="en-US" dirty="0"/>
              <a:t>Does the penalty vary for low-wage vs. middle-wage vs. high-wage workers?</a:t>
            </a:r>
          </a:p>
          <a:p>
            <a:pPr marL="228600" lvl="0" indent="-228600" algn="l" rtl="0">
              <a:lnSpc>
                <a:spcPct val="90000"/>
              </a:lnSpc>
              <a:spcBef>
                <a:spcPts val="0"/>
              </a:spcBef>
              <a:spcAft>
                <a:spcPts val="0"/>
              </a:spcAft>
              <a:buClr>
                <a:schemeClr val="dk1"/>
              </a:buClr>
              <a:buSzPts val="2800"/>
              <a:buChar char="•"/>
            </a:pPr>
            <a:endParaRPr lang="en-US" dirty="0"/>
          </a:p>
          <a:p>
            <a:pPr marL="228600" lvl="0" indent="-228600" algn="l" rtl="0">
              <a:lnSpc>
                <a:spcPct val="90000"/>
              </a:lnSpc>
              <a:spcBef>
                <a:spcPts val="0"/>
              </a:spcBef>
              <a:spcAft>
                <a:spcPts val="0"/>
              </a:spcAft>
              <a:buClr>
                <a:schemeClr val="dk1"/>
              </a:buClr>
              <a:buSzPts val="2800"/>
              <a:buChar char="•"/>
            </a:pPr>
            <a:r>
              <a:rPr lang="en-US" dirty="0"/>
              <a:t>Methods:</a:t>
            </a:r>
          </a:p>
          <a:p>
            <a:pPr marL="685800" lvl="1" indent="-228600">
              <a:spcBef>
                <a:spcPts val="0"/>
              </a:spcBef>
              <a:buSzPts val="2800"/>
            </a:pPr>
            <a:r>
              <a:rPr lang="en-US" dirty="0"/>
              <a:t>Data: National Longitudinal Survey of Youth, a nationally representative longitudinal study of individuals aged 14-21 in 1979 (1979-2004 waves)</a:t>
            </a:r>
          </a:p>
          <a:p>
            <a:pPr marL="685800" lvl="1" indent="-228600">
              <a:spcBef>
                <a:spcPts val="0"/>
              </a:spcBef>
              <a:buSzPts val="2800"/>
            </a:pPr>
            <a:r>
              <a:rPr lang="en-US" dirty="0"/>
              <a:t>Exposure: Total number of children reported at time of interview</a:t>
            </a:r>
          </a:p>
          <a:p>
            <a:pPr marL="685800" lvl="1" indent="-228600">
              <a:spcBef>
                <a:spcPts val="0"/>
              </a:spcBef>
              <a:buSzPts val="2800"/>
            </a:pPr>
            <a:r>
              <a:rPr lang="en-US" dirty="0"/>
              <a:t>Outcome: Natural log of hourly wages, top- and bottom-coded at $1 and $200</a:t>
            </a:r>
          </a:p>
          <a:p>
            <a:pPr marL="685800" lvl="1" indent="-228600">
              <a:spcBef>
                <a:spcPts val="0"/>
              </a:spcBef>
              <a:buSzPts val="2800"/>
            </a:pPr>
            <a:r>
              <a:rPr lang="en-US" dirty="0"/>
              <a:t>Analysis: conditional quantile regression model</a:t>
            </a:r>
          </a:p>
        </p:txBody>
      </p:sp>
      <p:sp>
        <p:nvSpPr>
          <p:cNvPr id="4" name="Slide Number Placeholder 3">
            <a:extLst>
              <a:ext uri="{FF2B5EF4-FFF2-40B4-BE49-F238E27FC236}">
                <a16:creationId xmlns:a16="http://schemas.microsoft.com/office/drawing/2014/main" id="{C664370D-70F8-C6C3-2F11-64DB31ED8D7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94</a:t>
            </a:fld>
            <a:endParaRPr lang="en-US"/>
          </a:p>
        </p:txBody>
      </p:sp>
    </p:spTree>
    <p:extLst>
      <p:ext uri="{BB962C8B-B14F-4D97-AF65-F5344CB8AC3E}">
        <p14:creationId xmlns:p14="http://schemas.microsoft.com/office/powerpoint/2010/main" val="3661862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D739B-94BE-B671-0805-95F01021E00E}"/>
              </a:ext>
            </a:extLst>
          </p:cNvPr>
          <p:cNvSpPr>
            <a:spLocks noGrp="1"/>
          </p:cNvSpPr>
          <p:nvPr>
            <p:ph type="title"/>
          </p:nvPr>
        </p:nvSpPr>
        <p:spPr/>
        <p:txBody>
          <a:bodyPr>
            <a:normAutofit fontScale="90000"/>
          </a:bodyPr>
          <a:lstStyle/>
          <a:p>
            <a:r>
              <a:rPr lang="en-US" b="1" dirty="0">
                <a:solidFill>
                  <a:srgbClr val="468C8A"/>
                </a:solidFill>
              </a:rPr>
              <a:t>“Mothers who can least afford to lose wages are the ones incurring the largest proportionate penalties”</a:t>
            </a:r>
            <a:endParaRPr lang="en-US" dirty="0"/>
          </a:p>
        </p:txBody>
      </p:sp>
      <p:sp>
        <p:nvSpPr>
          <p:cNvPr id="4" name="Slide Number Placeholder 3">
            <a:extLst>
              <a:ext uri="{FF2B5EF4-FFF2-40B4-BE49-F238E27FC236}">
                <a16:creationId xmlns:a16="http://schemas.microsoft.com/office/drawing/2014/main" id="{D2E19EEC-9859-869D-60FA-AF8A755E583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95</a:t>
            </a:fld>
            <a:endParaRPr lang="en-US"/>
          </a:p>
        </p:txBody>
      </p:sp>
      <p:pic>
        <p:nvPicPr>
          <p:cNvPr id="6" name="Picture 5" descr="A graph showing the value of a model&#10;&#10;Description automatically generated">
            <a:extLst>
              <a:ext uri="{FF2B5EF4-FFF2-40B4-BE49-F238E27FC236}">
                <a16:creationId xmlns:a16="http://schemas.microsoft.com/office/drawing/2014/main" id="{35D39215-09A3-8ADD-C754-A14E67C29C52}"/>
              </a:ext>
            </a:extLst>
          </p:cNvPr>
          <p:cNvPicPr>
            <a:picLocks noChangeAspect="1"/>
          </p:cNvPicPr>
          <p:nvPr/>
        </p:nvPicPr>
        <p:blipFill>
          <a:blip r:embed="rId3"/>
          <a:stretch>
            <a:fillRect/>
          </a:stretch>
        </p:blipFill>
        <p:spPr>
          <a:xfrm>
            <a:off x="2708710" y="1892785"/>
            <a:ext cx="6774580" cy="4828690"/>
          </a:xfrm>
          <a:prstGeom prst="rect">
            <a:avLst/>
          </a:prstGeom>
        </p:spPr>
      </p:pic>
      <p:sp>
        <p:nvSpPr>
          <p:cNvPr id="7" name="Rectangle 6">
            <a:extLst>
              <a:ext uri="{FF2B5EF4-FFF2-40B4-BE49-F238E27FC236}">
                <a16:creationId xmlns:a16="http://schemas.microsoft.com/office/drawing/2014/main" id="{CE594241-19BC-2D45-4810-1A7459473221}"/>
              </a:ext>
            </a:extLst>
          </p:cNvPr>
          <p:cNvSpPr/>
          <p:nvPr/>
        </p:nvSpPr>
        <p:spPr>
          <a:xfrm>
            <a:off x="3657600" y="2039815"/>
            <a:ext cx="1802423" cy="4237893"/>
          </a:xfrm>
          <a:prstGeom prst="rect">
            <a:avLst/>
          </a:prstGeom>
          <a:noFill/>
          <a:ln w="57150">
            <a:solidFill>
              <a:srgbClr val="F249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1050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B1F4F-5157-A4F3-0422-2AC896D2B0E1}"/>
              </a:ext>
            </a:extLst>
          </p:cNvPr>
          <p:cNvSpPr>
            <a:spLocks noGrp="1"/>
          </p:cNvSpPr>
          <p:nvPr>
            <p:ph type="title"/>
          </p:nvPr>
        </p:nvSpPr>
        <p:spPr/>
        <p:txBody>
          <a:bodyPr/>
          <a:lstStyle/>
          <a:p>
            <a:r>
              <a:rPr lang="en-US" b="1" dirty="0">
                <a:solidFill>
                  <a:srgbClr val="468C8A"/>
                </a:solidFill>
              </a:rPr>
              <a:t>A combative commentary on the </a:t>
            </a:r>
            <a:r>
              <a:rPr lang="en-US" b="1" dirty="0" err="1">
                <a:solidFill>
                  <a:srgbClr val="468C8A"/>
                </a:solidFill>
              </a:rPr>
              <a:t>Budig</a:t>
            </a:r>
            <a:r>
              <a:rPr lang="en-US" b="1" dirty="0">
                <a:solidFill>
                  <a:srgbClr val="468C8A"/>
                </a:solidFill>
              </a:rPr>
              <a:t> et. al. paper</a:t>
            </a:r>
            <a:endParaRPr lang="en-US" dirty="0"/>
          </a:p>
        </p:txBody>
      </p:sp>
      <p:sp>
        <p:nvSpPr>
          <p:cNvPr id="4" name="Slide Number Placeholder 3">
            <a:extLst>
              <a:ext uri="{FF2B5EF4-FFF2-40B4-BE49-F238E27FC236}">
                <a16:creationId xmlns:a16="http://schemas.microsoft.com/office/drawing/2014/main" id="{DEA81DD8-4C06-B454-B6CD-D0F9FA1E8A8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96</a:t>
            </a:fld>
            <a:endParaRPr lang="en-US"/>
          </a:p>
        </p:txBody>
      </p:sp>
      <p:pic>
        <p:nvPicPr>
          <p:cNvPr id="5" name="Picture 4">
            <a:extLst>
              <a:ext uri="{FF2B5EF4-FFF2-40B4-BE49-F238E27FC236}">
                <a16:creationId xmlns:a16="http://schemas.microsoft.com/office/drawing/2014/main" id="{F8D27A1F-B6C0-93E4-7D45-A2E759D2C955}"/>
              </a:ext>
            </a:extLst>
          </p:cNvPr>
          <p:cNvPicPr>
            <a:picLocks noChangeAspect="1"/>
          </p:cNvPicPr>
          <p:nvPr/>
        </p:nvPicPr>
        <p:blipFill>
          <a:blip r:embed="rId3"/>
          <a:stretch>
            <a:fillRect/>
          </a:stretch>
        </p:blipFill>
        <p:spPr>
          <a:xfrm>
            <a:off x="2566987" y="2071687"/>
            <a:ext cx="7058025" cy="3400425"/>
          </a:xfrm>
          <a:prstGeom prst="rect">
            <a:avLst/>
          </a:prstGeom>
        </p:spPr>
      </p:pic>
    </p:spTree>
    <p:extLst>
      <p:ext uri="{BB962C8B-B14F-4D97-AF65-F5344CB8AC3E}">
        <p14:creationId xmlns:p14="http://schemas.microsoft.com/office/powerpoint/2010/main" val="225061051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E7A30-D110-EF97-F783-1ED885547756}"/>
              </a:ext>
            </a:extLst>
          </p:cNvPr>
          <p:cNvSpPr>
            <a:spLocks noGrp="1"/>
          </p:cNvSpPr>
          <p:nvPr>
            <p:ph type="title"/>
          </p:nvPr>
        </p:nvSpPr>
        <p:spPr/>
        <p:txBody>
          <a:bodyPr/>
          <a:lstStyle/>
          <a:p>
            <a:r>
              <a:rPr lang="en-US" b="1" dirty="0" err="1">
                <a:solidFill>
                  <a:srgbClr val="468C8A"/>
                </a:solidFill>
              </a:rPr>
              <a:t>Killewald’s</a:t>
            </a:r>
            <a:r>
              <a:rPr lang="en-US" b="1" dirty="0">
                <a:solidFill>
                  <a:srgbClr val="468C8A"/>
                </a:solidFill>
              </a:rPr>
              <a:t> key critique</a:t>
            </a:r>
            <a:endParaRPr lang="en-US" dirty="0"/>
          </a:p>
        </p:txBody>
      </p:sp>
      <p:sp>
        <p:nvSpPr>
          <p:cNvPr id="4" name="Slide Number Placeholder 3">
            <a:extLst>
              <a:ext uri="{FF2B5EF4-FFF2-40B4-BE49-F238E27FC236}">
                <a16:creationId xmlns:a16="http://schemas.microsoft.com/office/drawing/2014/main" id="{5CCEB10E-C856-B4EF-D78D-D992D480CDA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97</a:t>
            </a:fld>
            <a:endParaRPr lang="en-US"/>
          </a:p>
        </p:txBody>
      </p:sp>
      <p:pic>
        <p:nvPicPr>
          <p:cNvPr id="6" name="Picture 5">
            <a:extLst>
              <a:ext uri="{FF2B5EF4-FFF2-40B4-BE49-F238E27FC236}">
                <a16:creationId xmlns:a16="http://schemas.microsoft.com/office/drawing/2014/main" id="{49BAADF7-F776-7409-6BE0-CDFE2FB31278}"/>
              </a:ext>
            </a:extLst>
          </p:cNvPr>
          <p:cNvPicPr>
            <a:picLocks noChangeAspect="1"/>
          </p:cNvPicPr>
          <p:nvPr/>
        </p:nvPicPr>
        <p:blipFill>
          <a:blip r:embed="rId2"/>
          <a:stretch>
            <a:fillRect/>
          </a:stretch>
        </p:blipFill>
        <p:spPr>
          <a:xfrm>
            <a:off x="1366837" y="1917700"/>
            <a:ext cx="9458325" cy="1314450"/>
          </a:xfrm>
          <a:prstGeom prst="rect">
            <a:avLst/>
          </a:prstGeom>
        </p:spPr>
      </p:pic>
      <p:pic>
        <p:nvPicPr>
          <p:cNvPr id="8" name="Picture 7">
            <a:extLst>
              <a:ext uri="{FF2B5EF4-FFF2-40B4-BE49-F238E27FC236}">
                <a16:creationId xmlns:a16="http://schemas.microsoft.com/office/drawing/2014/main" id="{AA0151A2-6BD6-D08C-D880-D3021FA22467}"/>
              </a:ext>
            </a:extLst>
          </p:cNvPr>
          <p:cNvPicPr>
            <a:picLocks noChangeAspect="1"/>
          </p:cNvPicPr>
          <p:nvPr/>
        </p:nvPicPr>
        <p:blipFill>
          <a:blip r:embed="rId3"/>
          <a:stretch>
            <a:fillRect/>
          </a:stretch>
        </p:blipFill>
        <p:spPr>
          <a:xfrm>
            <a:off x="1366837" y="4051300"/>
            <a:ext cx="9763125" cy="1981200"/>
          </a:xfrm>
          <a:prstGeom prst="rect">
            <a:avLst/>
          </a:prstGeom>
        </p:spPr>
      </p:pic>
      <p:sp>
        <p:nvSpPr>
          <p:cNvPr id="3" name="Rectangle 2">
            <a:extLst>
              <a:ext uri="{FF2B5EF4-FFF2-40B4-BE49-F238E27FC236}">
                <a16:creationId xmlns:a16="http://schemas.microsoft.com/office/drawing/2014/main" id="{F742FA2F-1ED8-A481-C69C-4ACC6E994F20}"/>
              </a:ext>
            </a:extLst>
          </p:cNvPr>
          <p:cNvSpPr/>
          <p:nvPr/>
        </p:nvSpPr>
        <p:spPr>
          <a:xfrm>
            <a:off x="1258530" y="2509838"/>
            <a:ext cx="8613058" cy="919162"/>
          </a:xfrm>
          <a:prstGeom prst="rect">
            <a:avLst/>
          </a:prstGeom>
          <a:noFill/>
          <a:ln w="57150">
            <a:solidFill>
              <a:srgbClr val="F249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1822669-06F5-06FF-C171-BC981B514537}"/>
              </a:ext>
            </a:extLst>
          </p:cNvPr>
          <p:cNvSpPr/>
          <p:nvPr/>
        </p:nvSpPr>
        <p:spPr>
          <a:xfrm>
            <a:off x="1369142" y="4352617"/>
            <a:ext cx="9760820" cy="1320596"/>
          </a:xfrm>
          <a:prstGeom prst="rect">
            <a:avLst/>
          </a:prstGeom>
          <a:noFill/>
          <a:ln w="57150">
            <a:solidFill>
              <a:srgbClr val="F249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53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B473C-C9C0-356C-3CAC-F822DB5D3DC6}"/>
              </a:ext>
            </a:extLst>
          </p:cNvPr>
          <p:cNvSpPr>
            <a:spLocks noGrp="1"/>
          </p:cNvSpPr>
          <p:nvPr>
            <p:ph type="title"/>
          </p:nvPr>
        </p:nvSpPr>
        <p:spPr/>
        <p:txBody>
          <a:bodyPr/>
          <a:lstStyle/>
          <a:p>
            <a:r>
              <a:rPr lang="en-US" b="1" dirty="0">
                <a:solidFill>
                  <a:srgbClr val="468C8A"/>
                </a:solidFill>
              </a:rPr>
              <a:t>More appropriate method changes the main results!</a:t>
            </a:r>
            <a:endParaRPr lang="en-US" dirty="0"/>
          </a:p>
        </p:txBody>
      </p:sp>
      <p:sp>
        <p:nvSpPr>
          <p:cNvPr id="4" name="Slide Number Placeholder 3">
            <a:extLst>
              <a:ext uri="{FF2B5EF4-FFF2-40B4-BE49-F238E27FC236}">
                <a16:creationId xmlns:a16="http://schemas.microsoft.com/office/drawing/2014/main" id="{9F41AD1A-4FAD-976F-F512-59B63088541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98</a:t>
            </a:fld>
            <a:endParaRPr lang="en-US"/>
          </a:p>
        </p:txBody>
      </p:sp>
      <p:pic>
        <p:nvPicPr>
          <p:cNvPr id="6" name="Picture 5" descr="A graph showing the number of objects in the same number&#10;&#10;Description automatically generated with medium confidence">
            <a:extLst>
              <a:ext uri="{FF2B5EF4-FFF2-40B4-BE49-F238E27FC236}">
                <a16:creationId xmlns:a16="http://schemas.microsoft.com/office/drawing/2014/main" id="{C4865D95-1E31-27D1-56A6-9F08AB781E3A}"/>
              </a:ext>
            </a:extLst>
          </p:cNvPr>
          <p:cNvPicPr>
            <a:picLocks noChangeAspect="1"/>
          </p:cNvPicPr>
          <p:nvPr/>
        </p:nvPicPr>
        <p:blipFill>
          <a:blip r:embed="rId3"/>
          <a:stretch>
            <a:fillRect/>
          </a:stretch>
        </p:blipFill>
        <p:spPr>
          <a:xfrm>
            <a:off x="370134" y="2345248"/>
            <a:ext cx="5725866" cy="3325885"/>
          </a:xfrm>
          <a:prstGeom prst="rect">
            <a:avLst/>
          </a:prstGeom>
        </p:spPr>
      </p:pic>
      <p:pic>
        <p:nvPicPr>
          <p:cNvPr id="8" name="Picture 7" descr="A graph of a number of objects&#10;&#10;Description automatically generated with medium confidence">
            <a:extLst>
              <a:ext uri="{FF2B5EF4-FFF2-40B4-BE49-F238E27FC236}">
                <a16:creationId xmlns:a16="http://schemas.microsoft.com/office/drawing/2014/main" id="{B04B4B8B-0EA6-5F39-17AE-A871CEF834E2}"/>
              </a:ext>
            </a:extLst>
          </p:cNvPr>
          <p:cNvPicPr>
            <a:picLocks noChangeAspect="1"/>
          </p:cNvPicPr>
          <p:nvPr/>
        </p:nvPicPr>
        <p:blipFill>
          <a:blip r:embed="rId4"/>
          <a:stretch>
            <a:fillRect/>
          </a:stretch>
        </p:blipFill>
        <p:spPr>
          <a:xfrm>
            <a:off x="6390685" y="2231120"/>
            <a:ext cx="5724144" cy="3440013"/>
          </a:xfrm>
          <a:prstGeom prst="rect">
            <a:avLst/>
          </a:prstGeom>
        </p:spPr>
      </p:pic>
      <p:sp>
        <p:nvSpPr>
          <p:cNvPr id="9" name="TextBox 8">
            <a:extLst>
              <a:ext uri="{FF2B5EF4-FFF2-40B4-BE49-F238E27FC236}">
                <a16:creationId xmlns:a16="http://schemas.microsoft.com/office/drawing/2014/main" id="{52FE7429-E9E6-BD8A-D933-C088EE41406F}"/>
              </a:ext>
            </a:extLst>
          </p:cNvPr>
          <p:cNvSpPr txBox="1"/>
          <p:nvPr/>
        </p:nvSpPr>
        <p:spPr>
          <a:xfrm>
            <a:off x="838200" y="1764176"/>
            <a:ext cx="5552485" cy="523220"/>
          </a:xfrm>
          <a:prstGeom prst="rect">
            <a:avLst/>
          </a:prstGeom>
          <a:noFill/>
        </p:spPr>
        <p:txBody>
          <a:bodyPr wrap="square" rtlCol="0">
            <a:spAutoFit/>
          </a:bodyPr>
          <a:lstStyle/>
          <a:p>
            <a:r>
              <a:rPr lang="en-US" dirty="0" err="1"/>
              <a:t>Killewald</a:t>
            </a:r>
            <a:r>
              <a:rPr lang="en-US" dirty="0"/>
              <a:t> et. al.’s replication of </a:t>
            </a:r>
            <a:r>
              <a:rPr lang="en-US" dirty="0" err="1"/>
              <a:t>Budig</a:t>
            </a:r>
            <a:r>
              <a:rPr lang="en-US" dirty="0"/>
              <a:t> et. al. results by applying conditional quantile regression (Figure 1 of the paper)</a:t>
            </a:r>
          </a:p>
        </p:txBody>
      </p:sp>
      <p:sp>
        <p:nvSpPr>
          <p:cNvPr id="10" name="TextBox 9">
            <a:extLst>
              <a:ext uri="{FF2B5EF4-FFF2-40B4-BE49-F238E27FC236}">
                <a16:creationId xmlns:a16="http://schemas.microsoft.com/office/drawing/2014/main" id="{2CB31487-4F20-3CDE-AB59-488233864C04}"/>
              </a:ext>
            </a:extLst>
          </p:cNvPr>
          <p:cNvSpPr txBox="1"/>
          <p:nvPr/>
        </p:nvSpPr>
        <p:spPr>
          <a:xfrm>
            <a:off x="6794837" y="1764176"/>
            <a:ext cx="5552485" cy="523220"/>
          </a:xfrm>
          <a:prstGeom prst="rect">
            <a:avLst/>
          </a:prstGeom>
          <a:noFill/>
        </p:spPr>
        <p:txBody>
          <a:bodyPr wrap="square" rtlCol="0">
            <a:spAutoFit/>
          </a:bodyPr>
          <a:lstStyle/>
          <a:p>
            <a:r>
              <a:rPr lang="en-US" dirty="0" err="1"/>
              <a:t>Killewald</a:t>
            </a:r>
            <a:r>
              <a:rPr lang="en-US" dirty="0"/>
              <a:t> et. al.’s results for the motherhood wage penalty after applying more appropriate methods (Figure 2 of the paper)</a:t>
            </a:r>
          </a:p>
        </p:txBody>
      </p:sp>
      <p:sp>
        <p:nvSpPr>
          <p:cNvPr id="11" name="TextBox 10">
            <a:extLst>
              <a:ext uri="{FF2B5EF4-FFF2-40B4-BE49-F238E27FC236}">
                <a16:creationId xmlns:a16="http://schemas.microsoft.com/office/drawing/2014/main" id="{6F13E998-EDF0-B8F6-D9E5-51DAFA1E3A99}"/>
              </a:ext>
            </a:extLst>
          </p:cNvPr>
          <p:cNvSpPr txBox="1"/>
          <p:nvPr/>
        </p:nvSpPr>
        <p:spPr>
          <a:xfrm>
            <a:off x="3091299" y="5671133"/>
            <a:ext cx="900409" cy="307777"/>
          </a:xfrm>
          <a:prstGeom prst="rect">
            <a:avLst/>
          </a:prstGeom>
          <a:noFill/>
        </p:spPr>
        <p:txBody>
          <a:bodyPr wrap="square" rtlCol="0">
            <a:spAutoFit/>
          </a:bodyPr>
          <a:lstStyle/>
          <a:p>
            <a:r>
              <a:rPr lang="en-US" b="1" dirty="0"/>
              <a:t>Quantile</a:t>
            </a:r>
          </a:p>
        </p:txBody>
      </p:sp>
      <p:sp>
        <p:nvSpPr>
          <p:cNvPr id="12" name="TextBox 11">
            <a:extLst>
              <a:ext uri="{FF2B5EF4-FFF2-40B4-BE49-F238E27FC236}">
                <a16:creationId xmlns:a16="http://schemas.microsoft.com/office/drawing/2014/main" id="{C19DB0D9-0DD2-6105-DD0F-4D1E4ECB8D8D}"/>
              </a:ext>
            </a:extLst>
          </p:cNvPr>
          <p:cNvSpPr txBox="1"/>
          <p:nvPr/>
        </p:nvSpPr>
        <p:spPr>
          <a:xfrm>
            <a:off x="9120876" y="5667462"/>
            <a:ext cx="900409" cy="307777"/>
          </a:xfrm>
          <a:prstGeom prst="rect">
            <a:avLst/>
          </a:prstGeom>
          <a:noFill/>
        </p:spPr>
        <p:txBody>
          <a:bodyPr wrap="square" rtlCol="0">
            <a:spAutoFit/>
          </a:bodyPr>
          <a:lstStyle/>
          <a:p>
            <a:r>
              <a:rPr lang="en-US" b="1" dirty="0"/>
              <a:t>Quantile</a:t>
            </a:r>
          </a:p>
        </p:txBody>
      </p:sp>
    </p:spTree>
    <p:extLst>
      <p:ext uri="{BB962C8B-B14F-4D97-AF65-F5344CB8AC3E}">
        <p14:creationId xmlns:p14="http://schemas.microsoft.com/office/powerpoint/2010/main" val="472035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22F3C-4613-328C-FD94-41A02104169B}"/>
              </a:ext>
            </a:extLst>
          </p:cNvPr>
          <p:cNvSpPr>
            <a:spLocks noGrp="1"/>
          </p:cNvSpPr>
          <p:nvPr>
            <p:ph type="title"/>
          </p:nvPr>
        </p:nvSpPr>
        <p:spPr/>
        <p:txBody>
          <a:bodyPr/>
          <a:lstStyle/>
          <a:p>
            <a:r>
              <a:rPr lang="en-US" b="1" dirty="0">
                <a:solidFill>
                  <a:srgbClr val="468C8A"/>
                </a:solidFill>
              </a:rPr>
              <a:t>Implications of new results using appropriate methods</a:t>
            </a:r>
            <a:endParaRPr lang="en-US" dirty="0"/>
          </a:p>
        </p:txBody>
      </p:sp>
      <p:sp>
        <p:nvSpPr>
          <p:cNvPr id="4" name="Slide Number Placeholder 3">
            <a:extLst>
              <a:ext uri="{FF2B5EF4-FFF2-40B4-BE49-F238E27FC236}">
                <a16:creationId xmlns:a16="http://schemas.microsoft.com/office/drawing/2014/main" id="{C9ECD876-0820-DDE9-71BB-A07AF9A0925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99</a:t>
            </a:fld>
            <a:endParaRPr lang="en-US"/>
          </a:p>
        </p:txBody>
      </p:sp>
      <p:pic>
        <p:nvPicPr>
          <p:cNvPr id="6" name="Picture 5">
            <a:extLst>
              <a:ext uri="{FF2B5EF4-FFF2-40B4-BE49-F238E27FC236}">
                <a16:creationId xmlns:a16="http://schemas.microsoft.com/office/drawing/2014/main" id="{E6E3210A-2F15-31F0-812E-A33C2F455906}"/>
              </a:ext>
            </a:extLst>
          </p:cNvPr>
          <p:cNvPicPr>
            <a:picLocks noChangeAspect="1"/>
          </p:cNvPicPr>
          <p:nvPr/>
        </p:nvPicPr>
        <p:blipFill>
          <a:blip r:embed="rId3"/>
          <a:stretch>
            <a:fillRect/>
          </a:stretch>
        </p:blipFill>
        <p:spPr>
          <a:xfrm>
            <a:off x="1195387" y="2733675"/>
            <a:ext cx="9801225" cy="1390650"/>
          </a:xfrm>
          <a:prstGeom prst="rect">
            <a:avLst/>
          </a:prstGeom>
        </p:spPr>
      </p:pic>
    </p:spTree>
    <p:extLst>
      <p:ext uri="{BB962C8B-B14F-4D97-AF65-F5344CB8AC3E}">
        <p14:creationId xmlns:p14="http://schemas.microsoft.com/office/powerpoint/2010/main" val="291830877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2494C"/>
        </a:solidFill>
        <a:effectLst/>
      </p:bgPr>
    </p:bg>
    <p:spTree>
      <p:nvGrpSpPr>
        <p:cNvPr id="1" name="Shape 679"/>
        <p:cNvGrpSpPr/>
        <p:nvPr/>
      </p:nvGrpSpPr>
      <p:grpSpPr>
        <a:xfrm>
          <a:off x="0" y="0"/>
          <a:ext cx="0" cy="0"/>
          <a:chOff x="0" y="0"/>
          <a:chExt cx="0" cy="0"/>
        </a:xfrm>
      </p:grpSpPr>
      <p:sp>
        <p:nvSpPr>
          <p:cNvPr id="680" name="Google Shape;680;p15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Arial"/>
              <a:buNone/>
            </a:pPr>
            <a:r>
              <a:rPr lang="en-US" sz="6000" b="1" dirty="0">
                <a:solidFill>
                  <a:schemeClr val="lt1"/>
                </a:solidFill>
              </a:rPr>
              <a:t>Unconditional quantile regressions (UQR)</a:t>
            </a:r>
            <a:endParaRPr dirty="0"/>
          </a:p>
        </p:txBody>
      </p:sp>
      <p:sp>
        <p:nvSpPr>
          <p:cNvPr id="681" name="Google Shape;681;p15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400"/>
              <a:buNone/>
            </a:pPr>
            <a:endParaRPr dirty="0"/>
          </a:p>
        </p:txBody>
      </p:sp>
      <p:sp>
        <p:nvSpPr>
          <p:cNvPr id="682" name="Google Shape;682;p1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100</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1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101</a:t>
            </a:fld>
            <a:endParaRPr/>
          </a:p>
        </p:txBody>
      </p:sp>
      <p:pic>
        <p:nvPicPr>
          <p:cNvPr id="688" name="Google Shape;688;p161" descr="A close-up of a person smiling&#10;&#10;Description automatically generated"/>
          <p:cNvPicPr preferRelativeResize="0"/>
          <p:nvPr/>
        </p:nvPicPr>
        <p:blipFill rotWithShape="1">
          <a:blip r:embed="rId3">
            <a:alphaModFix/>
          </a:blip>
          <a:srcRect/>
          <a:stretch/>
        </p:blipFill>
        <p:spPr>
          <a:xfrm>
            <a:off x="3176176" y="538412"/>
            <a:ext cx="2298194" cy="2743200"/>
          </a:xfrm>
          <a:prstGeom prst="rect">
            <a:avLst/>
          </a:prstGeom>
          <a:noFill/>
          <a:ln>
            <a:noFill/>
          </a:ln>
        </p:spPr>
      </p:pic>
      <p:pic>
        <p:nvPicPr>
          <p:cNvPr id="689" name="Google Shape;689;p161" descr="A person smiling for the camera&#10;&#10;Description automatically generated with medium confidence"/>
          <p:cNvPicPr preferRelativeResize="0"/>
          <p:nvPr/>
        </p:nvPicPr>
        <p:blipFill rotWithShape="1">
          <a:blip r:embed="rId4">
            <a:alphaModFix/>
          </a:blip>
          <a:srcRect/>
          <a:stretch/>
        </p:blipFill>
        <p:spPr>
          <a:xfrm>
            <a:off x="1643562" y="3576389"/>
            <a:ext cx="2468880" cy="2950613"/>
          </a:xfrm>
          <a:prstGeom prst="rect">
            <a:avLst/>
          </a:prstGeom>
          <a:noFill/>
          <a:ln>
            <a:noFill/>
          </a:ln>
        </p:spPr>
      </p:pic>
      <p:pic>
        <p:nvPicPr>
          <p:cNvPr id="690" name="Google Shape;690;p161" descr="A person wearing glasses&#10;&#10;Description automatically generated with low confidence"/>
          <p:cNvPicPr preferRelativeResize="0"/>
          <p:nvPr/>
        </p:nvPicPr>
        <p:blipFill rotWithShape="1">
          <a:blip r:embed="rId5">
            <a:alphaModFix/>
          </a:blip>
          <a:srcRect/>
          <a:stretch/>
        </p:blipFill>
        <p:spPr>
          <a:xfrm>
            <a:off x="134802" y="538412"/>
            <a:ext cx="2743200" cy="2743200"/>
          </a:xfrm>
          <a:prstGeom prst="rect">
            <a:avLst/>
          </a:prstGeom>
          <a:noFill/>
          <a:ln>
            <a:noFill/>
          </a:ln>
        </p:spPr>
      </p:pic>
      <p:pic>
        <p:nvPicPr>
          <p:cNvPr id="691" name="Google Shape;691;p161"/>
          <p:cNvPicPr preferRelativeResize="0"/>
          <p:nvPr/>
        </p:nvPicPr>
        <p:blipFill rotWithShape="1">
          <a:blip r:embed="rId6">
            <a:alphaModFix/>
          </a:blip>
          <a:srcRect/>
          <a:stretch/>
        </p:blipFill>
        <p:spPr>
          <a:xfrm>
            <a:off x="6096000" y="2192069"/>
            <a:ext cx="5760720" cy="2473862"/>
          </a:xfrm>
          <a:prstGeom prst="rect">
            <a:avLst/>
          </a:prstGeom>
          <a:noFill/>
          <a:ln>
            <a:noFill/>
          </a:ln>
        </p:spPr>
      </p:pic>
      <p:sp>
        <p:nvSpPr>
          <p:cNvPr id="692" name="Google Shape;692;p161"/>
          <p:cNvSpPr txBox="1"/>
          <p:nvPr/>
        </p:nvSpPr>
        <p:spPr>
          <a:xfrm>
            <a:off x="6096000" y="4665931"/>
            <a:ext cx="5760720" cy="4154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i="1">
                <a:solidFill>
                  <a:srgbClr val="BFBFBF"/>
                </a:solidFill>
                <a:latin typeface="Arial"/>
                <a:ea typeface="Arial"/>
                <a:cs typeface="Arial"/>
                <a:sym typeface="Arial"/>
              </a:rPr>
              <a:t>Firpo, Fortin, Lemieux (2009). Unconditional Quantile Regressions. Econometrica 77(3): 953-973</a:t>
            </a:r>
            <a:endParaRPr/>
          </a:p>
        </p:txBody>
      </p:sp>
      <p:sp>
        <p:nvSpPr>
          <p:cNvPr id="693" name="Google Shape;693;p161"/>
          <p:cNvSpPr txBox="1"/>
          <p:nvPr/>
        </p:nvSpPr>
        <p:spPr>
          <a:xfrm>
            <a:off x="134802" y="146332"/>
            <a:ext cx="284166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1">
                <a:solidFill>
                  <a:srgbClr val="468C8A"/>
                </a:solidFill>
                <a:latin typeface="Arial"/>
                <a:ea typeface="Arial"/>
                <a:cs typeface="Arial"/>
                <a:sym typeface="Arial"/>
              </a:rPr>
              <a:t>Sergio Firpo.</a:t>
            </a:r>
            <a:r>
              <a:rPr lang="en-US" sz="1400" b="1" i="1">
                <a:solidFill>
                  <a:schemeClr val="dk1"/>
                </a:solidFill>
                <a:latin typeface="Arial"/>
                <a:ea typeface="Arial"/>
                <a:cs typeface="Arial"/>
                <a:sym typeface="Arial"/>
              </a:rPr>
              <a:t> </a:t>
            </a:r>
            <a:r>
              <a:rPr lang="en-US" sz="1400" i="1">
                <a:solidFill>
                  <a:srgbClr val="BFBFBF"/>
                </a:solidFill>
                <a:latin typeface="Arial"/>
                <a:ea typeface="Arial"/>
                <a:cs typeface="Arial"/>
                <a:sym typeface="Arial"/>
              </a:rPr>
              <a:t>Source: </a:t>
            </a:r>
            <a:r>
              <a:rPr lang="en-US" sz="1400" i="1" u="sng">
                <a:solidFill>
                  <a:srgbClr val="BFBFBF"/>
                </a:solidFill>
                <a:latin typeface="Arial"/>
                <a:ea typeface="Arial"/>
                <a:cs typeface="Arial"/>
                <a:sym typeface="Arial"/>
                <a:hlinkClick r:id="rId7">
                  <a:extLst>
                    <a:ext uri="{A12FA001-AC4F-418D-AE19-62706E023703}">
                      <ahyp:hlinkClr xmlns:ahyp="http://schemas.microsoft.com/office/drawing/2018/hyperlinkcolor" val="tx"/>
                    </a:ext>
                  </a:extLst>
                </a:hlinkClick>
              </a:rPr>
              <a:t>link</a:t>
            </a:r>
            <a:endParaRPr sz="1400" i="1">
              <a:solidFill>
                <a:srgbClr val="BFBFBF"/>
              </a:solidFill>
              <a:latin typeface="Arial"/>
              <a:ea typeface="Arial"/>
              <a:cs typeface="Arial"/>
              <a:sym typeface="Arial"/>
            </a:endParaRPr>
          </a:p>
        </p:txBody>
      </p:sp>
      <p:sp>
        <p:nvSpPr>
          <p:cNvPr id="694" name="Google Shape;694;p161"/>
          <p:cNvSpPr txBox="1"/>
          <p:nvPr/>
        </p:nvSpPr>
        <p:spPr>
          <a:xfrm>
            <a:off x="3123744" y="146331"/>
            <a:ext cx="284166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1">
                <a:solidFill>
                  <a:srgbClr val="468C8A"/>
                </a:solidFill>
                <a:latin typeface="Arial"/>
                <a:ea typeface="Arial"/>
                <a:cs typeface="Arial"/>
                <a:sym typeface="Arial"/>
              </a:rPr>
              <a:t>Nicole Fortin. </a:t>
            </a:r>
            <a:r>
              <a:rPr lang="en-US" sz="1400" i="1">
                <a:solidFill>
                  <a:srgbClr val="BFBFBF"/>
                </a:solidFill>
                <a:latin typeface="Arial"/>
                <a:ea typeface="Arial"/>
                <a:cs typeface="Arial"/>
                <a:sym typeface="Arial"/>
              </a:rPr>
              <a:t>Source: </a:t>
            </a:r>
            <a:r>
              <a:rPr lang="en-US" sz="1400" i="1" u="sng">
                <a:solidFill>
                  <a:srgbClr val="BFBFBF"/>
                </a:solidFill>
                <a:latin typeface="Arial"/>
                <a:ea typeface="Arial"/>
                <a:cs typeface="Arial"/>
                <a:sym typeface="Arial"/>
                <a:hlinkClick r:id="rId8">
                  <a:extLst>
                    <a:ext uri="{A12FA001-AC4F-418D-AE19-62706E023703}">
                      <ahyp:hlinkClr xmlns:ahyp="http://schemas.microsoft.com/office/drawing/2018/hyperlinkcolor" val="tx"/>
                    </a:ext>
                  </a:extLst>
                </a:hlinkClick>
              </a:rPr>
              <a:t>link</a:t>
            </a:r>
            <a:endParaRPr sz="1400" i="1">
              <a:solidFill>
                <a:srgbClr val="BFBFBF"/>
              </a:solidFill>
              <a:latin typeface="Arial"/>
              <a:ea typeface="Arial"/>
              <a:cs typeface="Arial"/>
              <a:sym typeface="Arial"/>
            </a:endParaRPr>
          </a:p>
        </p:txBody>
      </p:sp>
      <p:sp>
        <p:nvSpPr>
          <p:cNvPr id="695" name="Google Shape;695;p161"/>
          <p:cNvSpPr txBox="1"/>
          <p:nvPr/>
        </p:nvSpPr>
        <p:spPr>
          <a:xfrm>
            <a:off x="1643562" y="6527002"/>
            <a:ext cx="284166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1">
                <a:solidFill>
                  <a:srgbClr val="468C8A"/>
                </a:solidFill>
                <a:latin typeface="Arial"/>
                <a:ea typeface="Arial"/>
                <a:cs typeface="Arial"/>
                <a:sym typeface="Arial"/>
              </a:rPr>
              <a:t>Thomas Lemieux. </a:t>
            </a:r>
            <a:r>
              <a:rPr lang="en-US" sz="1400" i="1">
                <a:solidFill>
                  <a:srgbClr val="BFBFBF"/>
                </a:solidFill>
                <a:latin typeface="Arial"/>
                <a:ea typeface="Arial"/>
                <a:cs typeface="Arial"/>
                <a:sym typeface="Arial"/>
              </a:rPr>
              <a:t>Source: </a:t>
            </a:r>
            <a:r>
              <a:rPr lang="en-US" sz="1400" i="1" u="sng">
                <a:solidFill>
                  <a:srgbClr val="BFBFBF"/>
                </a:solidFill>
                <a:latin typeface="Arial"/>
                <a:ea typeface="Arial"/>
                <a:cs typeface="Arial"/>
                <a:sym typeface="Arial"/>
                <a:hlinkClick r:id="rId9">
                  <a:extLst>
                    <a:ext uri="{A12FA001-AC4F-418D-AE19-62706E023703}">
                      <ahyp:hlinkClr xmlns:ahyp="http://schemas.microsoft.com/office/drawing/2018/hyperlinkcolor" val="tx"/>
                    </a:ext>
                  </a:extLst>
                </a:hlinkClick>
              </a:rPr>
              <a:t>link</a:t>
            </a:r>
            <a:endParaRPr sz="1400" i="1">
              <a:solidFill>
                <a:srgbClr val="BFBFBF"/>
              </a:solidFill>
              <a:latin typeface="Arial"/>
              <a:ea typeface="Arial"/>
              <a:cs typeface="Arial"/>
              <a:sym typeface="Aria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1" name="Google Shape;701;p1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102</a:t>
            </a:fld>
            <a:endParaRPr/>
          </a:p>
        </p:txBody>
      </p:sp>
      <p:sp>
        <p:nvSpPr>
          <p:cNvPr id="702" name="Google Shape;702;p162"/>
          <p:cNvSpPr/>
          <p:nvPr/>
        </p:nvSpPr>
        <p:spPr>
          <a:xfrm>
            <a:off x="11307535" y="157655"/>
            <a:ext cx="669470" cy="654269"/>
          </a:xfrm>
          <a:prstGeom prst="star5">
            <a:avLst>
              <a:gd name="adj" fmla="val 19098"/>
              <a:gd name="hf" fmla="val 105146"/>
              <a:gd name="vf" fmla="val 110557"/>
            </a:avLst>
          </a:prstGeom>
          <a:solidFill>
            <a:srgbClr val="FF9300"/>
          </a:solidFill>
          <a:ln w="12700" cap="flat" cmpd="sng">
            <a:solidFill>
              <a:srgbClr val="FF93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mc:AlternateContent xmlns:mc="http://schemas.openxmlformats.org/markup-compatibility/2006" xmlns:a14="http://schemas.microsoft.com/office/drawing/2010/main">
        <mc:Choice Requires="a14">
          <p:sp>
            <p:nvSpPr>
              <p:cNvPr id="4" name="Title 2">
                <a:extLst>
                  <a:ext uri="{FF2B5EF4-FFF2-40B4-BE49-F238E27FC236}">
                    <a16:creationId xmlns:a16="http://schemas.microsoft.com/office/drawing/2014/main" id="{03B6FF3F-3C46-B20B-291B-0843ADB8995A}"/>
                  </a:ext>
                </a:extLst>
              </p:cNvPr>
              <p:cNvSpPr>
                <a:spLocks noGrp="1"/>
              </p:cNvSpPr>
              <p:nvPr>
                <p:ph type="title"/>
              </p:nvPr>
            </p:nvSpPr>
            <p:spPr>
              <a:xfrm>
                <a:off x="838200" y="1143297"/>
                <a:ext cx="10515600" cy="4571405"/>
              </a:xfrm>
            </p:spPr>
            <p:txBody>
              <a:bodyPr>
                <a:normAutofit fontScale="90000"/>
              </a:bodyPr>
              <a:lstStyle/>
              <a:p>
                <a:pPr algn="ctr"/>
                <a:r>
                  <a:rPr lang="en-US" b="1" dirty="0" err="1">
                    <a:solidFill>
                      <a:srgbClr val="F2494C"/>
                    </a:solidFill>
                  </a:rPr>
                  <a:t>Firpo’s</a:t>
                </a:r>
                <a:r>
                  <a:rPr lang="en-US" b="1" dirty="0">
                    <a:solidFill>
                      <a:srgbClr val="F2494C"/>
                    </a:solidFill>
                  </a:rPr>
                  <a:t> unconditional quantile regression method quantifies the change in the </a:t>
                </a:r>
                <a14:m>
                  <m:oMath xmlns:m="http://schemas.openxmlformats.org/officeDocument/2006/math">
                    <m:sSup>
                      <m:sSupPr>
                        <m:ctrlPr>
                          <a:rPr lang="en-US" b="1" i="1" smtClean="0">
                            <a:solidFill>
                              <a:srgbClr val="F2494C"/>
                            </a:solidFill>
                            <a:latin typeface="Cambria Math" panose="02040503050406030204" pitchFamily="18" charset="0"/>
                          </a:rPr>
                        </m:ctrlPr>
                      </m:sSupPr>
                      <m:e>
                        <m:r>
                          <a:rPr lang="en-US" b="1" i="1" smtClean="0">
                            <a:solidFill>
                              <a:srgbClr val="F2494C"/>
                            </a:solidFill>
                            <a:latin typeface="Cambria Math" panose="02040503050406030204" pitchFamily="18" charset="0"/>
                          </a:rPr>
                          <m:t>𝝉</m:t>
                        </m:r>
                      </m:e>
                      <m:sup>
                        <m:r>
                          <a:rPr lang="en-US" b="1" i="1" smtClean="0">
                            <a:solidFill>
                              <a:srgbClr val="F2494C"/>
                            </a:solidFill>
                            <a:latin typeface="Cambria Math" panose="02040503050406030204" pitchFamily="18" charset="0"/>
                          </a:rPr>
                          <m:t>𝒕𝒉</m:t>
                        </m:r>
                      </m:sup>
                    </m:sSup>
                  </m:oMath>
                </a14:m>
                <a:r>
                  <a:rPr lang="en-US" b="1" dirty="0">
                    <a:solidFill>
                      <a:srgbClr val="F2494C"/>
                    </a:solidFill>
                  </a:rPr>
                  <a:t> quantile of the unconditional outcome distribution for a small change in the exposure distribution</a:t>
                </a:r>
              </a:p>
            </p:txBody>
          </p:sp>
        </mc:Choice>
        <mc:Fallback xmlns="">
          <p:sp>
            <p:nvSpPr>
              <p:cNvPr id="4" name="Title 2">
                <a:extLst>
                  <a:ext uri="{FF2B5EF4-FFF2-40B4-BE49-F238E27FC236}">
                    <a16:creationId xmlns:a16="http://schemas.microsoft.com/office/drawing/2014/main" id="{03B6FF3F-3C46-B20B-291B-0843ADB8995A}"/>
                  </a:ext>
                </a:extLst>
              </p:cNvPr>
              <p:cNvSpPr>
                <a:spLocks noGrp="1" noRot="1" noChangeAspect="1" noMove="1" noResize="1" noEditPoints="1" noAdjustHandles="1" noChangeArrowheads="1" noChangeShapeType="1" noTextEdit="1"/>
              </p:cNvSpPr>
              <p:nvPr>
                <p:ph type="title"/>
              </p:nvPr>
            </p:nvSpPr>
            <p:spPr>
              <a:xfrm>
                <a:off x="838200" y="1143297"/>
                <a:ext cx="10515600" cy="4571405"/>
              </a:xfrm>
              <a:blipFill>
                <a:blip r:embed="rId3"/>
                <a:stretch>
                  <a:fillRect l="-1448" t="-5556" r="-3136" b="-8333"/>
                </a:stretch>
              </a:blipFill>
            </p:spPr>
            <p:txBody>
              <a:bodyPr/>
              <a:lstStyle/>
              <a:p>
                <a:r>
                  <a:rPr lang="en-US">
                    <a:noFill/>
                  </a:rPr>
                  <a:t> </a:t>
                </a:r>
              </a:p>
            </p:txBody>
          </p:sp>
        </mc:Fallback>
      </mc:AlternateContent>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p168"/>
          <p:cNvSpPr txBox="1">
            <a:spLocks noGrp="1"/>
          </p:cNvSpPr>
          <p:nvPr>
            <p:ph type="title"/>
          </p:nvPr>
        </p:nvSpPr>
        <p:spPr>
          <a:xfrm>
            <a:off x="838200" y="2402630"/>
            <a:ext cx="10515600" cy="2052739"/>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468C8A"/>
              </a:buClr>
              <a:buSzPts val="6000"/>
              <a:buFont typeface="Arial"/>
              <a:buNone/>
            </a:pPr>
            <a:r>
              <a:rPr lang="en-US" b="1" dirty="0">
                <a:solidFill>
                  <a:srgbClr val="468C8A"/>
                </a:solidFill>
              </a:rPr>
              <a:t>How does the </a:t>
            </a:r>
            <a:r>
              <a:rPr lang="en-US" b="1" dirty="0" err="1">
                <a:solidFill>
                  <a:srgbClr val="468C8A"/>
                </a:solidFill>
              </a:rPr>
              <a:t>Firpo</a:t>
            </a:r>
            <a:r>
              <a:rPr lang="en-US" b="1" dirty="0">
                <a:solidFill>
                  <a:srgbClr val="468C8A"/>
                </a:solidFill>
              </a:rPr>
              <a:t> et. al. (2009) method work?</a:t>
            </a:r>
            <a:endParaRPr dirty="0"/>
          </a:p>
        </p:txBody>
      </p:sp>
      <p:sp>
        <p:nvSpPr>
          <p:cNvPr id="743" name="Google Shape;743;p1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103</a:t>
            </a:fld>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p1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104</a:t>
            </a:fld>
            <a:endParaRPr/>
          </a:p>
        </p:txBody>
      </p:sp>
      <p:graphicFrame>
        <p:nvGraphicFramePr>
          <p:cNvPr id="2" name="Diagram 1">
            <a:extLst>
              <a:ext uri="{FF2B5EF4-FFF2-40B4-BE49-F238E27FC236}">
                <a16:creationId xmlns:a16="http://schemas.microsoft.com/office/drawing/2014/main" id="{E72DED44-13F6-9530-A449-C5881BACDFA2}"/>
              </a:ext>
            </a:extLst>
          </p:cNvPr>
          <p:cNvGraphicFramePr/>
          <p:nvPr/>
        </p:nvGraphicFramePr>
        <p:xfrm>
          <a:off x="1293555" y="436407"/>
          <a:ext cx="9604889" cy="59851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p1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105</a:t>
            </a:fld>
            <a:endParaRPr/>
          </a:p>
        </p:txBody>
      </p:sp>
      <p:graphicFrame>
        <p:nvGraphicFramePr>
          <p:cNvPr id="3" name="Diagram 2">
            <a:extLst>
              <a:ext uri="{FF2B5EF4-FFF2-40B4-BE49-F238E27FC236}">
                <a16:creationId xmlns:a16="http://schemas.microsoft.com/office/drawing/2014/main" id="{C64F82B7-BFA9-FD02-E1C6-6136C593A85A}"/>
              </a:ext>
            </a:extLst>
          </p:cNvPr>
          <p:cNvGraphicFramePr/>
          <p:nvPr/>
        </p:nvGraphicFramePr>
        <p:xfrm>
          <a:off x="1293555" y="436407"/>
          <a:ext cx="9604889" cy="59851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713">
          <a:extLst>
            <a:ext uri="{FF2B5EF4-FFF2-40B4-BE49-F238E27FC236}">
              <a16:creationId xmlns:a16="http://schemas.microsoft.com/office/drawing/2014/main" id="{25CC02E6-FC48-1C88-BF60-4F30FBBACF61}"/>
            </a:ext>
          </a:extLst>
        </p:cNvPr>
        <p:cNvGrpSpPr/>
        <p:nvPr/>
      </p:nvGrpSpPr>
      <p:grpSpPr>
        <a:xfrm>
          <a:off x="0" y="0"/>
          <a:ext cx="0" cy="0"/>
          <a:chOff x="0" y="0"/>
          <a:chExt cx="0" cy="0"/>
        </a:xfrm>
      </p:grpSpPr>
      <p:sp>
        <p:nvSpPr>
          <p:cNvPr id="714" name="Google Shape;714;p164">
            <a:extLst>
              <a:ext uri="{FF2B5EF4-FFF2-40B4-BE49-F238E27FC236}">
                <a16:creationId xmlns:a16="http://schemas.microsoft.com/office/drawing/2014/main" id="{5D28E3A3-71C0-57FB-662D-15293BC8AA0F}"/>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a:buClr>
                <a:srgbClr val="468C8A"/>
              </a:buClr>
              <a:buSzPts val="4400"/>
            </a:pPr>
            <a:r>
              <a:rPr lang="en-US" b="1" dirty="0">
                <a:solidFill>
                  <a:srgbClr val="468C8A"/>
                </a:solidFill>
              </a:rPr>
              <a:t>Step 1: Estimate the RIF in the unconditional outcome distribution</a:t>
            </a:r>
            <a:endParaRPr b="1" dirty="0">
              <a:solidFill>
                <a:srgbClr val="468C8A"/>
              </a:solidFill>
            </a:endParaRPr>
          </a:p>
        </p:txBody>
      </p:sp>
      <mc:AlternateContent xmlns:mc="http://schemas.openxmlformats.org/markup-compatibility/2006" xmlns:a14="http://schemas.microsoft.com/office/drawing/2010/main">
        <mc:Choice Requires="a14">
          <p:sp>
            <p:nvSpPr>
              <p:cNvPr id="715" name="Google Shape;715;p164">
                <a:extLst>
                  <a:ext uri="{FF2B5EF4-FFF2-40B4-BE49-F238E27FC236}">
                    <a16:creationId xmlns:a16="http://schemas.microsoft.com/office/drawing/2014/main" id="{C0663A9D-3A80-738F-154C-BB30CA91B3D0}"/>
                  </a:ext>
                </a:extLst>
              </p:cNvPr>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tx1"/>
                  </a:buClr>
                  <a:buSzPts val="2800"/>
                  <a:buChar char="•"/>
                </a:pPr>
                <a:r>
                  <a:rPr lang="en-US" dirty="0">
                    <a:solidFill>
                      <a:schemeClr val="tx1"/>
                    </a:solidFill>
                  </a:rPr>
                  <a:t>Recentered influence function (RIF) is the </a:t>
                </a:r>
                <a:r>
                  <a:rPr lang="en-US" dirty="0"/>
                  <a:t>sum of a distributional statistic’s </a:t>
                </a:r>
                <a:r>
                  <a:rPr lang="en-US" dirty="0">
                    <a:solidFill>
                      <a:srgbClr val="FF9300"/>
                    </a:solidFill>
                  </a:rPr>
                  <a:t>influence function </a:t>
                </a:r>
                <a:r>
                  <a:rPr lang="en-US" dirty="0"/>
                  <a:t>and the </a:t>
                </a:r>
                <a:r>
                  <a:rPr lang="en-US" dirty="0">
                    <a:solidFill>
                      <a:srgbClr val="F2494C"/>
                    </a:solidFill>
                  </a:rPr>
                  <a:t>distributional statistic</a:t>
                </a:r>
                <a:r>
                  <a:rPr lang="en-US" dirty="0"/>
                  <a:t> itself</a:t>
                </a:r>
                <a:endParaRPr dirty="0"/>
              </a:p>
              <a:p>
                <a:pPr marL="228600" lvl="0" indent="-228600">
                  <a:spcBef>
                    <a:spcPts val="0"/>
                  </a:spcBef>
                  <a:buSzPts val="2800"/>
                </a:pPr>
                <a:endParaRPr lang="en-US" dirty="0">
                  <a:solidFill>
                    <a:schemeClr val="tx1"/>
                  </a:solidFill>
                </a:endParaRPr>
              </a:p>
              <a:p>
                <a:pPr marL="228600" lvl="0" indent="-228600">
                  <a:spcBef>
                    <a:spcPts val="0"/>
                  </a:spcBef>
                  <a:buSzPts val="2800"/>
                </a:pPr>
                <a:r>
                  <a:rPr lang="en-US" dirty="0">
                    <a:solidFill>
                      <a:srgbClr val="F2494C"/>
                    </a:solidFill>
                  </a:rPr>
                  <a:t>Distributional statistic: </a:t>
                </a:r>
                <a:r>
                  <a:rPr lang="en-US" dirty="0">
                    <a:solidFill>
                      <a:schemeClr val="tx1"/>
                    </a:solidFill>
                  </a:rPr>
                  <a:t>Quantile of interest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𝑞</m:t>
                        </m:r>
                      </m:e>
                      <m:sub>
                        <m:r>
                          <a:rPr lang="en-US" i="1">
                            <a:solidFill>
                              <a:schemeClr val="tx1"/>
                            </a:solidFill>
                            <a:latin typeface="Cambria Math" panose="02040503050406030204" pitchFamily="18" charset="0"/>
                          </a:rPr>
                          <m:t>𝜏</m:t>
                        </m:r>
                      </m:sub>
                    </m:sSub>
                  </m:oMath>
                </a14:m>
                <a:r>
                  <a:rPr lang="en-US" dirty="0">
                    <a:solidFill>
                      <a:schemeClr val="tx1"/>
                    </a:solidFill>
                  </a:rPr>
                  <a:t>)</a:t>
                </a:r>
              </a:p>
              <a:p>
                <a:pPr marL="228600" lvl="0" indent="-228600">
                  <a:spcBef>
                    <a:spcPts val="0"/>
                  </a:spcBef>
                  <a:buSzPts val="2800"/>
                </a:pPr>
                <a:endParaRPr lang="en-US" dirty="0">
                  <a:solidFill>
                    <a:srgbClr val="FF9300"/>
                  </a:solidFill>
                </a:endParaRPr>
              </a:p>
              <a:p>
                <a:pPr marL="228600" indent="-228600">
                  <a:spcBef>
                    <a:spcPts val="0"/>
                  </a:spcBef>
                  <a:buSzPts val="2800"/>
                </a:pPr>
                <a:r>
                  <a:rPr lang="en-US" dirty="0">
                    <a:solidFill>
                      <a:srgbClr val="FF9300"/>
                    </a:solidFill>
                  </a:rPr>
                  <a:t>Influence functions (IF): </a:t>
                </a:r>
                <a:r>
                  <a:rPr lang="en-US" dirty="0"/>
                  <a:t>Calculates the change in a distributional statistic for a “small” change in the distribution</a:t>
                </a:r>
              </a:p>
              <a:p>
                <a:pPr marL="685800" lvl="1" indent="-228600">
                  <a:spcBef>
                    <a:spcPts val="0"/>
                  </a:spcBef>
                  <a:buSzPct val="100000"/>
                </a:pPr>
                <a:r>
                  <a:rPr lang="en-US" dirty="0"/>
                  <a:t>A way of assessing the “robustness” of the distributional statistic</a:t>
                </a:r>
              </a:p>
              <a:p>
                <a:pPr marL="685800" lvl="1" indent="-228600">
                  <a:buSzPts val="2400"/>
                </a:pPr>
                <a:r>
                  <a:rPr lang="en-US" dirty="0"/>
                  <a:t>Each distributional statistic has an influence function specific to it</a:t>
                </a:r>
              </a:p>
            </p:txBody>
          </p:sp>
        </mc:Choice>
        <mc:Fallback xmlns="">
          <p:sp>
            <p:nvSpPr>
              <p:cNvPr id="715" name="Google Shape;715;p164">
                <a:extLst>
                  <a:ext uri="{FF2B5EF4-FFF2-40B4-BE49-F238E27FC236}">
                    <a16:creationId xmlns:a16="http://schemas.microsoft.com/office/drawing/2014/main" id="{C0663A9D-3A80-738F-154C-BB30CA91B3D0}"/>
                  </a:ext>
                </a:extLst>
              </p:cNvPr>
              <p:cNvSpPr txBox="1">
                <a:spLocks noGrp="1" noRot="1" noChangeAspect="1" noMove="1" noResize="1" noEditPoints="1" noAdjustHandles="1" noChangeArrowheads="1" noChangeShapeType="1" noTextEdit="1"/>
              </p:cNvSpPr>
              <p:nvPr>
                <p:ph type="body" idx="1"/>
              </p:nvPr>
            </p:nvSpPr>
            <p:spPr>
              <a:xfrm>
                <a:off x="838200" y="1825625"/>
                <a:ext cx="10515600" cy="4351338"/>
              </a:xfrm>
              <a:prstGeom prst="rect">
                <a:avLst/>
              </a:prstGeom>
              <a:blipFill>
                <a:blip r:embed="rId3"/>
                <a:stretch>
                  <a:fillRect l="-1086" t="-2326"/>
                </a:stretch>
              </a:blipFill>
              <a:ln>
                <a:noFill/>
              </a:ln>
            </p:spPr>
            <p:txBody>
              <a:bodyPr/>
              <a:lstStyle/>
              <a:p>
                <a:r>
                  <a:rPr lang="en-US">
                    <a:noFill/>
                  </a:rPr>
                  <a:t> </a:t>
                </a:r>
              </a:p>
            </p:txBody>
          </p:sp>
        </mc:Fallback>
      </mc:AlternateContent>
      <p:sp>
        <p:nvSpPr>
          <p:cNvPr id="716" name="Google Shape;716;p164">
            <a:extLst>
              <a:ext uri="{FF2B5EF4-FFF2-40B4-BE49-F238E27FC236}">
                <a16:creationId xmlns:a16="http://schemas.microsoft.com/office/drawing/2014/main" id="{16F5AEB0-E6DA-9547-17F2-9472310F4D08}"/>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106</a:t>
            </a:fld>
            <a:endParaRPr/>
          </a:p>
        </p:txBody>
      </p:sp>
    </p:spTree>
    <p:extLst>
      <p:ext uri="{BB962C8B-B14F-4D97-AF65-F5344CB8AC3E}">
        <p14:creationId xmlns:p14="http://schemas.microsoft.com/office/powerpoint/2010/main" val="1494413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715">
                                            <p:txEl>
                                              <p:pRg st="2" end="2"/>
                                            </p:txEl>
                                          </p:spTgt>
                                        </p:tgtEl>
                                        <p:attrNameLst>
                                          <p:attrName>style.visibility</p:attrName>
                                        </p:attrNameLst>
                                      </p:cBhvr>
                                      <p:to>
                                        <p:strVal val="visible"/>
                                      </p:to>
                                    </p:set>
                                    <p:animEffect transition="in" filter="dissolve">
                                      <p:cBhvr>
                                        <p:cTn id="11" dur="500"/>
                                        <p:tgtEl>
                                          <p:spTgt spid="715">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715">
                                            <p:txEl>
                                              <p:pRg st="4" end="4"/>
                                            </p:txEl>
                                          </p:spTgt>
                                        </p:tgtEl>
                                        <p:attrNameLst>
                                          <p:attrName>style.visibility</p:attrName>
                                        </p:attrNameLst>
                                      </p:cBhvr>
                                      <p:to>
                                        <p:strVal val="visible"/>
                                      </p:to>
                                    </p:set>
                                    <p:animEffect transition="in" filter="dissolve">
                                      <p:cBhvr>
                                        <p:cTn id="16" dur="500"/>
                                        <p:tgtEl>
                                          <p:spTgt spid="715">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715">
                                            <p:txEl>
                                              <p:pRg st="5" end="5"/>
                                            </p:txEl>
                                          </p:spTgt>
                                        </p:tgtEl>
                                        <p:attrNameLst>
                                          <p:attrName>style.visibility</p:attrName>
                                        </p:attrNameLst>
                                      </p:cBhvr>
                                      <p:to>
                                        <p:strVal val="visible"/>
                                      </p:to>
                                    </p:set>
                                    <p:animEffect transition="in" filter="dissolve">
                                      <p:cBhvr>
                                        <p:cTn id="21" dur="500"/>
                                        <p:tgtEl>
                                          <p:spTgt spid="715">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715">
                                            <p:txEl>
                                              <p:pRg st="6" end="6"/>
                                            </p:txEl>
                                          </p:spTgt>
                                        </p:tgtEl>
                                        <p:attrNameLst>
                                          <p:attrName>style.visibility</p:attrName>
                                        </p:attrNameLst>
                                      </p:cBhvr>
                                      <p:to>
                                        <p:strVal val="visible"/>
                                      </p:to>
                                    </p:set>
                                    <p:animEffect transition="in" filter="dissolve">
                                      <p:cBhvr>
                                        <p:cTn id="26" dur="500"/>
                                        <p:tgtEl>
                                          <p:spTgt spid="7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16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Influence Function for quantiles</a:t>
            </a:r>
            <a:endParaRPr/>
          </a:p>
        </p:txBody>
      </p:sp>
      <p:sp>
        <p:nvSpPr>
          <p:cNvPr id="730" name="Google Shape;730;p1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107</a:t>
            </a:fld>
            <a:endParaRP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C5FA3807-E78C-A4B2-445F-6D0748856E9A}"/>
                  </a:ext>
                </a:extLst>
              </p:cNvPr>
              <p:cNvSpPr txBox="1">
                <a:spLocks/>
              </p:cNvSpPr>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a:buSzPct val="100000"/>
                </a:pPr>
                <a:r>
                  <a:rPr lang="en-US" dirty="0"/>
                  <a:t>Influence function for</a:t>
                </a:r>
                <a:r>
                  <a:rPr lang="en-US" dirty="0">
                    <a:solidFill>
                      <a:srgbClr val="FF9300"/>
                    </a:solidFill>
                  </a:rPr>
                  <a:t> </a:t>
                </a:r>
                <a:r>
                  <a:rPr lang="en-US" dirty="0"/>
                  <a:t>the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𝜏</m:t>
                        </m:r>
                      </m:e>
                      <m:sup>
                        <m:r>
                          <a:rPr lang="en-US" i="1">
                            <a:latin typeface="Cambria Math" panose="02040503050406030204" pitchFamily="18" charset="0"/>
                          </a:rPr>
                          <m:t>𝑡h</m:t>
                        </m:r>
                      </m:sup>
                    </m:sSup>
                  </m:oMath>
                </a14:m>
                <a:r>
                  <a:rPr lang="en-US" dirty="0"/>
                  <a:t> quantile of </a:t>
                </a:r>
                <a14:m>
                  <m:oMath xmlns:m="http://schemas.openxmlformats.org/officeDocument/2006/math">
                    <m:r>
                      <a:rPr lang="en-US" i="1">
                        <a:latin typeface="Cambria Math" panose="02040503050406030204" pitchFamily="18" charset="0"/>
                      </a:rPr>
                      <m:t>𝑌</m:t>
                    </m:r>
                  </m:oMath>
                </a14:m>
                <a:endParaRPr lang="en-US" dirty="0"/>
              </a:p>
              <a:p>
                <a:pPr marL="0" indent="0">
                  <a:buFont typeface="Arial"/>
                  <a:buNone/>
                </a:pPr>
                <a:endParaRPr lang="en-US" dirty="0"/>
              </a:p>
              <a:p>
                <a:pPr marL="0" indent="0">
                  <a:buFont typeface="Arial"/>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𝐼𝐹</m:t>
                      </m:r>
                      <m:d>
                        <m:dPr>
                          <m:ctrlPr>
                            <a:rPr lang="en-US" i="1">
                              <a:latin typeface="Cambria Math" panose="02040503050406030204" pitchFamily="18" charset="0"/>
                            </a:rPr>
                          </m:ctrlPr>
                        </m:dPr>
                        <m:e>
                          <m:r>
                            <a:rPr lang="en-US" i="1">
                              <a:latin typeface="Cambria Math" panose="02040503050406030204" pitchFamily="18" charset="0"/>
                            </a:rPr>
                            <m:t>𝑦</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𝜏</m:t>
                              </m:r>
                            </m:sub>
                          </m:sSub>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𝜏</m:t>
                          </m:r>
                          <m:r>
                            <a:rPr lang="en-US" i="1">
                              <a:latin typeface="Cambria Math" panose="02040503050406030204" pitchFamily="18" charset="0"/>
                            </a:rPr>
                            <m:t>−</m:t>
                          </m:r>
                          <m:r>
                            <a:rPr lang="en-US" b="1" i="1" smtClean="0">
                              <a:latin typeface="Cambria Math" panose="02040503050406030204" pitchFamily="18" charset="0"/>
                            </a:rPr>
                            <m:t>𝑰</m:t>
                          </m:r>
                          <m:d>
                            <m:dPr>
                              <m:ctrlPr>
                                <a:rPr lang="en-US" i="1" smtClean="0">
                                  <a:latin typeface="Cambria Math" panose="02040503050406030204" pitchFamily="18" charset="0"/>
                                </a:rPr>
                              </m:ctrlPr>
                            </m:dPr>
                            <m:e>
                              <m:r>
                                <a:rPr lang="en-US" i="1" smtClean="0">
                                  <a:latin typeface="Cambria Math" panose="02040503050406030204" pitchFamily="18" charset="0"/>
                                </a:rPr>
                                <m:t>𝑦</m:t>
                              </m:r>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𝑞</m:t>
                                  </m:r>
                                </m:e>
                                <m:sub>
                                  <m:r>
                                    <a:rPr lang="en-US" i="1" smtClean="0">
                                      <a:latin typeface="Cambria Math" panose="02040503050406030204" pitchFamily="18" charset="0"/>
                                    </a:rPr>
                                    <m:t>𝜏</m:t>
                                  </m:r>
                                </m:sub>
                              </m:sSub>
                            </m:e>
                          </m:d>
                        </m:num>
                        <m:den>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𝑦</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𝜏</m:t>
                              </m:r>
                            </m:sub>
                          </m:sSub>
                          <m:r>
                            <a:rPr lang="en-US" i="1">
                              <a:latin typeface="Cambria Math" panose="02040503050406030204" pitchFamily="18" charset="0"/>
                            </a:rPr>
                            <m:t>)</m:t>
                          </m:r>
                        </m:den>
                      </m:f>
                    </m:oMath>
                  </m:oMathPara>
                </a14:m>
                <a:endParaRPr lang="en-US" dirty="0"/>
              </a:p>
              <a:p>
                <a:pPr marL="0" indent="0">
                  <a:buFont typeface="Arial"/>
                  <a:buNone/>
                </a:pPr>
                <a:endParaRPr lang="en-US" dirty="0"/>
              </a:p>
              <a:p>
                <a:pPr marL="0" indent="0">
                  <a:buFont typeface="Arial"/>
                  <a:buNone/>
                </a:pPr>
                <a:r>
                  <a:rPr lang="en-US" dirty="0"/>
                  <a:t>Where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𝑞</m:t>
                        </m:r>
                      </m:e>
                      <m:sub>
                        <m:r>
                          <a:rPr lang="en-US" i="1" smtClean="0">
                            <a:latin typeface="Cambria Math" panose="02040503050406030204" pitchFamily="18" charset="0"/>
                          </a:rPr>
                          <m:t>𝜏</m:t>
                        </m:r>
                      </m:sub>
                    </m:sSub>
                  </m:oMath>
                </a14:m>
                <a:r>
                  <a:rPr lang="en-US" dirty="0"/>
                  <a:t> is the value of </a:t>
                </a:r>
                <a14:m>
                  <m:oMath xmlns:m="http://schemas.openxmlformats.org/officeDocument/2006/math">
                    <m:r>
                      <a:rPr lang="en-US" i="1" smtClean="0">
                        <a:latin typeface="Cambria Math" panose="02040503050406030204" pitchFamily="18" charset="0"/>
                      </a:rPr>
                      <m:t>𝑌</m:t>
                    </m:r>
                  </m:oMath>
                </a14:m>
                <a:r>
                  <a:rPr lang="en-US" dirty="0"/>
                  <a:t> at the </a:t>
                </a:r>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rPr>
                          <m:t>𝜏</m:t>
                        </m:r>
                      </m:e>
                      <m:sup>
                        <m:r>
                          <a:rPr lang="en-US" i="1" smtClean="0">
                            <a:latin typeface="Cambria Math" panose="02040503050406030204" pitchFamily="18" charset="0"/>
                          </a:rPr>
                          <m:t>𝑡h</m:t>
                        </m:r>
                      </m:sup>
                    </m:sSup>
                  </m:oMath>
                </a14:m>
                <a:r>
                  <a:rPr lang="en-US" dirty="0"/>
                  <a:t> quantile, </a:t>
                </a:r>
                <a14:m>
                  <m:oMath xmlns:m="http://schemas.openxmlformats.org/officeDocument/2006/math">
                    <m:r>
                      <a:rPr lang="en-US" i="1" smtClean="0">
                        <a:latin typeface="Cambria Math" panose="02040503050406030204" pitchFamily="18" charset="0"/>
                      </a:rPr>
                      <m:t>𝐼</m:t>
                    </m:r>
                    <m:r>
                      <a:rPr lang="en-US" i="1" smtClean="0">
                        <a:latin typeface="Cambria Math" panose="02040503050406030204" pitchFamily="18" charset="0"/>
                      </a:rPr>
                      <m:t>(.)</m:t>
                    </m:r>
                  </m:oMath>
                </a14:m>
                <a:r>
                  <a:rPr lang="en-US" dirty="0"/>
                  <a:t> is the indicator function, and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𝑓</m:t>
                        </m:r>
                      </m:e>
                      <m:sub>
                        <m:r>
                          <a:rPr lang="en-US" i="1" smtClean="0">
                            <a:latin typeface="Cambria Math" panose="02040503050406030204" pitchFamily="18" charset="0"/>
                          </a:rPr>
                          <m:t>𝑦</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𝑞</m:t>
                        </m:r>
                      </m:e>
                      <m:sub>
                        <m:r>
                          <a:rPr lang="en-US" i="1" smtClean="0">
                            <a:latin typeface="Cambria Math" panose="02040503050406030204" pitchFamily="18" charset="0"/>
                          </a:rPr>
                          <m:t>𝜏</m:t>
                        </m:r>
                      </m:sub>
                    </m:sSub>
                    <m:r>
                      <a:rPr lang="en-US" i="1" smtClean="0">
                        <a:latin typeface="Cambria Math" panose="02040503050406030204" pitchFamily="18" charset="0"/>
                      </a:rPr>
                      <m:t>)</m:t>
                    </m:r>
                  </m:oMath>
                </a14:m>
                <a:r>
                  <a:rPr lang="en-US" dirty="0"/>
                  <a:t> is the density of </a:t>
                </a:r>
                <a14:m>
                  <m:oMath xmlns:m="http://schemas.openxmlformats.org/officeDocument/2006/math">
                    <m:r>
                      <a:rPr lang="en-US" i="1">
                        <a:latin typeface="Cambria Math" panose="02040503050406030204" pitchFamily="18" charset="0"/>
                      </a:rPr>
                      <m:t>𝑌</m:t>
                    </m:r>
                  </m:oMath>
                </a14:m>
                <a:r>
                  <a:rPr lang="en-US" dirty="0"/>
                  <a:t> at the </a:t>
                </a:r>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rPr>
                          <m:t>𝜏</m:t>
                        </m:r>
                      </m:e>
                      <m:sup>
                        <m:r>
                          <a:rPr lang="en-US" i="1" smtClean="0">
                            <a:latin typeface="Cambria Math" panose="02040503050406030204" pitchFamily="18" charset="0"/>
                          </a:rPr>
                          <m:t>𝑡h</m:t>
                        </m:r>
                      </m:sup>
                    </m:sSup>
                  </m:oMath>
                </a14:m>
                <a:r>
                  <a:rPr lang="en-US" dirty="0"/>
                  <a:t> quantile</a:t>
                </a:r>
              </a:p>
            </p:txBody>
          </p:sp>
        </mc:Choice>
        <mc:Fallback xmlns="">
          <p:sp>
            <p:nvSpPr>
              <p:cNvPr id="4" name="Content Placeholder 2">
                <a:extLst>
                  <a:ext uri="{FF2B5EF4-FFF2-40B4-BE49-F238E27FC236}">
                    <a16:creationId xmlns:a16="http://schemas.microsoft.com/office/drawing/2014/main" id="{C5FA3807-E78C-A4B2-445F-6D0748856E9A}"/>
                  </a:ext>
                </a:extLst>
              </p:cNvPr>
              <p:cNvSpPr txBox="1">
                <a:spLocks noRot="1" noChangeAspect="1" noMove="1" noResize="1" noEditPoints="1" noAdjustHandles="1" noChangeArrowheads="1" noChangeShapeType="1" noTextEdit="1"/>
              </p:cNvSpPr>
              <p:nvPr/>
            </p:nvSpPr>
            <p:spPr>
              <a:xfrm>
                <a:off x="838200" y="1825625"/>
                <a:ext cx="10515600" cy="4351338"/>
              </a:xfrm>
              <a:prstGeom prst="rect">
                <a:avLst/>
              </a:prstGeom>
              <a:blipFill>
                <a:blip r:embed="rId3"/>
                <a:stretch>
                  <a:fillRect l="-1206" r="-724"/>
                </a:stretch>
              </a:blipFill>
              <a:ln>
                <a:noFill/>
              </a:ln>
            </p:spPr>
            <p:txBody>
              <a:bodyPr/>
              <a:lstStyle/>
              <a:p>
                <a:r>
                  <a:rPr lang="en-US">
                    <a:noFill/>
                  </a:rPr>
                  <a:t> </a:t>
                </a:r>
              </a:p>
            </p:txBody>
          </p:sp>
        </mc:Fallback>
      </mc:AlternateContent>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sp>
        <p:nvSpPr>
          <p:cNvPr id="735" name="Google Shape;735;p16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What’s the RIF?</a:t>
            </a:r>
            <a:endParaRPr dirty="0"/>
          </a:p>
        </p:txBody>
      </p:sp>
      <p:sp>
        <p:nvSpPr>
          <p:cNvPr id="737" name="Google Shape;737;p1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108</a:t>
            </a:fld>
            <a:endParaRP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AC61F63B-4A9C-2505-1F70-6AE775DA4FB0}"/>
                  </a:ext>
                </a:extLst>
              </p:cNvPr>
              <p:cNvSpPr txBox="1">
                <a:spLocks/>
              </p:cNvSpPr>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a:buSzPct val="100000"/>
                </a:pPr>
                <a:r>
                  <a:rPr lang="en-US" dirty="0">
                    <a:solidFill>
                      <a:schemeClr val="tx1"/>
                    </a:solidFill>
                  </a:rPr>
                  <a:t>Recentered influence function (RIF) is the </a:t>
                </a:r>
                <a:r>
                  <a:rPr lang="en-US" dirty="0"/>
                  <a:t>sum of a distributional statistic’s </a:t>
                </a:r>
                <a:r>
                  <a:rPr lang="en-US" dirty="0">
                    <a:solidFill>
                      <a:srgbClr val="FF9300"/>
                    </a:solidFill>
                  </a:rPr>
                  <a:t>influence function </a:t>
                </a:r>
                <a:r>
                  <a:rPr lang="en-US" dirty="0"/>
                  <a:t>and the </a:t>
                </a:r>
                <a:r>
                  <a:rPr lang="en-US" dirty="0">
                    <a:solidFill>
                      <a:srgbClr val="F2494C"/>
                    </a:solidFill>
                  </a:rPr>
                  <a:t>distributional statistic</a:t>
                </a:r>
                <a:r>
                  <a:rPr lang="en-US" dirty="0"/>
                  <a:t> itself</a:t>
                </a:r>
              </a:p>
              <a:p>
                <a:pPr marL="0" indent="0">
                  <a:buSzPct val="100000"/>
                  <a:buFont typeface="Arial"/>
                  <a:buNone/>
                </a:pPr>
                <a:endParaRPr lang="en-US" dirty="0"/>
              </a:p>
              <a:p>
                <a:pPr marL="0" indent="0">
                  <a:buSzPct val="100000"/>
                  <a:buFont typeface="Arial"/>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𝑅𝐼𝐹</m:t>
                      </m:r>
                      <m:d>
                        <m:dPr>
                          <m:ctrlPr>
                            <a:rPr lang="en-US" i="1" smtClean="0">
                              <a:latin typeface="Cambria Math" panose="02040503050406030204" pitchFamily="18" charset="0"/>
                            </a:rPr>
                          </m:ctrlPr>
                        </m:dPr>
                        <m:e>
                          <m:r>
                            <a:rPr lang="en-US" i="1" smtClean="0">
                              <a:latin typeface="Cambria Math" panose="02040503050406030204" pitchFamily="18" charset="0"/>
                            </a:rPr>
                            <m:t>𝑦</m:t>
                          </m:r>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𝑞</m:t>
                              </m:r>
                            </m:e>
                            <m:sub>
                              <m:r>
                                <a:rPr lang="en-US" i="1" smtClean="0">
                                  <a:latin typeface="Cambria Math" panose="02040503050406030204" pitchFamily="18" charset="0"/>
                                </a:rPr>
                                <m:t>𝜏</m:t>
                              </m:r>
                            </m:sub>
                          </m:sSub>
                        </m:e>
                      </m:d>
                      <m:r>
                        <a:rPr lang="en-US" i="1" smtClean="0">
                          <a:latin typeface="Cambria Math" panose="02040503050406030204" pitchFamily="18" charset="0"/>
                        </a:rPr>
                        <m:t>=</m:t>
                      </m:r>
                      <m:sSub>
                        <m:sSubPr>
                          <m:ctrlPr>
                            <a:rPr lang="en-US" i="1" smtClean="0">
                              <a:solidFill>
                                <a:srgbClr val="F2494C"/>
                              </a:solidFill>
                              <a:latin typeface="Cambria Math" panose="02040503050406030204" pitchFamily="18" charset="0"/>
                            </a:rPr>
                          </m:ctrlPr>
                        </m:sSubPr>
                        <m:e>
                          <m:r>
                            <a:rPr lang="en-US" i="1" smtClean="0">
                              <a:solidFill>
                                <a:srgbClr val="F2494C"/>
                              </a:solidFill>
                              <a:latin typeface="Cambria Math" panose="02040503050406030204" pitchFamily="18" charset="0"/>
                            </a:rPr>
                            <m:t>𝑞</m:t>
                          </m:r>
                        </m:e>
                        <m:sub>
                          <m:r>
                            <a:rPr lang="en-US" i="1" smtClean="0">
                              <a:solidFill>
                                <a:srgbClr val="F2494C"/>
                              </a:solidFill>
                              <a:latin typeface="Cambria Math" panose="02040503050406030204" pitchFamily="18" charset="0"/>
                            </a:rPr>
                            <m:t>𝜏</m:t>
                          </m:r>
                        </m:sub>
                      </m:sSub>
                      <m:r>
                        <a:rPr lang="en-US" i="1" smtClean="0">
                          <a:latin typeface="Cambria Math" panose="02040503050406030204" pitchFamily="18" charset="0"/>
                        </a:rPr>
                        <m:t>+</m:t>
                      </m:r>
                      <m:r>
                        <a:rPr lang="en-US" i="1" smtClean="0">
                          <a:solidFill>
                            <a:srgbClr val="FF9300"/>
                          </a:solidFill>
                          <a:latin typeface="Cambria Math" panose="02040503050406030204" pitchFamily="18" charset="0"/>
                        </a:rPr>
                        <m:t>𝐼𝐹</m:t>
                      </m:r>
                      <m:d>
                        <m:dPr>
                          <m:ctrlPr>
                            <a:rPr lang="en-US" i="1" smtClean="0">
                              <a:solidFill>
                                <a:srgbClr val="FF9300"/>
                              </a:solidFill>
                              <a:latin typeface="Cambria Math" panose="02040503050406030204" pitchFamily="18" charset="0"/>
                            </a:rPr>
                          </m:ctrlPr>
                        </m:dPr>
                        <m:e>
                          <m:r>
                            <a:rPr lang="en-US" i="1" smtClean="0">
                              <a:solidFill>
                                <a:srgbClr val="FF9300"/>
                              </a:solidFill>
                              <a:latin typeface="Cambria Math" panose="02040503050406030204" pitchFamily="18" charset="0"/>
                            </a:rPr>
                            <m:t>𝑦</m:t>
                          </m:r>
                          <m:r>
                            <a:rPr lang="en-US" i="1" smtClean="0">
                              <a:solidFill>
                                <a:srgbClr val="FF9300"/>
                              </a:solidFill>
                              <a:latin typeface="Cambria Math" panose="02040503050406030204" pitchFamily="18" charset="0"/>
                            </a:rPr>
                            <m:t>;</m:t>
                          </m:r>
                          <m:sSub>
                            <m:sSubPr>
                              <m:ctrlPr>
                                <a:rPr lang="en-US" i="1" smtClean="0">
                                  <a:solidFill>
                                    <a:srgbClr val="FF9300"/>
                                  </a:solidFill>
                                  <a:latin typeface="Cambria Math" panose="02040503050406030204" pitchFamily="18" charset="0"/>
                                </a:rPr>
                              </m:ctrlPr>
                            </m:sSubPr>
                            <m:e>
                              <m:r>
                                <a:rPr lang="en-US" i="1" smtClean="0">
                                  <a:solidFill>
                                    <a:srgbClr val="FF9300"/>
                                  </a:solidFill>
                                  <a:latin typeface="Cambria Math" panose="02040503050406030204" pitchFamily="18" charset="0"/>
                                </a:rPr>
                                <m:t>𝑞</m:t>
                              </m:r>
                            </m:e>
                            <m:sub>
                              <m:r>
                                <a:rPr lang="en-US" i="1" smtClean="0">
                                  <a:solidFill>
                                    <a:srgbClr val="FF9300"/>
                                  </a:solidFill>
                                  <a:latin typeface="Cambria Math" panose="02040503050406030204" pitchFamily="18" charset="0"/>
                                </a:rPr>
                                <m:t>𝜏</m:t>
                              </m:r>
                            </m:sub>
                          </m:sSub>
                        </m:e>
                      </m:d>
                      <m:r>
                        <a:rPr lang="en-US" i="1" smtClean="0">
                          <a:latin typeface="Cambria Math" panose="02040503050406030204" pitchFamily="18" charset="0"/>
                        </a:rPr>
                        <m:t>=</m:t>
                      </m:r>
                      <m:sSub>
                        <m:sSubPr>
                          <m:ctrlPr>
                            <a:rPr lang="en-US" i="1" smtClean="0">
                              <a:solidFill>
                                <a:srgbClr val="F2494C"/>
                              </a:solidFill>
                              <a:latin typeface="Cambria Math" panose="02040503050406030204" pitchFamily="18" charset="0"/>
                            </a:rPr>
                          </m:ctrlPr>
                        </m:sSubPr>
                        <m:e>
                          <m:r>
                            <a:rPr lang="en-US" i="1" smtClean="0">
                              <a:solidFill>
                                <a:srgbClr val="F2494C"/>
                              </a:solidFill>
                              <a:latin typeface="Cambria Math" panose="02040503050406030204" pitchFamily="18" charset="0"/>
                            </a:rPr>
                            <m:t>𝑞</m:t>
                          </m:r>
                        </m:e>
                        <m:sub>
                          <m:r>
                            <a:rPr lang="en-US" i="1" smtClean="0">
                              <a:solidFill>
                                <a:srgbClr val="F2494C"/>
                              </a:solidFill>
                              <a:latin typeface="Cambria Math" panose="02040503050406030204" pitchFamily="18" charset="0"/>
                            </a:rPr>
                            <m:t>𝜏</m:t>
                          </m:r>
                        </m:sub>
                      </m:sSub>
                      <m:r>
                        <a:rPr lang="en-US" i="1" smtClean="0">
                          <a:latin typeface="Cambria Math" panose="02040503050406030204" pitchFamily="18" charset="0"/>
                        </a:rPr>
                        <m:t>+</m:t>
                      </m:r>
                      <m:f>
                        <m:fPr>
                          <m:ctrlPr>
                            <a:rPr lang="en-US" i="1" smtClean="0">
                              <a:solidFill>
                                <a:srgbClr val="FF9300"/>
                              </a:solidFill>
                              <a:latin typeface="Cambria Math" panose="02040503050406030204" pitchFamily="18" charset="0"/>
                            </a:rPr>
                          </m:ctrlPr>
                        </m:fPr>
                        <m:num>
                          <m:r>
                            <a:rPr lang="en-US" i="1">
                              <a:solidFill>
                                <a:srgbClr val="FF9300"/>
                              </a:solidFill>
                              <a:latin typeface="Cambria Math" panose="02040503050406030204" pitchFamily="18" charset="0"/>
                            </a:rPr>
                            <m:t>𝜏</m:t>
                          </m:r>
                          <m:r>
                            <a:rPr lang="en-US" i="1">
                              <a:solidFill>
                                <a:srgbClr val="FF9300"/>
                              </a:solidFill>
                              <a:latin typeface="Cambria Math" panose="02040503050406030204" pitchFamily="18" charset="0"/>
                            </a:rPr>
                            <m:t>−</m:t>
                          </m:r>
                          <m:r>
                            <a:rPr lang="en-US" b="1" i="1">
                              <a:solidFill>
                                <a:srgbClr val="FF9300"/>
                              </a:solidFill>
                              <a:latin typeface="Cambria Math" panose="02040503050406030204" pitchFamily="18" charset="0"/>
                            </a:rPr>
                            <m:t>𝑰</m:t>
                          </m:r>
                          <m:d>
                            <m:dPr>
                              <m:ctrlPr>
                                <a:rPr lang="en-US" i="1">
                                  <a:solidFill>
                                    <a:srgbClr val="FF9300"/>
                                  </a:solidFill>
                                  <a:latin typeface="Cambria Math" panose="02040503050406030204" pitchFamily="18" charset="0"/>
                                </a:rPr>
                              </m:ctrlPr>
                            </m:dPr>
                            <m:e>
                              <m:r>
                                <a:rPr lang="en-US" i="1">
                                  <a:solidFill>
                                    <a:srgbClr val="FF9300"/>
                                  </a:solidFill>
                                  <a:latin typeface="Cambria Math" panose="02040503050406030204" pitchFamily="18" charset="0"/>
                                </a:rPr>
                                <m:t>𝑦</m:t>
                              </m:r>
                              <m:r>
                                <a:rPr lang="en-US" i="1">
                                  <a:solidFill>
                                    <a:srgbClr val="FF9300"/>
                                  </a:solidFill>
                                  <a:latin typeface="Cambria Math" panose="02040503050406030204" pitchFamily="18" charset="0"/>
                                </a:rPr>
                                <m:t>≤</m:t>
                              </m:r>
                              <m:sSub>
                                <m:sSubPr>
                                  <m:ctrlPr>
                                    <a:rPr lang="en-US" i="1">
                                      <a:solidFill>
                                        <a:srgbClr val="FF9300"/>
                                      </a:solidFill>
                                      <a:latin typeface="Cambria Math" panose="02040503050406030204" pitchFamily="18" charset="0"/>
                                    </a:rPr>
                                  </m:ctrlPr>
                                </m:sSubPr>
                                <m:e>
                                  <m:r>
                                    <a:rPr lang="en-US" i="1">
                                      <a:solidFill>
                                        <a:srgbClr val="FF9300"/>
                                      </a:solidFill>
                                      <a:latin typeface="Cambria Math" panose="02040503050406030204" pitchFamily="18" charset="0"/>
                                    </a:rPr>
                                    <m:t>𝑞</m:t>
                                  </m:r>
                                </m:e>
                                <m:sub>
                                  <m:r>
                                    <a:rPr lang="en-US" i="1">
                                      <a:solidFill>
                                        <a:srgbClr val="FF9300"/>
                                      </a:solidFill>
                                      <a:latin typeface="Cambria Math" panose="02040503050406030204" pitchFamily="18" charset="0"/>
                                    </a:rPr>
                                    <m:t>𝜏</m:t>
                                  </m:r>
                                </m:sub>
                              </m:sSub>
                            </m:e>
                          </m:d>
                        </m:num>
                        <m:den>
                          <m:sSub>
                            <m:sSubPr>
                              <m:ctrlPr>
                                <a:rPr lang="en-US" i="1">
                                  <a:solidFill>
                                    <a:srgbClr val="FF9300"/>
                                  </a:solidFill>
                                  <a:latin typeface="Cambria Math" panose="02040503050406030204" pitchFamily="18" charset="0"/>
                                </a:rPr>
                              </m:ctrlPr>
                            </m:sSubPr>
                            <m:e>
                              <m:r>
                                <a:rPr lang="en-US" i="1">
                                  <a:solidFill>
                                    <a:srgbClr val="FF9300"/>
                                  </a:solidFill>
                                  <a:latin typeface="Cambria Math" panose="02040503050406030204" pitchFamily="18" charset="0"/>
                                </a:rPr>
                                <m:t>𝑓</m:t>
                              </m:r>
                            </m:e>
                            <m:sub>
                              <m:r>
                                <a:rPr lang="en-US" i="1">
                                  <a:solidFill>
                                    <a:srgbClr val="FF9300"/>
                                  </a:solidFill>
                                  <a:latin typeface="Cambria Math" panose="02040503050406030204" pitchFamily="18" charset="0"/>
                                </a:rPr>
                                <m:t>𝑦</m:t>
                              </m:r>
                            </m:sub>
                          </m:sSub>
                          <m:r>
                            <a:rPr lang="en-US" i="1">
                              <a:solidFill>
                                <a:srgbClr val="FF9300"/>
                              </a:solidFill>
                              <a:latin typeface="Cambria Math" panose="02040503050406030204" pitchFamily="18" charset="0"/>
                            </a:rPr>
                            <m:t>(</m:t>
                          </m:r>
                          <m:sSub>
                            <m:sSubPr>
                              <m:ctrlPr>
                                <a:rPr lang="en-US" i="1">
                                  <a:solidFill>
                                    <a:srgbClr val="FF9300"/>
                                  </a:solidFill>
                                  <a:latin typeface="Cambria Math" panose="02040503050406030204" pitchFamily="18" charset="0"/>
                                </a:rPr>
                              </m:ctrlPr>
                            </m:sSubPr>
                            <m:e>
                              <m:r>
                                <a:rPr lang="en-US" i="1">
                                  <a:solidFill>
                                    <a:srgbClr val="FF9300"/>
                                  </a:solidFill>
                                  <a:latin typeface="Cambria Math" panose="02040503050406030204" pitchFamily="18" charset="0"/>
                                </a:rPr>
                                <m:t>𝑞</m:t>
                              </m:r>
                            </m:e>
                            <m:sub>
                              <m:r>
                                <a:rPr lang="en-US" i="1">
                                  <a:solidFill>
                                    <a:srgbClr val="FF9300"/>
                                  </a:solidFill>
                                  <a:latin typeface="Cambria Math" panose="02040503050406030204" pitchFamily="18" charset="0"/>
                                </a:rPr>
                                <m:t>𝜏</m:t>
                              </m:r>
                            </m:sub>
                          </m:sSub>
                          <m:r>
                            <a:rPr lang="en-US" i="1">
                              <a:solidFill>
                                <a:srgbClr val="FF9300"/>
                              </a:solidFill>
                              <a:latin typeface="Cambria Math" panose="02040503050406030204" pitchFamily="18" charset="0"/>
                            </a:rPr>
                            <m:t>)</m:t>
                          </m:r>
                        </m:den>
                      </m:f>
                    </m:oMath>
                  </m:oMathPara>
                </a14:m>
                <a:endParaRPr lang="en-US" dirty="0"/>
              </a:p>
            </p:txBody>
          </p:sp>
        </mc:Choice>
        <mc:Fallback xmlns="">
          <p:sp>
            <p:nvSpPr>
              <p:cNvPr id="4" name="Content Placeholder 2">
                <a:extLst>
                  <a:ext uri="{FF2B5EF4-FFF2-40B4-BE49-F238E27FC236}">
                    <a16:creationId xmlns:a16="http://schemas.microsoft.com/office/drawing/2014/main" id="{AC61F63B-4A9C-2505-1F70-6AE775DA4FB0}"/>
                  </a:ext>
                </a:extLst>
              </p:cNvPr>
              <p:cNvSpPr txBox="1">
                <a:spLocks noRot="1" noChangeAspect="1" noMove="1" noResize="1" noEditPoints="1" noAdjustHandles="1" noChangeArrowheads="1" noChangeShapeType="1" noTextEdit="1"/>
              </p:cNvSpPr>
              <p:nvPr/>
            </p:nvSpPr>
            <p:spPr>
              <a:xfrm>
                <a:off x="838200" y="1825625"/>
                <a:ext cx="10515600" cy="4351338"/>
              </a:xfrm>
              <a:prstGeom prst="rect">
                <a:avLst/>
              </a:prstGeom>
              <a:blipFill>
                <a:blip r:embed="rId3"/>
                <a:stretch>
                  <a:fillRect r="-1448"/>
                </a:stretch>
              </a:blipFill>
              <a:ln>
                <a:noFill/>
              </a:ln>
            </p:spPr>
            <p:txBody>
              <a:bodyPr/>
              <a:lstStyle/>
              <a:p>
                <a:r>
                  <a:rPr lang="en-US">
                    <a:noFill/>
                  </a:rPr>
                  <a:t> </a:t>
                </a:r>
              </a:p>
            </p:txBody>
          </p:sp>
        </mc:Fallback>
      </mc:AlternateContent>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p17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ct val="100000"/>
              <a:buFont typeface="Arial"/>
              <a:buNone/>
            </a:pPr>
            <a:r>
              <a:rPr lang="en-US" b="1" dirty="0">
                <a:solidFill>
                  <a:srgbClr val="468C8A"/>
                </a:solidFill>
              </a:rPr>
              <a:t>Choose the quantile of interest in the unconditional outcome distribution</a:t>
            </a:r>
            <a:endParaRPr dirty="0"/>
          </a:p>
        </p:txBody>
      </p:sp>
      <p:sp>
        <p:nvSpPr>
          <p:cNvPr id="775" name="Google Shape;775;p17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solidFill>
                <a:srgbClr val="FF9300"/>
              </a:solidFill>
            </a:endParaRPr>
          </a:p>
          <a:p>
            <a:pPr marL="0" lvl="0" indent="0" algn="l" rtl="0">
              <a:lnSpc>
                <a:spcPct val="90000"/>
              </a:lnSpc>
              <a:spcBef>
                <a:spcPts val="1000"/>
              </a:spcBef>
              <a:spcAft>
                <a:spcPts val="0"/>
              </a:spcAft>
              <a:buClr>
                <a:schemeClr val="dk1"/>
              </a:buClr>
              <a:buSzPts val="2800"/>
              <a:buNone/>
            </a:pPr>
            <a:endParaRPr/>
          </a:p>
        </p:txBody>
      </p:sp>
      <p:sp>
        <p:nvSpPr>
          <p:cNvPr id="776" name="Google Shape;776;p1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109</a:t>
            </a:fld>
            <a:endParaRPr/>
          </a:p>
        </p:txBody>
      </p:sp>
      <p:pic>
        <p:nvPicPr>
          <p:cNvPr id="777" name="Google Shape;777;p171" descr="A graph of a normal blood pressure&#10;&#10;Description automatically generated with low confidence"/>
          <p:cNvPicPr preferRelativeResize="0"/>
          <p:nvPr/>
        </p:nvPicPr>
        <p:blipFill rotWithShape="1">
          <a:blip r:embed="rId3">
            <a:alphaModFix/>
          </a:blip>
          <a:srcRect/>
          <a:stretch/>
        </p:blipFill>
        <p:spPr>
          <a:xfrm>
            <a:off x="2209800" y="1676401"/>
            <a:ext cx="7772400" cy="5181599"/>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17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Estimate the RIF at the quantile of interest</a:t>
            </a:r>
            <a:endParaRPr dirty="0"/>
          </a:p>
        </p:txBody>
      </p:sp>
      <p:sp>
        <p:nvSpPr>
          <p:cNvPr id="783" name="Google Shape;783;p17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solidFill>
                <a:srgbClr val="FF9300"/>
              </a:solidFill>
            </a:endParaRPr>
          </a:p>
          <a:p>
            <a:pPr marL="0" lvl="0" indent="0" algn="l" rtl="0">
              <a:lnSpc>
                <a:spcPct val="90000"/>
              </a:lnSpc>
              <a:spcBef>
                <a:spcPts val="1000"/>
              </a:spcBef>
              <a:spcAft>
                <a:spcPts val="0"/>
              </a:spcAft>
              <a:buClr>
                <a:schemeClr val="dk1"/>
              </a:buClr>
              <a:buSzPts val="2800"/>
              <a:buNone/>
            </a:pPr>
            <a:endParaRPr/>
          </a:p>
        </p:txBody>
      </p:sp>
      <p:sp>
        <p:nvSpPr>
          <p:cNvPr id="784" name="Google Shape;784;p1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110</a:t>
            </a:fld>
            <a:endParaRPr/>
          </a:p>
        </p:txBody>
      </p:sp>
      <p:pic>
        <p:nvPicPr>
          <p:cNvPr id="785" name="Google Shape;785;p172" descr="A graph of a normal blood pressure&#10;&#10;Description automatically generated with low confidence"/>
          <p:cNvPicPr preferRelativeResize="0"/>
          <p:nvPr/>
        </p:nvPicPr>
        <p:blipFill rotWithShape="1">
          <a:blip r:embed="rId3">
            <a:alphaModFix/>
          </a:blip>
          <a:srcRect/>
          <a:stretch/>
        </p:blipFill>
        <p:spPr>
          <a:xfrm>
            <a:off x="2209800" y="1676401"/>
            <a:ext cx="7772400" cy="5181599"/>
          </a:xfrm>
          <a:prstGeom prst="rect">
            <a:avLst/>
          </a:prstGeom>
          <a:noFill/>
          <a:ln>
            <a:noFill/>
          </a:ln>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C24BB40-DD2F-2F5A-450E-E5220409CFE3}"/>
                  </a:ext>
                </a:extLst>
              </p:cNvPr>
              <p:cNvSpPr txBox="1"/>
              <p:nvPr/>
            </p:nvSpPr>
            <p:spPr>
              <a:xfrm>
                <a:off x="7043896" y="1670408"/>
                <a:ext cx="4615366" cy="576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𝑅𝐼𝐹</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𝑆𝐵</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𝑃</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𝑞</m:t>
                              </m:r>
                            </m:e>
                            <m:sub>
                              <m:r>
                                <a:rPr lang="en-US" sz="1800" b="0" i="1" smtClean="0">
                                  <a:latin typeface="Cambria Math" panose="02040503050406030204" pitchFamily="18" charset="0"/>
                                </a:rPr>
                                <m:t>0.25</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𝑞</m:t>
                          </m:r>
                        </m:e>
                        <m:sub>
                          <m:r>
                            <a:rPr lang="en-US" sz="1800" b="0" i="1" smtClean="0">
                              <a:latin typeface="Cambria Math" panose="02040503050406030204" pitchFamily="18" charset="0"/>
                            </a:rPr>
                            <m:t>0.25</m:t>
                          </m:r>
                        </m:sub>
                      </m:sSub>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𝜏</m:t>
                          </m:r>
                          <m:r>
                            <a:rPr lang="en-US" sz="1800" b="0" i="1" smtClean="0">
                              <a:latin typeface="Cambria Math" panose="02040503050406030204" pitchFamily="18" charset="0"/>
                            </a:rPr>
                            <m:t>−</m:t>
                          </m:r>
                          <m:r>
                            <a:rPr lang="en-US" sz="1800" b="0" i="1" smtClean="0">
                              <a:latin typeface="Cambria Math" panose="02040503050406030204" pitchFamily="18" charset="0"/>
                            </a:rPr>
                            <m:t>𝐼</m:t>
                          </m:r>
                          <m:r>
                            <a:rPr lang="en-US" sz="1800" b="0" i="1" smtClean="0">
                              <a:latin typeface="Cambria Math" panose="02040503050406030204" pitchFamily="18" charset="0"/>
                            </a:rPr>
                            <m:t>(</m:t>
                          </m:r>
                          <m:r>
                            <a:rPr lang="en-US" sz="1800" b="0" i="1" smtClean="0">
                              <a:latin typeface="Cambria Math" panose="02040503050406030204" pitchFamily="18" charset="0"/>
                            </a:rPr>
                            <m:t>𝑆𝐵</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𝑃</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𝑞</m:t>
                              </m:r>
                            </m:e>
                            <m:sub>
                              <m:r>
                                <a:rPr lang="en-US" sz="1800" b="0" i="1" smtClean="0">
                                  <a:latin typeface="Cambria Math" panose="02040503050406030204" pitchFamily="18" charset="0"/>
                                </a:rPr>
                                <m:t>0.25</m:t>
                              </m:r>
                            </m:sub>
                          </m:sSub>
                          <m:r>
                            <a:rPr lang="en-US" sz="1800" b="0" i="1" smtClean="0">
                              <a:latin typeface="Cambria Math" panose="02040503050406030204" pitchFamily="18" charset="0"/>
                            </a:rPr>
                            <m:t>)</m:t>
                          </m:r>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𝑓</m:t>
                              </m:r>
                            </m:e>
                            <m:sub>
                              <m:r>
                                <a:rPr lang="en-US" sz="1800" b="0" i="1" smtClean="0">
                                  <a:latin typeface="Cambria Math" panose="02040503050406030204" pitchFamily="18" charset="0"/>
                                </a:rPr>
                                <m:t>𝑌</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𝑞</m:t>
                              </m:r>
                            </m:e>
                            <m:sub>
                              <m:r>
                                <a:rPr lang="en-US" sz="1800" b="0" i="1" smtClean="0">
                                  <a:latin typeface="Cambria Math" panose="02040503050406030204" pitchFamily="18" charset="0"/>
                                </a:rPr>
                                <m:t>0.25</m:t>
                              </m:r>
                            </m:sub>
                          </m:sSub>
                          <m:r>
                            <a:rPr lang="en-US" sz="1800" b="0" i="1" smtClean="0">
                              <a:latin typeface="Cambria Math" panose="02040503050406030204" pitchFamily="18" charset="0"/>
                            </a:rPr>
                            <m:t>)</m:t>
                          </m:r>
                        </m:den>
                      </m:f>
                    </m:oMath>
                  </m:oMathPara>
                </a14:m>
                <a:endParaRPr lang="en-US" sz="1800" dirty="0"/>
              </a:p>
            </p:txBody>
          </p:sp>
        </mc:Choice>
        <mc:Fallback xmlns="">
          <p:sp>
            <p:nvSpPr>
              <p:cNvPr id="2" name="TextBox 1">
                <a:extLst>
                  <a:ext uri="{FF2B5EF4-FFF2-40B4-BE49-F238E27FC236}">
                    <a16:creationId xmlns:a16="http://schemas.microsoft.com/office/drawing/2014/main" id="{5C24BB40-DD2F-2F5A-450E-E5220409CFE3}"/>
                  </a:ext>
                </a:extLst>
              </p:cNvPr>
              <p:cNvSpPr txBox="1">
                <a:spLocks noRot="1" noChangeAspect="1" noMove="1" noResize="1" noEditPoints="1" noAdjustHandles="1" noChangeArrowheads="1" noChangeShapeType="1" noTextEdit="1"/>
              </p:cNvSpPr>
              <p:nvPr/>
            </p:nvSpPr>
            <p:spPr>
              <a:xfrm>
                <a:off x="7043896" y="1670408"/>
                <a:ext cx="4615366" cy="576761"/>
              </a:xfrm>
              <a:prstGeom prst="rect">
                <a:avLst/>
              </a:prstGeom>
              <a:blipFill>
                <a:blip r:embed="rId4"/>
                <a:stretch>
                  <a:fillRect l="-548" t="-4255" r="-1096" b="-170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6668279-5B2B-8D94-8143-EF76733DAF02}"/>
                  </a:ext>
                </a:extLst>
              </p:cNvPr>
              <p:cNvSpPr txBox="1"/>
              <p:nvPr/>
            </p:nvSpPr>
            <p:spPr>
              <a:xfrm>
                <a:off x="7194576" y="2546425"/>
                <a:ext cx="4854662" cy="576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𝑅𝐼𝐹</m:t>
                      </m:r>
                      <m:d>
                        <m:dPr>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𝑆𝐵𝑃</m:t>
                          </m:r>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𝑞</m:t>
                              </m:r>
                            </m:e>
                            <m:sub>
                              <m:r>
                                <a:rPr lang="en-US" sz="1800" b="0" i="1" smtClean="0">
                                  <a:solidFill>
                                    <a:schemeClr val="bg1"/>
                                  </a:solidFill>
                                  <a:latin typeface="Cambria Math" panose="02040503050406030204" pitchFamily="18" charset="0"/>
                                </a:rPr>
                                <m:t>0.25</m:t>
                              </m:r>
                            </m:sub>
                          </m:sSub>
                        </m:e>
                      </m:d>
                      <m:r>
                        <a:rPr lang="en-US" sz="1800" b="0" i="1" smtClean="0">
                          <a:latin typeface="Cambria Math" panose="02040503050406030204" pitchFamily="18" charset="0"/>
                        </a:rPr>
                        <m:t>=114+</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0.25−</m:t>
                          </m:r>
                          <m:r>
                            <a:rPr lang="en-US" sz="1800" b="0" i="1" smtClean="0">
                              <a:latin typeface="Cambria Math" panose="02040503050406030204" pitchFamily="18" charset="0"/>
                            </a:rPr>
                            <m:t>𝐼</m:t>
                          </m:r>
                          <m:r>
                            <a:rPr lang="en-US" sz="1800" b="0" i="1" smtClean="0">
                              <a:latin typeface="Cambria Math" panose="02040503050406030204" pitchFamily="18" charset="0"/>
                            </a:rPr>
                            <m:t>(</m:t>
                          </m:r>
                          <m:r>
                            <a:rPr lang="en-US" sz="1800" b="0" i="1" smtClean="0">
                              <a:latin typeface="Cambria Math" panose="02040503050406030204" pitchFamily="18" charset="0"/>
                            </a:rPr>
                            <m:t>𝑆𝐵</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𝑃</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≤114)</m:t>
                          </m:r>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𝑓</m:t>
                              </m:r>
                            </m:e>
                            <m:sub>
                              <m:r>
                                <a:rPr lang="en-US" sz="1800" b="0" i="1" smtClean="0">
                                  <a:latin typeface="Cambria Math" panose="02040503050406030204" pitchFamily="18" charset="0"/>
                                </a:rPr>
                                <m:t>𝑌</m:t>
                              </m:r>
                            </m:sub>
                          </m:sSub>
                          <m:r>
                            <a:rPr lang="en-US" sz="1800" b="0" i="1" smtClean="0">
                              <a:latin typeface="Cambria Math" panose="02040503050406030204" pitchFamily="18" charset="0"/>
                            </a:rPr>
                            <m:t>(114)</m:t>
                          </m:r>
                        </m:den>
                      </m:f>
                    </m:oMath>
                  </m:oMathPara>
                </a14:m>
                <a:endParaRPr lang="en-US" sz="1800" dirty="0"/>
              </a:p>
            </p:txBody>
          </p:sp>
        </mc:Choice>
        <mc:Fallback xmlns="">
          <p:sp>
            <p:nvSpPr>
              <p:cNvPr id="3" name="TextBox 2">
                <a:extLst>
                  <a:ext uri="{FF2B5EF4-FFF2-40B4-BE49-F238E27FC236}">
                    <a16:creationId xmlns:a16="http://schemas.microsoft.com/office/drawing/2014/main" id="{B6668279-5B2B-8D94-8143-EF76733DAF02}"/>
                  </a:ext>
                </a:extLst>
              </p:cNvPr>
              <p:cNvSpPr txBox="1">
                <a:spLocks noRot="1" noChangeAspect="1" noMove="1" noResize="1" noEditPoints="1" noAdjustHandles="1" noChangeArrowheads="1" noChangeShapeType="1" noTextEdit="1"/>
              </p:cNvSpPr>
              <p:nvPr/>
            </p:nvSpPr>
            <p:spPr>
              <a:xfrm>
                <a:off x="7194576" y="2546425"/>
                <a:ext cx="4854662" cy="576761"/>
              </a:xfrm>
              <a:prstGeom prst="rect">
                <a:avLst/>
              </a:prstGeom>
              <a:blipFill>
                <a:blip r:embed="rId5"/>
                <a:stretch>
                  <a:fillRect t="-4348" b="-195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DD37E34-E891-16D4-8C00-2C7D7C7B5A92}"/>
                  </a:ext>
                </a:extLst>
              </p:cNvPr>
              <p:cNvSpPr txBox="1"/>
              <p:nvPr/>
            </p:nvSpPr>
            <p:spPr>
              <a:xfrm>
                <a:off x="7194576" y="3422442"/>
                <a:ext cx="4388574" cy="6178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800" b="0" i="1" smtClean="0">
                          <a:solidFill>
                            <a:schemeClr val="bg1"/>
                          </a:solidFill>
                          <a:latin typeface="Cambria Math" panose="02040503050406030204" pitchFamily="18" charset="0"/>
                        </a:rPr>
                        <m:t>𝑅𝐼𝐹</m:t>
                      </m:r>
                      <m:d>
                        <m:dPr>
                          <m:ctrlPr>
                            <a:rPr lang="en-US" sz="1800" b="0" i="1" smtClean="0">
                              <a:solidFill>
                                <a:schemeClr val="bg1"/>
                              </a:solidFill>
                              <a:latin typeface="Cambria Math" panose="02040503050406030204" pitchFamily="18" charset="0"/>
                            </a:rPr>
                          </m:ctrlPr>
                        </m:dPr>
                        <m:e>
                          <m:r>
                            <a:rPr lang="en-US" sz="1800" b="0" i="1" smtClean="0">
                              <a:solidFill>
                                <a:schemeClr val="bg1"/>
                              </a:solidFill>
                              <a:latin typeface="Cambria Math" panose="02040503050406030204" pitchFamily="18" charset="0"/>
                            </a:rPr>
                            <m:t>𝑆𝐵𝑃</m:t>
                          </m:r>
                          <m:r>
                            <a:rPr lang="en-US" sz="1800" b="0" i="1" smtClean="0">
                              <a:solidFill>
                                <a:schemeClr val="bg1"/>
                              </a:solidFill>
                              <a:latin typeface="Cambria Math" panose="02040503050406030204" pitchFamily="18" charset="0"/>
                            </a:rPr>
                            <m:t>;</m:t>
                          </m:r>
                          <m:sSub>
                            <m:sSubPr>
                              <m:ctrlPr>
                                <a:rPr lang="en-US" sz="1800" b="0" i="1" smtClean="0">
                                  <a:solidFill>
                                    <a:schemeClr val="bg1"/>
                                  </a:solidFill>
                                  <a:latin typeface="Cambria Math" panose="02040503050406030204" pitchFamily="18" charset="0"/>
                                </a:rPr>
                              </m:ctrlPr>
                            </m:sSubPr>
                            <m:e>
                              <m:r>
                                <a:rPr lang="en-US" sz="1800" b="0" i="1" smtClean="0">
                                  <a:solidFill>
                                    <a:schemeClr val="bg1"/>
                                  </a:solidFill>
                                  <a:latin typeface="Cambria Math" panose="02040503050406030204" pitchFamily="18" charset="0"/>
                                </a:rPr>
                                <m:t>𝑞</m:t>
                              </m:r>
                            </m:e>
                            <m:sub>
                              <m:r>
                                <a:rPr lang="en-US" sz="1800" b="0" i="1" smtClean="0">
                                  <a:solidFill>
                                    <a:schemeClr val="bg1"/>
                                  </a:solidFill>
                                  <a:latin typeface="Cambria Math" panose="02040503050406030204" pitchFamily="18" charset="0"/>
                                </a:rPr>
                                <m:t>0.25</m:t>
                              </m:r>
                            </m:sub>
                          </m:sSub>
                        </m:e>
                      </m:d>
                      <m:r>
                        <a:rPr lang="en-US" sz="1800" b="0" i="1" smtClean="0">
                          <a:latin typeface="Cambria Math" panose="02040503050406030204" pitchFamily="18" charset="0"/>
                        </a:rPr>
                        <m:t>=</m:t>
                      </m:r>
                      <m:d>
                        <m:dPr>
                          <m:begChr m:val="{"/>
                          <m:endChr m:val=""/>
                          <m:ctrlPr>
                            <a:rPr lang="en-US" sz="1800" b="0" i="1" smtClean="0">
                              <a:latin typeface="Cambria Math" panose="02040503050406030204" pitchFamily="18" charset="0"/>
                            </a:rPr>
                          </m:ctrlPr>
                        </m:dPr>
                        <m:e>
                          <m:eqArr>
                            <m:eqArrPr>
                              <m:ctrlPr>
                                <a:rPr lang="en-US" sz="1800" b="0" i="1" smtClean="0">
                                  <a:latin typeface="Cambria Math" panose="02040503050406030204" pitchFamily="18" charset="0"/>
                                </a:rPr>
                              </m:ctrlPr>
                            </m:eqArrPr>
                            <m:e>
                              <m:r>
                                <a:rPr lang="en-US" sz="1800" b="0" i="1" smtClean="0">
                                  <a:latin typeface="Cambria Math" panose="02040503050406030204" pitchFamily="18" charset="0"/>
                                </a:rPr>
                                <m:t>75.94; </m:t>
                              </m:r>
                              <m:r>
                                <a:rPr lang="en-US" sz="1800" b="0" i="1" smtClean="0">
                                  <a:solidFill>
                                    <a:srgbClr val="468C8A"/>
                                  </a:solidFill>
                                  <a:latin typeface="Cambria Math" panose="02040503050406030204" pitchFamily="18" charset="0"/>
                                </a:rPr>
                                <m:t>𝐼</m:t>
                              </m:r>
                              <m:d>
                                <m:dPr>
                                  <m:ctrlPr>
                                    <a:rPr lang="en-US" sz="1800" b="0" i="1" smtClean="0">
                                      <a:solidFill>
                                        <a:srgbClr val="468C8A"/>
                                      </a:solidFill>
                                      <a:latin typeface="Cambria Math" panose="02040503050406030204" pitchFamily="18" charset="0"/>
                                    </a:rPr>
                                  </m:ctrlPr>
                                </m:dPr>
                                <m:e>
                                  <m:r>
                                    <a:rPr lang="en-US" sz="1800" b="0" i="1" smtClean="0">
                                      <a:solidFill>
                                        <a:srgbClr val="468C8A"/>
                                      </a:solidFill>
                                      <a:latin typeface="Cambria Math" panose="02040503050406030204" pitchFamily="18" charset="0"/>
                                    </a:rPr>
                                    <m:t>𝑆𝐵</m:t>
                                  </m:r>
                                  <m:sSub>
                                    <m:sSubPr>
                                      <m:ctrlPr>
                                        <a:rPr lang="en-US" sz="1800" b="0" i="1" smtClean="0">
                                          <a:solidFill>
                                            <a:srgbClr val="468C8A"/>
                                          </a:solidFill>
                                          <a:latin typeface="Cambria Math" panose="02040503050406030204" pitchFamily="18" charset="0"/>
                                        </a:rPr>
                                      </m:ctrlPr>
                                    </m:sSubPr>
                                    <m:e>
                                      <m:r>
                                        <a:rPr lang="en-US" sz="1800" b="0" i="1" smtClean="0">
                                          <a:solidFill>
                                            <a:srgbClr val="468C8A"/>
                                          </a:solidFill>
                                          <a:latin typeface="Cambria Math" panose="02040503050406030204" pitchFamily="18" charset="0"/>
                                        </a:rPr>
                                        <m:t>𝑃</m:t>
                                      </m:r>
                                    </m:e>
                                    <m:sub>
                                      <m:r>
                                        <a:rPr lang="en-US" sz="1800" b="0" i="1" smtClean="0">
                                          <a:solidFill>
                                            <a:srgbClr val="468C8A"/>
                                          </a:solidFill>
                                          <a:latin typeface="Cambria Math" panose="02040503050406030204" pitchFamily="18" charset="0"/>
                                        </a:rPr>
                                        <m:t>𝑖</m:t>
                                      </m:r>
                                    </m:sub>
                                  </m:sSub>
                                  <m:r>
                                    <a:rPr lang="en-US" sz="1800" b="0" i="1" smtClean="0">
                                      <a:solidFill>
                                        <a:srgbClr val="468C8A"/>
                                      </a:solidFill>
                                      <a:latin typeface="Cambria Math" panose="02040503050406030204" pitchFamily="18" charset="0"/>
                                    </a:rPr>
                                    <m:t>≤114</m:t>
                                  </m:r>
                                </m:e>
                              </m:d>
                            </m:e>
                            <m:e>
                              <m:r>
                                <a:rPr lang="en-US" sz="1800" b="0" i="1" smtClean="0">
                                  <a:solidFill>
                                    <a:schemeClr val="tx1"/>
                                  </a:solidFill>
                                  <a:latin typeface="Cambria Math" panose="02040503050406030204" pitchFamily="18" charset="0"/>
                                </a:rPr>
                                <m:t>126.69</m:t>
                              </m:r>
                              <m:r>
                                <a:rPr lang="en-US" sz="1800" b="0" i="1" smtClean="0">
                                  <a:latin typeface="Cambria Math" panose="02040503050406030204" pitchFamily="18" charset="0"/>
                                </a:rPr>
                                <m:t>; </m:t>
                              </m:r>
                              <m:r>
                                <a:rPr lang="en-US" sz="1800" i="1" smtClean="0">
                                  <a:solidFill>
                                    <a:srgbClr val="FF9300"/>
                                  </a:solidFill>
                                  <a:latin typeface="Cambria Math" panose="02040503050406030204" pitchFamily="18" charset="0"/>
                                </a:rPr>
                                <m:t>𝐼</m:t>
                              </m:r>
                              <m:d>
                                <m:dPr>
                                  <m:ctrlPr>
                                    <a:rPr lang="en-US" sz="1800" i="1">
                                      <a:solidFill>
                                        <a:srgbClr val="FF9300"/>
                                      </a:solidFill>
                                      <a:latin typeface="Cambria Math" panose="02040503050406030204" pitchFamily="18" charset="0"/>
                                    </a:rPr>
                                  </m:ctrlPr>
                                </m:dPr>
                                <m:e>
                                  <m:r>
                                    <a:rPr lang="en-US" sz="1800" i="1">
                                      <a:solidFill>
                                        <a:srgbClr val="FF9300"/>
                                      </a:solidFill>
                                      <a:latin typeface="Cambria Math" panose="02040503050406030204" pitchFamily="18" charset="0"/>
                                    </a:rPr>
                                    <m:t>𝑆𝐵</m:t>
                                  </m:r>
                                  <m:sSub>
                                    <m:sSubPr>
                                      <m:ctrlPr>
                                        <a:rPr lang="en-US" sz="1800" b="0" i="1" smtClean="0">
                                          <a:solidFill>
                                            <a:srgbClr val="FF9300"/>
                                          </a:solidFill>
                                          <a:latin typeface="Cambria Math" panose="02040503050406030204" pitchFamily="18" charset="0"/>
                                        </a:rPr>
                                      </m:ctrlPr>
                                    </m:sSubPr>
                                    <m:e>
                                      <m:r>
                                        <a:rPr lang="en-US" sz="1800" i="1">
                                          <a:solidFill>
                                            <a:srgbClr val="FF9300"/>
                                          </a:solidFill>
                                          <a:latin typeface="Cambria Math" panose="02040503050406030204" pitchFamily="18" charset="0"/>
                                        </a:rPr>
                                        <m:t>𝑃</m:t>
                                      </m:r>
                                    </m:e>
                                    <m:sub>
                                      <m:r>
                                        <a:rPr lang="en-US" sz="1800" b="0" i="1" smtClean="0">
                                          <a:solidFill>
                                            <a:srgbClr val="FF9300"/>
                                          </a:solidFill>
                                          <a:latin typeface="Cambria Math" panose="02040503050406030204" pitchFamily="18" charset="0"/>
                                        </a:rPr>
                                        <m:t>𝑖</m:t>
                                      </m:r>
                                    </m:sub>
                                  </m:sSub>
                                  <m:r>
                                    <a:rPr lang="en-US" sz="1800" b="0" i="1" smtClean="0">
                                      <a:solidFill>
                                        <a:srgbClr val="FF9300"/>
                                      </a:solidFill>
                                      <a:latin typeface="Cambria Math" panose="02040503050406030204" pitchFamily="18" charset="0"/>
                                    </a:rPr>
                                    <m:t>&gt;</m:t>
                                  </m:r>
                                  <m:r>
                                    <a:rPr lang="en-US" sz="1800" i="1">
                                      <a:solidFill>
                                        <a:srgbClr val="FF9300"/>
                                      </a:solidFill>
                                      <a:latin typeface="Cambria Math" panose="02040503050406030204" pitchFamily="18" charset="0"/>
                                    </a:rPr>
                                    <m:t>11</m:t>
                                  </m:r>
                                  <m:r>
                                    <a:rPr lang="en-US" sz="1800" b="0" i="1" smtClean="0">
                                      <a:solidFill>
                                        <a:srgbClr val="FF9300"/>
                                      </a:solidFill>
                                      <a:latin typeface="Cambria Math" panose="02040503050406030204" pitchFamily="18" charset="0"/>
                                    </a:rPr>
                                    <m:t>4</m:t>
                                  </m:r>
                                </m:e>
                              </m:d>
                            </m:e>
                          </m:eqArr>
                        </m:e>
                      </m:d>
                    </m:oMath>
                  </m:oMathPara>
                </a14:m>
                <a:endParaRPr lang="en-US" sz="1800" dirty="0"/>
              </a:p>
            </p:txBody>
          </p:sp>
        </mc:Choice>
        <mc:Fallback xmlns="">
          <p:sp>
            <p:nvSpPr>
              <p:cNvPr id="4" name="TextBox 3">
                <a:extLst>
                  <a:ext uri="{FF2B5EF4-FFF2-40B4-BE49-F238E27FC236}">
                    <a16:creationId xmlns:a16="http://schemas.microsoft.com/office/drawing/2014/main" id="{2DD37E34-E891-16D4-8C00-2C7D7C7B5A92}"/>
                  </a:ext>
                </a:extLst>
              </p:cNvPr>
              <p:cNvSpPr txBox="1">
                <a:spLocks noRot="1" noChangeAspect="1" noMove="1" noResize="1" noEditPoints="1" noAdjustHandles="1" noChangeArrowheads="1" noChangeShapeType="1" noTextEdit="1"/>
              </p:cNvSpPr>
              <p:nvPr/>
            </p:nvSpPr>
            <p:spPr>
              <a:xfrm>
                <a:off x="7194576" y="3422442"/>
                <a:ext cx="4388574" cy="617861"/>
              </a:xfrm>
              <a:prstGeom prst="rect">
                <a:avLst/>
              </a:prstGeom>
              <a:blipFill>
                <a:blip r:embed="rId6"/>
                <a:stretch>
                  <a:fillRect t="-224000" b="-322000"/>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p17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Moving from the unconditional distribution to the RIF</a:t>
            </a:r>
            <a:endParaRPr/>
          </a:p>
        </p:txBody>
      </p:sp>
      <p:sp>
        <p:nvSpPr>
          <p:cNvPr id="794" name="Google Shape;794;p17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solidFill>
                <a:srgbClr val="FF9300"/>
              </a:solidFill>
            </a:endParaRPr>
          </a:p>
          <a:p>
            <a:pPr marL="0" lvl="0" indent="0" algn="l" rtl="0">
              <a:lnSpc>
                <a:spcPct val="90000"/>
              </a:lnSpc>
              <a:spcBef>
                <a:spcPts val="1000"/>
              </a:spcBef>
              <a:spcAft>
                <a:spcPts val="0"/>
              </a:spcAft>
              <a:buClr>
                <a:schemeClr val="dk1"/>
              </a:buClr>
              <a:buSzPts val="2800"/>
              <a:buNone/>
            </a:pPr>
            <a:endParaRPr/>
          </a:p>
        </p:txBody>
      </p:sp>
      <p:sp>
        <p:nvSpPr>
          <p:cNvPr id="795" name="Google Shape;795;p1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111</a:t>
            </a:fld>
            <a:endParaRPr/>
          </a:p>
        </p:txBody>
      </p:sp>
      <p:pic>
        <p:nvPicPr>
          <p:cNvPr id="796" name="Google Shape;796;p173" descr="A graph of a normal blood pressure&#10;&#10;Description automatically generated with low confidence"/>
          <p:cNvPicPr preferRelativeResize="0"/>
          <p:nvPr/>
        </p:nvPicPr>
        <p:blipFill rotWithShape="1">
          <a:blip r:embed="rId3">
            <a:alphaModFix/>
          </a:blip>
          <a:srcRect/>
          <a:stretch/>
        </p:blipFill>
        <p:spPr>
          <a:xfrm>
            <a:off x="838200" y="2124224"/>
            <a:ext cx="5635255" cy="3756836"/>
          </a:xfrm>
          <a:prstGeom prst="rect">
            <a:avLst/>
          </a:prstGeom>
          <a:noFill/>
          <a:ln>
            <a:noFill/>
          </a:ln>
        </p:spPr>
      </p:pic>
      <p:pic>
        <p:nvPicPr>
          <p:cNvPr id="797" name="Google Shape;797;p173" descr="A picture containing text, screenshot, diagram, design&#10;&#10;Description automatically generated"/>
          <p:cNvPicPr preferRelativeResize="0"/>
          <p:nvPr/>
        </p:nvPicPr>
        <p:blipFill rotWithShape="1">
          <a:blip r:embed="rId4">
            <a:alphaModFix/>
          </a:blip>
          <a:srcRect r="14874"/>
          <a:stretch/>
        </p:blipFill>
        <p:spPr>
          <a:xfrm>
            <a:off x="7077740" y="2122876"/>
            <a:ext cx="4798776" cy="3758184"/>
          </a:xfrm>
          <a:prstGeom prst="rect">
            <a:avLst/>
          </a:prstGeom>
          <a:noFill/>
          <a:ln>
            <a:noFill/>
          </a:ln>
        </p:spPr>
      </p:pic>
      <p:sp>
        <p:nvSpPr>
          <p:cNvPr id="798" name="Google Shape;798;p173"/>
          <p:cNvSpPr/>
          <p:nvPr/>
        </p:nvSpPr>
        <p:spPr>
          <a:xfrm>
            <a:off x="6176630" y="3781600"/>
            <a:ext cx="593650" cy="439387"/>
          </a:xfrm>
          <a:prstGeom prst="rightArrow">
            <a:avLst>
              <a:gd name="adj1" fmla="val 50000"/>
              <a:gd name="adj2" fmla="val 50000"/>
            </a:avLst>
          </a:prstGeom>
          <a:solidFill>
            <a:srgbClr val="468C8A"/>
          </a:solidFill>
          <a:ln w="12700" cap="flat" cmpd="sng">
            <a:solidFill>
              <a:srgbClr val="468C8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410D10E-DAF1-F934-843A-AAC633245125}"/>
                  </a:ext>
                </a:extLst>
              </p:cNvPr>
              <p:cNvSpPr txBox="1"/>
              <p:nvPr/>
            </p:nvSpPr>
            <p:spPr>
              <a:xfrm>
                <a:off x="7295377" y="1471451"/>
                <a:ext cx="4363502" cy="6178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𝑅𝐼𝐹</m:t>
                      </m:r>
                      <m:r>
                        <a:rPr lang="en-US" sz="1800" b="0" i="1" smtClean="0">
                          <a:latin typeface="Cambria Math" panose="02040503050406030204" pitchFamily="18" charset="0"/>
                        </a:rPr>
                        <m:t>(</m:t>
                      </m:r>
                      <m:r>
                        <a:rPr lang="en-US" sz="1800" b="0" i="1" smtClean="0">
                          <a:latin typeface="Cambria Math" panose="02040503050406030204" pitchFamily="18" charset="0"/>
                        </a:rPr>
                        <m:t>𝑆𝐵</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𝑃</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𝑞</m:t>
                          </m:r>
                        </m:e>
                        <m:sub>
                          <m:r>
                            <a:rPr lang="en-US" sz="1800" b="0" i="1" smtClean="0">
                              <a:latin typeface="Cambria Math" panose="02040503050406030204" pitchFamily="18" charset="0"/>
                            </a:rPr>
                            <m:t>0.25</m:t>
                          </m:r>
                        </m:sub>
                      </m:sSub>
                      <m:r>
                        <a:rPr lang="en-US" sz="1800" b="0" i="1" smtClean="0">
                          <a:latin typeface="Cambria Math" panose="02040503050406030204" pitchFamily="18" charset="0"/>
                        </a:rPr>
                        <m:t>)= </m:t>
                      </m:r>
                      <m:d>
                        <m:dPr>
                          <m:begChr m:val="{"/>
                          <m:endChr m:val=""/>
                          <m:ctrlPr>
                            <a:rPr lang="en-US" sz="1800" b="0" i="1" smtClean="0">
                              <a:latin typeface="Cambria Math" panose="02040503050406030204" pitchFamily="18" charset="0"/>
                            </a:rPr>
                          </m:ctrlPr>
                        </m:dPr>
                        <m:e>
                          <m:eqArr>
                            <m:eqArrPr>
                              <m:ctrlPr>
                                <a:rPr lang="en-US" sz="1800" b="0" i="1" smtClean="0">
                                  <a:latin typeface="Cambria Math" panose="02040503050406030204" pitchFamily="18" charset="0"/>
                                </a:rPr>
                              </m:ctrlPr>
                            </m:eqArrPr>
                            <m:e>
                              <m:r>
                                <a:rPr lang="en-US" sz="1800" b="0" i="1" smtClean="0">
                                  <a:latin typeface="Cambria Math" panose="02040503050406030204" pitchFamily="18" charset="0"/>
                                </a:rPr>
                                <m:t>75.94; </m:t>
                              </m:r>
                              <m:r>
                                <a:rPr lang="en-US" sz="1800" b="0" i="1" smtClean="0">
                                  <a:solidFill>
                                    <a:srgbClr val="468C8A"/>
                                  </a:solidFill>
                                  <a:latin typeface="Cambria Math" panose="02040503050406030204" pitchFamily="18" charset="0"/>
                                </a:rPr>
                                <m:t>𝐼</m:t>
                              </m:r>
                              <m:d>
                                <m:dPr>
                                  <m:ctrlPr>
                                    <a:rPr lang="en-US" sz="1800" b="0" i="1" smtClean="0">
                                      <a:solidFill>
                                        <a:srgbClr val="468C8A"/>
                                      </a:solidFill>
                                      <a:latin typeface="Cambria Math" panose="02040503050406030204" pitchFamily="18" charset="0"/>
                                    </a:rPr>
                                  </m:ctrlPr>
                                </m:dPr>
                                <m:e>
                                  <m:r>
                                    <a:rPr lang="en-US" sz="1800" b="0" i="1" smtClean="0">
                                      <a:solidFill>
                                        <a:srgbClr val="468C8A"/>
                                      </a:solidFill>
                                      <a:latin typeface="Cambria Math" panose="02040503050406030204" pitchFamily="18" charset="0"/>
                                    </a:rPr>
                                    <m:t>𝑆𝐵𝑃</m:t>
                                  </m:r>
                                  <m:r>
                                    <a:rPr lang="en-US" sz="1800" b="0" i="1" smtClean="0">
                                      <a:solidFill>
                                        <a:srgbClr val="468C8A"/>
                                      </a:solidFill>
                                      <a:latin typeface="Cambria Math" panose="02040503050406030204" pitchFamily="18" charset="0"/>
                                    </a:rPr>
                                    <m:t>≤114</m:t>
                                  </m:r>
                                </m:e>
                              </m:d>
                            </m:e>
                            <m:e>
                              <m:r>
                                <a:rPr lang="en-US" sz="1800" b="0" i="1" smtClean="0">
                                  <a:solidFill>
                                    <a:schemeClr val="tx1"/>
                                  </a:solidFill>
                                  <a:latin typeface="Cambria Math" panose="02040503050406030204" pitchFamily="18" charset="0"/>
                                </a:rPr>
                                <m:t>126.69</m:t>
                              </m:r>
                              <m:r>
                                <a:rPr lang="en-US" sz="1800" b="0" i="1" smtClean="0">
                                  <a:latin typeface="Cambria Math" panose="02040503050406030204" pitchFamily="18" charset="0"/>
                                </a:rPr>
                                <m:t>; </m:t>
                              </m:r>
                              <m:r>
                                <a:rPr lang="en-US" sz="1800" i="1" smtClean="0">
                                  <a:solidFill>
                                    <a:srgbClr val="FF9300"/>
                                  </a:solidFill>
                                  <a:latin typeface="Cambria Math" panose="02040503050406030204" pitchFamily="18" charset="0"/>
                                </a:rPr>
                                <m:t>𝐼</m:t>
                              </m:r>
                              <m:d>
                                <m:dPr>
                                  <m:ctrlPr>
                                    <a:rPr lang="en-US" sz="1800" i="1">
                                      <a:solidFill>
                                        <a:srgbClr val="FF9300"/>
                                      </a:solidFill>
                                      <a:latin typeface="Cambria Math" panose="02040503050406030204" pitchFamily="18" charset="0"/>
                                    </a:rPr>
                                  </m:ctrlPr>
                                </m:dPr>
                                <m:e>
                                  <m:r>
                                    <a:rPr lang="en-US" sz="1800" i="1">
                                      <a:solidFill>
                                        <a:srgbClr val="FF9300"/>
                                      </a:solidFill>
                                      <a:latin typeface="Cambria Math" panose="02040503050406030204" pitchFamily="18" charset="0"/>
                                    </a:rPr>
                                    <m:t>𝑆𝐵𝑃</m:t>
                                  </m:r>
                                  <m:r>
                                    <a:rPr lang="en-US" sz="1800" b="0" i="1" smtClean="0">
                                      <a:solidFill>
                                        <a:srgbClr val="FF9300"/>
                                      </a:solidFill>
                                      <a:latin typeface="Cambria Math" panose="02040503050406030204" pitchFamily="18" charset="0"/>
                                    </a:rPr>
                                    <m:t>&gt;</m:t>
                                  </m:r>
                                  <m:r>
                                    <a:rPr lang="en-US" sz="1800" i="1">
                                      <a:solidFill>
                                        <a:srgbClr val="FF9300"/>
                                      </a:solidFill>
                                      <a:latin typeface="Cambria Math" panose="02040503050406030204" pitchFamily="18" charset="0"/>
                                    </a:rPr>
                                    <m:t>11</m:t>
                                  </m:r>
                                  <m:r>
                                    <a:rPr lang="en-US" sz="1800" b="0" i="1" smtClean="0">
                                      <a:solidFill>
                                        <a:srgbClr val="FF9300"/>
                                      </a:solidFill>
                                      <a:latin typeface="Cambria Math" panose="02040503050406030204" pitchFamily="18" charset="0"/>
                                    </a:rPr>
                                    <m:t>4</m:t>
                                  </m:r>
                                </m:e>
                              </m:d>
                            </m:e>
                          </m:eqArr>
                        </m:e>
                      </m:d>
                    </m:oMath>
                  </m:oMathPara>
                </a14:m>
                <a:endParaRPr lang="en-US" sz="1800" dirty="0"/>
              </a:p>
            </p:txBody>
          </p:sp>
        </mc:Choice>
        <mc:Fallback xmlns="">
          <p:sp>
            <p:nvSpPr>
              <p:cNvPr id="2" name="TextBox 1">
                <a:extLst>
                  <a:ext uri="{FF2B5EF4-FFF2-40B4-BE49-F238E27FC236}">
                    <a16:creationId xmlns:a16="http://schemas.microsoft.com/office/drawing/2014/main" id="{0410D10E-DAF1-F934-843A-AAC633245125}"/>
                  </a:ext>
                </a:extLst>
              </p:cNvPr>
              <p:cNvSpPr txBox="1">
                <a:spLocks noRot="1" noChangeAspect="1" noMove="1" noResize="1" noEditPoints="1" noAdjustHandles="1" noChangeArrowheads="1" noChangeShapeType="1" noTextEdit="1"/>
              </p:cNvSpPr>
              <p:nvPr/>
            </p:nvSpPr>
            <p:spPr>
              <a:xfrm>
                <a:off x="7295377" y="1471451"/>
                <a:ext cx="4363502" cy="617861"/>
              </a:xfrm>
              <a:prstGeom prst="rect">
                <a:avLst/>
              </a:prstGeom>
              <a:blipFill>
                <a:blip r:embed="rId5"/>
                <a:stretch>
                  <a:fillRect l="-580" t="-224000" b="-322000"/>
                </a:stretch>
              </a:blipFill>
            </p:spPr>
            <p:txBody>
              <a:bodyPr/>
              <a:lstStyle/>
              <a:p>
                <a:r>
                  <a:rPr lang="en-US">
                    <a:noFill/>
                  </a:rPr>
                  <a:t> </a:t>
                </a:r>
              </a:p>
            </p:txBody>
          </p:sp>
        </mc:Fallback>
      </mc:AlternateContent>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734">
          <a:extLst>
            <a:ext uri="{FF2B5EF4-FFF2-40B4-BE49-F238E27FC236}">
              <a16:creationId xmlns:a16="http://schemas.microsoft.com/office/drawing/2014/main" id="{C44AFED1-E454-72BD-9121-C6398C1AC12F}"/>
            </a:ext>
          </a:extLst>
        </p:cNvPr>
        <p:cNvGrpSpPr/>
        <p:nvPr/>
      </p:nvGrpSpPr>
      <p:grpSpPr>
        <a:xfrm>
          <a:off x="0" y="0"/>
          <a:ext cx="0" cy="0"/>
          <a:chOff x="0" y="0"/>
          <a:chExt cx="0" cy="0"/>
        </a:xfrm>
      </p:grpSpPr>
      <p:sp>
        <p:nvSpPr>
          <p:cNvPr id="735" name="Google Shape;735;p167">
            <a:extLst>
              <a:ext uri="{FF2B5EF4-FFF2-40B4-BE49-F238E27FC236}">
                <a16:creationId xmlns:a16="http://schemas.microsoft.com/office/drawing/2014/main" id="{55509284-CBB8-08B8-5473-19C5DD94759A}"/>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The magic of the RIF!</a:t>
            </a:r>
            <a:endParaRPr dirty="0"/>
          </a:p>
        </p:txBody>
      </p:sp>
      <p:sp>
        <p:nvSpPr>
          <p:cNvPr id="737" name="Google Shape;737;p167">
            <a:extLst>
              <a:ext uri="{FF2B5EF4-FFF2-40B4-BE49-F238E27FC236}">
                <a16:creationId xmlns:a16="http://schemas.microsoft.com/office/drawing/2014/main" id="{2BE0F768-9C45-0256-1710-2BEB8574A54D}"/>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112</a:t>
            </a:fld>
            <a:endParaRP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D455BA52-C11F-A318-41B0-A905125D696D}"/>
                  </a:ext>
                </a:extLst>
              </p:cNvPr>
              <p:cNvSpPr txBox="1">
                <a:spLocks/>
              </p:cNvSpPr>
              <p:nvPr/>
            </p:nvSpPr>
            <p:spPr>
              <a:xfrm>
                <a:off x="310896" y="1847850"/>
                <a:ext cx="11570208" cy="435133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a:buSzPct val="100000"/>
                </a:pPr>
                <a:endParaRPr lang="en-US" dirty="0"/>
              </a:p>
              <a:p>
                <a:pPr>
                  <a:buSzPct val="100000"/>
                </a:pPr>
                <a:r>
                  <a:rPr lang="en-US" dirty="0"/>
                  <a:t>Expected value of the RIF equals the value of Y at the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𝜏</m:t>
                        </m:r>
                      </m:e>
                      <m:sup>
                        <m:r>
                          <a:rPr lang="en-US" i="1">
                            <a:latin typeface="Cambria Math" panose="02040503050406030204" pitchFamily="18" charset="0"/>
                          </a:rPr>
                          <m:t>𝑡h</m:t>
                        </m:r>
                      </m:sup>
                    </m:sSup>
                  </m:oMath>
                </a14:m>
                <a:r>
                  <a:rPr lang="en-US" dirty="0"/>
                  <a:t> quantile </a:t>
                </a:r>
                <a:endParaRPr lang="en-US" i="1" dirty="0"/>
              </a:p>
              <a:p>
                <a:pPr marL="0" indent="0">
                  <a:buFont typeface="Arial"/>
                  <a:buNone/>
                </a:pPr>
                <a:endParaRPr lang="en-US" dirty="0"/>
              </a:p>
              <a:p>
                <a:pPr marL="0" indent="0">
                  <a:buFont typeface="Arial"/>
                  <a:buNone/>
                </a:pPr>
                <a14:m>
                  <m:oMathPara xmlns:m="http://schemas.openxmlformats.org/officeDocument/2006/math">
                    <m:oMathParaPr>
                      <m:jc m:val="centerGroup"/>
                    </m:oMathParaPr>
                    <m:oMath xmlns:m="http://schemas.openxmlformats.org/officeDocument/2006/math">
                      <m:r>
                        <a:rPr lang="en-US" i="1">
                          <a:solidFill>
                            <a:srgbClr val="FF9300"/>
                          </a:solidFill>
                          <a:latin typeface="Cambria Math" panose="02040503050406030204" pitchFamily="18" charset="0"/>
                        </a:rPr>
                        <m:t>𝐸</m:t>
                      </m:r>
                      <m:d>
                        <m:dPr>
                          <m:begChr m:val="["/>
                          <m:endChr m:val="]"/>
                          <m:ctrlPr>
                            <a:rPr lang="en-US" i="1">
                              <a:solidFill>
                                <a:srgbClr val="FF9300"/>
                              </a:solidFill>
                              <a:latin typeface="Cambria Math" panose="02040503050406030204" pitchFamily="18" charset="0"/>
                            </a:rPr>
                          </m:ctrlPr>
                        </m:dPr>
                        <m:e>
                          <m:r>
                            <a:rPr lang="en-US" i="1">
                              <a:solidFill>
                                <a:srgbClr val="FF9300"/>
                              </a:solidFill>
                              <a:latin typeface="Cambria Math" panose="02040503050406030204" pitchFamily="18" charset="0"/>
                            </a:rPr>
                            <m:t>𝑅𝐼𝐹</m:t>
                          </m:r>
                          <m:d>
                            <m:dPr>
                              <m:ctrlPr>
                                <a:rPr lang="en-US" i="1">
                                  <a:solidFill>
                                    <a:srgbClr val="FF9300"/>
                                  </a:solidFill>
                                  <a:latin typeface="Cambria Math" panose="02040503050406030204" pitchFamily="18" charset="0"/>
                                </a:rPr>
                              </m:ctrlPr>
                            </m:dPr>
                            <m:e>
                              <m:r>
                                <a:rPr lang="en-US" i="1">
                                  <a:solidFill>
                                    <a:srgbClr val="FF9300"/>
                                  </a:solidFill>
                                  <a:latin typeface="Cambria Math" panose="02040503050406030204" pitchFamily="18" charset="0"/>
                                </a:rPr>
                                <m:t>𝑦</m:t>
                              </m:r>
                              <m:r>
                                <a:rPr lang="en-US" i="1">
                                  <a:solidFill>
                                    <a:srgbClr val="FF9300"/>
                                  </a:solidFill>
                                  <a:latin typeface="Cambria Math" panose="02040503050406030204" pitchFamily="18" charset="0"/>
                                </a:rPr>
                                <m:t>;</m:t>
                              </m:r>
                              <m:sSub>
                                <m:sSubPr>
                                  <m:ctrlPr>
                                    <a:rPr lang="en-US" i="1">
                                      <a:solidFill>
                                        <a:srgbClr val="FF9300"/>
                                      </a:solidFill>
                                      <a:latin typeface="Cambria Math" panose="02040503050406030204" pitchFamily="18" charset="0"/>
                                    </a:rPr>
                                  </m:ctrlPr>
                                </m:sSubPr>
                                <m:e>
                                  <m:r>
                                    <a:rPr lang="en-US" i="1">
                                      <a:solidFill>
                                        <a:srgbClr val="FF9300"/>
                                      </a:solidFill>
                                      <a:latin typeface="Cambria Math" panose="02040503050406030204" pitchFamily="18" charset="0"/>
                                    </a:rPr>
                                    <m:t>𝑞</m:t>
                                  </m:r>
                                </m:e>
                                <m:sub>
                                  <m:r>
                                    <a:rPr lang="en-US" i="1">
                                      <a:solidFill>
                                        <a:srgbClr val="FF9300"/>
                                      </a:solidFill>
                                      <a:latin typeface="Cambria Math" panose="02040503050406030204" pitchFamily="18" charset="0"/>
                                    </a:rPr>
                                    <m:t>𝜏</m:t>
                                  </m:r>
                                </m:sub>
                              </m:sSub>
                            </m:e>
                          </m:d>
                        </m:e>
                      </m:d>
                      <m:r>
                        <a:rPr lang="en-US" i="1">
                          <a:latin typeface="Cambria Math" panose="02040503050406030204" pitchFamily="18" charset="0"/>
                        </a:rPr>
                        <m:t>=</m:t>
                      </m:r>
                      <m:r>
                        <a:rPr lang="en-U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𝜏</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𝜏</m:t>
                              </m:r>
                              <m:r>
                                <a:rPr lang="en-US" i="1">
                                  <a:latin typeface="Cambria Math" panose="02040503050406030204" pitchFamily="18" charset="0"/>
                                </a:rPr>
                                <m:t>−</m:t>
                              </m:r>
                              <m:r>
                                <a:rPr lang="en-US" b="1" i="1">
                                  <a:latin typeface="Cambria Math" panose="02040503050406030204" pitchFamily="18" charset="0"/>
                                </a:rPr>
                                <m:t>𝑰</m:t>
                              </m:r>
                              <m:d>
                                <m:dPr>
                                  <m:ctrlPr>
                                    <a:rPr lang="en-US" i="1">
                                      <a:latin typeface="Cambria Math" panose="02040503050406030204" pitchFamily="18" charset="0"/>
                                    </a:rPr>
                                  </m:ctrlPr>
                                </m:dPr>
                                <m:e>
                                  <m:r>
                                    <a:rPr lang="en-US" i="1">
                                      <a:latin typeface="Cambria Math" panose="02040503050406030204" pitchFamily="18" charset="0"/>
                                    </a:rPr>
                                    <m:t>𝑦</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𝜏</m:t>
                                      </m:r>
                                    </m:sub>
                                  </m:sSub>
                                </m:e>
                              </m:d>
                            </m:num>
                            <m:den>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𝑦</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𝜏</m:t>
                                      </m:r>
                                    </m:sub>
                                  </m:sSub>
                                </m:e>
                              </m:d>
                            </m:den>
                          </m:f>
                        </m:e>
                      </m:d>
                      <m:r>
                        <a:rPr lang="en-US" i="1">
                          <a:latin typeface="Cambria Math" panose="02040503050406030204" pitchFamily="18" charset="0"/>
                        </a:rPr>
                        <m:t>=</m:t>
                      </m:r>
                      <m:r>
                        <a:rPr lang="en-US" i="1">
                          <a:latin typeface="Cambria Math" panose="02040503050406030204" pitchFamily="18" charset="0"/>
                        </a:rPr>
                        <m:t>𝐸</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𝜏</m:t>
                              </m:r>
                            </m:sub>
                          </m:sSub>
                        </m:e>
                      </m:d>
                      <m:r>
                        <a:rPr lang="en-US" i="1">
                          <a:latin typeface="Cambria Math" panose="02040503050406030204" pitchFamily="18" charset="0"/>
                        </a:rPr>
                        <m:t>+</m:t>
                      </m:r>
                      <m:r>
                        <a:rPr lang="en-US" i="1">
                          <a:latin typeface="Cambria Math" panose="02040503050406030204" pitchFamily="18" charset="0"/>
                        </a:rPr>
                        <m:t>𝐸</m:t>
                      </m:r>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𝜏</m:t>
                              </m:r>
                              <m:r>
                                <a:rPr lang="en-US" i="1">
                                  <a:latin typeface="Cambria Math" panose="02040503050406030204" pitchFamily="18" charset="0"/>
                                </a:rPr>
                                <m:t>−</m:t>
                              </m:r>
                              <m:r>
                                <a:rPr lang="en-US" b="1" i="1">
                                  <a:latin typeface="Cambria Math" panose="02040503050406030204" pitchFamily="18" charset="0"/>
                                </a:rPr>
                                <m:t>𝑰</m:t>
                              </m:r>
                              <m:d>
                                <m:dPr>
                                  <m:ctrlPr>
                                    <a:rPr lang="en-US" i="1">
                                      <a:latin typeface="Cambria Math" panose="02040503050406030204" pitchFamily="18" charset="0"/>
                                    </a:rPr>
                                  </m:ctrlPr>
                                </m:dPr>
                                <m:e>
                                  <m:r>
                                    <a:rPr lang="en-US" i="1">
                                      <a:latin typeface="Cambria Math" panose="02040503050406030204" pitchFamily="18" charset="0"/>
                                    </a:rPr>
                                    <m:t>𝑦</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𝜏</m:t>
                                      </m:r>
                                    </m:sub>
                                  </m:sSub>
                                </m:e>
                              </m:d>
                            </m:num>
                            <m:den>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𝑦</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𝜏</m:t>
                                      </m:r>
                                    </m:sub>
                                  </m:sSub>
                                </m:e>
                              </m:d>
                            </m:den>
                          </m:f>
                        </m:e>
                      </m:d>
                      <m:r>
                        <a:rPr lang="en-US" i="1">
                          <a:latin typeface="Cambria Math" panose="02040503050406030204" pitchFamily="18" charset="0"/>
                        </a:rPr>
                        <m:t>=</m:t>
                      </m:r>
                      <m:sSub>
                        <m:sSubPr>
                          <m:ctrlPr>
                            <a:rPr lang="en-US" i="1">
                              <a:solidFill>
                                <a:srgbClr val="FF9300"/>
                              </a:solidFill>
                              <a:latin typeface="Cambria Math" panose="02040503050406030204" pitchFamily="18" charset="0"/>
                            </a:rPr>
                          </m:ctrlPr>
                        </m:sSubPr>
                        <m:e>
                          <m:r>
                            <a:rPr lang="en-US" i="1">
                              <a:solidFill>
                                <a:srgbClr val="FF9300"/>
                              </a:solidFill>
                              <a:latin typeface="Cambria Math" panose="02040503050406030204" pitchFamily="18" charset="0"/>
                            </a:rPr>
                            <m:t>𝑞</m:t>
                          </m:r>
                        </m:e>
                        <m:sub>
                          <m:r>
                            <a:rPr lang="en-US" i="1">
                              <a:solidFill>
                                <a:srgbClr val="FF9300"/>
                              </a:solidFill>
                              <a:latin typeface="Cambria Math" panose="02040503050406030204" pitchFamily="18" charset="0"/>
                            </a:rPr>
                            <m:t>𝜏</m:t>
                          </m:r>
                        </m:sub>
                      </m:sSub>
                    </m:oMath>
                  </m:oMathPara>
                </a14:m>
                <a:endParaRPr lang="en-US" dirty="0"/>
              </a:p>
            </p:txBody>
          </p:sp>
        </mc:Choice>
        <mc:Fallback xmlns="">
          <p:sp>
            <p:nvSpPr>
              <p:cNvPr id="4" name="Content Placeholder 2">
                <a:extLst>
                  <a:ext uri="{FF2B5EF4-FFF2-40B4-BE49-F238E27FC236}">
                    <a16:creationId xmlns:a16="http://schemas.microsoft.com/office/drawing/2014/main" id="{D455BA52-C11F-A318-41B0-A905125D696D}"/>
                  </a:ext>
                </a:extLst>
              </p:cNvPr>
              <p:cNvSpPr txBox="1">
                <a:spLocks noRot="1" noChangeAspect="1" noMove="1" noResize="1" noEditPoints="1" noAdjustHandles="1" noChangeArrowheads="1" noChangeShapeType="1" noTextEdit="1"/>
              </p:cNvSpPr>
              <p:nvPr/>
            </p:nvSpPr>
            <p:spPr>
              <a:xfrm>
                <a:off x="310896" y="1847850"/>
                <a:ext cx="11570208" cy="4351338"/>
              </a:xfrm>
              <a:prstGeom prst="rect">
                <a:avLst/>
              </a:prstGeom>
              <a:blipFill>
                <a:blip r:embed="rId3"/>
                <a:stretch>
                  <a:fillRect/>
                </a:stretch>
              </a:blipFill>
              <a:ln>
                <a:noFill/>
              </a:ln>
            </p:spPr>
            <p:txBody>
              <a:bodyPr/>
              <a:lstStyle/>
              <a:p>
                <a:r>
                  <a:rPr lang="en-US">
                    <a:noFill/>
                  </a:rPr>
                  <a:t> </a:t>
                </a:r>
              </a:p>
            </p:txBody>
          </p:sp>
        </mc:Fallback>
      </mc:AlternateContent>
      <p:sp>
        <p:nvSpPr>
          <p:cNvPr id="2" name="Google Shape;702;p162">
            <a:extLst>
              <a:ext uri="{FF2B5EF4-FFF2-40B4-BE49-F238E27FC236}">
                <a16:creationId xmlns:a16="http://schemas.microsoft.com/office/drawing/2014/main" id="{3F57369D-1628-3ABA-0C8F-FABEFA757453}"/>
              </a:ext>
            </a:extLst>
          </p:cNvPr>
          <p:cNvSpPr/>
          <p:nvPr/>
        </p:nvSpPr>
        <p:spPr>
          <a:xfrm>
            <a:off x="11307535" y="157655"/>
            <a:ext cx="669470" cy="654269"/>
          </a:xfrm>
          <a:prstGeom prst="star5">
            <a:avLst>
              <a:gd name="adj" fmla="val 19098"/>
              <a:gd name="hf" fmla="val 105146"/>
              <a:gd name="vf" fmla="val 110557"/>
            </a:avLst>
          </a:prstGeom>
          <a:solidFill>
            <a:srgbClr val="FF9300"/>
          </a:solidFill>
          <a:ln w="12700" cap="flat" cmpd="sng">
            <a:solidFill>
              <a:srgbClr val="FF93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3368071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802">
          <a:extLst>
            <a:ext uri="{FF2B5EF4-FFF2-40B4-BE49-F238E27FC236}">
              <a16:creationId xmlns:a16="http://schemas.microsoft.com/office/drawing/2014/main" id="{DFC44679-D7CA-8E3E-7786-2E1D4E438ABA}"/>
            </a:ext>
          </a:extLst>
        </p:cNvPr>
        <p:cNvGrpSpPr/>
        <p:nvPr/>
      </p:nvGrpSpPr>
      <p:grpSpPr>
        <a:xfrm>
          <a:off x="0" y="0"/>
          <a:ext cx="0" cy="0"/>
          <a:chOff x="0" y="0"/>
          <a:chExt cx="0" cy="0"/>
        </a:xfrm>
      </p:grpSpPr>
      <p:sp>
        <p:nvSpPr>
          <p:cNvPr id="803" name="Google Shape;803;p174">
            <a:extLst>
              <a:ext uri="{FF2B5EF4-FFF2-40B4-BE49-F238E27FC236}">
                <a16:creationId xmlns:a16="http://schemas.microsoft.com/office/drawing/2014/main" id="{D27B2AB4-6C05-18C8-422C-17337D2CFB97}"/>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lvl="0">
              <a:buClr>
                <a:srgbClr val="468C8A"/>
              </a:buClr>
              <a:buSzPts val="4400"/>
            </a:pPr>
            <a:r>
              <a:rPr lang="en-US" b="1" dirty="0">
                <a:solidFill>
                  <a:srgbClr val="468C8A"/>
                </a:solidFill>
              </a:rPr>
              <a:t>The magic of the RIF! </a:t>
            </a:r>
            <a:endParaRPr dirty="0"/>
          </a:p>
        </p:txBody>
      </p:sp>
      <p:sp>
        <p:nvSpPr>
          <p:cNvPr id="804" name="Google Shape;804;p174">
            <a:extLst>
              <a:ext uri="{FF2B5EF4-FFF2-40B4-BE49-F238E27FC236}">
                <a16:creationId xmlns:a16="http://schemas.microsoft.com/office/drawing/2014/main" id="{8BBF0CAC-5711-F2BA-1D8E-5E50449D8833}"/>
              </a:ext>
            </a:extLst>
          </p:cNvPr>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solidFill>
                <a:srgbClr val="FF9300"/>
              </a:solidFill>
            </a:endParaRPr>
          </a:p>
          <a:p>
            <a:pPr marL="0" lvl="0" indent="0" algn="l" rtl="0">
              <a:lnSpc>
                <a:spcPct val="90000"/>
              </a:lnSpc>
              <a:spcBef>
                <a:spcPts val="1000"/>
              </a:spcBef>
              <a:spcAft>
                <a:spcPts val="0"/>
              </a:spcAft>
              <a:buClr>
                <a:schemeClr val="dk1"/>
              </a:buClr>
              <a:buSzPts val="2800"/>
              <a:buNone/>
            </a:pPr>
            <a:endParaRPr/>
          </a:p>
        </p:txBody>
      </p:sp>
      <p:sp>
        <p:nvSpPr>
          <p:cNvPr id="805" name="Google Shape;805;p174">
            <a:extLst>
              <a:ext uri="{FF2B5EF4-FFF2-40B4-BE49-F238E27FC236}">
                <a16:creationId xmlns:a16="http://schemas.microsoft.com/office/drawing/2014/main" id="{2D2FA6BB-F541-EE0B-7B96-CF6AF558164F}"/>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113</a:t>
            </a:fld>
            <a:endParaRPr/>
          </a:p>
        </p:txBody>
      </p:sp>
      <p:pic>
        <p:nvPicPr>
          <p:cNvPr id="806" name="Google Shape;806;p174" descr="A graph of a normal blood pressure&#10;&#10;Description automatically generated with low confidence">
            <a:extLst>
              <a:ext uri="{FF2B5EF4-FFF2-40B4-BE49-F238E27FC236}">
                <a16:creationId xmlns:a16="http://schemas.microsoft.com/office/drawing/2014/main" id="{1B778B56-2901-C466-7F63-DCD50A0C6107}"/>
              </a:ext>
            </a:extLst>
          </p:cNvPr>
          <p:cNvPicPr preferRelativeResize="0"/>
          <p:nvPr/>
        </p:nvPicPr>
        <p:blipFill rotWithShape="1">
          <a:blip r:embed="rId3">
            <a:alphaModFix/>
          </a:blip>
          <a:srcRect/>
          <a:stretch/>
        </p:blipFill>
        <p:spPr>
          <a:xfrm>
            <a:off x="838200" y="2124224"/>
            <a:ext cx="5635255" cy="3756836"/>
          </a:xfrm>
          <a:prstGeom prst="rect">
            <a:avLst/>
          </a:prstGeom>
          <a:noFill/>
          <a:ln>
            <a:noFill/>
          </a:ln>
        </p:spPr>
      </p:pic>
      <p:pic>
        <p:nvPicPr>
          <p:cNvPr id="807" name="Google Shape;807;p174" descr="A picture containing text, screenshot, diagram, design&#10;&#10;Description automatically generated">
            <a:extLst>
              <a:ext uri="{FF2B5EF4-FFF2-40B4-BE49-F238E27FC236}">
                <a16:creationId xmlns:a16="http://schemas.microsoft.com/office/drawing/2014/main" id="{9FD41F2C-C478-5D21-A4B6-CE1E43DC6E64}"/>
              </a:ext>
            </a:extLst>
          </p:cNvPr>
          <p:cNvPicPr preferRelativeResize="0"/>
          <p:nvPr/>
        </p:nvPicPr>
        <p:blipFill rotWithShape="1">
          <a:blip r:embed="rId4">
            <a:alphaModFix/>
          </a:blip>
          <a:srcRect r="14874"/>
          <a:stretch/>
        </p:blipFill>
        <p:spPr>
          <a:xfrm>
            <a:off x="7077740" y="2122876"/>
            <a:ext cx="4798776" cy="3758184"/>
          </a:xfrm>
          <a:prstGeom prst="rect">
            <a:avLst/>
          </a:prstGeom>
          <a:noFill/>
          <a:ln>
            <a:noFill/>
          </a:ln>
        </p:spPr>
      </p:pic>
      <p:sp>
        <p:nvSpPr>
          <p:cNvPr id="809" name="Google Shape;809;p174">
            <a:extLst>
              <a:ext uri="{FF2B5EF4-FFF2-40B4-BE49-F238E27FC236}">
                <a16:creationId xmlns:a16="http://schemas.microsoft.com/office/drawing/2014/main" id="{AE7B3338-7DF8-7443-9BB2-E520953F09F2}"/>
              </a:ext>
            </a:extLst>
          </p:cNvPr>
          <p:cNvSpPr txBox="1"/>
          <p:nvPr/>
        </p:nvSpPr>
        <p:spPr>
          <a:xfrm>
            <a:off x="1900973" y="6121543"/>
            <a:ext cx="8390054" cy="307777"/>
          </a:xfrm>
          <a:prstGeom prst="rect">
            <a:avLst/>
          </a:prstGeom>
          <a:blipFill rotWithShape="1">
            <a:blip r:embed="rId5">
              <a:alphaModFix/>
            </a:blip>
            <a:stretch>
              <a:fillRect l="-904" t="-3844" b="-3461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Arial"/>
                <a:ea typeface="Arial"/>
                <a:cs typeface="Arial"/>
                <a:sym typeface="Arial"/>
              </a:rPr>
              <a:t> </a:t>
            </a:r>
            <a:endParaRPr/>
          </a:p>
        </p:txBody>
      </p:sp>
      <p:sp>
        <p:nvSpPr>
          <p:cNvPr id="810" name="Google Shape;810;p174">
            <a:extLst>
              <a:ext uri="{FF2B5EF4-FFF2-40B4-BE49-F238E27FC236}">
                <a16:creationId xmlns:a16="http://schemas.microsoft.com/office/drawing/2014/main" id="{774C44DB-2A2C-728D-5497-91722E519581}"/>
              </a:ext>
            </a:extLst>
          </p:cNvPr>
          <p:cNvSpPr/>
          <p:nvPr/>
        </p:nvSpPr>
        <p:spPr>
          <a:xfrm>
            <a:off x="6176630" y="3781600"/>
            <a:ext cx="593650" cy="439387"/>
          </a:xfrm>
          <a:prstGeom prst="rightArrow">
            <a:avLst>
              <a:gd name="adj1" fmla="val 50000"/>
              <a:gd name="adj2" fmla="val 50000"/>
            </a:avLst>
          </a:prstGeom>
          <a:solidFill>
            <a:srgbClr val="468C8A"/>
          </a:solidFill>
          <a:ln w="12700" cap="flat" cmpd="sng">
            <a:solidFill>
              <a:srgbClr val="468C8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E74992C-D25B-1D62-2C44-6F66C9A8F4C0}"/>
                  </a:ext>
                </a:extLst>
              </p:cNvPr>
              <p:cNvSpPr txBox="1"/>
              <p:nvPr/>
            </p:nvSpPr>
            <p:spPr>
              <a:xfrm>
                <a:off x="7295377" y="1471451"/>
                <a:ext cx="4363502" cy="6178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𝑅𝐼𝐹</m:t>
                      </m:r>
                      <m:r>
                        <a:rPr lang="en-US" sz="1800" b="0" i="1" smtClean="0">
                          <a:latin typeface="Cambria Math" panose="02040503050406030204" pitchFamily="18" charset="0"/>
                        </a:rPr>
                        <m:t>(</m:t>
                      </m:r>
                      <m:r>
                        <a:rPr lang="en-US" sz="1800" b="0" i="1" smtClean="0">
                          <a:latin typeface="Cambria Math" panose="02040503050406030204" pitchFamily="18" charset="0"/>
                        </a:rPr>
                        <m:t>𝑆𝐵</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𝑃</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𝑞</m:t>
                          </m:r>
                        </m:e>
                        <m:sub>
                          <m:r>
                            <a:rPr lang="en-US" sz="1800" b="0" i="1" smtClean="0">
                              <a:latin typeface="Cambria Math" panose="02040503050406030204" pitchFamily="18" charset="0"/>
                            </a:rPr>
                            <m:t>0.25</m:t>
                          </m:r>
                        </m:sub>
                      </m:sSub>
                      <m:r>
                        <a:rPr lang="en-US" sz="1800" b="0" i="1" smtClean="0">
                          <a:latin typeface="Cambria Math" panose="02040503050406030204" pitchFamily="18" charset="0"/>
                        </a:rPr>
                        <m:t>)= </m:t>
                      </m:r>
                      <m:d>
                        <m:dPr>
                          <m:begChr m:val="{"/>
                          <m:endChr m:val=""/>
                          <m:ctrlPr>
                            <a:rPr lang="en-US" sz="1800" b="0" i="1" smtClean="0">
                              <a:latin typeface="Cambria Math" panose="02040503050406030204" pitchFamily="18" charset="0"/>
                            </a:rPr>
                          </m:ctrlPr>
                        </m:dPr>
                        <m:e>
                          <m:eqArr>
                            <m:eqArrPr>
                              <m:ctrlPr>
                                <a:rPr lang="en-US" sz="1800" b="0" i="1" smtClean="0">
                                  <a:latin typeface="Cambria Math" panose="02040503050406030204" pitchFamily="18" charset="0"/>
                                </a:rPr>
                              </m:ctrlPr>
                            </m:eqArrPr>
                            <m:e>
                              <m:r>
                                <a:rPr lang="en-US" sz="1800" b="0" i="1" smtClean="0">
                                  <a:latin typeface="Cambria Math" panose="02040503050406030204" pitchFamily="18" charset="0"/>
                                </a:rPr>
                                <m:t>75.94; </m:t>
                              </m:r>
                              <m:r>
                                <a:rPr lang="en-US" sz="1800" b="0" i="1" smtClean="0">
                                  <a:solidFill>
                                    <a:srgbClr val="468C8A"/>
                                  </a:solidFill>
                                  <a:latin typeface="Cambria Math" panose="02040503050406030204" pitchFamily="18" charset="0"/>
                                </a:rPr>
                                <m:t>𝐼</m:t>
                              </m:r>
                              <m:d>
                                <m:dPr>
                                  <m:ctrlPr>
                                    <a:rPr lang="en-US" sz="1800" b="0" i="1" smtClean="0">
                                      <a:solidFill>
                                        <a:srgbClr val="468C8A"/>
                                      </a:solidFill>
                                      <a:latin typeface="Cambria Math" panose="02040503050406030204" pitchFamily="18" charset="0"/>
                                    </a:rPr>
                                  </m:ctrlPr>
                                </m:dPr>
                                <m:e>
                                  <m:r>
                                    <a:rPr lang="en-US" sz="1800" b="0" i="1" smtClean="0">
                                      <a:solidFill>
                                        <a:srgbClr val="468C8A"/>
                                      </a:solidFill>
                                      <a:latin typeface="Cambria Math" panose="02040503050406030204" pitchFamily="18" charset="0"/>
                                    </a:rPr>
                                    <m:t>𝑆𝐵𝑃</m:t>
                                  </m:r>
                                  <m:r>
                                    <a:rPr lang="en-US" sz="1800" b="0" i="1" smtClean="0">
                                      <a:solidFill>
                                        <a:srgbClr val="468C8A"/>
                                      </a:solidFill>
                                      <a:latin typeface="Cambria Math" panose="02040503050406030204" pitchFamily="18" charset="0"/>
                                    </a:rPr>
                                    <m:t>≤114</m:t>
                                  </m:r>
                                </m:e>
                              </m:d>
                            </m:e>
                            <m:e>
                              <m:r>
                                <a:rPr lang="en-US" sz="1800" b="0" i="1" smtClean="0">
                                  <a:solidFill>
                                    <a:schemeClr val="tx1"/>
                                  </a:solidFill>
                                  <a:latin typeface="Cambria Math" panose="02040503050406030204" pitchFamily="18" charset="0"/>
                                </a:rPr>
                                <m:t>126.69</m:t>
                              </m:r>
                              <m:r>
                                <a:rPr lang="en-US" sz="1800" b="0" i="1" smtClean="0">
                                  <a:latin typeface="Cambria Math" panose="02040503050406030204" pitchFamily="18" charset="0"/>
                                </a:rPr>
                                <m:t>; </m:t>
                              </m:r>
                              <m:r>
                                <a:rPr lang="en-US" sz="1800" i="1" smtClean="0">
                                  <a:solidFill>
                                    <a:srgbClr val="FF9300"/>
                                  </a:solidFill>
                                  <a:latin typeface="Cambria Math" panose="02040503050406030204" pitchFamily="18" charset="0"/>
                                </a:rPr>
                                <m:t>𝐼</m:t>
                              </m:r>
                              <m:d>
                                <m:dPr>
                                  <m:ctrlPr>
                                    <a:rPr lang="en-US" sz="1800" i="1">
                                      <a:solidFill>
                                        <a:srgbClr val="FF9300"/>
                                      </a:solidFill>
                                      <a:latin typeface="Cambria Math" panose="02040503050406030204" pitchFamily="18" charset="0"/>
                                    </a:rPr>
                                  </m:ctrlPr>
                                </m:dPr>
                                <m:e>
                                  <m:r>
                                    <a:rPr lang="en-US" sz="1800" i="1">
                                      <a:solidFill>
                                        <a:srgbClr val="FF9300"/>
                                      </a:solidFill>
                                      <a:latin typeface="Cambria Math" panose="02040503050406030204" pitchFamily="18" charset="0"/>
                                    </a:rPr>
                                    <m:t>𝑆𝐵𝑃</m:t>
                                  </m:r>
                                  <m:r>
                                    <a:rPr lang="en-US" sz="1800" b="0" i="1" smtClean="0">
                                      <a:solidFill>
                                        <a:srgbClr val="FF9300"/>
                                      </a:solidFill>
                                      <a:latin typeface="Cambria Math" panose="02040503050406030204" pitchFamily="18" charset="0"/>
                                    </a:rPr>
                                    <m:t>&gt;</m:t>
                                  </m:r>
                                  <m:r>
                                    <a:rPr lang="en-US" sz="1800" i="1">
                                      <a:solidFill>
                                        <a:srgbClr val="FF9300"/>
                                      </a:solidFill>
                                      <a:latin typeface="Cambria Math" panose="02040503050406030204" pitchFamily="18" charset="0"/>
                                    </a:rPr>
                                    <m:t>11</m:t>
                                  </m:r>
                                  <m:r>
                                    <a:rPr lang="en-US" sz="1800" b="0" i="1" smtClean="0">
                                      <a:solidFill>
                                        <a:srgbClr val="FF9300"/>
                                      </a:solidFill>
                                      <a:latin typeface="Cambria Math" panose="02040503050406030204" pitchFamily="18" charset="0"/>
                                    </a:rPr>
                                    <m:t>4</m:t>
                                  </m:r>
                                </m:e>
                              </m:d>
                            </m:e>
                          </m:eqArr>
                        </m:e>
                      </m:d>
                    </m:oMath>
                  </m:oMathPara>
                </a14:m>
                <a:endParaRPr lang="en-US" sz="1800" dirty="0"/>
              </a:p>
            </p:txBody>
          </p:sp>
        </mc:Choice>
        <mc:Fallback xmlns="">
          <p:sp>
            <p:nvSpPr>
              <p:cNvPr id="2" name="TextBox 1">
                <a:extLst>
                  <a:ext uri="{FF2B5EF4-FFF2-40B4-BE49-F238E27FC236}">
                    <a16:creationId xmlns:a16="http://schemas.microsoft.com/office/drawing/2014/main" id="{3E74992C-D25B-1D62-2C44-6F66C9A8F4C0}"/>
                  </a:ext>
                </a:extLst>
              </p:cNvPr>
              <p:cNvSpPr txBox="1">
                <a:spLocks noRot="1" noChangeAspect="1" noMove="1" noResize="1" noEditPoints="1" noAdjustHandles="1" noChangeArrowheads="1" noChangeShapeType="1" noTextEdit="1"/>
              </p:cNvSpPr>
              <p:nvPr/>
            </p:nvSpPr>
            <p:spPr>
              <a:xfrm>
                <a:off x="7295377" y="1471451"/>
                <a:ext cx="4363502" cy="617861"/>
              </a:xfrm>
              <a:prstGeom prst="rect">
                <a:avLst/>
              </a:prstGeom>
              <a:blipFill>
                <a:blip r:embed="rId6"/>
                <a:stretch>
                  <a:fillRect l="-580" t="-224000" b="-322000"/>
                </a:stretch>
              </a:blipFill>
            </p:spPr>
            <p:txBody>
              <a:bodyPr/>
              <a:lstStyle/>
              <a:p>
                <a:r>
                  <a:rPr lang="en-US">
                    <a:noFill/>
                  </a:rPr>
                  <a:t> </a:t>
                </a:r>
              </a:p>
            </p:txBody>
          </p:sp>
        </mc:Fallback>
      </mc:AlternateContent>
    </p:spTree>
    <p:extLst>
      <p:ext uri="{BB962C8B-B14F-4D97-AF65-F5344CB8AC3E}">
        <p14:creationId xmlns:p14="http://schemas.microsoft.com/office/powerpoint/2010/main" val="1843936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09"/>
                                        </p:tgtEl>
                                        <p:attrNameLst>
                                          <p:attrName>style.visibility</p:attrName>
                                        </p:attrNameLst>
                                      </p:cBhvr>
                                      <p:to>
                                        <p:strVal val="visible"/>
                                      </p:to>
                                    </p:set>
                                    <p:animEffect transition="in" filter="dissolve">
                                      <p:cBhvr>
                                        <p:cTn id="7" dur="500"/>
                                        <p:tgtEl>
                                          <p:spTgt spid="8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p180"/>
          <p:cNvSpPr txBox="1">
            <a:spLocks noGrp="1"/>
          </p:cNvSpPr>
          <p:nvPr>
            <p:ph type="title"/>
          </p:nvPr>
        </p:nvSpPr>
        <p:spPr>
          <a:xfrm>
            <a:off x="838200" y="3171556"/>
            <a:ext cx="10515600" cy="2852737"/>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rgbClr val="F2494C"/>
              </a:buClr>
              <a:buSzPct val="100000"/>
              <a:buFont typeface="Arial"/>
              <a:buNone/>
            </a:pPr>
            <a:r>
              <a:rPr lang="en-US" b="1">
                <a:solidFill>
                  <a:srgbClr val="F2494C"/>
                </a:solidFill>
              </a:rPr>
              <a:t>Firpo’s method “tricks” a regression model into modeling quantiles of the unconditional outcome distribution by using the recentered influence function as the outcome</a:t>
            </a:r>
            <a:endParaRPr/>
          </a:p>
        </p:txBody>
      </p:sp>
      <p:sp>
        <p:nvSpPr>
          <p:cNvPr id="872" name="Google Shape;872;p18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114</a:t>
            </a:fld>
            <a:endParaRPr/>
          </a:p>
        </p:txBody>
      </p:sp>
      <p:sp>
        <p:nvSpPr>
          <p:cNvPr id="873" name="Google Shape;873;p180"/>
          <p:cNvSpPr/>
          <p:nvPr/>
        </p:nvSpPr>
        <p:spPr>
          <a:xfrm>
            <a:off x="11307535" y="157655"/>
            <a:ext cx="669470" cy="654269"/>
          </a:xfrm>
          <a:prstGeom prst="star5">
            <a:avLst>
              <a:gd name="adj" fmla="val 19098"/>
              <a:gd name="hf" fmla="val 105146"/>
              <a:gd name="vf" fmla="val 110557"/>
            </a:avLst>
          </a:prstGeom>
          <a:solidFill>
            <a:srgbClr val="FF9300"/>
          </a:solidFill>
          <a:ln w="12700" cap="flat" cmpd="sng">
            <a:solidFill>
              <a:srgbClr val="FF93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8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115</a:t>
            </a:fld>
            <a:endParaRPr/>
          </a:p>
        </p:txBody>
      </p:sp>
      <p:pic>
        <p:nvPicPr>
          <p:cNvPr id="879" name="Google Shape;879;p181" descr="A person with a mustache and a hand on his head&#10;&#10;Description automatically generated with low confidence"/>
          <p:cNvPicPr preferRelativeResize="0"/>
          <p:nvPr/>
        </p:nvPicPr>
        <p:blipFill rotWithShape="1">
          <a:blip r:embed="rId3">
            <a:alphaModFix/>
          </a:blip>
          <a:srcRect/>
          <a:stretch/>
        </p:blipFill>
        <p:spPr>
          <a:xfrm>
            <a:off x="2941320" y="835404"/>
            <a:ext cx="6309360" cy="5187191"/>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p17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Estimated RIF at the 25</a:t>
            </a:r>
            <a:r>
              <a:rPr lang="en-US" b="1" baseline="30000" dirty="0">
                <a:solidFill>
                  <a:srgbClr val="468C8A"/>
                </a:solidFill>
              </a:rPr>
              <a:t>th</a:t>
            </a:r>
            <a:r>
              <a:rPr lang="en-US" b="1" dirty="0">
                <a:solidFill>
                  <a:srgbClr val="468C8A"/>
                </a:solidFill>
              </a:rPr>
              <a:t>, 50</a:t>
            </a:r>
            <a:r>
              <a:rPr lang="en-US" b="1" baseline="30000" dirty="0">
                <a:solidFill>
                  <a:srgbClr val="468C8A"/>
                </a:solidFill>
              </a:rPr>
              <a:t>th</a:t>
            </a:r>
            <a:r>
              <a:rPr lang="en-US" b="1" dirty="0">
                <a:solidFill>
                  <a:srgbClr val="468C8A"/>
                </a:solidFill>
              </a:rPr>
              <a:t>, and 75</a:t>
            </a:r>
            <a:r>
              <a:rPr lang="en-US" b="1" baseline="30000" dirty="0">
                <a:solidFill>
                  <a:srgbClr val="468C8A"/>
                </a:solidFill>
              </a:rPr>
              <a:t>th</a:t>
            </a:r>
            <a:r>
              <a:rPr lang="en-US" b="1" dirty="0">
                <a:solidFill>
                  <a:srgbClr val="468C8A"/>
                </a:solidFill>
              </a:rPr>
              <a:t> quantiles of SBP</a:t>
            </a:r>
            <a:endParaRPr dirty="0"/>
          </a:p>
        </p:txBody>
      </p:sp>
      <p:sp>
        <p:nvSpPr>
          <p:cNvPr id="816" name="Google Shape;816;p17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solidFill>
                <a:srgbClr val="FF9300"/>
              </a:solidFill>
            </a:endParaRPr>
          </a:p>
          <a:p>
            <a:pPr marL="0" lvl="0" indent="0" algn="l" rtl="0">
              <a:lnSpc>
                <a:spcPct val="90000"/>
              </a:lnSpc>
              <a:spcBef>
                <a:spcPts val="1000"/>
              </a:spcBef>
              <a:spcAft>
                <a:spcPts val="0"/>
              </a:spcAft>
              <a:buClr>
                <a:schemeClr val="dk1"/>
              </a:buClr>
              <a:buSzPts val="2800"/>
              <a:buNone/>
            </a:pPr>
            <a:endParaRPr/>
          </a:p>
        </p:txBody>
      </p:sp>
      <p:sp>
        <p:nvSpPr>
          <p:cNvPr id="817" name="Google Shape;817;p1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116</a:t>
            </a:fld>
            <a:endParaRPr/>
          </a:p>
        </p:txBody>
      </p:sp>
      <p:pic>
        <p:nvPicPr>
          <p:cNvPr id="818" name="Google Shape;818;p175" descr="A picture containing text, screenshot, diagram, colorfulness&#10;&#10;Description automatically generated"/>
          <p:cNvPicPr preferRelativeResize="0"/>
          <p:nvPr/>
        </p:nvPicPr>
        <p:blipFill rotWithShape="1">
          <a:blip r:embed="rId3">
            <a:alphaModFix/>
          </a:blip>
          <a:srcRect/>
          <a:stretch/>
        </p:blipFill>
        <p:spPr>
          <a:xfrm>
            <a:off x="838200" y="1676401"/>
            <a:ext cx="7772400" cy="5181599"/>
          </a:xfrm>
          <a:prstGeom prst="rect">
            <a:avLst/>
          </a:prstGeom>
          <a:noFill/>
          <a:ln>
            <a:noFill/>
          </a:ln>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5256D15-1272-13C0-0FEE-D39399B0EA8F}"/>
                  </a:ext>
                </a:extLst>
              </p:cNvPr>
              <p:cNvSpPr txBox="1"/>
              <p:nvPr/>
            </p:nvSpPr>
            <p:spPr>
              <a:xfrm>
                <a:off x="7675849" y="1877526"/>
                <a:ext cx="4363502" cy="61786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800" b="0" i="1" smtClean="0">
                          <a:solidFill>
                            <a:srgbClr val="F2494C"/>
                          </a:solidFill>
                          <a:latin typeface="Cambria Math" panose="02040503050406030204" pitchFamily="18" charset="0"/>
                        </a:rPr>
                        <m:t>𝑅𝐼𝐹</m:t>
                      </m:r>
                      <m:r>
                        <a:rPr lang="en-US" sz="1800" b="0" i="1" smtClean="0">
                          <a:solidFill>
                            <a:srgbClr val="F2494C"/>
                          </a:solidFill>
                          <a:latin typeface="Cambria Math" panose="02040503050406030204" pitchFamily="18" charset="0"/>
                        </a:rPr>
                        <m:t>(</m:t>
                      </m:r>
                      <m:r>
                        <a:rPr lang="en-US" sz="1800" b="0" i="1" smtClean="0">
                          <a:solidFill>
                            <a:srgbClr val="F2494C"/>
                          </a:solidFill>
                          <a:latin typeface="Cambria Math" panose="02040503050406030204" pitchFamily="18" charset="0"/>
                        </a:rPr>
                        <m:t>𝑆𝐵</m:t>
                      </m:r>
                      <m:sSub>
                        <m:sSubPr>
                          <m:ctrlPr>
                            <a:rPr lang="en-US" sz="1800" b="0" i="1" smtClean="0">
                              <a:solidFill>
                                <a:srgbClr val="F2494C"/>
                              </a:solidFill>
                              <a:latin typeface="Cambria Math" panose="02040503050406030204" pitchFamily="18" charset="0"/>
                            </a:rPr>
                          </m:ctrlPr>
                        </m:sSubPr>
                        <m:e>
                          <m:r>
                            <a:rPr lang="en-US" sz="1800" b="0" i="1" smtClean="0">
                              <a:solidFill>
                                <a:srgbClr val="F2494C"/>
                              </a:solidFill>
                              <a:latin typeface="Cambria Math" panose="02040503050406030204" pitchFamily="18" charset="0"/>
                            </a:rPr>
                            <m:t>𝑃</m:t>
                          </m:r>
                        </m:e>
                        <m:sub>
                          <m:r>
                            <a:rPr lang="en-US" sz="1800" b="0" i="1" smtClean="0">
                              <a:solidFill>
                                <a:srgbClr val="F2494C"/>
                              </a:solidFill>
                              <a:latin typeface="Cambria Math" panose="02040503050406030204" pitchFamily="18" charset="0"/>
                            </a:rPr>
                            <m:t>𝑖</m:t>
                          </m:r>
                        </m:sub>
                      </m:sSub>
                      <m:r>
                        <a:rPr lang="en-US" sz="1800" b="0" i="1" smtClean="0">
                          <a:solidFill>
                            <a:srgbClr val="F2494C"/>
                          </a:solidFill>
                          <a:latin typeface="Cambria Math" panose="02040503050406030204" pitchFamily="18" charset="0"/>
                        </a:rPr>
                        <m:t>, </m:t>
                      </m:r>
                      <m:sSub>
                        <m:sSubPr>
                          <m:ctrlPr>
                            <a:rPr lang="en-US" sz="1800" b="0" i="1" smtClean="0">
                              <a:solidFill>
                                <a:srgbClr val="F2494C"/>
                              </a:solidFill>
                              <a:latin typeface="Cambria Math" panose="02040503050406030204" pitchFamily="18" charset="0"/>
                            </a:rPr>
                          </m:ctrlPr>
                        </m:sSubPr>
                        <m:e>
                          <m:r>
                            <a:rPr lang="en-US" sz="1800" b="0" i="1" smtClean="0">
                              <a:solidFill>
                                <a:srgbClr val="F2494C"/>
                              </a:solidFill>
                              <a:latin typeface="Cambria Math" panose="02040503050406030204" pitchFamily="18" charset="0"/>
                            </a:rPr>
                            <m:t>𝑞</m:t>
                          </m:r>
                        </m:e>
                        <m:sub>
                          <m:r>
                            <a:rPr lang="en-US" sz="1800" b="0" i="1" smtClean="0">
                              <a:solidFill>
                                <a:srgbClr val="F2494C"/>
                              </a:solidFill>
                              <a:latin typeface="Cambria Math" panose="02040503050406030204" pitchFamily="18" charset="0"/>
                            </a:rPr>
                            <m:t>0.25</m:t>
                          </m:r>
                        </m:sub>
                      </m:sSub>
                      <m:r>
                        <a:rPr lang="en-US" sz="1800" b="0" i="1" smtClean="0">
                          <a:solidFill>
                            <a:srgbClr val="F2494C"/>
                          </a:solidFill>
                          <a:latin typeface="Cambria Math" panose="02040503050406030204" pitchFamily="18" charset="0"/>
                        </a:rPr>
                        <m:t>)= </m:t>
                      </m:r>
                      <m:d>
                        <m:dPr>
                          <m:begChr m:val="{"/>
                          <m:endChr m:val=""/>
                          <m:ctrlPr>
                            <a:rPr lang="en-US" sz="1800" b="0" i="1" smtClean="0">
                              <a:solidFill>
                                <a:srgbClr val="F2494C"/>
                              </a:solidFill>
                              <a:latin typeface="Cambria Math" panose="02040503050406030204" pitchFamily="18" charset="0"/>
                            </a:rPr>
                          </m:ctrlPr>
                        </m:dPr>
                        <m:e>
                          <m:eqArr>
                            <m:eqArrPr>
                              <m:ctrlPr>
                                <a:rPr lang="en-US" sz="1800" b="0" i="1" smtClean="0">
                                  <a:solidFill>
                                    <a:srgbClr val="F2494C"/>
                                  </a:solidFill>
                                  <a:latin typeface="Cambria Math" panose="02040503050406030204" pitchFamily="18" charset="0"/>
                                </a:rPr>
                              </m:ctrlPr>
                            </m:eqArrPr>
                            <m:e>
                              <m:r>
                                <a:rPr lang="en-US" sz="1800" b="0" i="1" smtClean="0">
                                  <a:solidFill>
                                    <a:srgbClr val="F2494C"/>
                                  </a:solidFill>
                                  <a:latin typeface="Cambria Math" panose="02040503050406030204" pitchFamily="18" charset="0"/>
                                </a:rPr>
                                <m:t>75.94; </m:t>
                              </m:r>
                              <m:r>
                                <a:rPr lang="en-US" sz="1800" b="0" i="1" smtClean="0">
                                  <a:solidFill>
                                    <a:srgbClr val="F2494C"/>
                                  </a:solidFill>
                                  <a:latin typeface="Cambria Math" panose="02040503050406030204" pitchFamily="18" charset="0"/>
                                </a:rPr>
                                <m:t>𝐼</m:t>
                              </m:r>
                              <m:d>
                                <m:dPr>
                                  <m:ctrlPr>
                                    <a:rPr lang="en-US" sz="1800" b="0" i="1" smtClean="0">
                                      <a:solidFill>
                                        <a:srgbClr val="F2494C"/>
                                      </a:solidFill>
                                      <a:latin typeface="Cambria Math" panose="02040503050406030204" pitchFamily="18" charset="0"/>
                                    </a:rPr>
                                  </m:ctrlPr>
                                </m:dPr>
                                <m:e>
                                  <m:r>
                                    <a:rPr lang="en-US" sz="1800" b="0" i="1" smtClean="0">
                                      <a:solidFill>
                                        <a:srgbClr val="F2494C"/>
                                      </a:solidFill>
                                      <a:latin typeface="Cambria Math" panose="02040503050406030204" pitchFamily="18" charset="0"/>
                                    </a:rPr>
                                    <m:t>𝑆𝐵𝑃</m:t>
                                  </m:r>
                                  <m:r>
                                    <a:rPr lang="en-US" sz="1800" b="0" i="1" smtClean="0">
                                      <a:solidFill>
                                        <a:srgbClr val="F2494C"/>
                                      </a:solidFill>
                                      <a:latin typeface="Cambria Math" panose="02040503050406030204" pitchFamily="18" charset="0"/>
                                    </a:rPr>
                                    <m:t>≤114</m:t>
                                  </m:r>
                                </m:e>
                              </m:d>
                            </m:e>
                            <m:e>
                              <m:r>
                                <a:rPr lang="en-US" sz="1800" b="0" i="1" smtClean="0">
                                  <a:solidFill>
                                    <a:srgbClr val="F2494C"/>
                                  </a:solidFill>
                                  <a:latin typeface="Cambria Math" panose="02040503050406030204" pitchFamily="18" charset="0"/>
                                </a:rPr>
                                <m:t>126.69; </m:t>
                              </m:r>
                              <m:r>
                                <a:rPr lang="en-US" sz="1800" i="1" smtClean="0">
                                  <a:solidFill>
                                    <a:srgbClr val="F2494C"/>
                                  </a:solidFill>
                                  <a:latin typeface="Cambria Math" panose="02040503050406030204" pitchFamily="18" charset="0"/>
                                </a:rPr>
                                <m:t>𝐼</m:t>
                              </m:r>
                              <m:d>
                                <m:dPr>
                                  <m:ctrlPr>
                                    <a:rPr lang="en-US" sz="1800" i="1">
                                      <a:solidFill>
                                        <a:srgbClr val="F2494C"/>
                                      </a:solidFill>
                                      <a:latin typeface="Cambria Math" panose="02040503050406030204" pitchFamily="18" charset="0"/>
                                    </a:rPr>
                                  </m:ctrlPr>
                                </m:dPr>
                                <m:e>
                                  <m:r>
                                    <a:rPr lang="en-US" sz="1800" i="1">
                                      <a:solidFill>
                                        <a:srgbClr val="F2494C"/>
                                      </a:solidFill>
                                      <a:latin typeface="Cambria Math" panose="02040503050406030204" pitchFamily="18" charset="0"/>
                                    </a:rPr>
                                    <m:t>𝑆𝐵𝑃</m:t>
                                  </m:r>
                                  <m:r>
                                    <a:rPr lang="en-US" sz="1800" b="0" i="1" smtClean="0">
                                      <a:solidFill>
                                        <a:srgbClr val="F2494C"/>
                                      </a:solidFill>
                                      <a:latin typeface="Cambria Math" panose="02040503050406030204" pitchFamily="18" charset="0"/>
                                    </a:rPr>
                                    <m:t>&gt;</m:t>
                                  </m:r>
                                  <m:r>
                                    <a:rPr lang="en-US" sz="1800" i="1">
                                      <a:solidFill>
                                        <a:srgbClr val="F2494C"/>
                                      </a:solidFill>
                                      <a:latin typeface="Cambria Math" panose="02040503050406030204" pitchFamily="18" charset="0"/>
                                    </a:rPr>
                                    <m:t>11</m:t>
                                  </m:r>
                                  <m:r>
                                    <a:rPr lang="en-US" sz="1800" b="0" i="1" smtClean="0">
                                      <a:solidFill>
                                        <a:srgbClr val="F2494C"/>
                                      </a:solidFill>
                                      <a:latin typeface="Cambria Math" panose="02040503050406030204" pitchFamily="18" charset="0"/>
                                    </a:rPr>
                                    <m:t>4</m:t>
                                  </m:r>
                                </m:e>
                              </m:d>
                            </m:e>
                          </m:eqArr>
                        </m:e>
                      </m:d>
                    </m:oMath>
                  </m:oMathPara>
                </a14:m>
                <a:endParaRPr lang="en-US" sz="1800" dirty="0">
                  <a:solidFill>
                    <a:srgbClr val="F2494C"/>
                  </a:solidFill>
                </a:endParaRPr>
              </a:p>
            </p:txBody>
          </p:sp>
        </mc:Choice>
        <mc:Fallback xmlns="">
          <p:sp>
            <p:nvSpPr>
              <p:cNvPr id="2" name="TextBox 1">
                <a:extLst>
                  <a:ext uri="{FF2B5EF4-FFF2-40B4-BE49-F238E27FC236}">
                    <a16:creationId xmlns:a16="http://schemas.microsoft.com/office/drawing/2014/main" id="{45256D15-1272-13C0-0FEE-D39399B0EA8F}"/>
                  </a:ext>
                </a:extLst>
              </p:cNvPr>
              <p:cNvSpPr txBox="1">
                <a:spLocks noRot="1" noChangeAspect="1" noMove="1" noResize="1" noEditPoints="1" noAdjustHandles="1" noChangeArrowheads="1" noChangeShapeType="1" noTextEdit="1"/>
              </p:cNvSpPr>
              <p:nvPr/>
            </p:nvSpPr>
            <p:spPr>
              <a:xfrm>
                <a:off x="7675849" y="1877526"/>
                <a:ext cx="4363502" cy="617861"/>
              </a:xfrm>
              <a:prstGeom prst="rect">
                <a:avLst/>
              </a:prstGeom>
              <a:blipFill>
                <a:blip r:embed="rId4"/>
                <a:stretch>
                  <a:fillRect l="-580" t="-224000" b="-32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BF50F0C-1093-57EE-614D-77CB7ED705BF}"/>
                  </a:ext>
                </a:extLst>
              </p:cNvPr>
              <p:cNvSpPr txBox="1"/>
              <p:nvPr/>
            </p:nvSpPr>
            <p:spPr>
              <a:xfrm>
                <a:off x="7675849" y="2811139"/>
                <a:ext cx="4442050" cy="6178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800" b="0" i="1" smtClean="0">
                          <a:solidFill>
                            <a:srgbClr val="468C8A"/>
                          </a:solidFill>
                          <a:latin typeface="Cambria Math" panose="02040503050406030204" pitchFamily="18" charset="0"/>
                        </a:rPr>
                        <m:t>𝑅𝐼𝐹</m:t>
                      </m:r>
                      <m:r>
                        <a:rPr lang="en-US" sz="1800" b="0" i="1" smtClean="0">
                          <a:solidFill>
                            <a:srgbClr val="468C8A"/>
                          </a:solidFill>
                          <a:latin typeface="Cambria Math" panose="02040503050406030204" pitchFamily="18" charset="0"/>
                        </a:rPr>
                        <m:t>(</m:t>
                      </m:r>
                      <m:r>
                        <a:rPr lang="en-US" sz="1800" b="0" i="1" smtClean="0">
                          <a:solidFill>
                            <a:srgbClr val="468C8A"/>
                          </a:solidFill>
                          <a:latin typeface="Cambria Math" panose="02040503050406030204" pitchFamily="18" charset="0"/>
                        </a:rPr>
                        <m:t>𝑆𝐵</m:t>
                      </m:r>
                      <m:sSub>
                        <m:sSubPr>
                          <m:ctrlPr>
                            <a:rPr lang="en-US" sz="1800" b="0" i="1" smtClean="0">
                              <a:solidFill>
                                <a:srgbClr val="468C8A"/>
                              </a:solidFill>
                              <a:latin typeface="Cambria Math" panose="02040503050406030204" pitchFamily="18" charset="0"/>
                            </a:rPr>
                          </m:ctrlPr>
                        </m:sSubPr>
                        <m:e>
                          <m:r>
                            <a:rPr lang="en-US" sz="1800" b="0" i="1" smtClean="0">
                              <a:solidFill>
                                <a:srgbClr val="468C8A"/>
                              </a:solidFill>
                              <a:latin typeface="Cambria Math" panose="02040503050406030204" pitchFamily="18" charset="0"/>
                            </a:rPr>
                            <m:t>𝑃</m:t>
                          </m:r>
                        </m:e>
                        <m:sub>
                          <m:r>
                            <a:rPr lang="en-US" sz="1800" b="0" i="1" smtClean="0">
                              <a:solidFill>
                                <a:srgbClr val="468C8A"/>
                              </a:solidFill>
                              <a:latin typeface="Cambria Math" panose="02040503050406030204" pitchFamily="18" charset="0"/>
                            </a:rPr>
                            <m:t>𝑖</m:t>
                          </m:r>
                        </m:sub>
                      </m:sSub>
                      <m:r>
                        <a:rPr lang="en-US" sz="1800" b="0" i="1" smtClean="0">
                          <a:solidFill>
                            <a:srgbClr val="468C8A"/>
                          </a:solidFill>
                          <a:latin typeface="Cambria Math" panose="02040503050406030204" pitchFamily="18" charset="0"/>
                        </a:rPr>
                        <m:t>, </m:t>
                      </m:r>
                      <m:sSub>
                        <m:sSubPr>
                          <m:ctrlPr>
                            <a:rPr lang="en-US" sz="1800" b="0" i="1" smtClean="0">
                              <a:solidFill>
                                <a:srgbClr val="468C8A"/>
                              </a:solidFill>
                              <a:latin typeface="Cambria Math" panose="02040503050406030204" pitchFamily="18" charset="0"/>
                            </a:rPr>
                          </m:ctrlPr>
                        </m:sSubPr>
                        <m:e>
                          <m:r>
                            <a:rPr lang="en-US" sz="1800" b="0" i="1" smtClean="0">
                              <a:solidFill>
                                <a:srgbClr val="468C8A"/>
                              </a:solidFill>
                              <a:latin typeface="Cambria Math" panose="02040503050406030204" pitchFamily="18" charset="0"/>
                            </a:rPr>
                            <m:t>𝑞</m:t>
                          </m:r>
                        </m:e>
                        <m:sub>
                          <m:r>
                            <a:rPr lang="en-US" sz="1800" b="0" i="1" smtClean="0">
                              <a:solidFill>
                                <a:srgbClr val="468C8A"/>
                              </a:solidFill>
                              <a:latin typeface="Cambria Math" panose="02040503050406030204" pitchFamily="18" charset="0"/>
                            </a:rPr>
                            <m:t>0.5</m:t>
                          </m:r>
                        </m:sub>
                      </m:sSub>
                      <m:r>
                        <a:rPr lang="en-US" sz="1800" b="0" i="1" smtClean="0">
                          <a:solidFill>
                            <a:srgbClr val="468C8A"/>
                          </a:solidFill>
                          <a:latin typeface="Cambria Math" panose="02040503050406030204" pitchFamily="18" charset="0"/>
                        </a:rPr>
                        <m:t>)= </m:t>
                      </m:r>
                      <m:d>
                        <m:dPr>
                          <m:begChr m:val="{"/>
                          <m:endChr m:val=""/>
                          <m:ctrlPr>
                            <a:rPr lang="en-US" sz="1800" b="0" i="1" smtClean="0">
                              <a:solidFill>
                                <a:srgbClr val="468C8A"/>
                              </a:solidFill>
                              <a:latin typeface="Cambria Math" panose="02040503050406030204" pitchFamily="18" charset="0"/>
                            </a:rPr>
                          </m:ctrlPr>
                        </m:dPr>
                        <m:e>
                          <m:eqArr>
                            <m:eqArrPr>
                              <m:ctrlPr>
                                <a:rPr lang="en-US" sz="1800" b="0" i="1" smtClean="0">
                                  <a:solidFill>
                                    <a:srgbClr val="468C8A"/>
                                  </a:solidFill>
                                  <a:latin typeface="Cambria Math" panose="02040503050406030204" pitchFamily="18" charset="0"/>
                                </a:rPr>
                              </m:ctrlPr>
                            </m:eqArrPr>
                            <m:e>
                              <m:r>
                                <a:rPr lang="en-US" sz="1800" b="0" i="1" smtClean="0">
                                  <a:solidFill>
                                    <a:srgbClr val="468C8A"/>
                                  </a:solidFill>
                                  <a:latin typeface="Cambria Math" panose="02040503050406030204" pitchFamily="18" charset="0"/>
                                </a:rPr>
                                <m:t>103.00; </m:t>
                              </m:r>
                              <m:r>
                                <a:rPr lang="en-US" sz="1800" b="0" i="1" smtClean="0">
                                  <a:solidFill>
                                    <a:srgbClr val="468C8A"/>
                                  </a:solidFill>
                                  <a:latin typeface="Cambria Math" panose="02040503050406030204" pitchFamily="18" charset="0"/>
                                </a:rPr>
                                <m:t>𝐼</m:t>
                              </m:r>
                              <m:d>
                                <m:dPr>
                                  <m:ctrlPr>
                                    <a:rPr lang="en-US" sz="1800" b="0" i="1" smtClean="0">
                                      <a:solidFill>
                                        <a:srgbClr val="468C8A"/>
                                      </a:solidFill>
                                      <a:latin typeface="Cambria Math" panose="02040503050406030204" pitchFamily="18" charset="0"/>
                                    </a:rPr>
                                  </m:ctrlPr>
                                </m:dPr>
                                <m:e>
                                  <m:r>
                                    <a:rPr lang="en-US" sz="1800" b="0" i="1" smtClean="0">
                                      <a:solidFill>
                                        <a:srgbClr val="468C8A"/>
                                      </a:solidFill>
                                      <a:latin typeface="Cambria Math" panose="02040503050406030204" pitchFamily="18" charset="0"/>
                                    </a:rPr>
                                    <m:t>𝑆𝐵𝑃</m:t>
                                  </m:r>
                                  <m:r>
                                    <a:rPr lang="en-US" sz="1800" b="0" i="1" smtClean="0">
                                      <a:solidFill>
                                        <a:srgbClr val="468C8A"/>
                                      </a:solidFill>
                                      <a:latin typeface="Cambria Math" panose="02040503050406030204" pitchFamily="18" charset="0"/>
                                    </a:rPr>
                                    <m:t>≤125.5</m:t>
                                  </m:r>
                                </m:e>
                              </m:d>
                            </m:e>
                            <m:e>
                              <m:r>
                                <a:rPr lang="en-US" sz="1800" b="0" i="1" smtClean="0">
                                  <a:solidFill>
                                    <a:srgbClr val="468C8A"/>
                                  </a:solidFill>
                                  <a:latin typeface="Cambria Math" panose="02040503050406030204" pitchFamily="18" charset="0"/>
                                </a:rPr>
                                <m:t>148.00; </m:t>
                              </m:r>
                              <m:r>
                                <a:rPr lang="en-US" sz="1800" i="1" smtClean="0">
                                  <a:solidFill>
                                    <a:srgbClr val="468C8A"/>
                                  </a:solidFill>
                                  <a:latin typeface="Cambria Math" panose="02040503050406030204" pitchFamily="18" charset="0"/>
                                </a:rPr>
                                <m:t>𝐼</m:t>
                              </m:r>
                              <m:d>
                                <m:dPr>
                                  <m:ctrlPr>
                                    <a:rPr lang="en-US" sz="1800" i="1">
                                      <a:solidFill>
                                        <a:srgbClr val="468C8A"/>
                                      </a:solidFill>
                                      <a:latin typeface="Cambria Math" panose="02040503050406030204" pitchFamily="18" charset="0"/>
                                    </a:rPr>
                                  </m:ctrlPr>
                                </m:dPr>
                                <m:e>
                                  <m:r>
                                    <a:rPr lang="en-US" sz="1800" i="1">
                                      <a:solidFill>
                                        <a:srgbClr val="468C8A"/>
                                      </a:solidFill>
                                      <a:latin typeface="Cambria Math" panose="02040503050406030204" pitchFamily="18" charset="0"/>
                                    </a:rPr>
                                    <m:t>𝑆𝐵𝑃</m:t>
                                  </m:r>
                                  <m:r>
                                    <a:rPr lang="en-US" sz="1800" b="0" i="1" smtClean="0">
                                      <a:solidFill>
                                        <a:srgbClr val="468C8A"/>
                                      </a:solidFill>
                                      <a:latin typeface="Cambria Math" panose="02040503050406030204" pitchFamily="18" charset="0"/>
                                    </a:rPr>
                                    <m:t>&gt;</m:t>
                                  </m:r>
                                  <m:r>
                                    <a:rPr lang="en-US" sz="1800" i="1">
                                      <a:solidFill>
                                        <a:srgbClr val="468C8A"/>
                                      </a:solidFill>
                                      <a:latin typeface="Cambria Math" panose="02040503050406030204" pitchFamily="18" charset="0"/>
                                    </a:rPr>
                                    <m:t>1</m:t>
                                  </m:r>
                                  <m:r>
                                    <a:rPr lang="en-US" sz="1800" b="0" i="1" smtClean="0">
                                      <a:solidFill>
                                        <a:srgbClr val="468C8A"/>
                                      </a:solidFill>
                                      <a:latin typeface="Cambria Math" panose="02040503050406030204" pitchFamily="18" charset="0"/>
                                    </a:rPr>
                                    <m:t>25.5</m:t>
                                  </m:r>
                                </m:e>
                              </m:d>
                            </m:e>
                          </m:eqArr>
                        </m:e>
                      </m:d>
                    </m:oMath>
                  </m:oMathPara>
                </a14:m>
                <a:endParaRPr lang="en-US" sz="1800" dirty="0">
                  <a:solidFill>
                    <a:srgbClr val="468C8A"/>
                  </a:solidFill>
                </a:endParaRPr>
              </a:p>
            </p:txBody>
          </p:sp>
        </mc:Choice>
        <mc:Fallback xmlns="">
          <p:sp>
            <p:nvSpPr>
              <p:cNvPr id="3" name="TextBox 2">
                <a:extLst>
                  <a:ext uri="{FF2B5EF4-FFF2-40B4-BE49-F238E27FC236}">
                    <a16:creationId xmlns:a16="http://schemas.microsoft.com/office/drawing/2014/main" id="{2BF50F0C-1093-57EE-614D-77CB7ED705BF}"/>
                  </a:ext>
                </a:extLst>
              </p:cNvPr>
              <p:cNvSpPr txBox="1">
                <a:spLocks noRot="1" noChangeAspect="1" noMove="1" noResize="1" noEditPoints="1" noAdjustHandles="1" noChangeArrowheads="1" noChangeShapeType="1" noTextEdit="1"/>
              </p:cNvSpPr>
              <p:nvPr/>
            </p:nvSpPr>
            <p:spPr>
              <a:xfrm>
                <a:off x="7675849" y="2811139"/>
                <a:ext cx="4442050" cy="617861"/>
              </a:xfrm>
              <a:prstGeom prst="rect">
                <a:avLst/>
              </a:prstGeom>
              <a:blipFill>
                <a:blip r:embed="rId5"/>
                <a:stretch>
                  <a:fillRect l="-570" t="-226000" b="-32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A5409BB-881D-EF10-FAFC-0DB4C5751CF6}"/>
                  </a:ext>
                </a:extLst>
              </p:cNvPr>
              <p:cNvSpPr txBox="1"/>
              <p:nvPr/>
            </p:nvSpPr>
            <p:spPr>
              <a:xfrm>
                <a:off x="7675849" y="3744752"/>
                <a:ext cx="4442050" cy="61786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800" b="0" i="1" smtClean="0">
                          <a:solidFill>
                            <a:srgbClr val="FF9300"/>
                          </a:solidFill>
                          <a:latin typeface="Cambria Math" panose="02040503050406030204" pitchFamily="18" charset="0"/>
                        </a:rPr>
                        <m:t>𝑅𝐼𝐹</m:t>
                      </m:r>
                      <m:r>
                        <a:rPr lang="en-US" sz="1800" b="0" i="1" smtClean="0">
                          <a:solidFill>
                            <a:srgbClr val="FF9300"/>
                          </a:solidFill>
                          <a:latin typeface="Cambria Math" panose="02040503050406030204" pitchFamily="18" charset="0"/>
                        </a:rPr>
                        <m:t>(</m:t>
                      </m:r>
                      <m:r>
                        <a:rPr lang="en-US" sz="1800" b="0" i="1" smtClean="0">
                          <a:solidFill>
                            <a:srgbClr val="FF9300"/>
                          </a:solidFill>
                          <a:latin typeface="Cambria Math" panose="02040503050406030204" pitchFamily="18" charset="0"/>
                        </a:rPr>
                        <m:t>𝑆𝐵</m:t>
                      </m:r>
                      <m:sSub>
                        <m:sSubPr>
                          <m:ctrlPr>
                            <a:rPr lang="en-US" sz="1800" b="0" i="1" smtClean="0">
                              <a:solidFill>
                                <a:srgbClr val="FF9300"/>
                              </a:solidFill>
                              <a:latin typeface="Cambria Math" panose="02040503050406030204" pitchFamily="18" charset="0"/>
                            </a:rPr>
                          </m:ctrlPr>
                        </m:sSubPr>
                        <m:e>
                          <m:r>
                            <a:rPr lang="en-US" sz="1800" b="0" i="1" smtClean="0">
                              <a:solidFill>
                                <a:srgbClr val="FF9300"/>
                              </a:solidFill>
                              <a:latin typeface="Cambria Math" panose="02040503050406030204" pitchFamily="18" charset="0"/>
                            </a:rPr>
                            <m:t>𝑃</m:t>
                          </m:r>
                        </m:e>
                        <m:sub>
                          <m:r>
                            <a:rPr lang="en-US" sz="1800" b="0" i="1" smtClean="0">
                              <a:solidFill>
                                <a:srgbClr val="FF9300"/>
                              </a:solidFill>
                              <a:latin typeface="Cambria Math" panose="02040503050406030204" pitchFamily="18" charset="0"/>
                            </a:rPr>
                            <m:t>𝑖</m:t>
                          </m:r>
                        </m:sub>
                      </m:sSub>
                      <m:r>
                        <a:rPr lang="en-US" sz="1800" b="0" i="1" smtClean="0">
                          <a:solidFill>
                            <a:srgbClr val="FF9300"/>
                          </a:solidFill>
                          <a:latin typeface="Cambria Math" panose="02040503050406030204" pitchFamily="18" charset="0"/>
                        </a:rPr>
                        <m:t>, </m:t>
                      </m:r>
                      <m:sSub>
                        <m:sSubPr>
                          <m:ctrlPr>
                            <a:rPr lang="en-US" sz="1800" b="0" i="1" smtClean="0">
                              <a:solidFill>
                                <a:srgbClr val="FF9300"/>
                              </a:solidFill>
                              <a:latin typeface="Cambria Math" panose="02040503050406030204" pitchFamily="18" charset="0"/>
                            </a:rPr>
                          </m:ctrlPr>
                        </m:sSubPr>
                        <m:e>
                          <m:r>
                            <a:rPr lang="en-US" sz="1800" b="0" i="1" smtClean="0">
                              <a:solidFill>
                                <a:srgbClr val="FF9300"/>
                              </a:solidFill>
                              <a:latin typeface="Cambria Math" panose="02040503050406030204" pitchFamily="18" charset="0"/>
                            </a:rPr>
                            <m:t>𝑞</m:t>
                          </m:r>
                        </m:e>
                        <m:sub>
                          <m:r>
                            <a:rPr lang="en-US" sz="1800" b="0" i="1" smtClean="0">
                              <a:solidFill>
                                <a:srgbClr val="FF9300"/>
                              </a:solidFill>
                              <a:latin typeface="Cambria Math" panose="02040503050406030204" pitchFamily="18" charset="0"/>
                            </a:rPr>
                            <m:t>0.75</m:t>
                          </m:r>
                        </m:sub>
                      </m:sSub>
                      <m:r>
                        <a:rPr lang="en-US" sz="1800" b="0" i="1" smtClean="0">
                          <a:solidFill>
                            <a:srgbClr val="FF9300"/>
                          </a:solidFill>
                          <a:latin typeface="Cambria Math" panose="02040503050406030204" pitchFamily="18" charset="0"/>
                        </a:rPr>
                        <m:t>)= </m:t>
                      </m:r>
                      <m:d>
                        <m:dPr>
                          <m:begChr m:val="{"/>
                          <m:endChr m:val=""/>
                          <m:ctrlPr>
                            <a:rPr lang="en-US" sz="1800" b="0" i="1" smtClean="0">
                              <a:solidFill>
                                <a:srgbClr val="FF9300"/>
                              </a:solidFill>
                              <a:latin typeface="Cambria Math" panose="02040503050406030204" pitchFamily="18" charset="0"/>
                            </a:rPr>
                          </m:ctrlPr>
                        </m:dPr>
                        <m:e>
                          <m:eqArr>
                            <m:eqArrPr>
                              <m:ctrlPr>
                                <a:rPr lang="en-US" sz="1800" b="0" i="1" smtClean="0">
                                  <a:solidFill>
                                    <a:srgbClr val="FF9300"/>
                                  </a:solidFill>
                                  <a:latin typeface="Cambria Math" panose="02040503050406030204" pitchFamily="18" charset="0"/>
                                </a:rPr>
                              </m:ctrlPr>
                            </m:eqArrPr>
                            <m:e>
                              <m:r>
                                <a:rPr lang="en-US" sz="1800" b="0" i="1" smtClean="0">
                                  <a:solidFill>
                                    <a:srgbClr val="FF9300"/>
                                  </a:solidFill>
                                  <a:latin typeface="Cambria Math" panose="02040503050406030204" pitchFamily="18" charset="0"/>
                                </a:rPr>
                                <m:t>121.65; </m:t>
                              </m:r>
                              <m:r>
                                <a:rPr lang="en-US" sz="1800" b="0" i="1" smtClean="0">
                                  <a:solidFill>
                                    <a:srgbClr val="FF9300"/>
                                  </a:solidFill>
                                  <a:latin typeface="Cambria Math" panose="02040503050406030204" pitchFamily="18" charset="0"/>
                                </a:rPr>
                                <m:t>𝐼</m:t>
                              </m:r>
                              <m:d>
                                <m:dPr>
                                  <m:ctrlPr>
                                    <a:rPr lang="en-US" sz="1800" b="0" i="1" smtClean="0">
                                      <a:solidFill>
                                        <a:srgbClr val="FF9300"/>
                                      </a:solidFill>
                                      <a:latin typeface="Cambria Math" panose="02040503050406030204" pitchFamily="18" charset="0"/>
                                    </a:rPr>
                                  </m:ctrlPr>
                                </m:dPr>
                                <m:e>
                                  <m:r>
                                    <a:rPr lang="en-US" sz="1800" b="0" i="1" smtClean="0">
                                      <a:solidFill>
                                        <a:srgbClr val="FF9300"/>
                                      </a:solidFill>
                                      <a:latin typeface="Cambria Math" panose="02040503050406030204" pitchFamily="18" charset="0"/>
                                    </a:rPr>
                                    <m:t>𝑆𝐵𝑃</m:t>
                                  </m:r>
                                  <m:r>
                                    <a:rPr lang="en-US" sz="1800" b="0" i="1" smtClean="0">
                                      <a:solidFill>
                                        <a:srgbClr val="FF9300"/>
                                      </a:solidFill>
                                      <a:latin typeface="Cambria Math" panose="02040503050406030204" pitchFamily="18" charset="0"/>
                                    </a:rPr>
                                    <m:t>≤138.5</m:t>
                                  </m:r>
                                </m:e>
                              </m:d>
                            </m:e>
                            <m:e>
                              <m:r>
                                <a:rPr lang="en-US" sz="1800" b="0" i="1" smtClean="0">
                                  <a:solidFill>
                                    <a:srgbClr val="FF9300"/>
                                  </a:solidFill>
                                  <a:latin typeface="Cambria Math" panose="02040503050406030204" pitchFamily="18" charset="0"/>
                                </a:rPr>
                                <m:t>189.05; </m:t>
                              </m:r>
                              <m:r>
                                <a:rPr lang="en-US" sz="1800" i="1" smtClean="0">
                                  <a:solidFill>
                                    <a:srgbClr val="FF9300"/>
                                  </a:solidFill>
                                  <a:latin typeface="Cambria Math" panose="02040503050406030204" pitchFamily="18" charset="0"/>
                                </a:rPr>
                                <m:t>𝐼</m:t>
                              </m:r>
                              <m:d>
                                <m:dPr>
                                  <m:ctrlPr>
                                    <a:rPr lang="en-US" sz="1800" i="1">
                                      <a:solidFill>
                                        <a:srgbClr val="FF9300"/>
                                      </a:solidFill>
                                      <a:latin typeface="Cambria Math" panose="02040503050406030204" pitchFamily="18" charset="0"/>
                                    </a:rPr>
                                  </m:ctrlPr>
                                </m:dPr>
                                <m:e>
                                  <m:r>
                                    <a:rPr lang="en-US" sz="1800" i="1">
                                      <a:solidFill>
                                        <a:srgbClr val="FF9300"/>
                                      </a:solidFill>
                                      <a:latin typeface="Cambria Math" panose="02040503050406030204" pitchFamily="18" charset="0"/>
                                    </a:rPr>
                                    <m:t>𝑆𝐵𝑃</m:t>
                                  </m:r>
                                  <m:r>
                                    <a:rPr lang="en-US" sz="1800" b="0" i="1" smtClean="0">
                                      <a:solidFill>
                                        <a:srgbClr val="FF9300"/>
                                      </a:solidFill>
                                      <a:latin typeface="Cambria Math" panose="02040503050406030204" pitchFamily="18" charset="0"/>
                                    </a:rPr>
                                    <m:t>&gt;</m:t>
                                  </m:r>
                                  <m:r>
                                    <a:rPr lang="en-US" sz="1800" i="1">
                                      <a:solidFill>
                                        <a:srgbClr val="FF9300"/>
                                      </a:solidFill>
                                      <a:latin typeface="Cambria Math" panose="02040503050406030204" pitchFamily="18" charset="0"/>
                                    </a:rPr>
                                    <m:t>1</m:t>
                                  </m:r>
                                  <m:r>
                                    <a:rPr lang="en-US" sz="1800" b="0" i="1" smtClean="0">
                                      <a:solidFill>
                                        <a:srgbClr val="FF9300"/>
                                      </a:solidFill>
                                      <a:latin typeface="Cambria Math" panose="02040503050406030204" pitchFamily="18" charset="0"/>
                                    </a:rPr>
                                    <m:t>38.5</m:t>
                                  </m:r>
                                </m:e>
                              </m:d>
                            </m:e>
                          </m:eqArr>
                        </m:e>
                      </m:d>
                    </m:oMath>
                  </m:oMathPara>
                </a14:m>
                <a:endParaRPr lang="en-US" sz="1800" dirty="0">
                  <a:solidFill>
                    <a:srgbClr val="FF9300"/>
                  </a:solidFill>
                </a:endParaRPr>
              </a:p>
            </p:txBody>
          </p:sp>
        </mc:Choice>
        <mc:Fallback xmlns="">
          <p:sp>
            <p:nvSpPr>
              <p:cNvPr id="4" name="TextBox 3">
                <a:extLst>
                  <a:ext uri="{FF2B5EF4-FFF2-40B4-BE49-F238E27FC236}">
                    <a16:creationId xmlns:a16="http://schemas.microsoft.com/office/drawing/2014/main" id="{6A5409BB-881D-EF10-FAFC-0DB4C5751CF6}"/>
                  </a:ext>
                </a:extLst>
              </p:cNvPr>
              <p:cNvSpPr txBox="1">
                <a:spLocks noRot="1" noChangeAspect="1" noMove="1" noResize="1" noEditPoints="1" noAdjustHandles="1" noChangeArrowheads="1" noChangeShapeType="1" noTextEdit="1"/>
              </p:cNvSpPr>
              <p:nvPr/>
            </p:nvSpPr>
            <p:spPr>
              <a:xfrm>
                <a:off x="7675849" y="3744752"/>
                <a:ext cx="4442050" cy="617861"/>
              </a:xfrm>
              <a:prstGeom prst="rect">
                <a:avLst/>
              </a:prstGeom>
              <a:blipFill>
                <a:blip r:embed="rId6"/>
                <a:stretch>
                  <a:fillRect l="-1709" t="-224000" b="-322000"/>
                </a:stretch>
              </a:blipFill>
            </p:spPr>
            <p:txBody>
              <a:bodyPr/>
              <a:lstStyle/>
              <a:p>
                <a:r>
                  <a:rPr lang="en-US">
                    <a:noFill/>
                  </a:rPr>
                  <a:t> </a:t>
                </a:r>
              </a:p>
            </p:txBody>
          </p:sp>
        </mc:Fallback>
      </mc:AlternateContent>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sp>
        <p:nvSpPr>
          <p:cNvPr id="826" name="Google Shape;826;p17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117</a:t>
            </a:fld>
            <a:endParaRPr/>
          </a:p>
        </p:txBody>
      </p:sp>
      <p:graphicFrame>
        <p:nvGraphicFramePr>
          <p:cNvPr id="2" name="Diagram 1">
            <a:extLst>
              <a:ext uri="{FF2B5EF4-FFF2-40B4-BE49-F238E27FC236}">
                <a16:creationId xmlns:a16="http://schemas.microsoft.com/office/drawing/2014/main" id="{F203CF26-A08F-0202-F90F-5C898D0D7742}"/>
              </a:ext>
            </a:extLst>
          </p:cNvPr>
          <p:cNvGraphicFramePr/>
          <p:nvPr/>
        </p:nvGraphicFramePr>
        <p:xfrm>
          <a:off x="1293555" y="436407"/>
          <a:ext cx="9604889" cy="59851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16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a:buClr>
                <a:srgbClr val="468C8A"/>
              </a:buClr>
              <a:buSzPts val="4400"/>
            </a:pPr>
            <a:r>
              <a:rPr lang="en-US" b="1" dirty="0">
                <a:solidFill>
                  <a:srgbClr val="468C8A"/>
                </a:solidFill>
              </a:rPr>
              <a:t>Step 2: Regression of the RIF on the exposure &amp; covariates of interest</a:t>
            </a:r>
            <a:endParaRPr b="1" dirty="0">
              <a:solidFill>
                <a:srgbClr val="468C8A"/>
              </a:solidFill>
            </a:endParaRPr>
          </a:p>
        </p:txBody>
      </p:sp>
      <p:sp>
        <p:nvSpPr>
          <p:cNvPr id="715" name="Google Shape;715;p16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1000"/>
              </a:spcBef>
              <a:spcAft>
                <a:spcPts val="0"/>
              </a:spcAft>
              <a:buClr>
                <a:schemeClr val="tx1"/>
              </a:buClr>
              <a:buSzPts val="2800"/>
              <a:buChar char="•"/>
            </a:pPr>
            <a:r>
              <a:rPr lang="en-US" dirty="0"/>
              <a:t>Effect of a small shift in the unconditional exposure distribution on a quantile of the unconditional outcome distribution</a:t>
            </a:r>
          </a:p>
          <a:p>
            <a:pPr marL="685800" lvl="1" indent="-228600">
              <a:spcBef>
                <a:spcPts val="1000"/>
              </a:spcBef>
              <a:buClr>
                <a:schemeClr val="tx1"/>
              </a:buClr>
              <a:buSzPts val="2800"/>
            </a:pPr>
            <a:r>
              <a:rPr lang="en-US" dirty="0"/>
              <a:t>The Unconditional Quantile Partial Effect</a:t>
            </a:r>
          </a:p>
          <a:p>
            <a:pPr marL="228600" lvl="0" indent="-228600" algn="l" rtl="0">
              <a:lnSpc>
                <a:spcPct val="90000"/>
              </a:lnSpc>
              <a:spcBef>
                <a:spcPts val="1000"/>
              </a:spcBef>
              <a:spcAft>
                <a:spcPts val="0"/>
              </a:spcAft>
              <a:buClr>
                <a:schemeClr val="tx1"/>
              </a:buClr>
              <a:buSzPts val="2800"/>
              <a:buChar char="•"/>
            </a:pPr>
            <a:endParaRPr lang="en-US" dirty="0"/>
          </a:p>
          <a:p>
            <a:pPr marL="228600" lvl="0" indent="-228600" algn="l" rtl="0">
              <a:lnSpc>
                <a:spcPct val="90000"/>
              </a:lnSpc>
              <a:spcBef>
                <a:spcPts val="1000"/>
              </a:spcBef>
              <a:spcAft>
                <a:spcPts val="0"/>
              </a:spcAft>
              <a:buClr>
                <a:schemeClr val="tx1"/>
              </a:buClr>
              <a:buSzPts val="2800"/>
              <a:buChar char="•"/>
            </a:pPr>
            <a:r>
              <a:rPr lang="en-US" dirty="0"/>
              <a:t>Several methods of estimating RIF regression</a:t>
            </a:r>
          </a:p>
          <a:p>
            <a:pPr marL="685800" lvl="1" indent="-228600">
              <a:spcBef>
                <a:spcPts val="1000"/>
              </a:spcBef>
              <a:buClr>
                <a:schemeClr val="tx1"/>
              </a:buClr>
              <a:buSzPts val="2800"/>
            </a:pPr>
            <a:r>
              <a:rPr lang="en-US" dirty="0"/>
              <a:t>Linear</a:t>
            </a:r>
          </a:p>
          <a:p>
            <a:pPr marL="685800" lvl="1" indent="-228600">
              <a:spcBef>
                <a:spcPts val="1000"/>
              </a:spcBef>
              <a:buClr>
                <a:schemeClr val="tx1"/>
              </a:buClr>
              <a:buSzPts val="2800"/>
            </a:pPr>
            <a:r>
              <a:rPr lang="en-US" dirty="0"/>
              <a:t>Logistic</a:t>
            </a:r>
          </a:p>
          <a:p>
            <a:pPr marL="685800" lvl="1" indent="-228600">
              <a:spcBef>
                <a:spcPts val="1000"/>
              </a:spcBef>
              <a:buClr>
                <a:schemeClr val="tx1"/>
              </a:buClr>
              <a:buSzPts val="2800"/>
            </a:pPr>
            <a:r>
              <a:rPr lang="en-US" dirty="0"/>
              <a:t>Polynomial</a:t>
            </a:r>
            <a:endParaRPr dirty="0"/>
          </a:p>
        </p:txBody>
      </p:sp>
      <p:sp>
        <p:nvSpPr>
          <p:cNvPr id="716" name="Google Shape;716;p1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118</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1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15">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1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p17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Three ways to regress RIF on the exposure &amp; covariates</a:t>
            </a:r>
            <a:endParaRPr dirty="0"/>
          </a:p>
        </p:txBody>
      </p:sp>
      <p:sp>
        <p:nvSpPr>
          <p:cNvPr id="841" name="Google Shape;841;p1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119</a:t>
            </a:fld>
            <a:endParaRP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A57E2EC4-5DDA-36AB-1EE6-320CD6BAE973}"/>
                  </a:ext>
                </a:extLst>
              </p:cNvPr>
              <p:cNvSpPr txBox="1">
                <a:spLocks/>
              </p:cNvSpPr>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indent="0">
                  <a:buFont typeface="Arial"/>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𝑅𝐼𝐹</m:t>
                      </m:r>
                      <m:d>
                        <m:dPr>
                          <m:ctrlPr>
                            <a:rPr lang="en-US" i="1" smtClean="0">
                              <a:latin typeface="Cambria Math" panose="02040503050406030204" pitchFamily="18" charset="0"/>
                            </a:rPr>
                          </m:ctrlPr>
                        </m:dPr>
                        <m:e>
                          <m:r>
                            <a:rPr lang="en-US" i="1" smtClean="0">
                              <a:latin typeface="Cambria Math" panose="02040503050406030204" pitchFamily="18" charset="0"/>
                            </a:rPr>
                            <m:t>𝑦</m:t>
                          </m:r>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𝑞</m:t>
                              </m:r>
                            </m:e>
                            <m:sub>
                              <m:r>
                                <a:rPr lang="en-US" i="1" smtClean="0">
                                  <a:latin typeface="Cambria Math" panose="02040503050406030204" pitchFamily="18" charset="0"/>
                                </a:rPr>
                                <m:t>𝜏</m:t>
                              </m:r>
                            </m:sub>
                          </m:sSub>
                        </m:e>
                      </m:d>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𝑞</m:t>
                          </m:r>
                        </m:e>
                        <m:sub>
                          <m:r>
                            <a:rPr lang="en-US" i="1" smtClean="0">
                              <a:latin typeface="Cambria Math" panose="02040503050406030204" pitchFamily="18" charset="0"/>
                            </a:rPr>
                            <m:t>𝜏</m:t>
                          </m:r>
                        </m:sub>
                      </m:sSub>
                      <m:r>
                        <a:rPr lang="en-US"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𝜏</m:t>
                          </m:r>
                          <m:r>
                            <a:rPr lang="en-US" i="1">
                              <a:latin typeface="Cambria Math" panose="02040503050406030204" pitchFamily="18" charset="0"/>
                            </a:rPr>
                            <m:t>−</m:t>
                          </m:r>
                          <m:r>
                            <a:rPr lang="en-US" b="1" i="1">
                              <a:latin typeface="Cambria Math" panose="02040503050406030204" pitchFamily="18" charset="0"/>
                            </a:rPr>
                            <m:t>𝑰</m:t>
                          </m:r>
                          <m:d>
                            <m:dPr>
                              <m:ctrlPr>
                                <a:rPr lang="en-US" i="1">
                                  <a:latin typeface="Cambria Math" panose="02040503050406030204" pitchFamily="18" charset="0"/>
                                </a:rPr>
                              </m:ctrlPr>
                            </m:dPr>
                            <m:e>
                              <m:r>
                                <a:rPr lang="en-US" i="1">
                                  <a:latin typeface="Cambria Math" panose="02040503050406030204" pitchFamily="18" charset="0"/>
                                </a:rPr>
                                <m:t>𝑦</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𝜏</m:t>
                                  </m:r>
                                </m:sub>
                              </m:sSub>
                            </m:e>
                          </m:d>
                        </m:num>
                        <m:den>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𝑦</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𝜏</m:t>
                              </m:r>
                            </m:sub>
                          </m:sSub>
                          <m:r>
                            <a:rPr lang="en-US" i="1">
                              <a:latin typeface="Cambria Math" panose="02040503050406030204" pitchFamily="18" charset="0"/>
                            </a:rPr>
                            <m:t>)</m:t>
                          </m:r>
                        </m:den>
                      </m:f>
                      <m:r>
                        <a:rPr lang="en-US" i="1" smtClean="0">
                          <a:latin typeface="Cambria Math" panose="02040503050406030204" pitchFamily="18" charset="0"/>
                        </a:rPr>
                        <m:t>=</m:t>
                      </m:r>
                      <m:f>
                        <m:fPr>
                          <m:ctrlPr>
                            <a:rPr lang="en-US" i="1" smtClean="0">
                              <a:latin typeface="Cambria Math" panose="02040503050406030204" pitchFamily="18" charset="0"/>
                            </a:rPr>
                          </m:ctrlPr>
                        </m:fPr>
                        <m:num>
                          <m:r>
                            <a:rPr lang="en-US" i="1" smtClean="0">
                              <a:latin typeface="Cambria Math" panose="02040503050406030204" pitchFamily="18" charset="0"/>
                            </a:rPr>
                            <m:t>1</m:t>
                          </m:r>
                        </m:num>
                        <m:den>
                          <m:sSub>
                            <m:sSubPr>
                              <m:ctrlPr>
                                <a:rPr lang="en-US" i="1" smtClean="0">
                                  <a:latin typeface="Cambria Math" panose="02040503050406030204" pitchFamily="18" charset="0"/>
                                </a:rPr>
                              </m:ctrlPr>
                            </m:sSubPr>
                            <m:e>
                              <m:r>
                                <a:rPr lang="en-US" i="1" smtClean="0">
                                  <a:latin typeface="Cambria Math" panose="02040503050406030204" pitchFamily="18" charset="0"/>
                                </a:rPr>
                                <m:t>𝑓</m:t>
                              </m:r>
                            </m:e>
                            <m:sub>
                              <m:r>
                                <a:rPr lang="en-US" i="1" smtClean="0">
                                  <a:latin typeface="Cambria Math" panose="02040503050406030204" pitchFamily="18" charset="0"/>
                                </a:rPr>
                                <m:t>𝑦</m:t>
                              </m:r>
                            </m:sub>
                          </m:sSub>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i="1" smtClean="0">
                                      <a:latin typeface="Cambria Math" panose="02040503050406030204" pitchFamily="18" charset="0"/>
                                    </a:rPr>
                                    <m:t>𝑞</m:t>
                                  </m:r>
                                </m:e>
                                <m:sub>
                                  <m:r>
                                    <a:rPr lang="en-US" i="1" smtClean="0">
                                      <a:latin typeface="Cambria Math" panose="02040503050406030204" pitchFamily="18" charset="0"/>
                                    </a:rPr>
                                    <m:t>𝜏</m:t>
                                  </m:r>
                                </m:sub>
                              </m:sSub>
                            </m:e>
                          </m:d>
                        </m:den>
                      </m:f>
                      <m:r>
                        <a:rPr lang="en-US" b="1" i="1" smtClean="0">
                          <a:latin typeface="Cambria Math" panose="02040503050406030204" pitchFamily="18" charset="0"/>
                        </a:rPr>
                        <m:t>𝑰</m:t>
                      </m:r>
                      <m:d>
                        <m:dPr>
                          <m:ctrlPr>
                            <a:rPr lang="en-US" i="1" smtClean="0">
                              <a:latin typeface="Cambria Math" panose="02040503050406030204" pitchFamily="18" charset="0"/>
                            </a:rPr>
                          </m:ctrlPr>
                        </m:dPr>
                        <m:e>
                          <m:r>
                            <a:rPr lang="en-US" i="1" smtClean="0">
                              <a:latin typeface="Cambria Math" panose="02040503050406030204" pitchFamily="18" charset="0"/>
                            </a:rPr>
                            <m:t>𝑦</m:t>
                          </m:r>
                          <m:r>
                            <a:rPr lang="en-US" i="1" smtClean="0">
                              <a:latin typeface="Cambria Math" panose="02040503050406030204" pitchFamily="18" charset="0"/>
                            </a:rPr>
                            <m:t>&gt;</m:t>
                          </m:r>
                          <m:sSub>
                            <m:sSubPr>
                              <m:ctrlPr>
                                <a:rPr lang="en-US" i="1" smtClean="0">
                                  <a:latin typeface="Cambria Math" panose="02040503050406030204" pitchFamily="18" charset="0"/>
                                </a:rPr>
                              </m:ctrlPr>
                            </m:sSubPr>
                            <m:e>
                              <m:r>
                                <a:rPr lang="en-US" i="1" smtClean="0">
                                  <a:latin typeface="Cambria Math" panose="02040503050406030204" pitchFamily="18" charset="0"/>
                                </a:rPr>
                                <m:t>𝑞</m:t>
                              </m:r>
                            </m:e>
                            <m:sub>
                              <m:r>
                                <a:rPr lang="en-US" i="1" smtClean="0">
                                  <a:latin typeface="Cambria Math" panose="02040503050406030204" pitchFamily="18" charset="0"/>
                                </a:rPr>
                                <m:t>𝜏</m:t>
                              </m:r>
                            </m:sub>
                          </m:sSub>
                        </m:e>
                      </m:d>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𝑞</m:t>
                          </m:r>
                        </m:e>
                        <m:sub>
                          <m:r>
                            <a:rPr lang="en-US" i="1" smtClean="0">
                              <a:latin typeface="Cambria Math" panose="02040503050406030204" pitchFamily="18" charset="0"/>
                            </a:rPr>
                            <m:t>𝜏</m:t>
                          </m:r>
                        </m:sub>
                      </m:sSub>
                      <m:r>
                        <a:rPr lang="en-US" i="1" smtClean="0">
                          <a:latin typeface="Cambria Math" panose="02040503050406030204" pitchFamily="18" charset="0"/>
                        </a:rPr>
                        <m:t>−</m:t>
                      </m:r>
                      <m:f>
                        <m:fPr>
                          <m:ctrlPr>
                            <a:rPr lang="en-US" i="1" smtClean="0">
                              <a:latin typeface="Cambria Math" panose="02040503050406030204" pitchFamily="18" charset="0"/>
                            </a:rPr>
                          </m:ctrlPr>
                        </m:fPr>
                        <m:num>
                          <m:r>
                            <a:rPr lang="en-US" i="1" smtClean="0">
                              <a:latin typeface="Cambria Math" panose="02040503050406030204" pitchFamily="18" charset="0"/>
                            </a:rPr>
                            <m:t>1−</m:t>
                          </m:r>
                          <m:r>
                            <a:rPr lang="en-US" i="1" smtClean="0">
                              <a:latin typeface="Cambria Math" panose="02040503050406030204" pitchFamily="18" charset="0"/>
                            </a:rPr>
                            <m:t>𝜏</m:t>
                          </m:r>
                        </m:num>
                        <m:den>
                          <m:sSub>
                            <m:sSubPr>
                              <m:ctrlPr>
                                <a:rPr lang="en-US" i="1" smtClean="0">
                                  <a:latin typeface="Cambria Math" panose="02040503050406030204" pitchFamily="18" charset="0"/>
                                </a:rPr>
                              </m:ctrlPr>
                            </m:sSubPr>
                            <m:e>
                              <m:r>
                                <a:rPr lang="en-US" i="1" smtClean="0">
                                  <a:latin typeface="Cambria Math" panose="02040503050406030204" pitchFamily="18" charset="0"/>
                                </a:rPr>
                                <m:t>𝑓</m:t>
                              </m:r>
                            </m:e>
                            <m:sub>
                              <m:r>
                                <a:rPr lang="en-US" i="1" smtClean="0">
                                  <a:latin typeface="Cambria Math" panose="02040503050406030204" pitchFamily="18" charset="0"/>
                                </a:rPr>
                                <m:t>𝑦</m:t>
                              </m:r>
                            </m:sub>
                          </m:sSub>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i="1" smtClean="0">
                                      <a:latin typeface="Cambria Math" panose="02040503050406030204" pitchFamily="18" charset="0"/>
                                    </a:rPr>
                                    <m:t>𝑞</m:t>
                                  </m:r>
                                </m:e>
                                <m:sub>
                                  <m:r>
                                    <a:rPr lang="en-US" i="1" smtClean="0">
                                      <a:latin typeface="Cambria Math" panose="02040503050406030204" pitchFamily="18" charset="0"/>
                                    </a:rPr>
                                    <m:t>𝜏</m:t>
                                  </m:r>
                                </m:sub>
                              </m:sSub>
                            </m:e>
                          </m:d>
                        </m:den>
                      </m:f>
                    </m:oMath>
                  </m:oMathPara>
                </a14:m>
                <a:endParaRPr lang="en-US" dirty="0"/>
              </a:p>
              <a:p>
                <a:pPr marL="0" indent="0">
                  <a:buFont typeface="Arial"/>
                  <a:buNone/>
                </a:pPr>
                <a:endParaRPr lang="en-US" dirty="0"/>
              </a:p>
              <a:p>
                <a:pPr>
                  <a:buSzPct val="100000"/>
                </a:pPr>
                <a:r>
                  <a:rPr lang="en-US" dirty="0"/>
                  <a:t>Three ways of regressing RIF on exposure and covariates:</a:t>
                </a:r>
              </a:p>
              <a:p>
                <a:pPr lvl="1" indent="-457200">
                  <a:buSzPct val="100000"/>
                  <a:buFont typeface="+mj-lt"/>
                  <a:buAutoNum type="arabicPeriod"/>
                </a:pPr>
                <a:r>
                  <a:rPr lang="en-US" dirty="0"/>
                  <a:t>Linear regression using OLS with RIF as the outcome (RIF-OLS)</a:t>
                </a:r>
              </a:p>
              <a:p>
                <a:pPr lvl="1" indent="-457200">
                  <a:buSzPct val="100000"/>
                  <a:buFont typeface="+mj-lt"/>
                  <a:buAutoNum type="arabicPeriod"/>
                </a:pPr>
                <a:r>
                  <a:rPr lang="en-US" dirty="0"/>
                  <a:t>Logistic regression using </a:t>
                </a:r>
                <a14:m>
                  <m:oMath xmlns:m="http://schemas.openxmlformats.org/officeDocument/2006/math">
                    <m:r>
                      <a:rPr lang="en-US" b="1" i="1">
                        <a:latin typeface="Cambria Math" panose="02040503050406030204" pitchFamily="18" charset="0"/>
                      </a:rPr>
                      <m:t>𝑰</m:t>
                    </m:r>
                    <m:d>
                      <m:dPr>
                        <m:ctrlPr>
                          <a:rPr lang="en-US" i="1">
                            <a:latin typeface="Cambria Math" panose="02040503050406030204" pitchFamily="18" charset="0"/>
                          </a:rPr>
                        </m:ctrlPr>
                      </m:dPr>
                      <m:e>
                        <m:r>
                          <a:rPr lang="en-US" i="1">
                            <a:latin typeface="Cambria Math" panose="02040503050406030204" pitchFamily="18" charset="0"/>
                          </a:rPr>
                          <m:t>𝑦</m:t>
                        </m:r>
                        <m:r>
                          <a:rPr lang="en-US" i="1" smtClean="0">
                            <a:solidFill>
                              <a:schemeClr val="tx1"/>
                            </a:solidFill>
                            <a:latin typeface="Cambria Math" panose="02040503050406030204" pitchFamily="18" charset="0"/>
                          </a:rPr>
                          <m:t>&gt;</m:t>
                        </m:r>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𝜏</m:t>
                            </m:r>
                          </m:sub>
                        </m:sSub>
                      </m:e>
                    </m:d>
                  </m:oMath>
                </a14:m>
                <a:r>
                  <a:rPr lang="en-US" dirty="0"/>
                  <a:t> as the outcome (RIF-Logit)</a:t>
                </a:r>
              </a:p>
              <a:p>
                <a:pPr lvl="1" indent="-457200">
                  <a:buSzPct val="100000"/>
                  <a:buFont typeface="+mj-lt"/>
                  <a:buAutoNum type="arabicPeriod"/>
                </a:pPr>
                <a:r>
                  <a:rPr lang="en-US" dirty="0"/>
                  <a:t>Polynomial regression to model </a:t>
                </a:r>
                <a14:m>
                  <m:oMath xmlns:m="http://schemas.openxmlformats.org/officeDocument/2006/math">
                    <m:r>
                      <a:rPr lang="en-US" b="1" i="1">
                        <a:latin typeface="Cambria Math" panose="02040503050406030204" pitchFamily="18" charset="0"/>
                      </a:rPr>
                      <m:t>𝑰</m:t>
                    </m:r>
                    <m:d>
                      <m:dPr>
                        <m:ctrlPr>
                          <a:rPr lang="en-US" i="1">
                            <a:latin typeface="Cambria Math" panose="02040503050406030204" pitchFamily="18" charset="0"/>
                          </a:rPr>
                        </m:ctrlPr>
                      </m:dPr>
                      <m:e>
                        <m:r>
                          <a:rPr lang="en-US" i="1">
                            <a:latin typeface="Cambria Math" panose="02040503050406030204" pitchFamily="18" charset="0"/>
                          </a:rPr>
                          <m:t>𝑦</m:t>
                        </m:r>
                        <m:r>
                          <a:rPr lang="en-US" i="1" smtClean="0">
                            <a:solidFill>
                              <a:schemeClr val="tx1"/>
                            </a:solidFill>
                            <a:latin typeface="Cambria Math" panose="02040503050406030204" pitchFamily="18" charset="0"/>
                          </a:rPr>
                          <m:t>&gt;</m:t>
                        </m:r>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𝜏</m:t>
                            </m:r>
                          </m:sub>
                        </m:sSub>
                      </m:e>
                    </m:d>
                  </m:oMath>
                </a14:m>
                <a:r>
                  <a:rPr lang="en-US" dirty="0"/>
                  <a:t> (RIF-NP)</a:t>
                </a:r>
              </a:p>
              <a:p>
                <a:pPr indent="-457200">
                  <a:buSzPct val="100000"/>
                  <a:buFont typeface="+mj-lt"/>
                  <a:buAutoNum type="arabicPeriod"/>
                </a:pPr>
                <a:endParaRPr lang="en-US" dirty="0"/>
              </a:p>
              <a:p>
                <a:pPr>
                  <a:buSzPct val="100000"/>
                </a:pPr>
                <a:r>
                  <a:rPr lang="en-US" dirty="0"/>
                  <a:t>We will focus on RIF-OLS as it is easiest and most practical</a:t>
                </a:r>
              </a:p>
            </p:txBody>
          </p:sp>
        </mc:Choice>
        <mc:Fallback xmlns="">
          <p:sp>
            <p:nvSpPr>
              <p:cNvPr id="4" name="Content Placeholder 2">
                <a:extLst>
                  <a:ext uri="{FF2B5EF4-FFF2-40B4-BE49-F238E27FC236}">
                    <a16:creationId xmlns:a16="http://schemas.microsoft.com/office/drawing/2014/main" id="{A57E2EC4-5DDA-36AB-1EE6-320CD6BAE973}"/>
                  </a:ext>
                </a:extLst>
              </p:cNvPr>
              <p:cNvSpPr txBox="1">
                <a:spLocks noRot="1" noChangeAspect="1" noMove="1" noResize="1" noEditPoints="1" noAdjustHandles="1" noChangeArrowheads="1" noChangeShapeType="1" noTextEdit="1"/>
              </p:cNvSpPr>
              <p:nvPr/>
            </p:nvSpPr>
            <p:spPr>
              <a:xfrm>
                <a:off x="838200" y="1825625"/>
                <a:ext cx="10515600" cy="4351338"/>
              </a:xfrm>
              <a:prstGeom prst="rect">
                <a:avLst/>
              </a:prstGeom>
              <a:blipFill>
                <a:blip r:embed="rId3"/>
                <a:stretch>
                  <a:fillRect/>
                </a:stretch>
              </a:blipFill>
              <a:ln>
                <a:noFill/>
              </a:ln>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sp>
        <p:nvSpPr>
          <p:cNvPr id="847" name="Google Shape;847;p17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Fitting the RIF-OLS regression for SBP at the 25</a:t>
            </a:r>
            <a:r>
              <a:rPr lang="en-US" b="1" baseline="30000" dirty="0">
                <a:solidFill>
                  <a:srgbClr val="468C8A"/>
                </a:solidFill>
              </a:rPr>
              <a:t>th</a:t>
            </a:r>
            <a:r>
              <a:rPr lang="en-US" b="1" dirty="0">
                <a:solidFill>
                  <a:srgbClr val="468C8A"/>
                </a:solidFill>
              </a:rPr>
              <a:t> quantile</a:t>
            </a:r>
            <a:endParaRPr dirty="0"/>
          </a:p>
        </p:txBody>
      </p:sp>
      <p:sp>
        <p:nvSpPr>
          <p:cNvPr id="848" name="Google Shape;848;p17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120</a:t>
            </a:fld>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5F34127-70F1-40B2-F013-6A7AB504C689}"/>
                  </a:ext>
                </a:extLst>
              </p:cNvPr>
              <p:cNvSpPr txBox="1"/>
              <p:nvPr/>
            </p:nvSpPr>
            <p:spPr>
              <a:xfrm>
                <a:off x="733121" y="2015654"/>
                <a:ext cx="10071347"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solidFill>
                            <a:schemeClr val="tx1"/>
                          </a:solidFill>
                          <a:latin typeface="Cambria Math" panose="02040503050406030204" pitchFamily="18" charset="0"/>
                        </a:rPr>
                        <m:t>𝐸</m:t>
                      </m:r>
                      <m:d>
                        <m:dPr>
                          <m:begChr m:val="["/>
                          <m:endChr m:val="]"/>
                          <m:ctrlPr>
                            <a:rPr lang="en-US" sz="3600" b="0" i="1" smtClean="0">
                              <a:solidFill>
                                <a:schemeClr val="tx1"/>
                              </a:solidFill>
                              <a:latin typeface="Cambria Math" panose="02040503050406030204" pitchFamily="18" charset="0"/>
                            </a:rPr>
                          </m:ctrlPr>
                        </m:dPr>
                        <m:e>
                          <m:r>
                            <a:rPr lang="en-US" sz="3600" b="0" i="1" smtClean="0">
                              <a:solidFill>
                                <a:schemeClr val="tx1"/>
                              </a:solidFill>
                              <a:latin typeface="Cambria Math" panose="02040503050406030204" pitchFamily="18" charset="0"/>
                            </a:rPr>
                            <m:t>𝑅𝐼𝐹</m:t>
                          </m:r>
                          <m:d>
                            <m:dPr>
                              <m:ctrlPr>
                                <a:rPr lang="en-US" sz="3600" b="0" i="1" smtClean="0">
                                  <a:solidFill>
                                    <a:schemeClr val="tx1"/>
                                  </a:solidFill>
                                  <a:latin typeface="Cambria Math" panose="02040503050406030204" pitchFamily="18" charset="0"/>
                                </a:rPr>
                              </m:ctrlPr>
                            </m:dPr>
                            <m:e>
                              <m:r>
                                <a:rPr lang="en-US" sz="3600" b="0" i="1" smtClean="0">
                                  <a:solidFill>
                                    <a:schemeClr val="tx1"/>
                                  </a:solidFill>
                                  <a:latin typeface="Cambria Math" panose="02040503050406030204" pitchFamily="18" charset="0"/>
                                </a:rPr>
                                <m:t>𝑆𝐵</m:t>
                              </m:r>
                              <m:sSub>
                                <m:sSubPr>
                                  <m:ctrlPr>
                                    <a:rPr lang="en-US" sz="3600" b="0" i="1" smtClean="0">
                                      <a:solidFill>
                                        <a:schemeClr val="tx1"/>
                                      </a:solidFill>
                                      <a:latin typeface="Cambria Math" panose="02040503050406030204" pitchFamily="18" charset="0"/>
                                    </a:rPr>
                                  </m:ctrlPr>
                                </m:sSubPr>
                                <m:e>
                                  <m:r>
                                    <a:rPr lang="en-US" sz="3600" b="0" i="1" smtClean="0">
                                      <a:solidFill>
                                        <a:schemeClr val="tx1"/>
                                      </a:solidFill>
                                      <a:latin typeface="Cambria Math" panose="02040503050406030204" pitchFamily="18" charset="0"/>
                                    </a:rPr>
                                    <m:t>𝑃</m:t>
                                  </m:r>
                                </m:e>
                                <m:sub>
                                  <m:r>
                                    <a:rPr lang="en-US" sz="3600" b="0" i="1" smtClean="0">
                                      <a:solidFill>
                                        <a:schemeClr val="tx1"/>
                                      </a:solidFill>
                                      <a:latin typeface="Cambria Math" panose="02040503050406030204" pitchFamily="18" charset="0"/>
                                    </a:rPr>
                                    <m:t>𝑖</m:t>
                                  </m:r>
                                </m:sub>
                              </m:sSub>
                              <m:r>
                                <a:rPr lang="en-US" sz="3600" b="0" i="1" smtClean="0">
                                  <a:solidFill>
                                    <a:schemeClr val="tx1"/>
                                  </a:solidFill>
                                  <a:latin typeface="Cambria Math" panose="02040503050406030204" pitchFamily="18" charset="0"/>
                                </a:rPr>
                                <m:t>;</m:t>
                              </m:r>
                              <m:sSub>
                                <m:sSubPr>
                                  <m:ctrlPr>
                                    <a:rPr lang="en-US" sz="3600" b="0" i="1" smtClean="0">
                                      <a:solidFill>
                                        <a:schemeClr val="tx1"/>
                                      </a:solidFill>
                                      <a:latin typeface="Cambria Math" panose="02040503050406030204" pitchFamily="18" charset="0"/>
                                    </a:rPr>
                                  </m:ctrlPr>
                                </m:sSubPr>
                                <m:e>
                                  <m:r>
                                    <a:rPr lang="en-US" sz="3600" b="0" i="1" smtClean="0">
                                      <a:solidFill>
                                        <a:schemeClr val="tx1"/>
                                      </a:solidFill>
                                      <a:latin typeface="Cambria Math" panose="02040503050406030204" pitchFamily="18" charset="0"/>
                                    </a:rPr>
                                    <m:t>𝑞</m:t>
                                  </m:r>
                                </m:e>
                                <m:sub>
                                  <m:r>
                                    <a:rPr lang="en-US" sz="3600" b="0" i="1" smtClean="0">
                                      <a:solidFill>
                                        <a:schemeClr val="tx1"/>
                                      </a:solidFill>
                                      <a:latin typeface="Cambria Math" panose="02040503050406030204" pitchFamily="18" charset="0"/>
                                    </a:rPr>
                                    <m:t>0.25</m:t>
                                  </m:r>
                                </m:sub>
                              </m:sSub>
                            </m:e>
                          </m:d>
                        </m:e>
                        <m:e>
                          <m:r>
                            <a:rPr lang="en-US" sz="3600" b="0" i="1" smtClean="0">
                              <a:solidFill>
                                <a:schemeClr val="tx1"/>
                              </a:solidFill>
                              <a:latin typeface="Cambria Math" panose="02040503050406030204" pitchFamily="18" charset="0"/>
                            </a:rPr>
                            <m:t>𝑋</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𝐶</m:t>
                          </m:r>
                        </m:e>
                      </m:d>
                      <m:r>
                        <a:rPr lang="en-US" sz="3600" b="0" i="1" smtClean="0">
                          <a:solidFill>
                            <a:schemeClr val="tx1"/>
                          </a:solidFill>
                          <a:latin typeface="Cambria Math" panose="02040503050406030204" pitchFamily="18" charset="0"/>
                        </a:rPr>
                        <m:t>=</m:t>
                      </m:r>
                      <m:sSub>
                        <m:sSubPr>
                          <m:ctrlPr>
                            <a:rPr lang="en-US" sz="3600" b="0" i="1" smtClean="0">
                              <a:solidFill>
                                <a:schemeClr val="tx1"/>
                              </a:solidFill>
                              <a:latin typeface="Cambria Math" panose="02040503050406030204" pitchFamily="18" charset="0"/>
                            </a:rPr>
                          </m:ctrlPr>
                        </m:sSubPr>
                        <m:e>
                          <m:r>
                            <a:rPr lang="en-US" sz="3600" b="0" i="1" smtClean="0">
                              <a:solidFill>
                                <a:schemeClr val="tx1"/>
                              </a:solidFill>
                              <a:latin typeface="Cambria Math" panose="02040503050406030204" pitchFamily="18" charset="0"/>
                            </a:rPr>
                            <m:t>𝛼</m:t>
                          </m:r>
                        </m:e>
                        <m:sub>
                          <m:r>
                            <a:rPr lang="en-US" sz="3600" b="0" i="1" smtClean="0">
                              <a:solidFill>
                                <a:schemeClr val="tx1"/>
                              </a:solidFill>
                              <a:latin typeface="Cambria Math" panose="02040503050406030204" pitchFamily="18" charset="0"/>
                            </a:rPr>
                            <m:t>0.25</m:t>
                          </m:r>
                        </m:sub>
                      </m:sSub>
                      <m:r>
                        <a:rPr lang="en-US" sz="3600" b="0" i="1" smtClean="0">
                          <a:solidFill>
                            <a:schemeClr val="tx1"/>
                          </a:solidFill>
                          <a:latin typeface="Cambria Math" panose="02040503050406030204" pitchFamily="18" charset="0"/>
                        </a:rPr>
                        <m:t>+</m:t>
                      </m:r>
                      <m:sSub>
                        <m:sSubPr>
                          <m:ctrlPr>
                            <a:rPr lang="en-US" sz="3600" b="0" i="1" smtClean="0">
                              <a:solidFill>
                                <a:schemeClr val="tx1"/>
                              </a:solidFill>
                              <a:latin typeface="Cambria Math" panose="02040503050406030204" pitchFamily="18" charset="0"/>
                            </a:rPr>
                          </m:ctrlPr>
                        </m:sSubPr>
                        <m:e>
                          <m:r>
                            <a:rPr lang="en-US" sz="3600" b="0" i="1" smtClean="0">
                              <a:solidFill>
                                <a:schemeClr val="tx1"/>
                              </a:solidFill>
                              <a:latin typeface="Cambria Math" panose="02040503050406030204" pitchFamily="18" charset="0"/>
                            </a:rPr>
                            <m:t>𝛽</m:t>
                          </m:r>
                        </m:e>
                        <m:sub>
                          <m:r>
                            <a:rPr lang="en-US" sz="3600" b="0" i="1" smtClean="0">
                              <a:solidFill>
                                <a:schemeClr val="tx1"/>
                              </a:solidFill>
                              <a:latin typeface="Cambria Math" panose="02040503050406030204" pitchFamily="18" charset="0"/>
                            </a:rPr>
                            <m:t>0.25</m:t>
                          </m:r>
                        </m:sub>
                      </m:sSub>
                      <m:sSub>
                        <m:sSubPr>
                          <m:ctrlPr>
                            <a:rPr lang="en-US" sz="3600" b="0" i="1" smtClean="0">
                              <a:solidFill>
                                <a:schemeClr val="tx1"/>
                              </a:solidFill>
                              <a:latin typeface="Cambria Math" panose="02040503050406030204" pitchFamily="18" charset="0"/>
                            </a:rPr>
                          </m:ctrlPr>
                        </m:sSubPr>
                        <m:e>
                          <m:r>
                            <a:rPr lang="en-US" sz="3600" b="0" i="1" smtClean="0">
                              <a:solidFill>
                                <a:schemeClr val="tx1"/>
                              </a:solidFill>
                              <a:latin typeface="Cambria Math" panose="02040503050406030204" pitchFamily="18" charset="0"/>
                            </a:rPr>
                            <m:t>𝑥</m:t>
                          </m:r>
                        </m:e>
                        <m:sub>
                          <m:r>
                            <a:rPr lang="en-US" sz="3600" b="0" i="1" smtClean="0">
                              <a:solidFill>
                                <a:schemeClr val="tx1"/>
                              </a:solidFill>
                              <a:latin typeface="Cambria Math" panose="02040503050406030204" pitchFamily="18" charset="0"/>
                            </a:rPr>
                            <m:t>𝑖</m:t>
                          </m:r>
                        </m:sub>
                      </m:sSub>
                      <m:r>
                        <a:rPr lang="en-US" sz="3600" b="0" i="1" smtClean="0">
                          <a:solidFill>
                            <a:schemeClr val="tx1"/>
                          </a:solidFill>
                          <a:latin typeface="Cambria Math" panose="02040503050406030204" pitchFamily="18" charset="0"/>
                        </a:rPr>
                        <m:t>+</m:t>
                      </m:r>
                      <m:sSubSup>
                        <m:sSubSupPr>
                          <m:ctrlPr>
                            <a:rPr lang="en-US" sz="3600" b="0" i="1" smtClean="0">
                              <a:solidFill>
                                <a:schemeClr val="tx1"/>
                              </a:solidFill>
                              <a:latin typeface="Cambria Math" panose="02040503050406030204" pitchFamily="18" charset="0"/>
                            </a:rPr>
                          </m:ctrlPr>
                        </m:sSubSupPr>
                        <m:e>
                          <m:r>
                            <a:rPr lang="en-US" sz="3600" b="0" i="1" smtClean="0">
                              <a:solidFill>
                                <a:schemeClr val="tx1"/>
                              </a:solidFill>
                              <a:latin typeface="Cambria Math" panose="02040503050406030204" pitchFamily="18" charset="0"/>
                            </a:rPr>
                            <m:t>𝜆</m:t>
                          </m:r>
                        </m:e>
                        <m:sub>
                          <m:r>
                            <a:rPr lang="en-US" sz="3600" b="0" i="1" smtClean="0">
                              <a:solidFill>
                                <a:schemeClr val="tx1"/>
                              </a:solidFill>
                              <a:latin typeface="Cambria Math" panose="02040503050406030204" pitchFamily="18" charset="0"/>
                            </a:rPr>
                            <m:t>0.25</m:t>
                          </m:r>
                        </m:sub>
                        <m:sup>
                          <m:r>
                            <a:rPr lang="en-US" sz="3600" b="0" i="1" smtClean="0">
                              <a:solidFill>
                                <a:schemeClr val="tx1"/>
                              </a:solidFill>
                              <a:latin typeface="Cambria Math" panose="02040503050406030204" pitchFamily="18" charset="0"/>
                            </a:rPr>
                            <m:t>′</m:t>
                          </m:r>
                        </m:sup>
                      </m:sSubSup>
                      <m:r>
                        <a:rPr lang="en-US" sz="3600" b="0" i="1" smtClean="0">
                          <a:solidFill>
                            <a:schemeClr val="tx1"/>
                          </a:solidFill>
                          <a:latin typeface="Cambria Math" panose="02040503050406030204" pitchFamily="18" charset="0"/>
                        </a:rPr>
                        <m:t>𝐶</m:t>
                      </m:r>
                    </m:oMath>
                  </m:oMathPara>
                </a14:m>
                <a:endParaRPr lang="en-US" sz="3600" dirty="0">
                  <a:solidFill>
                    <a:schemeClr val="tx1"/>
                  </a:solidFill>
                </a:endParaRPr>
              </a:p>
            </p:txBody>
          </p:sp>
        </mc:Choice>
        <mc:Fallback xmlns="">
          <p:sp>
            <p:nvSpPr>
              <p:cNvPr id="2" name="TextBox 1">
                <a:extLst>
                  <a:ext uri="{FF2B5EF4-FFF2-40B4-BE49-F238E27FC236}">
                    <a16:creationId xmlns:a16="http://schemas.microsoft.com/office/drawing/2014/main" id="{35F34127-70F1-40B2-F013-6A7AB504C689}"/>
                  </a:ext>
                </a:extLst>
              </p:cNvPr>
              <p:cNvSpPr txBox="1">
                <a:spLocks noRot="1" noChangeAspect="1" noMove="1" noResize="1" noEditPoints="1" noAdjustHandles="1" noChangeArrowheads="1" noChangeShapeType="1" noTextEdit="1"/>
              </p:cNvSpPr>
              <p:nvPr/>
            </p:nvSpPr>
            <p:spPr>
              <a:xfrm>
                <a:off x="733121" y="2015654"/>
                <a:ext cx="10071347" cy="553998"/>
              </a:xfrm>
              <a:prstGeom prst="rect">
                <a:avLst/>
              </a:prstGeom>
              <a:blipFill>
                <a:blip r:embed="rId3"/>
                <a:stretch>
                  <a:fillRect l="-378" r="-252"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317FC02-2AC3-C713-CC99-F32A6F36BCC4}"/>
                  </a:ext>
                </a:extLst>
              </p:cNvPr>
              <p:cNvSpPr txBox="1"/>
              <p:nvPr/>
            </p:nvSpPr>
            <p:spPr>
              <a:xfrm>
                <a:off x="206608" y="3082398"/>
                <a:ext cx="11778780" cy="62536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solidFill>
                            <a:schemeClr val="tx1"/>
                          </a:solidFill>
                          <a:latin typeface="Cambria Math" panose="02040503050406030204" pitchFamily="18" charset="0"/>
                        </a:rPr>
                        <m:t>𝐸</m:t>
                      </m:r>
                      <m:d>
                        <m:dPr>
                          <m:begChr m:val="["/>
                          <m:endChr m:val="]"/>
                          <m:ctrlPr>
                            <a:rPr lang="en-US" sz="3600" b="0" i="1" smtClean="0">
                              <a:solidFill>
                                <a:schemeClr val="tx1"/>
                              </a:solidFill>
                              <a:latin typeface="Cambria Math" panose="02040503050406030204" pitchFamily="18" charset="0"/>
                            </a:rPr>
                          </m:ctrlPr>
                        </m:dPr>
                        <m:e>
                          <m:r>
                            <a:rPr lang="en-US" sz="3600" b="0" i="1" smtClean="0">
                              <a:solidFill>
                                <a:schemeClr val="tx1"/>
                              </a:solidFill>
                              <a:latin typeface="Cambria Math" panose="02040503050406030204" pitchFamily="18" charset="0"/>
                            </a:rPr>
                            <m:t>𝐸</m:t>
                          </m:r>
                          <m:d>
                            <m:dPr>
                              <m:begChr m:val="["/>
                              <m:endChr m:val="]"/>
                              <m:ctrlPr>
                                <a:rPr lang="en-US" sz="3600" b="0" i="1" smtClean="0">
                                  <a:solidFill>
                                    <a:schemeClr val="tx1"/>
                                  </a:solidFill>
                                  <a:latin typeface="Cambria Math" panose="02040503050406030204" pitchFamily="18" charset="0"/>
                                </a:rPr>
                              </m:ctrlPr>
                            </m:dPr>
                            <m:e>
                              <m:r>
                                <a:rPr lang="en-US" sz="3600" b="0" i="1" smtClean="0">
                                  <a:solidFill>
                                    <a:schemeClr val="tx1"/>
                                  </a:solidFill>
                                  <a:latin typeface="Cambria Math" panose="02040503050406030204" pitchFamily="18" charset="0"/>
                                </a:rPr>
                                <m:t>𝑅𝐼𝐹</m:t>
                              </m:r>
                              <m:d>
                                <m:dPr>
                                  <m:ctrlPr>
                                    <a:rPr lang="en-US" sz="3600" b="0" i="1" smtClean="0">
                                      <a:solidFill>
                                        <a:schemeClr val="tx1"/>
                                      </a:solidFill>
                                      <a:latin typeface="Cambria Math" panose="02040503050406030204" pitchFamily="18" charset="0"/>
                                    </a:rPr>
                                  </m:ctrlPr>
                                </m:dPr>
                                <m:e>
                                  <m:r>
                                    <a:rPr lang="en-US" sz="3600" b="0" i="1" smtClean="0">
                                      <a:solidFill>
                                        <a:schemeClr val="tx1"/>
                                      </a:solidFill>
                                      <a:latin typeface="Cambria Math" panose="02040503050406030204" pitchFamily="18" charset="0"/>
                                    </a:rPr>
                                    <m:t>𝑆𝐵</m:t>
                                  </m:r>
                                  <m:sSub>
                                    <m:sSubPr>
                                      <m:ctrlPr>
                                        <a:rPr lang="en-US" sz="3600" b="0" i="1" smtClean="0">
                                          <a:solidFill>
                                            <a:schemeClr val="tx1"/>
                                          </a:solidFill>
                                          <a:latin typeface="Cambria Math" panose="02040503050406030204" pitchFamily="18" charset="0"/>
                                        </a:rPr>
                                      </m:ctrlPr>
                                    </m:sSubPr>
                                    <m:e>
                                      <m:r>
                                        <a:rPr lang="en-US" sz="3600" b="0" i="1" smtClean="0">
                                          <a:solidFill>
                                            <a:schemeClr val="tx1"/>
                                          </a:solidFill>
                                          <a:latin typeface="Cambria Math" panose="02040503050406030204" pitchFamily="18" charset="0"/>
                                        </a:rPr>
                                        <m:t>𝑃</m:t>
                                      </m:r>
                                    </m:e>
                                    <m:sub>
                                      <m:r>
                                        <a:rPr lang="en-US" sz="3600" b="0" i="1" smtClean="0">
                                          <a:solidFill>
                                            <a:schemeClr val="tx1"/>
                                          </a:solidFill>
                                          <a:latin typeface="Cambria Math" panose="02040503050406030204" pitchFamily="18" charset="0"/>
                                        </a:rPr>
                                        <m:t>𝑖</m:t>
                                      </m:r>
                                    </m:sub>
                                  </m:sSub>
                                  <m:r>
                                    <a:rPr lang="en-US" sz="3600" b="0" i="1" smtClean="0">
                                      <a:solidFill>
                                        <a:schemeClr val="tx1"/>
                                      </a:solidFill>
                                      <a:latin typeface="Cambria Math" panose="02040503050406030204" pitchFamily="18" charset="0"/>
                                    </a:rPr>
                                    <m:t>;</m:t>
                                  </m:r>
                                  <m:sSub>
                                    <m:sSubPr>
                                      <m:ctrlPr>
                                        <a:rPr lang="en-US" sz="3600" b="0" i="1" smtClean="0">
                                          <a:solidFill>
                                            <a:schemeClr val="tx1"/>
                                          </a:solidFill>
                                          <a:latin typeface="Cambria Math" panose="02040503050406030204" pitchFamily="18" charset="0"/>
                                        </a:rPr>
                                      </m:ctrlPr>
                                    </m:sSubPr>
                                    <m:e>
                                      <m:r>
                                        <a:rPr lang="en-US" sz="3600" b="0" i="1" smtClean="0">
                                          <a:solidFill>
                                            <a:schemeClr val="tx1"/>
                                          </a:solidFill>
                                          <a:latin typeface="Cambria Math" panose="02040503050406030204" pitchFamily="18" charset="0"/>
                                        </a:rPr>
                                        <m:t>𝑞</m:t>
                                      </m:r>
                                    </m:e>
                                    <m:sub>
                                      <m:r>
                                        <a:rPr lang="en-US" sz="3600" b="0" i="1" smtClean="0">
                                          <a:solidFill>
                                            <a:schemeClr val="tx1"/>
                                          </a:solidFill>
                                          <a:latin typeface="Cambria Math" panose="02040503050406030204" pitchFamily="18" charset="0"/>
                                        </a:rPr>
                                        <m:t>0.25</m:t>
                                      </m:r>
                                    </m:sub>
                                  </m:sSub>
                                </m:e>
                              </m:d>
                            </m:e>
                            <m:e>
                              <m:r>
                                <a:rPr lang="en-US" sz="3600" b="0" i="1" smtClean="0">
                                  <a:solidFill>
                                    <a:schemeClr val="tx1"/>
                                  </a:solidFill>
                                  <a:latin typeface="Cambria Math" panose="02040503050406030204" pitchFamily="18" charset="0"/>
                                </a:rPr>
                                <m:t>𝑋</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𝐶</m:t>
                              </m:r>
                            </m:e>
                          </m:d>
                        </m:e>
                      </m:d>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𝐸</m:t>
                      </m:r>
                      <m:d>
                        <m:dPr>
                          <m:begChr m:val="["/>
                          <m:endChr m:val="]"/>
                          <m:ctrlPr>
                            <a:rPr lang="en-US" sz="3600" b="0" i="1" smtClean="0">
                              <a:solidFill>
                                <a:schemeClr val="tx1"/>
                              </a:solidFill>
                              <a:latin typeface="Cambria Math" panose="02040503050406030204" pitchFamily="18" charset="0"/>
                            </a:rPr>
                          </m:ctrlPr>
                        </m:dPr>
                        <m:e>
                          <m:sSub>
                            <m:sSubPr>
                              <m:ctrlPr>
                                <a:rPr lang="en-US" sz="3600" b="0" i="1" smtClean="0">
                                  <a:solidFill>
                                    <a:schemeClr val="tx1"/>
                                  </a:solidFill>
                                  <a:latin typeface="Cambria Math" panose="02040503050406030204" pitchFamily="18" charset="0"/>
                                </a:rPr>
                              </m:ctrlPr>
                            </m:sSubPr>
                            <m:e>
                              <m:r>
                                <a:rPr lang="en-US" sz="3600" b="0" i="1" smtClean="0">
                                  <a:solidFill>
                                    <a:schemeClr val="tx1"/>
                                  </a:solidFill>
                                  <a:latin typeface="Cambria Math" panose="02040503050406030204" pitchFamily="18" charset="0"/>
                                </a:rPr>
                                <m:t>𝛼</m:t>
                              </m:r>
                            </m:e>
                            <m:sub>
                              <m:r>
                                <a:rPr lang="en-US" sz="3600" b="0" i="1" smtClean="0">
                                  <a:solidFill>
                                    <a:schemeClr val="tx1"/>
                                  </a:solidFill>
                                  <a:latin typeface="Cambria Math" panose="02040503050406030204" pitchFamily="18" charset="0"/>
                                </a:rPr>
                                <m:t>0.25</m:t>
                              </m:r>
                            </m:sub>
                          </m:sSub>
                          <m:r>
                            <a:rPr lang="en-US" sz="3600" b="0" i="1" smtClean="0">
                              <a:solidFill>
                                <a:schemeClr val="tx1"/>
                              </a:solidFill>
                              <a:latin typeface="Cambria Math" panose="02040503050406030204" pitchFamily="18" charset="0"/>
                            </a:rPr>
                            <m:t>+</m:t>
                          </m:r>
                          <m:sSub>
                            <m:sSubPr>
                              <m:ctrlPr>
                                <a:rPr lang="en-US" sz="3600" b="0" i="1" smtClean="0">
                                  <a:solidFill>
                                    <a:schemeClr val="tx1"/>
                                  </a:solidFill>
                                  <a:latin typeface="Cambria Math" panose="02040503050406030204" pitchFamily="18" charset="0"/>
                                </a:rPr>
                              </m:ctrlPr>
                            </m:sSubPr>
                            <m:e>
                              <m:r>
                                <a:rPr lang="en-US" sz="3600" b="0" i="1" smtClean="0">
                                  <a:solidFill>
                                    <a:schemeClr val="tx1"/>
                                  </a:solidFill>
                                  <a:latin typeface="Cambria Math" panose="02040503050406030204" pitchFamily="18" charset="0"/>
                                </a:rPr>
                                <m:t>𝛽</m:t>
                              </m:r>
                            </m:e>
                            <m:sub>
                              <m:r>
                                <a:rPr lang="en-US" sz="3600" b="0" i="1" smtClean="0">
                                  <a:solidFill>
                                    <a:schemeClr val="tx1"/>
                                  </a:solidFill>
                                  <a:latin typeface="Cambria Math" panose="02040503050406030204" pitchFamily="18" charset="0"/>
                                </a:rPr>
                                <m:t>0.25</m:t>
                              </m:r>
                            </m:sub>
                          </m:sSub>
                          <m:sSub>
                            <m:sSubPr>
                              <m:ctrlPr>
                                <a:rPr lang="en-US" sz="3600" b="0" i="1" smtClean="0">
                                  <a:solidFill>
                                    <a:schemeClr val="tx1"/>
                                  </a:solidFill>
                                  <a:latin typeface="Cambria Math" panose="02040503050406030204" pitchFamily="18" charset="0"/>
                                </a:rPr>
                              </m:ctrlPr>
                            </m:sSubPr>
                            <m:e>
                              <m:r>
                                <a:rPr lang="en-US" sz="3600" b="0" i="1" smtClean="0">
                                  <a:solidFill>
                                    <a:schemeClr val="tx1"/>
                                  </a:solidFill>
                                  <a:latin typeface="Cambria Math" panose="02040503050406030204" pitchFamily="18" charset="0"/>
                                </a:rPr>
                                <m:t>𝑥</m:t>
                              </m:r>
                            </m:e>
                            <m:sub>
                              <m:r>
                                <a:rPr lang="en-US" sz="3600" b="0" i="1" smtClean="0">
                                  <a:solidFill>
                                    <a:schemeClr val="tx1"/>
                                  </a:solidFill>
                                  <a:latin typeface="Cambria Math" panose="02040503050406030204" pitchFamily="18" charset="0"/>
                                </a:rPr>
                                <m:t>𝑖</m:t>
                              </m:r>
                            </m:sub>
                          </m:sSub>
                          <m:r>
                            <a:rPr lang="en-US" sz="3600" b="0" i="1" smtClean="0">
                              <a:solidFill>
                                <a:schemeClr val="tx1"/>
                              </a:solidFill>
                              <a:latin typeface="Cambria Math" panose="02040503050406030204" pitchFamily="18" charset="0"/>
                            </a:rPr>
                            <m:t>+</m:t>
                          </m:r>
                          <m:sSubSup>
                            <m:sSubSupPr>
                              <m:ctrlPr>
                                <a:rPr lang="en-US" sz="3600" b="0" i="1" smtClean="0">
                                  <a:solidFill>
                                    <a:schemeClr val="tx1"/>
                                  </a:solidFill>
                                  <a:latin typeface="Cambria Math" panose="02040503050406030204" pitchFamily="18" charset="0"/>
                                </a:rPr>
                              </m:ctrlPr>
                            </m:sSubSupPr>
                            <m:e>
                              <m:r>
                                <a:rPr lang="en-US" sz="3600" b="0" i="1" smtClean="0">
                                  <a:solidFill>
                                    <a:schemeClr val="tx1"/>
                                  </a:solidFill>
                                  <a:latin typeface="Cambria Math" panose="02040503050406030204" pitchFamily="18" charset="0"/>
                                </a:rPr>
                                <m:t>𝜆</m:t>
                              </m:r>
                            </m:e>
                            <m:sub>
                              <m:r>
                                <a:rPr lang="en-US" sz="3600" b="0" i="1" smtClean="0">
                                  <a:solidFill>
                                    <a:schemeClr val="tx1"/>
                                  </a:solidFill>
                                  <a:latin typeface="Cambria Math" panose="02040503050406030204" pitchFamily="18" charset="0"/>
                                </a:rPr>
                                <m:t>0.25</m:t>
                              </m:r>
                            </m:sub>
                            <m:sup>
                              <m:r>
                                <a:rPr lang="en-US" sz="3600" b="0" i="1" smtClean="0">
                                  <a:solidFill>
                                    <a:schemeClr val="tx1"/>
                                  </a:solidFill>
                                  <a:latin typeface="Cambria Math" panose="02040503050406030204" pitchFamily="18" charset="0"/>
                                </a:rPr>
                                <m:t>′</m:t>
                              </m:r>
                            </m:sup>
                          </m:sSubSup>
                          <m:r>
                            <a:rPr lang="en-US" sz="3600" b="0" i="1" smtClean="0">
                              <a:solidFill>
                                <a:schemeClr val="tx1"/>
                              </a:solidFill>
                              <a:latin typeface="Cambria Math" panose="02040503050406030204" pitchFamily="18" charset="0"/>
                            </a:rPr>
                            <m:t>𝐶</m:t>
                          </m:r>
                        </m:e>
                      </m:d>
                    </m:oMath>
                  </m:oMathPara>
                </a14:m>
                <a:endParaRPr lang="en-US" sz="3600" dirty="0">
                  <a:solidFill>
                    <a:schemeClr val="tx1"/>
                  </a:solidFill>
                </a:endParaRPr>
              </a:p>
            </p:txBody>
          </p:sp>
        </mc:Choice>
        <mc:Fallback xmlns="">
          <p:sp>
            <p:nvSpPr>
              <p:cNvPr id="3" name="TextBox 2">
                <a:extLst>
                  <a:ext uri="{FF2B5EF4-FFF2-40B4-BE49-F238E27FC236}">
                    <a16:creationId xmlns:a16="http://schemas.microsoft.com/office/drawing/2014/main" id="{1317FC02-2AC3-C713-CC99-F32A6F36BCC4}"/>
                  </a:ext>
                </a:extLst>
              </p:cNvPr>
              <p:cNvSpPr txBox="1">
                <a:spLocks noRot="1" noChangeAspect="1" noMove="1" noResize="1" noEditPoints="1" noAdjustHandles="1" noChangeArrowheads="1" noChangeShapeType="1" noTextEdit="1"/>
              </p:cNvSpPr>
              <p:nvPr/>
            </p:nvSpPr>
            <p:spPr>
              <a:xfrm>
                <a:off x="206608" y="3082398"/>
                <a:ext cx="11778780" cy="625364"/>
              </a:xfrm>
              <a:prstGeom prst="rect">
                <a:avLst/>
              </a:prstGeom>
              <a:blipFill>
                <a:blip r:embed="rId4"/>
                <a:stretch>
                  <a:fillRect b="-2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7EA75C8-F1B4-F5AB-7602-374B109150CF}"/>
                  </a:ext>
                </a:extLst>
              </p:cNvPr>
              <p:cNvSpPr txBox="1"/>
              <p:nvPr/>
            </p:nvSpPr>
            <p:spPr>
              <a:xfrm>
                <a:off x="658932" y="4196143"/>
                <a:ext cx="10329494"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solidFill>
                            <a:schemeClr val="tx1"/>
                          </a:solidFill>
                          <a:latin typeface="Cambria Math" panose="02040503050406030204" pitchFamily="18" charset="0"/>
                        </a:rPr>
                        <m:t>𝐸</m:t>
                      </m:r>
                      <m:d>
                        <m:dPr>
                          <m:begChr m:val="["/>
                          <m:endChr m:val="]"/>
                          <m:ctrlPr>
                            <a:rPr lang="en-US" sz="3600" b="0" i="1" smtClean="0">
                              <a:solidFill>
                                <a:schemeClr val="tx1"/>
                              </a:solidFill>
                              <a:latin typeface="Cambria Math" panose="02040503050406030204" pitchFamily="18" charset="0"/>
                            </a:rPr>
                          </m:ctrlPr>
                        </m:dPr>
                        <m:e>
                          <m:r>
                            <a:rPr lang="en-US" sz="3600" b="0" i="1" smtClean="0">
                              <a:solidFill>
                                <a:schemeClr val="tx1"/>
                              </a:solidFill>
                              <a:latin typeface="Cambria Math" panose="02040503050406030204" pitchFamily="18" charset="0"/>
                            </a:rPr>
                            <m:t>𝑅𝐼𝐹</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𝑆𝐵</m:t>
                          </m:r>
                          <m:sSub>
                            <m:sSubPr>
                              <m:ctrlPr>
                                <a:rPr lang="en-US" sz="3600" b="0" i="1" smtClean="0">
                                  <a:solidFill>
                                    <a:schemeClr val="tx1"/>
                                  </a:solidFill>
                                  <a:latin typeface="Cambria Math" panose="02040503050406030204" pitchFamily="18" charset="0"/>
                                </a:rPr>
                              </m:ctrlPr>
                            </m:sSubPr>
                            <m:e>
                              <m:r>
                                <a:rPr lang="en-US" sz="3600" b="0" i="1" smtClean="0">
                                  <a:solidFill>
                                    <a:schemeClr val="tx1"/>
                                  </a:solidFill>
                                  <a:latin typeface="Cambria Math" panose="02040503050406030204" pitchFamily="18" charset="0"/>
                                </a:rPr>
                                <m:t>𝑃</m:t>
                              </m:r>
                            </m:e>
                            <m:sub>
                              <m:r>
                                <a:rPr lang="en-US" sz="3600" b="0" i="1" smtClean="0">
                                  <a:solidFill>
                                    <a:schemeClr val="tx1"/>
                                  </a:solidFill>
                                  <a:latin typeface="Cambria Math" panose="02040503050406030204" pitchFamily="18" charset="0"/>
                                </a:rPr>
                                <m:t>𝑖</m:t>
                              </m:r>
                            </m:sub>
                          </m:sSub>
                          <m:r>
                            <a:rPr lang="en-US" sz="3600" b="0" i="1" smtClean="0">
                              <a:solidFill>
                                <a:schemeClr val="tx1"/>
                              </a:solidFill>
                              <a:latin typeface="Cambria Math" panose="02040503050406030204" pitchFamily="18" charset="0"/>
                            </a:rPr>
                            <m:t>;</m:t>
                          </m:r>
                          <m:sSub>
                            <m:sSubPr>
                              <m:ctrlPr>
                                <a:rPr lang="en-US" sz="3600" b="0" i="1" smtClean="0">
                                  <a:solidFill>
                                    <a:schemeClr val="tx1"/>
                                  </a:solidFill>
                                  <a:latin typeface="Cambria Math" panose="02040503050406030204" pitchFamily="18" charset="0"/>
                                </a:rPr>
                              </m:ctrlPr>
                            </m:sSubPr>
                            <m:e>
                              <m:r>
                                <a:rPr lang="en-US" sz="3600" b="0" i="1" smtClean="0">
                                  <a:solidFill>
                                    <a:schemeClr val="tx1"/>
                                  </a:solidFill>
                                  <a:latin typeface="Cambria Math" panose="02040503050406030204" pitchFamily="18" charset="0"/>
                                </a:rPr>
                                <m:t>𝑞</m:t>
                              </m:r>
                            </m:e>
                            <m:sub>
                              <m:r>
                                <a:rPr lang="en-US" sz="3600" b="0" i="1" smtClean="0">
                                  <a:solidFill>
                                    <a:schemeClr val="tx1"/>
                                  </a:solidFill>
                                  <a:latin typeface="Cambria Math" panose="02040503050406030204" pitchFamily="18" charset="0"/>
                                </a:rPr>
                                <m:t>0.25</m:t>
                              </m:r>
                            </m:sub>
                          </m:sSub>
                          <m:r>
                            <a:rPr lang="en-US" sz="3600" b="0" i="1" smtClean="0">
                              <a:solidFill>
                                <a:schemeClr val="tx1"/>
                              </a:solidFill>
                              <a:latin typeface="Cambria Math" panose="02040503050406030204" pitchFamily="18" charset="0"/>
                            </a:rPr>
                            <m:t>)</m:t>
                          </m:r>
                        </m:e>
                      </m:d>
                      <m:r>
                        <a:rPr lang="en-US" sz="3600" b="0" i="1" smtClean="0">
                          <a:solidFill>
                            <a:schemeClr val="tx1"/>
                          </a:solidFill>
                          <a:latin typeface="Cambria Math" panose="02040503050406030204" pitchFamily="18" charset="0"/>
                        </a:rPr>
                        <m:t>=</m:t>
                      </m:r>
                      <m:sSub>
                        <m:sSubPr>
                          <m:ctrlPr>
                            <a:rPr lang="en-US" sz="3600" b="0" i="1" smtClean="0">
                              <a:solidFill>
                                <a:schemeClr val="tx1"/>
                              </a:solidFill>
                              <a:latin typeface="Cambria Math" panose="02040503050406030204" pitchFamily="18" charset="0"/>
                            </a:rPr>
                          </m:ctrlPr>
                        </m:sSubPr>
                        <m:e>
                          <m:r>
                            <a:rPr lang="en-US" sz="3600" b="0" i="1" smtClean="0">
                              <a:solidFill>
                                <a:schemeClr val="tx1"/>
                              </a:solidFill>
                              <a:latin typeface="Cambria Math" panose="02040503050406030204" pitchFamily="18" charset="0"/>
                            </a:rPr>
                            <m:t>𝛼</m:t>
                          </m:r>
                        </m:e>
                        <m:sub>
                          <m:r>
                            <a:rPr lang="en-US" sz="3600" b="0" i="1" smtClean="0">
                              <a:solidFill>
                                <a:schemeClr val="tx1"/>
                              </a:solidFill>
                              <a:latin typeface="Cambria Math" panose="02040503050406030204" pitchFamily="18" charset="0"/>
                            </a:rPr>
                            <m:t>0.25</m:t>
                          </m:r>
                        </m:sub>
                      </m:sSub>
                      <m:r>
                        <a:rPr lang="en-US" sz="3600" b="0" i="1" smtClean="0">
                          <a:solidFill>
                            <a:schemeClr val="tx1"/>
                          </a:solidFill>
                          <a:latin typeface="Cambria Math" panose="02040503050406030204" pitchFamily="18" charset="0"/>
                        </a:rPr>
                        <m:t>+</m:t>
                      </m:r>
                      <m:sSub>
                        <m:sSubPr>
                          <m:ctrlPr>
                            <a:rPr lang="en-US" sz="3600" b="0" i="1" smtClean="0">
                              <a:solidFill>
                                <a:schemeClr val="tx1"/>
                              </a:solidFill>
                              <a:latin typeface="Cambria Math" panose="02040503050406030204" pitchFamily="18" charset="0"/>
                            </a:rPr>
                          </m:ctrlPr>
                        </m:sSubPr>
                        <m:e>
                          <m:r>
                            <a:rPr lang="en-US" sz="3600" b="0" i="1" smtClean="0">
                              <a:solidFill>
                                <a:schemeClr val="tx1"/>
                              </a:solidFill>
                              <a:latin typeface="Cambria Math" panose="02040503050406030204" pitchFamily="18" charset="0"/>
                            </a:rPr>
                            <m:t>𝛽</m:t>
                          </m:r>
                        </m:e>
                        <m:sub>
                          <m:r>
                            <a:rPr lang="en-US" sz="3600" b="0" i="1" smtClean="0">
                              <a:solidFill>
                                <a:schemeClr val="tx1"/>
                              </a:solidFill>
                              <a:latin typeface="Cambria Math" panose="02040503050406030204" pitchFamily="18" charset="0"/>
                            </a:rPr>
                            <m:t>0.25</m:t>
                          </m:r>
                        </m:sub>
                      </m:sSub>
                      <m:r>
                        <a:rPr lang="en-US" sz="3600" b="0" i="1" smtClean="0">
                          <a:solidFill>
                            <a:schemeClr val="tx1"/>
                          </a:solidFill>
                          <a:latin typeface="Cambria Math" panose="02040503050406030204" pitchFamily="18" charset="0"/>
                        </a:rPr>
                        <m:t>𝐸</m:t>
                      </m:r>
                      <m:d>
                        <m:dPr>
                          <m:begChr m:val="["/>
                          <m:endChr m:val="]"/>
                          <m:ctrlPr>
                            <a:rPr lang="en-US" sz="3600" b="0" i="1" smtClean="0">
                              <a:solidFill>
                                <a:schemeClr val="tx1"/>
                              </a:solidFill>
                              <a:latin typeface="Cambria Math" panose="02040503050406030204" pitchFamily="18" charset="0"/>
                            </a:rPr>
                          </m:ctrlPr>
                        </m:dPr>
                        <m:e>
                          <m:r>
                            <a:rPr lang="en-US" sz="3600" b="0" i="1" smtClean="0">
                              <a:solidFill>
                                <a:schemeClr val="tx1"/>
                              </a:solidFill>
                              <a:latin typeface="Cambria Math" panose="02040503050406030204" pitchFamily="18" charset="0"/>
                            </a:rPr>
                            <m:t>𝑋</m:t>
                          </m:r>
                        </m:e>
                      </m:d>
                      <m:r>
                        <a:rPr lang="en-US" sz="3600" b="0" i="1" smtClean="0">
                          <a:solidFill>
                            <a:schemeClr val="tx1"/>
                          </a:solidFill>
                          <a:latin typeface="Cambria Math" panose="02040503050406030204" pitchFamily="18" charset="0"/>
                        </a:rPr>
                        <m:t>+</m:t>
                      </m:r>
                      <m:sSubSup>
                        <m:sSubSupPr>
                          <m:ctrlPr>
                            <a:rPr lang="en-US" sz="3600" b="0" i="1" smtClean="0">
                              <a:solidFill>
                                <a:schemeClr val="tx1"/>
                              </a:solidFill>
                              <a:latin typeface="Cambria Math" panose="02040503050406030204" pitchFamily="18" charset="0"/>
                            </a:rPr>
                          </m:ctrlPr>
                        </m:sSubSupPr>
                        <m:e>
                          <m:r>
                            <a:rPr lang="en-US" sz="3600" b="0" i="1" smtClean="0">
                              <a:solidFill>
                                <a:schemeClr val="tx1"/>
                              </a:solidFill>
                              <a:latin typeface="Cambria Math" panose="02040503050406030204" pitchFamily="18" charset="0"/>
                            </a:rPr>
                            <m:t>𝜆</m:t>
                          </m:r>
                        </m:e>
                        <m:sub>
                          <m:r>
                            <a:rPr lang="en-US" sz="3600" b="0" i="1" smtClean="0">
                              <a:solidFill>
                                <a:schemeClr val="tx1"/>
                              </a:solidFill>
                              <a:latin typeface="Cambria Math" panose="02040503050406030204" pitchFamily="18" charset="0"/>
                            </a:rPr>
                            <m:t>0.25</m:t>
                          </m:r>
                        </m:sub>
                        <m:sup>
                          <m:r>
                            <a:rPr lang="en-US" sz="3600" b="0" i="1" smtClean="0">
                              <a:solidFill>
                                <a:schemeClr val="tx1"/>
                              </a:solidFill>
                              <a:latin typeface="Cambria Math" panose="02040503050406030204" pitchFamily="18" charset="0"/>
                            </a:rPr>
                            <m:t>′</m:t>
                          </m:r>
                        </m:sup>
                      </m:sSubSup>
                      <m:r>
                        <a:rPr lang="en-US" sz="3600" b="0" i="1" smtClean="0">
                          <a:solidFill>
                            <a:schemeClr val="tx1"/>
                          </a:solidFill>
                          <a:latin typeface="Cambria Math" panose="02040503050406030204" pitchFamily="18" charset="0"/>
                        </a:rPr>
                        <m:t>𝐸</m:t>
                      </m:r>
                      <m:r>
                        <a:rPr lang="en-US" sz="3600" b="0" i="1" smtClean="0">
                          <a:solidFill>
                            <a:schemeClr val="tx1"/>
                          </a:solidFill>
                          <a:latin typeface="Cambria Math" panose="02040503050406030204" pitchFamily="18" charset="0"/>
                        </a:rPr>
                        <m:t>[</m:t>
                      </m:r>
                      <m:r>
                        <a:rPr lang="en-US" sz="3600" b="0" i="1" smtClean="0">
                          <a:solidFill>
                            <a:schemeClr val="tx1"/>
                          </a:solidFill>
                          <a:latin typeface="Cambria Math" panose="02040503050406030204" pitchFamily="18" charset="0"/>
                        </a:rPr>
                        <m:t>𝐶</m:t>
                      </m:r>
                      <m:r>
                        <a:rPr lang="en-US" sz="3600" b="0" i="1" smtClean="0">
                          <a:solidFill>
                            <a:schemeClr val="tx1"/>
                          </a:solidFill>
                          <a:latin typeface="Cambria Math" panose="02040503050406030204" pitchFamily="18" charset="0"/>
                        </a:rPr>
                        <m:t>]</m:t>
                      </m:r>
                    </m:oMath>
                  </m:oMathPara>
                </a14:m>
                <a:endParaRPr lang="en-US" sz="3600" dirty="0">
                  <a:solidFill>
                    <a:schemeClr val="tx1"/>
                  </a:solidFill>
                </a:endParaRPr>
              </a:p>
            </p:txBody>
          </p:sp>
        </mc:Choice>
        <mc:Fallback xmlns="">
          <p:sp>
            <p:nvSpPr>
              <p:cNvPr id="4" name="TextBox 3">
                <a:extLst>
                  <a:ext uri="{FF2B5EF4-FFF2-40B4-BE49-F238E27FC236}">
                    <a16:creationId xmlns:a16="http://schemas.microsoft.com/office/drawing/2014/main" id="{47EA75C8-F1B4-F5AB-7602-374B109150CF}"/>
                  </a:ext>
                </a:extLst>
              </p:cNvPr>
              <p:cNvSpPr txBox="1">
                <a:spLocks noRot="1" noChangeAspect="1" noMove="1" noResize="1" noEditPoints="1" noAdjustHandles="1" noChangeArrowheads="1" noChangeShapeType="1" noTextEdit="1"/>
              </p:cNvSpPr>
              <p:nvPr/>
            </p:nvSpPr>
            <p:spPr>
              <a:xfrm>
                <a:off x="658932" y="4196143"/>
                <a:ext cx="10329494" cy="553998"/>
              </a:xfrm>
              <a:prstGeom prst="rect">
                <a:avLst/>
              </a:prstGeom>
              <a:blipFill>
                <a:blip r:embed="rId5"/>
                <a:stretch>
                  <a:fillRect l="-368" r="-982" b="-38636"/>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2DD86D04-BADC-FE91-8BA3-5FEA1B22AFF5}"/>
              </a:ext>
            </a:extLst>
          </p:cNvPr>
          <p:cNvSpPr/>
          <p:nvPr/>
        </p:nvSpPr>
        <p:spPr>
          <a:xfrm>
            <a:off x="6543076" y="4218197"/>
            <a:ext cx="1054758" cy="625364"/>
          </a:xfrm>
          <a:prstGeom prst="rect">
            <a:avLst/>
          </a:prstGeom>
          <a:noFill/>
          <a:ln w="38100">
            <a:solidFill>
              <a:srgbClr val="FF9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Left Brace 5">
            <a:extLst>
              <a:ext uri="{FF2B5EF4-FFF2-40B4-BE49-F238E27FC236}">
                <a16:creationId xmlns:a16="http://schemas.microsoft.com/office/drawing/2014/main" id="{30815BC7-6F5B-BFA5-7043-50F53F6A76C2}"/>
              </a:ext>
            </a:extLst>
          </p:cNvPr>
          <p:cNvSpPr/>
          <p:nvPr/>
        </p:nvSpPr>
        <p:spPr>
          <a:xfrm rot="16200000" flipV="1">
            <a:off x="2456365" y="3075008"/>
            <a:ext cx="340971" cy="3935838"/>
          </a:xfrm>
          <a:prstGeom prst="leftBrace">
            <a:avLst/>
          </a:prstGeom>
          <a:ln w="28575">
            <a:solidFill>
              <a:srgbClr val="468C8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1AE844E-E271-4A3B-4CCF-DAC60D86D40A}"/>
                  </a:ext>
                </a:extLst>
              </p:cNvPr>
              <p:cNvSpPr txBox="1"/>
              <p:nvPr/>
            </p:nvSpPr>
            <p:spPr>
              <a:xfrm>
                <a:off x="836502" y="5247132"/>
                <a:ext cx="375826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lumMod val="50000"/>
                            </a:schemeClr>
                          </a:solidFill>
                          <a:latin typeface="Cambria Math" panose="02040503050406030204" pitchFamily="18" charset="0"/>
                        </a:rPr>
                        <m:t>𝐸</m:t>
                      </m:r>
                      <m:d>
                        <m:dPr>
                          <m:begChr m:val="["/>
                          <m:endChr m:val="]"/>
                          <m:ctrlPr>
                            <a:rPr lang="en-US" i="1">
                              <a:solidFill>
                                <a:schemeClr val="bg1">
                                  <a:lumMod val="50000"/>
                                </a:schemeClr>
                              </a:solidFill>
                              <a:latin typeface="Cambria Math" panose="02040503050406030204" pitchFamily="18" charset="0"/>
                            </a:rPr>
                          </m:ctrlPr>
                        </m:dPr>
                        <m:e>
                          <m:r>
                            <a:rPr lang="en-US" b="0" i="1">
                              <a:solidFill>
                                <a:schemeClr val="bg1">
                                  <a:lumMod val="50000"/>
                                </a:schemeClr>
                              </a:solidFill>
                              <a:latin typeface="Cambria Math" panose="02040503050406030204" pitchFamily="18" charset="0"/>
                            </a:rPr>
                            <m:t>𝑅𝐼𝐹</m:t>
                          </m:r>
                          <m:r>
                            <a:rPr lang="en-US" b="0" i="1">
                              <a:solidFill>
                                <a:schemeClr val="bg1">
                                  <a:lumMod val="50000"/>
                                </a:schemeClr>
                              </a:solidFill>
                              <a:latin typeface="Cambria Math" panose="02040503050406030204" pitchFamily="18" charset="0"/>
                            </a:rPr>
                            <m:t>(</m:t>
                          </m:r>
                          <m:r>
                            <a:rPr lang="en-US" b="0" i="1">
                              <a:solidFill>
                                <a:schemeClr val="bg1">
                                  <a:lumMod val="50000"/>
                                </a:schemeClr>
                              </a:solidFill>
                              <a:latin typeface="Cambria Math" panose="02040503050406030204" pitchFamily="18" charset="0"/>
                            </a:rPr>
                            <m:t>𝑆𝐵</m:t>
                          </m:r>
                          <m:sSub>
                            <m:sSubPr>
                              <m:ctrlPr>
                                <a:rPr lang="en-US" i="1">
                                  <a:solidFill>
                                    <a:schemeClr val="bg1">
                                      <a:lumMod val="50000"/>
                                    </a:schemeClr>
                                  </a:solidFill>
                                  <a:latin typeface="Cambria Math" panose="02040503050406030204" pitchFamily="18" charset="0"/>
                                </a:rPr>
                              </m:ctrlPr>
                            </m:sSubPr>
                            <m:e>
                              <m:r>
                                <a:rPr lang="en-US" b="0" i="1">
                                  <a:solidFill>
                                    <a:schemeClr val="bg1">
                                      <a:lumMod val="50000"/>
                                    </a:schemeClr>
                                  </a:solidFill>
                                  <a:latin typeface="Cambria Math" panose="02040503050406030204" pitchFamily="18" charset="0"/>
                                </a:rPr>
                                <m:t>𝑃</m:t>
                              </m:r>
                            </m:e>
                            <m:sub>
                              <m:r>
                                <a:rPr lang="en-US" b="0" i="1">
                                  <a:solidFill>
                                    <a:schemeClr val="bg1">
                                      <a:lumMod val="50000"/>
                                    </a:schemeClr>
                                  </a:solidFill>
                                  <a:latin typeface="Cambria Math" panose="02040503050406030204" pitchFamily="18" charset="0"/>
                                </a:rPr>
                                <m:t>𝑖</m:t>
                              </m:r>
                            </m:sub>
                          </m:sSub>
                          <m:r>
                            <a:rPr lang="en-US" b="0" i="1">
                              <a:solidFill>
                                <a:schemeClr val="bg1">
                                  <a:lumMod val="50000"/>
                                </a:schemeClr>
                              </a:solidFill>
                              <a:latin typeface="Cambria Math" panose="02040503050406030204" pitchFamily="18" charset="0"/>
                            </a:rPr>
                            <m:t>;</m:t>
                          </m:r>
                          <m:sSub>
                            <m:sSubPr>
                              <m:ctrlPr>
                                <a:rPr lang="en-US" i="1">
                                  <a:solidFill>
                                    <a:schemeClr val="bg1">
                                      <a:lumMod val="50000"/>
                                    </a:schemeClr>
                                  </a:solidFill>
                                  <a:latin typeface="Cambria Math" panose="02040503050406030204" pitchFamily="18" charset="0"/>
                                </a:rPr>
                              </m:ctrlPr>
                            </m:sSubPr>
                            <m:e>
                              <m:r>
                                <a:rPr lang="en-US" b="0" i="1">
                                  <a:solidFill>
                                    <a:schemeClr val="bg1">
                                      <a:lumMod val="50000"/>
                                    </a:schemeClr>
                                  </a:solidFill>
                                  <a:latin typeface="Cambria Math" panose="02040503050406030204" pitchFamily="18" charset="0"/>
                                </a:rPr>
                                <m:t>𝑞</m:t>
                              </m:r>
                            </m:e>
                            <m:sub>
                              <m:r>
                                <a:rPr lang="en-US" b="0" i="1">
                                  <a:solidFill>
                                    <a:schemeClr val="bg1">
                                      <a:lumMod val="50000"/>
                                    </a:schemeClr>
                                  </a:solidFill>
                                  <a:latin typeface="Cambria Math" panose="02040503050406030204" pitchFamily="18" charset="0"/>
                                </a:rPr>
                                <m:t>0.25</m:t>
                              </m:r>
                            </m:sub>
                          </m:sSub>
                          <m:r>
                            <a:rPr lang="en-US" b="0" i="1">
                              <a:solidFill>
                                <a:schemeClr val="bg1">
                                  <a:lumMod val="50000"/>
                                </a:schemeClr>
                              </a:solidFill>
                              <a:latin typeface="Cambria Math" panose="02040503050406030204" pitchFamily="18" charset="0"/>
                            </a:rPr>
                            <m:t>)</m:t>
                          </m:r>
                        </m:e>
                      </m:d>
                      <m:r>
                        <a:rPr lang="en-US" b="0" i="1">
                          <a:solidFill>
                            <a:schemeClr val="bg1">
                              <a:lumMod val="50000"/>
                            </a:schemeClr>
                          </a:solidFill>
                          <a:latin typeface="Cambria Math" panose="02040503050406030204" pitchFamily="18" charset="0"/>
                        </a:rPr>
                        <m:t>=</m:t>
                      </m:r>
                      <m:sSub>
                        <m:sSubPr>
                          <m:ctrlPr>
                            <a:rPr lang="en-US" i="1">
                              <a:solidFill>
                                <a:schemeClr val="bg1">
                                  <a:lumMod val="50000"/>
                                </a:schemeClr>
                              </a:solidFill>
                              <a:latin typeface="Cambria Math" panose="02040503050406030204" pitchFamily="18" charset="0"/>
                            </a:rPr>
                          </m:ctrlPr>
                        </m:sSubPr>
                        <m:e>
                          <m:r>
                            <a:rPr lang="en-US" b="0" i="1">
                              <a:solidFill>
                                <a:schemeClr val="bg1">
                                  <a:lumMod val="50000"/>
                                </a:schemeClr>
                              </a:solidFill>
                              <a:latin typeface="Cambria Math" panose="02040503050406030204" pitchFamily="18" charset="0"/>
                            </a:rPr>
                            <m:t>𝑞</m:t>
                          </m:r>
                        </m:e>
                        <m:sub>
                          <m:r>
                            <a:rPr lang="en-US" b="0" i="1">
                              <a:solidFill>
                                <a:schemeClr val="bg1">
                                  <a:lumMod val="50000"/>
                                </a:schemeClr>
                              </a:solidFill>
                              <a:latin typeface="Cambria Math" panose="02040503050406030204" pitchFamily="18" charset="0"/>
                            </a:rPr>
                            <m:t>0.25</m:t>
                          </m:r>
                        </m:sub>
                      </m:sSub>
                    </m:oMath>
                  </m:oMathPara>
                </a14:m>
                <a:endParaRPr lang="en-US" dirty="0">
                  <a:solidFill>
                    <a:schemeClr val="bg1">
                      <a:lumMod val="50000"/>
                    </a:schemeClr>
                  </a:solidFill>
                </a:endParaRPr>
              </a:p>
            </p:txBody>
          </p:sp>
        </mc:Choice>
        <mc:Fallback xmlns="">
          <p:sp>
            <p:nvSpPr>
              <p:cNvPr id="7" name="TextBox 6">
                <a:extLst>
                  <a:ext uri="{FF2B5EF4-FFF2-40B4-BE49-F238E27FC236}">
                    <a16:creationId xmlns:a16="http://schemas.microsoft.com/office/drawing/2014/main" id="{71AE844E-E271-4A3B-4CCF-DAC60D86D40A}"/>
                  </a:ext>
                </a:extLst>
              </p:cNvPr>
              <p:cNvSpPr txBox="1">
                <a:spLocks noRot="1" noChangeAspect="1" noMove="1" noResize="1" noEditPoints="1" noAdjustHandles="1" noChangeArrowheads="1" noChangeShapeType="1" noTextEdit="1"/>
              </p:cNvSpPr>
              <p:nvPr/>
            </p:nvSpPr>
            <p:spPr>
              <a:xfrm>
                <a:off x="836502" y="5247132"/>
                <a:ext cx="3758268"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9243DAD-C790-C8C2-4E7B-C4555D79B8B3}"/>
                  </a:ext>
                </a:extLst>
              </p:cNvPr>
              <p:cNvSpPr txBox="1"/>
              <p:nvPr/>
            </p:nvSpPr>
            <p:spPr>
              <a:xfrm>
                <a:off x="3541645" y="5928156"/>
                <a:ext cx="5611091" cy="646331"/>
              </a:xfrm>
              <a:prstGeom prst="rect">
                <a:avLst/>
              </a:prstGeom>
              <a:noFill/>
            </p:spPr>
            <p:txBody>
              <a:bodyPr wrap="square" rtlCol="0">
                <a:spAutoFit/>
              </a:bodyPr>
              <a:lstStyle/>
              <a:p>
                <a:r>
                  <a:rPr lang="en-US" sz="3600" dirty="0">
                    <a:solidFill>
                      <a:srgbClr val="FF9300"/>
                    </a:solidFill>
                  </a:rPr>
                  <a:t>How do we interpret </a:t>
                </a:r>
                <a14:m>
                  <m:oMath xmlns:m="http://schemas.openxmlformats.org/officeDocument/2006/math">
                    <m:sSub>
                      <m:sSubPr>
                        <m:ctrlPr>
                          <a:rPr lang="en-US" sz="3600" b="0" i="1" smtClean="0">
                            <a:solidFill>
                              <a:srgbClr val="FF9300"/>
                            </a:solidFill>
                            <a:latin typeface="Cambria Math" panose="02040503050406030204" pitchFamily="18" charset="0"/>
                          </a:rPr>
                        </m:ctrlPr>
                      </m:sSubPr>
                      <m:e>
                        <m:r>
                          <a:rPr lang="en-US" sz="3600" b="0" i="1" smtClean="0">
                            <a:solidFill>
                              <a:srgbClr val="FF9300"/>
                            </a:solidFill>
                            <a:latin typeface="Cambria Math" panose="02040503050406030204" pitchFamily="18" charset="0"/>
                          </a:rPr>
                          <m:t>𝛽</m:t>
                        </m:r>
                      </m:e>
                      <m:sub>
                        <m:r>
                          <a:rPr lang="en-US" sz="3600" b="0" i="1" smtClean="0">
                            <a:solidFill>
                              <a:srgbClr val="FF9300"/>
                            </a:solidFill>
                            <a:latin typeface="Cambria Math" panose="02040503050406030204" pitchFamily="18" charset="0"/>
                          </a:rPr>
                          <m:t>0.25</m:t>
                        </m:r>
                      </m:sub>
                    </m:sSub>
                  </m:oMath>
                </a14:m>
                <a:r>
                  <a:rPr lang="en-US" sz="3600" dirty="0">
                    <a:solidFill>
                      <a:srgbClr val="FF9300"/>
                    </a:solidFill>
                  </a:rPr>
                  <a:t>?</a:t>
                </a:r>
              </a:p>
            </p:txBody>
          </p:sp>
        </mc:Choice>
        <mc:Fallback xmlns="">
          <p:sp>
            <p:nvSpPr>
              <p:cNvPr id="8" name="TextBox 7">
                <a:extLst>
                  <a:ext uri="{FF2B5EF4-FFF2-40B4-BE49-F238E27FC236}">
                    <a16:creationId xmlns:a16="http://schemas.microsoft.com/office/drawing/2014/main" id="{59243DAD-C790-C8C2-4E7B-C4555D79B8B3}"/>
                  </a:ext>
                </a:extLst>
              </p:cNvPr>
              <p:cNvSpPr txBox="1">
                <a:spLocks noRot="1" noChangeAspect="1" noMove="1" noResize="1" noEditPoints="1" noAdjustHandles="1" noChangeArrowheads="1" noChangeShapeType="1" noTextEdit="1"/>
              </p:cNvSpPr>
              <p:nvPr/>
            </p:nvSpPr>
            <p:spPr>
              <a:xfrm>
                <a:off x="3541645" y="5928156"/>
                <a:ext cx="5611091" cy="646331"/>
              </a:xfrm>
              <a:prstGeom prst="rect">
                <a:avLst/>
              </a:prstGeom>
              <a:blipFill>
                <a:blip r:embed="rId7"/>
                <a:stretch>
                  <a:fillRect l="-3160" t="-13462" r="-2257" b="-34615"/>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807E7829-8DF7-59B1-B4BD-B413852E06A5}"/>
              </a:ext>
            </a:extLst>
          </p:cNvPr>
          <p:cNvCxnSpPr/>
          <p:nvPr/>
        </p:nvCxnSpPr>
        <p:spPr>
          <a:xfrm flipV="1">
            <a:off x="6924925" y="4872441"/>
            <a:ext cx="166255" cy="1005840"/>
          </a:xfrm>
          <a:prstGeom prst="straightConnector1">
            <a:avLst/>
          </a:prstGeom>
          <a:ln w="76200">
            <a:solidFill>
              <a:srgbClr val="FF93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dissolve">
                                      <p:cBhvr>
                                        <p:cTn id="25" dur="500"/>
                                        <p:tgtEl>
                                          <p:spTgt spid="9"/>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dissolve">
                                      <p:cBhvr>
                                        <p:cTn id="2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P spid="6" grpId="0" animBg="1"/>
      <p:bldP spid="7" grpId="0"/>
      <p:bldP spid="8" grpId="0"/>
    </p:bldLst>
  </p:timing>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Shape 351">
          <a:extLst>
            <a:ext uri="{FF2B5EF4-FFF2-40B4-BE49-F238E27FC236}">
              <a16:creationId xmlns:a16="http://schemas.microsoft.com/office/drawing/2014/main" id="{B3B7FE61-8CDA-B97F-DADB-D91071DD7694}"/>
            </a:ext>
          </a:extLst>
        </p:cNvPr>
        <p:cNvGrpSpPr/>
        <p:nvPr/>
      </p:nvGrpSpPr>
      <p:grpSpPr>
        <a:xfrm>
          <a:off x="0" y="0"/>
          <a:ext cx="0" cy="0"/>
          <a:chOff x="0" y="0"/>
          <a:chExt cx="0" cy="0"/>
        </a:xfrm>
      </p:grpSpPr>
      <p:sp>
        <p:nvSpPr>
          <p:cNvPr id="352" name="Google Shape;352;p130">
            <a:extLst>
              <a:ext uri="{FF2B5EF4-FFF2-40B4-BE49-F238E27FC236}">
                <a16:creationId xmlns:a16="http://schemas.microsoft.com/office/drawing/2014/main" id="{E148E4A7-1902-0251-9FF3-57718D44038C}"/>
              </a:ext>
            </a:extLst>
          </p:cNvPr>
          <p:cNvSpPr txBox="1">
            <a:spLocks noGrp="1"/>
          </p:cNvSpPr>
          <p:nvPr>
            <p:ph type="title"/>
          </p:nvPr>
        </p:nvSpPr>
        <p:spPr>
          <a:xfrm>
            <a:off x="3567566" y="2904144"/>
            <a:ext cx="5056868" cy="104971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468C8A"/>
              </a:buClr>
              <a:buSzPts val="6000"/>
              <a:buFont typeface="Arial"/>
              <a:buNone/>
            </a:pPr>
            <a:r>
              <a:rPr lang="en-US" b="1" dirty="0">
                <a:solidFill>
                  <a:srgbClr val="FF9300"/>
                </a:solidFill>
              </a:rPr>
              <a:t>Poll Time!</a:t>
            </a:r>
            <a:endParaRPr dirty="0">
              <a:solidFill>
                <a:srgbClr val="FF9300"/>
              </a:solidFill>
            </a:endParaRPr>
          </a:p>
        </p:txBody>
      </p:sp>
      <p:sp>
        <p:nvSpPr>
          <p:cNvPr id="353" name="Google Shape;353;p130">
            <a:extLst>
              <a:ext uri="{FF2B5EF4-FFF2-40B4-BE49-F238E27FC236}">
                <a16:creationId xmlns:a16="http://schemas.microsoft.com/office/drawing/2014/main" id="{430680D0-A743-9741-754A-B6961D15FF1B}"/>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121</a:t>
            </a:fld>
            <a:endParaRPr/>
          </a:p>
        </p:txBody>
      </p:sp>
    </p:spTree>
    <p:extLst>
      <p:ext uri="{BB962C8B-B14F-4D97-AF65-F5344CB8AC3E}">
        <p14:creationId xmlns:p14="http://schemas.microsoft.com/office/powerpoint/2010/main" val="100338098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77DA7-3F2F-3EE6-A503-D24816C079B8}"/>
              </a:ext>
            </a:extLst>
          </p:cNvPr>
          <p:cNvSpPr>
            <a:spLocks noGrp="1"/>
          </p:cNvSpPr>
          <p:nvPr>
            <p:ph type="title"/>
          </p:nvPr>
        </p:nvSpPr>
        <p:spPr/>
        <p:txBody>
          <a:bodyPr/>
          <a:lstStyle/>
          <a:p>
            <a:r>
              <a:rPr lang="en-US" b="1" dirty="0">
                <a:solidFill>
                  <a:srgbClr val="468C8A"/>
                </a:solidFill>
              </a:rPr>
              <a:t>Interpreting coefficients of the RIF-OLS model</a:t>
            </a:r>
            <a:endParaRPr lang="en-US"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38FD25F-6CB6-E44E-5AB6-35A467A84AFF}"/>
                  </a:ext>
                </a:extLst>
              </p:cNvPr>
              <p:cNvSpPr>
                <a:spLocks noGrp="1"/>
              </p:cNvSpPr>
              <p:nvPr>
                <p:ph type="body" idx="1"/>
              </p:nvPr>
            </p:nvSpPr>
            <p:spPr/>
            <p:txBody>
              <a:bodyPr/>
              <a:lstStyle/>
              <a:p>
                <a:pPr marL="114300" indent="0">
                  <a:buNone/>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𝐸</m:t>
                      </m:r>
                      <m:d>
                        <m:dPr>
                          <m:begChr m:val="["/>
                          <m:endChr m:val="]"/>
                          <m:ctrlPr>
                            <a:rPr lang="en-US" sz="2800" b="0" i="1" smtClean="0">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𝑅𝐼𝐹</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𝑆𝐵</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𝑃</m:t>
                              </m:r>
                            </m:e>
                            <m:sub>
                              <m:r>
                                <a:rPr lang="en-US" sz="2800" b="0" i="1" smtClean="0">
                                  <a:solidFill>
                                    <a:schemeClr val="tx1"/>
                                  </a:solidFill>
                                  <a:latin typeface="Cambria Math" panose="02040503050406030204" pitchFamily="18" charset="0"/>
                                </a:rPr>
                                <m:t>𝑖</m:t>
                              </m:r>
                            </m:sub>
                          </m:sSub>
                          <m:r>
                            <a:rPr lang="en-US" sz="2800" b="0" i="1" smtClean="0">
                              <a:solidFill>
                                <a:schemeClr val="tx1"/>
                              </a:solidFill>
                              <a:latin typeface="Cambria Math" panose="02040503050406030204" pitchFamily="18" charset="0"/>
                            </a:rPr>
                            <m:t>;</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𝑞</m:t>
                              </m:r>
                            </m:e>
                            <m:sub>
                              <m:r>
                                <a:rPr lang="en-US" sz="2800" b="0" i="1" smtClean="0">
                                  <a:solidFill>
                                    <a:schemeClr val="tx1"/>
                                  </a:solidFill>
                                  <a:latin typeface="Cambria Math" panose="02040503050406030204" pitchFamily="18" charset="0"/>
                                </a:rPr>
                                <m:t>𝜏</m:t>
                              </m:r>
                            </m:sub>
                          </m:sSub>
                          <m:r>
                            <a:rPr lang="en-US" sz="2800" b="0" i="1" smtClean="0">
                              <a:solidFill>
                                <a:schemeClr val="tx1"/>
                              </a:solidFill>
                              <a:latin typeface="Cambria Math" panose="02040503050406030204" pitchFamily="18" charset="0"/>
                            </a:rPr>
                            <m:t>)</m:t>
                          </m:r>
                        </m:e>
                      </m:d>
                      <m:r>
                        <a:rPr lang="en-US" sz="2800" b="0" i="1" smtClean="0">
                          <a:solidFill>
                            <a:schemeClr val="tx1"/>
                          </a:solidFill>
                          <a:latin typeface="Cambria Math" panose="02040503050406030204" pitchFamily="18" charset="0"/>
                        </a:rPr>
                        <m:t>=</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𝛼</m:t>
                          </m:r>
                        </m:e>
                        <m:sub>
                          <m:r>
                            <a:rPr lang="en-US" i="1">
                              <a:solidFill>
                                <a:schemeClr val="tx1"/>
                              </a:solidFill>
                              <a:latin typeface="Cambria Math" panose="02040503050406030204" pitchFamily="18" charset="0"/>
                            </a:rPr>
                            <m:t>𝜏</m:t>
                          </m:r>
                        </m:sub>
                      </m:sSub>
                      <m:r>
                        <a:rPr lang="en-US" sz="2800" b="0" i="1" smtClean="0">
                          <a:solidFill>
                            <a:schemeClr val="tx1"/>
                          </a:solidFill>
                          <a:latin typeface="Cambria Math" panose="02040503050406030204" pitchFamily="18" charset="0"/>
                        </a:rPr>
                        <m:t>+</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𝛽</m:t>
                          </m:r>
                        </m:e>
                        <m:sub>
                          <m:r>
                            <a:rPr lang="en-US" i="1">
                              <a:solidFill>
                                <a:schemeClr val="tx1"/>
                              </a:solidFill>
                              <a:latin typeface="Cambria Math" panose="02040503050406030204" pitchFamily="18" charset="0"/>
                            </a:rPr>
                            <m:t>𝜏</m:t>
                          </m:r>
                        </m:sub>
                      </m:sSub>
                      <m:r>
                        <a:rPr lang="en-US" sz="2800" b="0" i="1" smtClean="0">
                          <a:solidFill>
                            <a:schemeClr val="tx1"/>
                          </a:solidFill>
                          <a:latin typeface="Cambria Math" panose="02040503050406030204" pitchFamily="18" charset="0"/>
                        </a:rPr>
                        <m:t>𝐸</m:t>
                      </m:r>
                      <m:d>
                        <m:dPr>
                          <m:begChr m:val="["/>
                          <m:endChr m:val="]"/>
                          <m:ctrlPr>
                            <a:rPr lang="en-US" sz="2800" b="0" i="1" smtClean="0">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𝑋</m:t>
                          </m:r>
                        </m:e>
                      </m:d>
                      <m:r>
                        <a:rPr lang="en-US" sz="2800" b="0" i="1" smtClean="0">
                          <a:solidFill>
                            <a:schemeClr val="tx1"/>
                          </a:solidFill>
                          <a:latin typeface="Cambria Math" panose="02040503050406030204" pitchFamily="18" charset="0"/>
                        </a:rPr>
                        <m:t>+</m:t>
                      </m:r>
                      <m:sSubSup>
                        <m:sSubSupPr>
                          <m:ctrlPr>
                            <a:rPr lang="en-US" sz="2800" b="0" i="1" smtClean="0">
                              <a:solidFill>
                                <a:schemeClr val="tx1"/>
                              </a:solidFill>
                              <a:latin typeface="Cambria Math" panose="02040503050406030204" pitchFamily="18" charset="0"/>
                            </a:rPr>
                          </m:ctrlPr>
                        </m:sSubSupPr>
                        <m:e>
                          <m:r>
                            <a:rPr lang="en-US" sz="2800" b="0" i="1" smtClean="0">
                              <a:solidFill>
                                <a:schemeClr val="tx1"/>
                              </a:solidFill>
                              <a:latin typeface="Cambria Math" panose="02040503050406030204" pitchFamily="18" charset="0"/>
                            </a:rPr>
                            <m:t>𝜆</m:t>
                          </m:r>
                        </m:e>
                        <m:sub>
                          <m:r>
                            <a:rPr lang="en-US" i="1">
                              <a:solidFill>
                                <a:schemeClr val="tx1"/>
                              </a:solidFill>
                              <a:latin typeface="Cambria Math" panose="02040503050406030204" pitchFamily="18" charset="0"/>
                            </a:rPr>
                            <m:t>𝜏</m:t>
                          </m:r>
                        </m:sub>
                        <m:sup>
                          <m:r>
                            <a:rPr lang="en-US" sz="2800" b="0" i="1" smtClean="0">
                              <a:solidFill>
                                <a:schemeClr val="tx1"/>
                              </a:solidFill>
                              <a:latin typeface="Cambria Math" panose="02040503050406030204" pitchFamily="18" charset="0"/>
                            </a:rPr>
                            <m:t>′</m:t>
                          </m:r>
                        </m:sup>
                      </m:sSubSup>
                      <m:r>
                        <a:rPr lang="en-US" sz="2800" b="0" i="1" smtClean="0">
                          <a:solidFill>
                            <a:schemeClr val="tx1"/>
                          </a:solidFill>
                          <a:latin typeface="Cambria Math" panose="02040503050406030204" pitchFamily="18" charset="0"/>
                        </a:rPr>
                        <m:t>𝐸</m:t>
                      </m:r>
                      <m:d>
                        <m:dPr>
                          <m:begChr m:val="["/>
                          <m:endChr m:val="]"/>
                          <m:ctrlPr>
                            <a:rPr lang="en-US" sz="2800" b="0" i="1" smtClean="0">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𝐶</m:t>
                          </m:r>
                        </m:e>
                      </m:d>
                    </m:oMath>
                  </m:oMathPara>
                </a14:m>
                <a:endParaRPr lang="en-US" sz="2800" b="0" dirty="0">
                  <a:solidFill>
                    <a:schemeClr val="tx1"/>
                  </a:solidFill>
                </a:endParaRPr>
              </a:p>
              <a:p>
                <a:pPr marL="114300" indent="0">
                  <a:buNone/>
                </a:pPr>
                <a:endParaRPr lang="en-US"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i="1">
                            <a:solidFill>
                              <a:schemeClr val="tx1"/>
                            </a:solidFill>
                            <a:latin typeface="Cambria Math" panose="02040503050406030204" pitchFamily="18" charset="0"/>
                          </a:rPr>
                          <m:t>𝜏</m:t>
                        </m:r>
                      </m:sub>
                    </m:sSub>
                  </m:oMath>
                </a14:m>
                <a:r>
                  <a:rPr lang="en-US" dirty="0"/>
                  <a:t> is the estimated change in the </a:t>
                </a:r>
                <a14:m>
                  <m:oMath xmlns:m="http://schemas.openxmlformats.org/officeDocument/2006/math">
                    <m:r>
                      <a:rPr lang="en-US" i="1" smtClean="0">
                        <a:solidFill>
                          <a:srgbClr val="FF9300"/>
                        </a:solidFill>
                        <a:latin typeface="Cambria Math" panose="02040503050406030204" pitchFamily="18" charset="0"/>
                      </a:rPr>
                      <m:t>𝜏</m:t>
                    </m:r>
                  </m:oMath>
                </a14:m>
                <a:r>
                  <a:rPr lang="en-US" baseline="30000" dirty="0">
                    <a:solidFill>
                      <a:srgbClr val="FF9300"/>
                    </a:solidFill>
                  </a:rPr>
                  <a:t>th</a:t>
                </a:r>
                <a:r>
                  <a:rPr lang="en-US" dirty="0">
                    <a:solidFill>
                      <a:srgbClr val="FF9300"/>
                    </a:solidFill>
                  </a:rPr>
                  <a:t> quantile of the unconditional distribution of the outcome </a:t>
                </a:r>
                <a:r>
                  <a:rPr lang="en-US" dirty="0"/>
                  <a:t>for a unit change in the </a:t>
                </a:r>
                <a:r>
                  <a:rPr lang="en-US" u="sng" dirty="0">
                    <a:solidFill>
                      <a:srgbClr val="FF9300"/>
                    </a:solidFill>
                  </a:rPr>
                  <a:t>mean</a:t>
                </a:r>
                <a:r>
                  <a:rPr lang="en-US" dirty="0">
                    <a:solidFill>
                      <a:srgbClr val="FF9300"/>
                    </a:solidFill>
                  </a:rPr>
                  <a:t> of the unconditional distribution of the exposure </a:t>
                </a:r>
                <a14:m>
                  <m:oMath xmlns:m="http://schemas.openxmlformats.org/officeDocument/2006/math">
                    <m:r>
                      <a:rPr lang="en-US" i="1" dirty="0" smtClean="0">
                        <a:solidFill>
                          <a:srgbClr val="FF9300"/>
                        </a:solidFill>
                        <a:latin typeface="Cambria Math" panose="02040503050406030204" pitchFamily="18" charset="0"/>
                      </a:rPr>
                      <m:t>𝑋</m:t>
                    </m:r>
                  </m:oMath>
                </a14:m>
                <a:endParaRPr lang="en-US" dirty="0"/>
              </a:p>
            </p:txBody>
          </p:sp>
        </mc:Choice>
        <mc:Fallback xmlns="">
          <p:sp>
            <p:nvSpPr>
              <p:cNvPr id="3" name="Text Placeholder 2">
                <a:extLst>
                  <a:ext uri="{FF2B5EF4-FFF2-40B4-BE49-F238E27FC236}">
                    <a16:creationId xmlns:a16="http://schemas.microsoft.com/office/drawing/2014/main" id="{B38FD25F-6CB6-E44E-5AB6-35A467A84AFF}"/>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F43CB65E-938C-DE7B-6FC7-F192B14AB2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122</a:t>
            </a:fld>
            <a:endParaRPr lang="en-US"/>
          </a:p>
        </p:txBody>
      </p:sp>
    </p:spTree>
    <p:extLst>
      <p:ext uri="{BB962C8B-B14F-4D97-AF65-F5344CB8AC3E}">
        <p14:creationId xmlns:p14="http://schemas.microsoft.com/office/powerpoint/2010/main" val="197820506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3C617313-DB12-F66D-2C0E-8B76E8C3F952}"/>
                  </a:ext>
                </a:extLst>
              </p:cNvPr>
              <p:cNvGraphicFramePr>
                <a:graphicFrameLocks noGrp="1"/>
              </p:cNvGraphicFramePr>
              <p:nvPr>
                <p:extLst>
                  <p:ext uri="{D42A27DB-BD31-4B8C-83A1-F6EECF244321}">
                    <p14:modId xmlns:p14="http://schemas.microsoft.com/office/powerpoint/2010/main" val="4239217015"/>
                  </p:ext>
                </p:extLst>
              </p:nvPr>
            </p:nvGraphicFramePr>
            <p:xfrm>
              <a:off x="222202" y="379952"/>
              <a:ext cx="11747596" cy="6098096"/>
            </p:xfrm>
            <a:graphic>
              <a:graphicData uri="http://schemas.openxmlformats.org/drawingml/2006/table">
                <a:tbl>
                  <a:tblPr firstRow="1" bandRow="1">
                    <a:tableStyleId>{2D5ABB26-0587-4C30-8999-92F81FD0307C}</a:tableStyleId>
                  </a:tblPr>
                  <a:tblGrid>
                    <a:gridCol w="2633083">
                      <a:extLst>
                        <a:ext uri="{9D8B030D-6E8A-4147-A177-3AD203B41FA5}">
                          <a16:colId xmlns:a16="http://schemas.microsoft.com/office/drawing/2014/main" val="2485563793"/>
                        </a:ext>
                      </a:extLst>
                    </a:gridCol>
                    <a:gridCol w="3038171">
                      <a:extLst>
                        <a:ext uri="{9D8B030D-6E8A-4147-A177-3AD203B41FA5}">
                          <a16:colId xmlns:a16="http://schemas.microsoft.com/office/drawing/2014/main" val="1972392090"/>
                        </a:ext>
                      </a:extLst>
                    </a:gridCol>
                    <a:gridCol w="3038171">
                      <a:extLst>
                        <a:ext uri="{9D8B030D-6E8A-4147-A177-3AD203B41FA5}">
                          <a16:colId xmlns:a16="http://schemas.microsoft.com/office/drawing/2014/main" val="2831166234"/>
                        </a:ext>
                      </a:extLst>
                    </a:gridCol>
                    <a:gridCol w="3038171">
                      <a:extLst>
                        <a:ext uri="{9D8B030D-6E8A-4147-A177-3AD203B41FA5}">
                          <a16:colId xmlns:a16="http://schemas.microsoft.com/office/drawing/2014/main" val="1146948457"/>
                        </a:ext>
                      </a:extLst>
                    </a:gridCol>
                  </a:tblGrid>
                  <a:tr h="548640">
                    <a:tc>
                      <a:txBody>
                        <a:bodyPr/>
                        <a:lstStyle/>
                        <a:p>
                          <a:endParaRPr lang="en-US" sz="16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rgbClr val="468C8A"/>
                              </a:solidFill>
                            </a:rPr>
                            <a:t>Linear Regression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rgbClr val="468C8A"/>
                              </a:solidFill>
                            </a:rPr>
                            <a:t>Conditional Quantile Regression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rgbClr val="468C8A"/>
                              </a:solidFill>
                            </a:rPr>
                            <a:t>Unconditional Quantile Regression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6389442"/>
                      </a:ext>
                    </a:extLst>
                  </a:tr>
                  <a:tr h="640080">
                    <a:tc>
                      <a:txBody>
                        <a:bodyPr/>
                        <a:lstStyle/>
                        <a:p>
                          <a:r>
                            <a:rPr lang="en-US" sz="1600" dirty="0"/>
                            <a:t>Model</a:t>
                          </a:r>
                        </a:p>
                      </a:txBody>
                      <a:tcPr anchor="ct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rPr>
                                  <m:t>𝐸</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𝑌</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𝑋</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𝑋</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𝛽</m:t>
                                </m:r>
                              </m:oMath>
                            </m:oMathPara>
                          </a14:m>
                          <a:endParaRPr lang="en-US" sz="1600"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𝑄</m:t>
                                    </m:r>
                                  </m:e>
                                  <m:sub>
                                    <m:r>
                                      <a:rPr lang="en-US" sz="1600" b="0" i="1" smtClean="0">
                                        <a:solidFill>
                                          <a:schemeClr val="tx1"/>
                                        </a:solidFill>
                                        <a:latin typeface="Cambria Math" panose="02040503050406030204" pitchFamily="18" charset="0"/>
                                      </a:rPr>
                                      <m:t>𝜏</m:t>
                                    </m:r>
                                  </m:sub>
                                </m:sSub>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𝑌</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𝑋</m:t>
                                </m:r>
                                <m:r>
                                  <a:rPr lang="en-US" sz="1600" b="0" i="1" smtClean="0">
                                    <a:solidFill>
                                      <a:schemeClr val="tx1"/>
                                    </a:solidFill>
                                    <a:latin typeface="Cambria Math" panose="02040503050406030204" pitchFamily="18" charset="0"/>
                                  </a:rPr>
                                  <m:t>)=</m:t>
                                </m:r>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𝑋</m:t>
                                    </m:r>
                                  </m:e>
                                  <m:sup>
                                    <m:r>
                                      <a:rPr lang="en-US" sz="1600" b="0" i="1" smtClean="0">
                                        <a:solidFill>
                                          <a:schemeClr val="tx1"/>
                                        </a:solidFill>
                                        <a:latin typeface="Cambria Math" panose="02040503050406030204" pitchFamily="18" charset="0"/>
                                      </a:rPr>
                                      <m:t>′</m:t>
                                    </m:r>
                                  </m:sup>
                                </m:sSup>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𝛽</m:t>
                                    </m:r>
                                  </m:e>
                                  <m:sub>
                                    <m:r>
                                      <a:rPr lang="en-US" sz="1600" b="0" i="1" smtClean="0">
                                        <a:solidFill>
                                          <a:schemeClr val="tx1"/>
                                        </a:solidFill>
                                        <a:latin typeface="Cambria Math" panose="02040503050406030204" pitchFamily="18" charset="0"/>
                                      </a:rPr>
                                      <m:t>𝜏</m:t>
                                    </m:r>
                                  </m:sub>
                                </m:sSub>
                                <m:r>
                                  <a:rPr lang="en-US" sz="1600" b="0" i="1" smtClean="0">
                                    <a:solidFill>
                                      <a:schemeClr val="tx1"/>
                                    </a:solidFill>
                                    <a:latin typeface="Cambria Math" panose="02040503050406030204" pitchFamily="18" charset="0"/>
                                  </a:rPr>
                                  <m:t>,  </m:t>
                                </m:r>
                              </m:oMath>
                              <m:oMath xmlns:m="http://schemas.openxmlformats.org/officeDocument/2006/math">
                                <m:r>
                                  <a:rPr lang="en-US" sz="1600" b="0" i="1" smtClean="0">
                                    <a:solidFill>
                                      <a:schemeClr val="tx1"/>
                                    </a:solidFill>
                                    <a:latin typeface="Cambria Math" panose="02040503050406030204" pitchFamily="18" charset="0"/>
                                  </a:rPr>
                                  <m:t>𝜏</m:t>
                                </m:r>
                                <m:r>
                                  <a:rPr lang="en-US" sz="1600" b="0" i="1" smtClean="0">
                                    <a:solidFill>
                                      <a:schemeClr val="tx1"/>
                                    </a:solidFill>
                                    <a:latin typeface="Cambria Math" panose="02040503050406030204" pitchFamily="18" charset="0"/>
                                  </a:rPr>
                                  <m:t>=(0,1)</m:t>
                                </m:r>
                              </m:oMath>
                            </m:oMathPara>
                          </a14:m>
                          <a:endParaRPr lang="en-US" sz="1600"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rPr>
                                  <m:t>𝐸</m:t>
                                </m:r>
                                <m:d>
                                  <m:dPr>
                                    <m:begChr m:val="["/>
                                    <m:endChr m:val="]"/>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𝑅𝐼𝐹</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𝑌</m:t>
                                        </m:r>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𝑞</m:t>
                                            </m:r>
                                          </m:e>
                                          <m:sub>
                                            <m:r>
                                              <a:rPr lang="en-US" sz="1600" b="0" i="1" smtClean="0">
                                                <a:solidFill>
                                                  <a:schemeClr val="tx1"/>
                                                </a:solidFill>
                                                <a:latin typeface="Cambria Math" panose="02040503050406030204" pitchFamily="18" charset="0"/>
                                              </a:rPr>
                                              <m:t>𝜏</m:t>
                                            </m:r>
                                          </m:sub>
                                        </m:sSub>
                                      </m:e>
                                    </m:d>
                                  </m:e>
                                  <m:e>
                                    <m:r>
                                      <a:rPr lang="en-US" sz="1600" b="0" i="1" smtClean="0">
                                        <a:solidFill>
                                          <a:schemeClr val="tx1"/>
                                        </a:solidFill>
                                        <a:latin typeface="Cambria Math" panose="02040503050406030204" pitchFamily="18" charset="0"/>
                                      </a:rPr>
                                      <m:t>𝑋</m:t>
                                    </m:r>
                                  </m:e>
                                </m:d>
                                <m:r>
                                  <a:rPr lang="en-US" sz="1600" b="0" i="1" smtClean="0">
                                    <a:solidFill>
                                      <a:schemeClr val="tx1"/>
                                    </a:solidFill>
                                    <a:latin typeface="Cambria Math" panose="02040503050406030204" pitchFamily="18" charset="0"/>
                                  </a:rPr>
                                  <m:t>=</m:t>
                                </m:r>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𝑋</m:t>
                                    </m:r>
                                  </m:e>
                                  <m:sup>
                                    <m:r>
                                      <a:rPr lang="en-US" sz="1600" b="0" i="1" smtClean="0">
                                        <a:solidFill>
                                          <a:schemeClr val="tx1"/>
                                        </a:solidFill>
                                        <a:latin typeface="Cambria Math" panose="02040503050406030204" pitchFamily="18" charset="0"/>
                                      </a:rPr>
                                      <m:t>′</m:t>
                                    </m:r>
                                  </m:sup>
                                </m:sSup>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𝛽</m:t>
                                    </m:r>
                                  </m:e>
                                  <m:sub>
                                    <m:r>
                                      <a:rPr lang="en-US" sz="1600" b="0" i="1" smtClean="0">
                                        <a:solidFill>
                                          <a:schemeClr val="tx1"/>
                                        </a:solidFill>
                                        <a:latin typeface="Cambria Math" panose="02040503050406030204" pitchFamily="18" charset="0"/>
                                      </a:rPr>
                                      <m:t>𝜏</m:t>
                                    </m:r>
                                  </m:sub>
                                </m:sSub>
                                <m:r>
                                  <a:rPr lang="en-US" sz="1600" b="0" i="1" smtClean="0">
                                    <a:solidFill>
                                      <a:schemeClr val="tx1"/>
                                    </a:solidFill>
                                    <a:latin typeface="Cambria Math" panose="02040503050406030204" pitchFamily="18" charset="0"/>
                                  </a:rPr>
                                  <m:t>,     </m:t>
                                </m:r>
                              </m:oMath>
                              <m:oMath xmlns:m="http://schemas.openxmlformats.org/officeDocument/2006/math">
                                <m:r>
                                  <a:rPr lang="en-US" sz="1600" b="0" i="1" smtClean="0">
                                    <a:solidFill>
                                      <a:schemeClr val="tx1"/>
                                    </a:solidFill>
                                    <a:latin typeface="Cambria Math" panose="02040503050406030204" pitchFamily="18" charset="0"/>
                                  </a:rPr>
                                  <m:t>𝜏</m:t>
                                </m:r>
                                <m:r>
                                  <a:rPr lang="en-US" sz="1600" b="0" i="1" smtClean="0">
                                    <a:solidFill>
                                      <a:schemeClr val="tx1"/>
                                    </a:solidFill>
                                    <a:latin typeface="Cambria Math" panose="02040503050406030204" pitchFamily="18" charset="0"/>
                                  </a:rPr>
                                  <m:t>=(0,1)</m:t>
                                </m:r>
                              </m:oMath>
                            </m:oMathPara>
                          </a14:m>
                          <a:endParaRPr lang="en-US" sz="1600"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364835753"/>
                      </a:ext>
                    </a:extLst>
                  </a:tr>
                  <a:tr h="640080">
                    <a:tc>
                      <a:txBody>
                        <a:bodyPr/>
                        <a:lstStyle/>
                        <a:p>
                          <a:r>
                            <a:rPr lang="en-US" sz="1600" dirty="0"/>
                            <a:t>Error</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Standard assumptions about the error term (</a:t>
                          </a:r>
                          <a:r>
                            <a:rPr lang="en-US" sz="1600" dirty="0" err="1">
                              <a:solidFill>
                                <a:schemeClr val="tx1"/>
                              </a:solidFill>
                            </a:rPr>
                            <a:t>iid</a:t>
                          </a:r>
                          <a:r>
                            <a:rPr lang="en-US" sz="1600" dirty="0">
                              <a:solidFill>
                                <a:schemeClr val="tx1"/>
                              </a:solidFill>
                            </a:rPr>
                            <a:t>, Normal distribution) are usually violated</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No distributional assumption is made about the error</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No explicit assumption, but likely the same assumptions as the estimation strategy used</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643586111"/>
                      </a:ext>
                    </a:extLst>
                  </a:tr>
                  <a:tr h="370840">
                    <a:tc>
                      <a:txBody>
                        <a:bodyPr/>
                        <a:lstStyle/>
                        <a:p>
                          <a:r>
                            <a:rPr lang="en-US" sz="1600" dirty="0"/>
                            <a:t>Estimating coefficients</a:t>
                          </a:r>
                        </a:p>
                      </a:txBody>
                      <a:tcPr anchor="ctr">
                        <a:lnT w="12700" cap="flat" cmpd="sng" algn="ctr">
                          <a:solidFill>
                            <a:schemeClr val="bg1">
                              <a:lumMod val="85000"/>
                            </a:schemeClr>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unc>
                                  <m:funcPr>
                                    <m:ctrlPr>
                                      <a:rPr lang="en-US" sz="1600" i="1" smtClean="0">
                                        <a:solidFill>
                                          <a:schemeClr val="tx1"/>
                                        </a:solidFill>
                                        <a:latin typeface="Cambria Math" panose="02040503050406030204" pitchFamily="18" charset="0"/>
                                      </a:rPr>
                                    </m:ctrlPr>
                                  </m:funcPr>
                                  <m:fName>
                                    <m:limLow>
                                      <m:limLowPr>
                                        <m:ctrlPr>
                                          <a:rPr lang="en-US" sz="1600" i="1" smtClean="0">
                                            <a:solidFill>
                                              <a:schemeClr val="tx1"/>
                                            </a:solidFill>
                                            <a:latin typeface="Cambria Math" panose="02040503050406030204" pitchFamily="18" charset="0"/>
                                          </a:rPr>
                                        </m:ctrlPr>
                                      </m:limLowPr>
                                      <m:e>
                                        <m:r>
                                          <m:rPr>
                                            <m:sty m:val="p"/>
                                          </m:rPr>
                                          <a:rPr lang="en-US" sz="1600" i="0" smtClean="0">
                                            <a:solidFill>
                                              <a:schemeClr val="tx1"/>
                                            </a:solidFill>
                                            <a:latin typeface="Cambria Math" panose="02040503050406030204" pitchFamily="18" charset="0"/>
                                          </a:rPr>
                                          <m:t>min</m:t>
                                        </m:r>
                                      </m:e>
                                      <m:lim>
                                        <m:acc>
                                          <m:accPr>
                                            <m:chr m:val="̂"/>
                                            <m:ctrlPr>
                                              <a:rPr lang="en-US" sz="1600" b="0" i="1" smtClean="0">
                                                <a:solidFill>
                                                  <a:schemeClr val="tx1"/>
                                                </a:solidFill>
                                                <a:latin typeface="Cambria Math" panose="02040503050406030204" pitchFamily="18" charset="0"/>
                                              </a:rPr>
                                            </m:ctrlPr>
                                          </m:accPr>
                                          <m:e>
                                            <m:r>
                                              <a:rPr lang="en-US" sz="1600" b="0" i="1" smtClean="0">
                                                <a:solidFill>
                                                  <a:schemeClr val="tx1"/>
                                                </a:solidFill>
                                                <a:latin typeface="Cambria Math" panose="02040503050406030204" pitchFamily="18" charset="0"/>
                                              </a:rPr>
                                              <m:t>𝛽</m:t>
                                            </m:r>
                                          </m:e>
                                        </m:acc>
                                      </m:lim>
                                    </m:limLow>
                                  </m:fName>
                                  <m:e>
                                    <m:nary>
                                      <m:naryPr>
                                        <m:chr m:val="∑"/>
                                        <m:ctrlPr>
                                          <a:rPr lang="en-US" sz="1600" i="1" smtClean="0">
                                            <a:solidFill>
                                              <a:schemeClr val="tx1"/>
                                            </a:solidFill>
                                            <a:latin typeface="Cambria Math" panose="02040503050406030204" pitchFamily="18" charset="0"/>
                                          </a:rPr>
                                        </m:ctrlPr>
                                      </m:naryPr>
                                      <m:sub>
                                        <m:r>
                                          <m:rPr>
                                            <m:brk m:alnAt="23"/>
                                          </m:rPr>
                                          <a:rPr lang="en-US" sz="1600" b="0" i="1" smtClean="0">
                                            <a:solidFill>
                                              <a:schemeClr val="tx1"/>
                                            </a:solidFill>
                                            <a:latin typeface="Cambria Math" panose="02040503050406030204" pitchFamily="18" charset="0"/>
                                          </a:rPr>
                                          <m:t>𝑖</m:t>
                                        </m:r>
                                        <m:r>
                                          <a:rPr lang="en-US" sz="1600" b="0" i="1" smtClean="0">
                                            <a:solidFill>
                                              <a:schemeClr val="tx1"/>
                                            </a:solidFill>
                                            <a:latin typeface="Cambria Math" panose="02040503050406030204" pitchFamily="18" charset="0"/>
                                          </a:rPr>
                                          <m:t>=1</m:t>
                                        </m:r>
                                      </m:sub>
                                      <m:sup>
                                        <m:r>
                                          <a:rPr lang="en-US" sz="1600" b="0" i="1" smtClean="0">
                                            <a:solidFill>
                                              <a:schemeClr val="tx1"/>
                                            </a:solidFill>
                                            <a:latin typeface="Cambria Math" panose="02040503050406030204" pitchFamily="18" charset="0"/>
                                          </a:rPr>
                                          <m:t>𝑁</m:t>
                                        </m:r>
                                      </m:sup>
                                      <m:e>
                                        <m:sSup>
                                          <m:sSupPr>
                                            <m:ctrlPr>
                                              <a:rPr lang="en-US" sz="1600" b="0" i="1" smtClean="0">
                                                <a:solidFill>
                                                  <a:schemeClr val="tx1"/>
                                                </a:solidFill>
                                                <a:latin typeface="Cambria Math" panose="02040503050406030204" pitchFamily="18" charset="0"/>
                                              </a:rPr>
                                            </m:ctrlPr>
                                          </m:sSupPr>
                                          <m:e>
                                            <m:d>
                                              <m:dPr>
                                                <m:ctrlPr>
                                                  <a:rPr lang="en-US" sz="1600" b="0" i="1" smtClean="0">
                                                    <a:solidFill>
                                                      <a:schemeClr val="tx1"/>
                                                    </a:solidFill>
                                                    <a:latin typeface="Cambria Math" panose="02040503050406030204" pitchFamily="18" charset="0"/>
                                                  </a:rPr>
                                                </m:ctrlPr>
                                              </m:dPr>
                                              <m:e>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𝑦</m:t>
                                                    </m:r>
                                                  </m:e>
                                                  <m:sub>
                                                    <m:r>
                                                      <a:rPr lang="en-US" sz="1600" b="0" i="1" smtClean="0">
                                                        <a:solidFill>
                                                          <a:schemeClr val="tx1"/>
                                                        </a:solidFill>
                                                        <a:latin typeface="Cambria Math" panose="02040503050406030204" pitchFamily="18" charset="0"/>
                                                      </a:rPr>
                                                      <m:t>𝑖</m:t>
                                                    </m:r>
                                                  </m:sub>
                                                </m:sSub>
                                                <m:r>
                                                  <a:rPr lang="en-US" sz="1600" b="0" i="1" smtClean="0">
                                                    <a:solidFill>
                                                      <a:schemeClr val="tx1"/>
                                                    </a:solidFill>
                                                    <a:latin typeface="Cambria Math" panose="02040503050406030204" pitchFamily="18" charset="0"/>
                                                  </a:rPr>
                                                  <m:t>−</m:t>
                                                </m:r>
                                                <m:sSubSup>
                                                  <m:sSubSupPr>
                                                    <m:ctrlPr>
                                                      <a:rPr lang="en-US" sz="1600" b="0" i="1" smtClean="0">
                                                        <a:solidFill>
                                                          <a:schemeClr val="tx1"/>
                                                        </a:solidFill>
                                                        <a:latin typeface="Cambria Math" panose="02040503050406030204" pitchFamily="18" charset="0"/>
                                                      </a:rPr>
                                                    </m:ctrlPr>
                                                  </m:sSubSupPr>
                                                  <m:e>
                                                    <m:r>
                                                      <a:rPr lang="en-US" sz="1600" b="0" i="1" smtClean="0">
                                                        <a:solidFill>
                                                          <a:schemeClr val="tx1"/>
                                                        </a:solidFill>
                                                        <a:latin typeface="Cambria Math" panose="02040503050406030204" pitchFamily="18" charset="0"/>
                                                      </a:rPr>
                                                      <m:t>𝑥</m:t>
                                                    </m:r>
                                                  </m:e>
                                                  <m:sub>
                                                    <m:r>
                                                      <a:rPr lang="en-US" sz="1600" b="0" i="1" smtClean="0">
                                                        <a:solidFill>
                                                          <a:schemeClr val="tx1"/>
                                                        </a:solidFill>
                                                        <a:latin typeface="Cambria Math" panose="02040503050406030204" pitchFamily="18" charset="0"/>
                                                      </a:rPr>
                                                      <m:t>𝑖</m:t>
                                                    </m:r>
                                                  </m:sub>
                                                  <m:sup>
                                                    <m:r>
                                                      <a:rPr lang="en-US" sz="1600" b="0" i="1" smtClean="0">
                                                        <a:solidFill>
                                                          <a:schemeClr val="tx1"/>
                                                        </a:solidFill>
                                                        <a:latin typeface="Cambria Math" panose="02040503050406030204" pitchFamily="18" charset="0"/>
                                                      </a:rPr>
                                                      <m:t>′</m:t>
                                                    </m:r>
                                                  </m:sup>
                                                </m:sSubSup>
                                                <m:acc>
                                                  <m:accPr>
                                                    <m:chr m:val="̂"/>
                                                    <m:ctrlPr>
                                                      <a:rPr lang="en-US" sz="1600" b="0" i="1" smtClean="0">
                                                        <a:solidFill>
                                                          <a:schemeClr val="tx1"/>
                                                        </a:solidFill>
                                                        <a:latin typeface="Cambria Math" panose="02040503050406030204" pitchFamily="18" charset="0"/>
                                                      </a:rPr>
                                                    </m:ctrlPr>
                                                  </m:accPr>
                                                  <m:e>
                                                    <m:r>
                                                      <a:rPr lang="en-US" sz="1600" b="0" i="1" smtClean="0">
                                                        <a:solidFill>
                                                          <a:schemeClr val="tx1"/>
                                                        </a:solidFill>
                                                        <a:latin typeface="Cambria Math" panose="02040503050406030204" pitchFamily="18" charset="0"/>
                                                      </a:rPr>
                                                      <m:t>𝛽</m:t>
                                                    </m:r>
                                                  </m:e>
                                                </m:acc>
                                              </m:e>
                                            </m:d>
                                          </m:e>
                                          <m:sup>
                                            <m:r>
                                              <a:rPr lang="en-US" sz="1600" b="0" i="1" smtClean="0">
                                                <a:solidFill>
                                                  <a:schemeClr val="tx1"/>
                                                </a:solidFill>
                                                <a:latin typeface="Cambria Math" panose="02040503050406030204" pitchFamily="18" charset="0"/>
                                              </a:rPr>
                                              <m:t>2</m:t>
                                            </m:r>
                                          </m:sup>
                                        </m:sSup>
                                      </m:e>
                                    </m:nary>
                                  </m:e>
                                </m:func>
                              </m:oMath>
                            </m:oMathPara>
                          </a14:m>
                          <a:endParaRPr lang="en-US" sz="1600" dirty="0">
                            <a:solidFill>
                              <a:schemeClr val="tx1"/>
                            </a:solidFill>
                          </a:endParaRPr>
                        </a:p>
                      </a:txBody>
                      <a:tcPr anchor="ctr">
                        <a:lnT w="12700" cap="flat" cmpd="sng" algn="ctr">
                          <a:solidFill>
                            <a:schemeClr val="bg1">
                              <a:lumMod val="85000"/>
                            </a:schemeClr>
                          </a:solidFill>
                          <a:prstDash val="solid"/>
                          <a:round/>
                          <a:headEnd type="none" w="med" len="med"/>
                          <a:tailEnd type="none" w="med" len="med"/>
                        </a:lnT>
                      </a:tcPr>
                    </a:tc>
                    <a:tc>
                      <a:txBody>
                        <a:bodyPr/>
                        <a:lstStyle/>
                        <a:p>
                          <a:pPr/>
                          <a14:m>
                            <m:oMathPara xmlns:m="http://schemas.openxmlformats.org/officeDocument/2006/math">
                              <m:oMathParaPr>
                                <m:jc m:val="centerGroup"/>
                              </m:oMathParaPr>
                              <m:oMath xmlns:m="http://schemas.openxmlformats.org/officeDocument/2006/math">
                                <m:func>
                                  <m:funcPr>
                                    <m:ctrlPr>
                                      <a:rPr lang="en-US" sz="1600" i="1" smtClean="0">
                                        <a:solidFill>
                                          <a:schemeClr val="tx1"/>
                                        </a:solidFill>
                                        <a:latin typeface="Cambria Math" panose="02040503050406030204" pitchFamily="18" charset="0"/>
                                      </a:rPr>
                                    </m:ctrlPr>
                                  </m:funcPr>
                                  <m:fName>
                                    <m:limLow>
                                      <m:limLowPr>
                                        <m:ctrlPr>
                                          <a:rPr lang="en-US" sz="1600" i="1" smtClean="0">
                                            <a:solidFill>
                                              <a:schemeClr val="tx1"/>
                                            </a:solidFill>
                                            <a:latin typeface="Cambria Math" panose="02040503050406030204" pitchFamily="18" charset="0"/>
                                          </a:rPr>
                                        </m:ctrlPr>
                                      </m:limLowPr>
                                      <m:e>
                                        <m:r>
                                          <m:rPr>
                                            <m:sty m:val="p"/>
                                          </m:rPr>
                                          <a:rPr lang="en-US" sz="1600" i="0" smtClean="0">
                                            <a:solidFill>
                                              <a:schemeClr val="tx1"/>
                                            </a:solidFill>
                                            <a:latin typeface="Cambria Math" panose="02040503050406030204" pitchFamily="18" charset="0"/>
                                          </a:rPr>
                                          <m:t>min</m:t>
                                        </m:r>
                                      </m:e>
                                      <m:lim>
                                        <m:acc>
                                          <m:accPr>
                                            <m:chr m:val="̂"/>
                                            <m:ctrlPr>
                                              <a:rPr lang="en-US" sz="1600" b="0" i="1" smtClean="0">
                                                <a:solidFill>
                                                  <a:schemeClr val="tx1"/>
                                                </a:solidFill>
                                                <a:latin typeface="Cambria Math" panose="02040503050406030204" pitchFamily="18" charset="0"/>
                                              </a:rPr>
                                            </m:ctrlPr>
                                          </m:accPr>
                                          <m:e>
                                            <m:r>
                                              <a:rPr lang="en-US" sz="1600" b="0" i="1" smtClean="0">
                                                <a:solidFill>
                                                  <a:schemeClr val="tx1"/>
                                                </a:solidFill>
                                                <a:latin typeface="Cambria Math" panose="02040503050406030204" pitchFamily="18" charset="0"/>
                                              </a:rPr>
                                              <m:t>𝛽</m:t>
                                            </m:r>
                                          </m:e>
                                        </m:acc>
                                      </m:lim>
                                    </m:limLow>
                                  </m:fName>
                                  <m:e>
                                    <m:nary>
                                      <m:naryPr>
                                        <m:chr m:val="∑"/>
                                        <m:ctrlPr>
                                          <a:rPr lang="en-US" sz="1600" i="1" smtClean="0">
                                            <a:solidFill>
                                              <a:schemeClr val="tx1"/>
                                            </a:solidFill>
                                            <a:latin typeface="Cambria Math" panose="02040503050406030204" pitchFamily="18" charset="0"/>
                                          </a:rPr>
                                        </m:ctrlPr>
                                      </m:naryPr>
                                      <m:sub>
                                        <m:r>
                                          <m:rPr>
                                            <m:brk m:alnAt="23"/>
                                          </m:rPr>
                                          <a:rPr lang="en-US" sz="1600" b="0" i="1" smtClean="0">
                                            <a:solidFill>
                                              <a:schemeClr val="tx1"/>
                                            </a:solidFill>
                                            <a:latin typeface="Cambria Math" panose="02040503050406030204" pitchFamily="18" charset="0"/>
                                          </a:rPr>
                                          <m:t>𝑖</m:t>
                                        </m:r>
                                        <m:r>
                                          <a:rPr lang="en-US" sz="1600" b="0" i="1" smtClean="0">
                                            <a:solidFill>
                                              <a:schemeClr val="tx1"/>
                                            </a:solidFill>
                                            <a:latin typeface="Cambria Math" panose="02040503050406030204" pitchFamily="18" charset="0"/>
                                          </a:rPr>
                                          <m:t>=1</m:t>
                                        </m:r>
                                      </m:sub>
                                      <m:sup>
                                        <m:r>
                                          <a:rPr lang="en-US" sz="1600" b="0" i="1" smtClean="0">
                                            <a:solidFill>
                                              <a:schemeClr val="tx1"/>
                                            </a:solidFill>
                                            <a:latin typeface="Cambria Math" panose="02040503050406030204" pitchFamily="18" charset="0"/>
                                          </a:rPr>
                                          <m:t>𝑁</m:t>
                                        </m:r>
                                      </m:sup>
                                      <m:e>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𝜌</m:t>
                                            </m:r>
                                          </m:e>
                                          <m:sub>
                                            <m:r>
                                              <a:rPr lang="en-US" sz="1600" b="0" i="1" smtClean="0">
                                                <a:solidFill>
                                                  <a:schemeClr val="tx1"/>
                                                </a:solidFill>
                                                <a:latin typeface="Cambria Math" panose="02040503050406030204" pitchFamily="18" charset="0"/>
                                              </a:rPr>
                                              <m:t>𝜏</m:t>
                                            </m:r>
                                          </m:sub>
                                        </m:sSub>
                                        <m:d>
                                          <m:dPr>
                                            <m:ctrlPr>
                                              <a:rPr lang="en-US" sz="1600" b="0" i="1" smtClean="0">
                                                <a:solidFill>
                                                  <a:schemeClr val="tx1"/>
                                                </a:solidFill>
                                                <a:latin typeface="Cambria Math" panose="02040503050406030204" pitchFamily="18" charset="0"/>
                                              </a:rPr>
                                            </m:ctrlPr>
                                          </m:dPr>
                                          <m:e>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𝑦</m:t>
                                                </m:r>
                                              </m:e>
                                              <m:sub>
                                                <m:r>
                                                  <a:rPr lang="en-US" sz="1600" b="0" i="1" smtClean="0">
                                                    <a:solidFill>
                                                      <a:schemeClr val="tx1"/>
                                                    </a:solidFill>
                                                    <a:latin typeface="Cambria Math" panose="02040503050406030204" pitchFamily="18" charset="0"/>
                                                  </a:rPr>
                                                  <m:t>𝑖</m:t>
                                                </m:r>
                                              </m:sub>
                                            </m:sSub>
                                            <m:r>
                                              <a:rPr lang="en-US" sz="1600" b="0" i="1" smtClean="0">
                                                <a:solidFill>
                                                  <a:schemeClr val="tx1"/>
                                                </a:solidFill>
                                                <a:latin typeface="Cambria Math" panose="02040503050406030204" pitchFamily="18" charset="0"/>
                                              </a:rPr>
                                              <m:t>−</m:t>
                                            </m:r>
                                            <m:sSubSup>
                                              <m:sSubSupPr>
                                                <m:ctrlPr>
                                                  <a:rPr lang="en-US" sz="1600" b="0" i="1" smtClean="0">
                                                    <a:solidFill>
                                                      <a:schemeClr val="tx1"/>
                                                    </a:solidFill>
                                                    <a:latin typeface="Cambria Math" panose="02040503050406030204" pitchFamily="18" charset="0"/>
                                                  </a:rPr>
                                                </m:ctrlPr>
                                              </m:sSubSupPr>
                                              <m:e>
                                                <m:r>
                                                  <a:rPr lang="en-US" sz="1600" b="0" i="1" smtClean="0">
                                                    <a:solidFill>
                                                      <a:schemeClr val="tx1"/>
                                                    </a:solidFill>
                                                    <a:latin typeface="Cambria Math" panose="02040503050406030204" pitchFamily="18" charset="0"/>
                                                  </a:rPr>
                                                  <m:t>𝑥</m:t>
                                                </m:r>
                                              </m:e>
                                              <m:sub>
                                                <m:r>
                                                  <a:rPr lang="en-US" sz="1600" b="0" i="1" smtClean="0">
                                                    <a:solidFill>
                                                      <a:schemeClr val="tx1"/>
                                                    </a:solidFill>
                                                    <a:latin typeface="Cambria Math" panose="02040503050406030204" pitchFamily="18" charset="0"/>
                                                  </a:rPr>
                                                  <m:t>𝑖</m:t>
                                                </m:r>
                                              </m:sub>
                                              <m:sup>
                                                <m:r>
                                                  <a:rPr lang="en-US" sz="1600" b="0" i="1" smtClean="0">
                                                    <a:solidFill>
                                                      <a:schemeClr val="tx1"/>
                                                    </a:solidFill>
                                                    <a:latin typeface="Cambria Math" panose="02040503050406030204" pitchFamily="18" charset="0"/>
                                                  </a:rPr>
                                                  <m:t>′</m:t>
                                                </m:r>
                                              </m:sup>
                                            </m:sSubSup>
                                            <m:acc>
                                              <m:accPr>
                                                <m:chr m:val="̂"/>
                                                <m:ctrlPr>
                                                  <a:rPr lang="en-US" sz="1600" b="0" i="1" smtClean="0">
                                                    <a:solidFill>
                                                      <a:schemeClr val="tx1"/>
                                                    </a:solidFill>
                                                    <a:latin typeface="Cambria Math" panose="02040503050406030204" pitchFamily="18" charset="0"/>
                                                  </a:rPr>
                                                </m:ctrlPr>
                                              </m:accPr>
                                              <m:e>
                                                <m:r>
                                                  <a:rPr lang="en-US" sz="1600" b="0" i="1" smtClean="0">
                                                    <a:solidFill>
                                                      <a:schemeClr val="tx1"/>
                                                    </a:solidFill>
                                                    <a:latin typeface="Cambria Math" panose="02040503050406030204" pitchFamily="18" charset="0"/>
                                                  </a:rPr>
                                                  <m:t>𝛽</m:t>
                                                </m:r>
                                              </m:e>
                                            </m:acc>
                                          </m:e>
                                        </m:d>
                                      </m:e>
                                    </m:nary>
                                  </m:e>
                                </m:func>
                              </m:oMath>
                            </m:oMathPara>
                          </a14:m>
                          <a:endParaRPr lang="en-US" sz="1600" dirty="0">
                            <a:solidFill>
                              <a:schemeClr val="tx1"/>
                            </a:solidFill>
                          </a:endParaRPr>
                        </a:p>
                      </a:txBody>
                      <a:tcPr anchor="ctr">
                        <a:lnT w="12700" cap="flat" cmpd="sng" algn="ctr">
                          <a:solidFill>
                            <a:schemeClr val="bg1">
                              <a:lumMod val="85000"/>
                            </a:schemeClr>
                          </a:solidFill>
                          <a:prstDash val="solid"/>
                          <a:round/>
                          <a:headEnd type="none" w="med" len="med"/>
                          <a:tailEnd type="none" w="med" len="med"/>
                        </a:lnT>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Method of estimation depends on the estimator used </a:t>
                          </a:r>
                          <a:br>
                            <a:rPr lang="en-US" sz="1600" dirty="0">
                              <a:solidFill>
                                <a:schemeClr val="tx1"/>
                              </a:solidFill>
                            </a:rPr>
                          </a:br>
                          <a:r>
                            <a:rPr lang="en-US" sz="1600" dirty="0">
                              <a:solidFill>
                                <a:schemeClr val="tx1"/>
                              </a:solidFill>
                            </a:rPr>
                            <a:t>(e.g., RIF-OLS, RIF-Logit)</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31978337"/>
                      </a:ext>
                    </a:extLst>
                  </a:tr>
                  <a:tr h="640080">
                    <a:tc>
                      <a:txBody>
                        <a:bodyPr/>
                        <a:lstStyle/>
                        <a:p>
                          <a:pPr algn="r"/>
                          <a:r>
                            <a:rPr lang="en-US" sz="1600" dirty="0"/>
                            <a:t>Solution</a:t>
                          </a:r>
                        </a:p>
                      </a:txBody>
                      <a:tcPr anchor="ctr">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Analytic solution</a:t>
                          </a:r>
                        </a:p>
                      </a:txBody>
                      <a:tcPr anchor="ctr">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Linear programming methods</a:t>
                          </a:r>
                        </a:p>
                      </a:txBody>
                      <a:tcPr anchor="ctr">
                        <a:lnB w="12700" cap="flat" cmpd="sng" algn="ctr">
                          <a:solidFill>
                            <a:schemeClr val="bg1">
                              <a:lumMod val="85000"/>
                            </a:schemeClr>
                          </a:solidFill>
                          <a:prstDash val="solid"/>
                          <a:round/>
                          <a:headEnd type="none" w="med" len="med"/>
                          <a:tailEnd type="none" w="med" len="med"/>
                        </a:lnB>
                      </a:tcPr>
                    </a:tc>
                    <a:tc vMerge="1">
                      <a:txBody>
                        <a:bodyPr/>
                        <a:lstStyle/>
                        <a:p>
                          <a:pPr algn="ctr"/>
                          <a:r>
                            <a:rPr lang="en-US" dirty="0">
                              <a:solidFill>
                                <a:schemeClr val="tx1"/>
                              </a:solidFill>
                            </a:rPr>
                            <a:t>Many, including OLS</a:t>
                          </a:r>
                        </a:p>
                      </a:txBody>
                      <a:tcPr anchor="ctr">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20005246"/>
                      </a:ext>
                    </a:extLst>
                  </a:tr>
                  <a:tr h="370840">
                    <a:tc>
                      <a:txBody>
                        <a:bodyPr/>
                        <a:lstStyle/>
                        <a:p>
                          <a:r>
                            <a:rPr lang="en-US" sz="1600" dirty="0">
                              <a:solidFill>
                                <a:srgbClr val="BFBFBF"/>
                              </a:solidFill>
                            </a:rPr>
                            <a:t>Estimating standard errors</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rgbClr val="BFBFBF"/>
                              </a:solidFill>
                            </a:rPr>
                            <a:t>Several estimators are available + bootstrap</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rgbClr val="BFBFBF"/>
                              </a:solidFill>
                            </a:rPr>
                            <a:t>Several estimators are available and key point is that we need to estimate the error density + bootstrap</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rgbClr val="BFBFBF"/>
                              </a:solidFill>
                            </a:rPr>
                            <a:t>Same estimators available as would be for the choice of estimator</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7421977"/>
                      </a:ext>
                    </a:extLst>
                  </a:tr>
                  <a:tr h="548640">
                    <a:tc>
                      <a:txBody>
                        <a:bodyPr/>
                        <a:lstStyle/>
                        <a:p>
                          <a:r>
                            <a:rPr lang="en-US" sz="1600" dirty="0"/>
                            <a:t>Interpretation</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One unit increase in the independent variable of interest is associated with a </a:t>
                          </a:r>
                          <a14:m>
                            <m:oMath xmlns:m="http://schemas.openxmlformats.org/officeDocument/2006/math">
                              <m:acc>
                                <m:accPr>
                                  <m:chr m:val="̂"/>
                                  <m:ctrlPr>
                                    <a:rPr lang="en-US" sz="1600" b="0" i="1" smtClean="0">
                                      <a:solidFill>
                                        <a:schemeClr val="tx1"/>
                                      </a:solidFill>
                                      <a:latin typeface="Cambria Math" panose="02040503050406030204" pitchFamily="18" charset="0"/>
                                    </a:rPr>
                                  </m:ctrlPr>
                                </m:accPr>
                                <m:e>
                                  <m:r>
                                    <a:rPr lang="en-US" sz="1600" b="0" i="1" smtClean="0">
                                      <a:solidFill>
                                        <a:schemeClr val="tx1"/>
                                      </a:solidFill>
                                      <a:latin typeface="Cambria Math" panose="02040503050406030204" pitchFamily="18" charset="0"/>
                                    </a:rPr>
                                    <m:t>𝛽</m:t>
                                  </m:r>
                                </m:e>
                              </m:acc>
                            </m:oMath>
                          </a14:m>
                          <a:r>
                            <a:rPr lang="en-US" sz="1600" dirty="0">
                              <a:solidFill>
                                <a:schemeClr val="tx1"/>
                              </a:solidFill>
                            </a:rPr>
                            <a:t> unit</a:t>
                          </a:r>
                          <a:r>
                            <a:rPr lang="en-US" sz="1600" baseline="0" dirty="0">
                              <a:solidFill>
                                <a:schemeClr val="tx1"/>
                              </a:solidFill>
                            </a:rPr>
                            <a:t> change</a:t>
                          </a:r>
                          <a:r>
                            <a:rPr lang="en-US" sz="1600" dirty="0">
                              <a:solidFill>
                                <a:schemeClr val="tx1"/>
                              </a:solidFill>
                            </a:rPr>
                            <a:t> in the conditional</a:t>
                          </a:r>
                          <a:r>
                            <a:rPr lang="en-US" sz="1600" baseline="0" dirty="0">
                              <a:solidFill>
                                <a:schemeClr val="tx1"/>
                              </a:solidFill>
                            </a:rPr>
                            <a:t> mean of the outcome</a:t>
                          </a:r>
                          <a:endParaRPr lang="en-US" sz="1600" dirty="0">
                            <a:solidFill>
                              <a:schemeClr val="tx1"/>
                            </a:solidFill>
                          </a:endParaRP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One unit increase in the independent</a:t>
                          </a:r>
                          <a:r>
                            <a:rPr lang="en-US" sz="1600" baseline="0" dirty="0">
                              <a:solidFill>
                                <a:schemeClr val="tx1"/>
                              </a:solidFill>
                            </a:rPr>
                            <a:t> variable of interest is associated with a </a:t>
                          </a:r>
                          <a14:m>
                            <m:oMath xmlns:m="http://schemas.openxmlformats.org/officeDocument/2006/math">
                              <m:acc>
                                <m:accPr>
                                  <m:chr m:val="̂"/>
                                  <m:ctrlPr>
                                    <a:rPr lang="en-US" sz="1600" b="0" i="1" smtClean="0">
                                      <a:solidFill>
                                        <a:schemeClr val="tx1"/>
                                      </a:solidFill>
                                      <a:latin typeface="Cambria Math" panose="02040503050406030204" pitchFamily="18" charset="0"/>
                                    </a:rPr>
                                  </m:ctrlPr>
                                </m:accPr>
                                <m:e>
                                  <m:r>
                                    <a:rPr lang="en-US" sz="1600" b="0" i="1" smtClean="0">
                                      <a:solidFill>
                                        <a:schemeClr val="tx1"/>
                                      </a:solidFill>
                                      <a:latin typeface="Cambria Math" panose="02040503050406030204" pitchFamily="18" charset="0"/>
                                    </a:rPr>
                                    <m:t>𝛽</m:t>
                                  </m:r>
                                </m:e>
                              </m:acc>
                            </m:oMath>
                          </a14:m>
                          <a:r>
                            <a:rPr lang="en-US" sz="1600" dirty="0">
                              <a:solidFill>
                                <a:schemeClr val="tx1"/>
                              </a:solidFill>
                            </a:rPr>
                            <a:t> unit change</a:t>
                          </a:r>
                          <a:r>
                            <a:rPr lang="en-US" sz="1600" baseline="0" dirty="0">
                              <a:solidFill>
                                <a:schemeClr val="tx1"/>
                              </a:solidFill>
                            </a:rPr>
                            <a:t> in </a:t>
                          </a:r>
                          <a:r>
                            <a:rPr lang="en-US" sz="1600" dirty="0">
                              <a:solidFill>
                                <a:schemeClr val="tx1"/>
                              </a:solidFill>
                            </a:rPr>
                            <a:t>the </a:t>
                          </a:r>
                          <a14:m>
                            <m:oMath xmlns:m="http://schemas.openxmlformats.org/officeDocument/2006/math">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𝜏</m:t>
                                  </m:r>
                                </m:e>
                                <m:sup>
                                  <m:r>
                                    <a:rPr lang="en-US" sz="1600" b="0" i="1" smtClean="0">
                                      <a:solidFill>
                                        <a:schemeClr val="tx1"/>
                                      </a:solidFill>
                                      <a:latin typeface="Cambria Math" panose="02040503050406030204" pitchFamily="18" charset="0"/>
                                    </a:rPr>
                                    <m:t>𝑡h</m:t>
                                  </m:r>
                                </m:sup>
                              </m:sSup>
                            </m:oMath>
                          </a14:m>
                          <a:r>
                            <a:rPr lang="en-US" sz="1600" dirty="0">
                              <a:solidFill>
                                <a:schemeClr val="tx1"/>
                              </a:solidFill>
                            </a:rPr>
                            <a:t> quantile of the conditional outcome distribution</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One unit increase in the mean of the independent variable of interest is associated</a:t>
                          </a:r>
                          <a:r>
                            <a:rPr lang="en-US" sz="1600" baseline="0" dirty="0">
                              <a:solidFill>
                                <a:schemeClr val="tx1"/>
                              </a:solidFill>
                            </a:rPr>
                            <a:t> with a </a:t>
                          </a:r>
                          <a14:m>
                            <m:oMath xmlns:m="http://schemas.openxmlformats.org/officeDocument/2006/math">
                              <m:acc>
                                <m:accPr>
                                  <m:chr m:val="̂"/>
                                  <m:ctrlPr>
                                    <a:rPr lang="en-US" sz="1600" b="0" i="1" smtClean="0">
                                      <a:solidFill>
                                        <a:schemeClr val="tx1"/>
                                      </a:solidFill>
                                      <a:latin typeface="Cambria Math" panose="02040503050406030204" pitchFamily="18" charset="0"/>
                                    </a:rPr>
                                  </m:ctrlPr>
                                </m:accPr>
                                <m:e>
                                  <m:r>
                                    <a:rPr lang="en-US" sz="1600" b="0" i="1" smtClean="0">
                                      <a:solidFill>
                                        <a:schemeClr val="tx1"/>
                                      </a:solidFill>
                                      <a:latin typeface="Cambria Math" panose="02040503050406030204" pitchFamily="18" charset="0"/>
                                    </a:rPr>
                                    <m:t>𝛽</m:t>
                                  </m:r>
                                </m:e>
                              </m:acc>
                            </m:oMath>
                          </a14:m>
                          <a:r>
                            <a:rPr lang="en-US" sz="1600" dirty="0">
                              <a:solidFill>
                                <a:schemeClr val="tx1"/>
                              </a:solidFill>
                            </a:rPr>
                            <a:t> unit change</a:t>
                          </a:r>
                          <a:r>
                            <a:rPr lang="en-US" sz="1600" baseline="0" dirty="0">
                              <a:solidFill>
                                <a:schemeClr val="tx1"/>
                              </a:solidFill>
                            </a:rPr>
                            <a:t> in</a:t>
                          </a:r>
                          <a:r>
                            <a:rPr lang="en-US" sz="1600" dirty="0">
                              <a:solidFill>
                                <a:schemeClr val="tx1"/>
                              </a:solidFill>
                            </a:rPr>
                            <a:t> the </a:t>
                          </a:r>
                          <a14:m>
                            <m:oMath xmlns:m="http://schemas.openxmlformats.org/officeDocument/2006/math">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𝜏</m:t>
                                  </m:r>
                                </m:e>
                                <m:sup>
                                  <m:r>
                                    <a:rPr lang="en-US" sz="1600" b="0" i="1" smtClean="0">
                                      <a:solidFill>
                                        <a:schemeClr val="tx1"/>
                                      </a:solidFill>
                                      <a:latin typeface="Cambria Math" panose="02040503050406030204" pitchFamily="18" charset="0"/>
                                    </a:rPr>
                                    <m:t>𝑡h</m:t>
                                  </m:r>
                                </m:sup>
                              </m:sSup>
                            </m:oMath>
                          </a14:m>
                          <a:r>
                            <a:rPr lang="en-US" sz="1600" dirty="0">
                              <a:solidFill>
                                <a:schemeClr val="tx1"/>
                              </a:solidFill>
                            </a:rPr>
                            <a:t> quantile of the unconditional outcome distribution</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5207593"/>
                      </a:ext>
                    </a:extLst>
                  </a:tr>
                </a:tbl>
              </a:graphicData>
            </a:graphic>
          </p:graphicFrame>
        </mc:Choice>
        <mc:Fallback xmlns="">
          <p:graphicFrame>
            <p:nvGraphicFramePr>
              <p:cNvPr id="3" name="Table 2">
                <a:extLst>
                  <a:ext uri="{FF2B5EF4-FFF2-40B4-BE49-F238E27FC236}">
                    <a16:creationId xmlns:a16="http://schemas.microsoft.com/office/drawing/2014/main" id="{3C617313-DB12-F66D-2C0E-8B76E8C3F952}"/>
                  </a:ext>
                </a:extLst>
              </p:cNvPr>
              <p:cNvGraphicFramePr>
                <a:graphicFrameLocks noGrp="1"/>
              </p:cNvGraphicFramePr>
              <p:nvPr>
                <p:extLst>
                  <p:ext uri="{D42A27DB-BD31-4B8C-83A1-F6EECF244321}">
                    <p14:modId xmlns:p14="http://schemas.microsoft.com/office/powerpoint/2010/main" val="4239217015"/>
                  </p:ext>
                </p:extLst>
              </p:nvPr>
            </p:nvGraphicFramePr>
            <p:xfrm>
              <a:off x="222202" y="379952"/>
              <a:ext cx="11747596" cy="6098096"/>
            </p:xfrm>
            <a:graphic>
              <a:graphicData uri="http://schemas.openxmlformats.org/drawingml/2006/table">
                <a:tbl>
                  <a:tblPr firstRow="1" bandRow="1">
                    <a:tableStyleId>{2D5ABB26-0587-4C30-8999-92F81FD0307C}</a:tableStyleId>
                  </a:tblPr>
                  <a:tblGrid>
                    <a:gridCol w="2633083">
                      <a:extLst>
                        <a:ext uri="{9D8B030D-6E8A-4147-A177-3AD203B41FA5}">
                          <a16:colId xmlns:a16="http://schemas.microsoft.com/office/drawing/2014/main" val="2485563793"/>
                        </a:ext>
                      </a:extLst>
                    </a:gridCol>
                    <a:gridCol w="3038171">
                      <a:extLst>
                        <a:ext uri="{9D8B030D-6E8A-4147-A177-3AD203B41FA5}">
                          <a16:colId xmlns:a16="http://schemas.microsoft.com/office/drawing/2014/main" val="1972392090"/>
                        </a:ext>
                      </a:extLst>
                    </a:gridCol>
                    <a:gridCol w="3038171">
                      <a:extLst>
                        <a:ext uri="{9D8B030D-6E8A-4147-A177-3AD203B41FA5}">
                          <a16:colId xmlns:a16="http://schemas.microsoft.com/office/drawing/2014/main" val="2831166234"/>
                        </a:ext>
                      </a:extLst>
                    </a:gridCol>
                    <a:gridCol w="3038171">
                      <a:extLst>
                        <a:ext uri="{9D8B030D-6E8A-4147-A177-3AD203B41FA5}">
                          <a16:colId xmlns:a16="http://schemas.microsoft.com/office/drawing/2014/main" val="1146948457"/>
                        </a:ext>
                      </a:extLst>
                    </a:gridCol>
                  </a:tblGrid>
                  <a:tr h="579120">
                    <a:tc>
                      <a:txBody>
                        <a:bodyPr/>
                        <a:lstStyle/>
                        <a:p>
                          <a:endParaRPr lang="en-US" sz="16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rgbClr val="468C8A"/>
                              </a:solidFill>
                            </a:rPr>
                            <a:t>Linear Regression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rgbClr val="468C8A"/>
                              </a:solidFill>
                            </a:rPr>
                            <a:t>Conditional Quantile Regression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rgbClr val="468C8A"/>
                              </a:solidFill>
                            </a:rPr>
                            <a:t>Unconditional Quantile Regression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6389442"/>
                      </a:ext>
                    </a:extLst>
                  </a:tr>
                  <a:tr h="640080">
                    <a:tc>
                      <a:txBody>
                        <a:bodyPr/>
                        <a:lstStyle/>
                        <a:p>
                          <a:r>
                            <a:rPr lang="en-US" sz="1600" dirty="0"/>
                            <a:t>Model</a:t>
                          </a:r>
                        </a:p>
                      </a:txBody>
                      <a:tcPr anchor="ct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nchor="ct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blipFill>
                          <a:blip r:embed="rId3"/>
                          <a:stretch>
                            <a:fillRect l="-87029" t="-94000" r="-200837" b="-784000"/>
                          </a:stretch>
                        </a:blipFill>
                      </a:tcPr>
                    </a:tc>
                    <a:tc>
                      <a:txBody>
                        <a:bodyPr/>
                        <a:lstStyle/>
                        <a:p>
                          <a:endParaRPr lang="en-US"/>
                        </a:p>
                      </a:txBody>
                      <a:tcPr anchor="ct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blipFill>
                          <a:blip r:embed="rId3"/>
                          <a:stretch>
                            <a:fillRect l="-186250" t="-94000" r="-100000" b="-784000"/>
                          </a:stretch>
                        </a:blipFill>
                      </a:tcPr>
                    </a:tc>
                    <a:tc>
                      <a:txBody>
                        <a:bodyPr/>
                        <a:lstStyle/>
                        <a:p>
                          <a:endParaRPr lang="en-US"/>
                        </a:p>
                      </a:txBody>
                      <a:tcPr anchor="ct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blipFill>
                          <a:blip r:embed="rId3"/>
                          <a:stretch>
                            <a:fillRect l="-287448" t="-94000" r="-418" b="-784000"/>
                          </a:stretch>
                        </a:blipFill>
                      </a:tcPr>
                    </a:tc>
                    <a:extLst>
                      <a:ext uri="{0D108BD9-81ED-4DB2-BD59-A6C34878D82A}">
                        <a16:rowId xmlns:a16="http://schemas.microsoft.com/office/drawing/2014/main" val="3364835753"/>
                      </a:ext>
                    </a:extLst>
                  </a:tr>
                  <a:tr h="822960">
                    <a:tc>
                      <a:txBody>
                        <a:bodyPr/>
                        <a:lstStyle/>
                        <a:p>
                          <a:r>
                            <a:rPr lang="en-US" sz="1600" dirty="0"/>
                            <a:t>Error</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Standard assumptions about the error term (</a:t>
                          </a:r>
                          <a:r>
                            <a:rPr lang="en-US" sz="1600" dirty="0" err="1">
                              <a:solidFill>
                                <a:schemeClr val="tx1"/>
                              </a:solidFill>
                            </a:rPr>
                            <a:t>iid</a:t>
                          </a:r>
                          <a:r>
                            <a:rPr lang="en-US" sz="1600" dirty="0">
                              <a:solidFill>
                                <a:schemeClr val="tx1"/>
                              </a:solidFill>
                            </a:rPr>
                            <a:t>, Normal distribution) are usually violated</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No distributional assumption is made about the error</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No explicit assumption, but likely the same assumptions as the estimation strategy used</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643586111"/>
                      </a:ext>
                    </a:extLst>
                  </a:tr>
                  <a:tr h="777050">
                    <a:tc>
                      <a:txBody>
                        <a:bodyPr/>
                        <a:lstStyle/>
                        <a:p>
                          <a:r>
                            <a:rPr lang="en-US" sz="1600" dirty="0"/>
                            <a:t>Estimating coefficients</a:t>
                          </a:r>
                        </a:p>
                      </a:txBody>
                      <a:tcPr anchor="ctr">
                        <a:lnT w="12700" cap="flat" cmpd="sng" algn="ctr">
                          <a:solidFill>
                            <a:schemeClr val="bg1">
                              <a:lumMod val="85000"/>
                            </a:schemeClr>
                          </a:solidFill>
                          <a:prstDash val="solid"/>
                          <a:round/>
                          <a:headEnd type="none" w="med" len="med"/>
                          <a:tailEnd type="none" w="med" len="med"/>
                        </a:lnT>
                      </a:tcPr>
                    </a:tc>
                    <a:tc>
                      <a:txBody>
                        <a:bodyPr/>
                        <a:lstStyle/>
                        <a:p>
                          <a:endParaRPr lang="en-US"/>
                        </a:p>
                      </a:txBody>
                      <a:tcPr anchor="ctr">
                        <a:lnT w="12700" cap="flat" cmpd="sng" algn="ctr">
                          <a:solidFill>
                            <a:schemeClr val="bg1">
                              <a:lumMod val="85000"/>
                            </a:schemeClr>
                          </a:solidFill>
                          <a:prstDash val="solid"/>
                          <a:round/>
                          <a:headEnd type="none" w="med" len="med"/>
                          <a:tailEnd type="none" w="med" len="med"/>
                        </a:lnT>
                        <a:blipFill>
                          <a:blip r:embed="rId3"/>
                          <a:stretch>
                            <a:fillRect l="-87029" t="-261290" r="-200837" b="-427419"/>
                          </a:stretch>
                        </a:blipFill>
                      </a:tcPr>
                    </a:tc>
                    <a:tc>
                      <a:txBody>
                        <a:bodyPr/>
                        <a:lstStyle/>
                        <a:p>
                          <a:endParaRPr lang="en-US"/>
                        </a:p>
                      </a:txBody>
                      <a:tcPr anchor="ctr">
                        <a:lnT w="12700" cap="flat" cmpd="sng" algn="ctr">
                          <a:solidFill>
                            <a:schemeClr val="bg1">
                              <a:lumMod val="85000"/>
                            </a:schemeClr>
                          </a:solidFill>
                          <a:prstDash val="solid"/>
                          <a:round/>
                          <a:headEnd type="none" w="med" len="med"/>
                          <a:tailEnd type="none" w="med" len="med"/>
                        </a:lnT>
                        <a:blipFill>
                          <a:blip r:embed="rId3"/>
                          <a:stretch>
                            <a:fillRect l="-186250" t="-261290" r="-100000" b="-427419"/>
                          </a:stretch>
                        </a:blip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Method of estimation depends on the estimator used </a:t>
                          </a:r>
                          <a:br>
                            <a:rPr lang="en-US" sz="1600" dirty="0">
                              <a:solidFill>
                                <a:schemeClr val="tx1"/>
                              </a:solidFill>
                            </a:rPr>
                          </a:br>
                          <a:r>
                            <a:rPr lang="en-US" sz="1600" dirty="0">
                              <a:solidFill>
                                <a:schemeClr val="tx1"/>
                              </a:solidFill>
                            </a:rPr>
                            <a:t>(e.g., RIF-OLS, RIF-Logit)</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31978337"/>
                      </a:ext>
                    </a:extLst>
                  </a:tr>
                  <a:tr h="640080">
                    <a:tc>
                      <a:txBody>
                        <a:bodyPr/>
                        <a:lstStyle/>
                        <a:p>
                          <a:pPr algn="r"/>
                          <a:r>
                            <a:rPr lang="en-US" sz="1600" dirty="0"/>
                            <a:t>Solution</a:t>
                          </a:r>
                        </a:p>
                      </a:txBody>
                      <a:tcPr anchor="ctr">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Analytic solution</a:t>
                          </a:r>
                        </a:p>
                      </a:txBody>
                      <a:tcPr anchor="ctr">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Linear programming methods</a:t>
                          </a:r>
                        </a:p>
                      </a:txBody>
                      <a:tcPr anchor="ctr">
                        <a:lnB w="12700" cap="flat" cmpd="sng" algn="ctr">
                          <a:solidFill>
                            <a:schemeClr val="bg1">
                              <a:lumMod val="85000"/>
                            </a:schemeClr>
                          </a:solidFill>
                          <a:prstDash val="solid"/>
                          <a:round/>
                          <a:headEnd type="none" w="med" len="med"/>
                          <a:tailEnd type="none" w="med" len="med"/>
                        </a:lnB>
                      </a:tcPr>
                    </a:tc>
                    <a:tc vMerge="1">
                      <a:txBody>
                        <a:bodyPr/>
                        <a:lstStyle/>
                        <a:p>
                          <a:pPr algn="ctr"/>
                          <a:r>
                            <a:rPr lang="en-US" dirty="0">
                              <a:solidFill>
                                <a:schemeClr val="tx1"/>
                              </a:solidFill>
                            </a:rPr>
                            <a:t>Many, including OLS</a:t>
                          </a:r>
                        </a:p>
                      </a:txBody>
                      <a:tcPr anchor="ctr">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20005246"/>
                      </a:ext>
                    </a:extLst>
                  </a:tr>
                  <a:tr h="1066800">
                    <a:tc>
                      <a:txBody>
                        <a:bodyPr/>
                        <a:lstStyle/>
                        <a:p>
                          <a:r>
                            <a:rPr lang="en-US" sz="1600" dirty="0">
                              <a:solidFill>
                                <a:srgbClr val="BFBFBF"/>
                              </a:solidFill>
                            </a:rPr>
                            <a:t>Estimating standard errors</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rgbClr val="BFBFBF"/>
                              </a:solidFill>
                            </a:rPr>
                            <a:t>Several estimators are available + bootstrap</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rgbClr val="BFBFBF"/>
                              </a:solidFill>
                            </a:rPr>
                            <a:t>Several estimators are available and key point is that we need to estimate the error density + bootstrap</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rgbClr val="BFBFBF"/>
                              </a:solidFill>
                            </a:rPr>
                            <a:t>Same estimators available as would be for the choice of estimator</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7421977"/>
                      </a:ext>
                    </a:extLst>
                  </a:tr>
                  <a:tr h="1572006">
                    <a:tc>
                      <a:txBody>
                        <a:bodyPr/>
                        <a:lstStyle/>
                        <a:p>
                          <a:r>
                            <a:rPr lang="en-US" sz="1600" dirty="0"/>
                            <a:t>Interpretation</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87029" t="-289516" r="-200837" b="-4839"/>
                          </a:stretch>
                        </a:blipFill>
                      </a:tcPr>
                    </a:tc>
                    <a:tc>
                      <a:txBody>
                        <a:bodyPr/>
                        <a:lstStyle/>
                        <a:p>
                          <a:endParaRPr lang="en-US"/>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86250" t="-289516" r="-100000" b="-4839"/>
                          </a:stretch>
                        </a:blipFill>
                      </a:tcPr>
                    </a:tc>
                    <a:tc>
                      <a:txBody>
                        <a:bodyPr/>
                        <a:lstStyle/>
                        <a:p>
                          <a:endParaRPr lang="en-US"/>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87448" t="-289516" r="-418" b="-4839"/>
                          </a:stretch>
                        </a:blipFill>
                      </a:tcPr>
                    </a:tc>
                    <a:extLst>
                      <a:ext uri="{0D108BD9-81ED-4DB2-BD59-A6C34878D82A}">
                        <a16:rowId xmlns:a16="http://schemas.microsoft.com/office/drawing/2014/main" val="2715207593"/>
                      </a:ext>
                    </a:extLst>
                  </a:tr>
                </a:tbl>
              </a:graphicData>
            </a:graphic>
          </p:graphicFrame>
        </mc:Fallback>
      </mc:AlternateContent>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1069"/>
        <p:cNvGrpSpPr/>
        <p:nvPr/>
      </p:nvGrpSpPr>
      <p:grpSpPr>
        <a:xfrm>
          <a:off x="0" y="0"/>
          <a:ext cx="0" cy="0"/>
          <a:chOff x="0" y="0"/>
          <a:chExt cx="0" cy="0"/>
        </a:xfrm>
      </p:grpSpPr>
      <p:sp>
        <p:nvSpPr>
          <p:cNvPr id="1070" name="Google Shape;1070;p104"/>
          <p:cNvSpPr txBox="1">
            <a:spLocks noGrp="1"/>
          </p:cNvSpPr>
          <p:nvPr>
            <p:ph type="title"/>
          </p:nvPr>
        </p:nvSpPr>
        <p:spPr>
          <a:xfrm>
            <a:off x="838200" y="2950185"/>
            <a:ext cx="10515600" cy="957629"/>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9300"/>
              </a:buClr>
              <a:buSzPts val="6000"/>
              <a:buFont typeface="Arial"/>
              <a:buNone/>
            </a:pPr>
            <a:r>
              <a:rPr lang="en-US" b="1" dirty="0">
                <a:solidFill>
                  <a:srgbClr val="FF9300"/>
                </a:solidFill>
              </a:rPr>
              <a:t>Time for R</a:t>
            </a:r>
            <a:endParaRPr dirty="0"/>
          </a:p>
        </p:txBody>
      </p:sp>
      <p:sp>
        <p:nvSpPr>
          <p:cNvPr id="1071" name="Google Shape;1071;p10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124</a:t>
            </a:fld>
            <a:endParaRPr/>
          </a:p>
        </p:txBody>
      </p:sp>
    </p:spTree>
    <p:extLst>
      <p:ext uri="{BB962C8B-B14F-4D97-AF65-F5344CB8AC3E}">
        <p14:creationId xmlns:p14="http://schemas.microsoft.com/office/powerpoint/2010/main" val="62935909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825">
          <a:extLst>
            <a:ext uri="{FF2B5EF4-FFF2-40B4-BE49-F238E27FC236}">
              <a16:creationId xmlns:a16="http://schemas.microsoft.com/office/drawing/2014/main" id="{082829E0-6AE3-E772-29C4-AABD8CB32515}"/>
            </a:ext>
          </a:extLst>
        </p:cNvPr>
        <p:cNvGrpSpPr/>
        <p:nvPr/>
      </p:nvGrpSpPr>
      <p:grpSpPr>
        <a:xfrm>
          <a:off x="0" y="0"/>
          <a:ext cx="0" cy="0"/>
          <a:chOff x="0" y="0"/>
          <a:chExt cx="0" cy="0"/>
        </a:xfrm>
      </p:grpSpPr>
      <p:sp>
        <p:nvSpPr>
          <p:cNvPr id="826" name="Google Shape;826;p176">
            <a:extLst>
              <a:ext uri="{FF2B5EF4-FFF2-40B4-BE49-F238E27FC236}">
                <a16:creationId xmlns:a16="http://schemas.microsoft.com/office/drawing/2014/main" id="{3A96B1C6-DD90-A827-3F29-2D98954E722F}"/>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125</a:t>
            </a:fld>
            <a:endParaRPr/>
          </a:p>
        </p:txBody>
      </p:sp>
      <p:graphicFrame>
        <p:nvGraphicFramePr>
          <p:cNvPr id="2" name="Diagram 1">
            <a:extLst>
              <a:ext uri="{FF2B5EF4-FFF2-40B4-BE49-F238E27FC236}">
                <a16:creationId xmlns:a16="http://schemas.microsoft.com/office/drawing/2014/main" id="{25E59EA0-CD7D-723B-6674-370ACDEBA3E9}"/>
              </a:ext>
            </a:extLst>
          </p:cNvPr>
          <p:cNvGraphicFramePr/>
          <p:nvPr>
            <p:extLst>
              <p:ext uri="{D42A27DB-BD31-4B8C-83A1-F6EECF244321}">
                <p14:modId xmlns:p14="http://schemas.microsoft.com/office/powerpoint/2010/main" val="1807057706"/>
              </p:ext>
            </p:extLst>
          </p:nvPr>
        </p:nvGraphicFramePr>
        <p:xfrm>
          <a:off x="1293555" y="436407"/>
          <a:ext cx="9604889" cy="59851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8499586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1083">
          <a:extLst>
            <a:ext uri="{FF2B5EF4-FFF2-40B4-BE49-F238E27FC236}">
              <a16:creationId xmlns:a16="http://schemas.microsoft.com/office/drawing/2014/main" id="{569634F5-7056-77EB-E457-1559117C47F1}"/>
            </a:ext>
          </a:extLst>
        </p:cNvPr>
        <p:cNvGrpSpPr/>
        <p:nvPr/>
      </p:nvGrpSpPr>
      <p:grpSpPr>
        <a:xfrm>
          <a:off x="0" y="0"/>
          <a:ext cx="0" cy="0"/>
          <a:chOff x="0" y="0"/>
          <a:chExt cx="0" cy="0"/>
        </a:xfrm>
      </p:grpSpPr>
      <p:sp>
        <p:nvSpPr>
          <p:cNvPr id="1084" name="Google Shape;1084;g2b9424a3ee5_0_7">
            <a:extLst>
              <a:ext uri="{FF2B5EF4-FFF2-40B4-BE49-F238E27FC236}">
                <a16:creationId xmlns:a16="http://schemas.microsoft.com/office/drawing/2014/main" id="{06F6A3D2-BFD9-7C67-0BBC-969B3CCE571B}"/>
              </a:ext>
            </a:extLst>
          </p:cNvPr>
          <p:cNvSpPr txBox="1">
            <a:spLocks noGrp="1"/>
          </p:cNvSpPr>
          <p:nvPr>
            <p:ph type="title"/>
          </p:nvPr>
        </p:nvSpPr>
        <p:spPr>
          <a:xfrm>
            <a:off x="2925462" y="2950200"/>
            <a:ext cx="6341076" cy="95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0070C0"/>
              </a:buClr>
              <a:buSzPts val="6000"/>
              <a:buFont typeface="Arial"/>
              <a:buNone/>
            </a:pPr>
            <a:r>
              <a:rPr lang="en-US" b="1" dirty="0">
                <a:solidFill>
                  <a:srgbClr val="0070C0"/>
                </a:solidFill>
              </a:rPr>
              <a:t>10-minute break</a:t>
            </a:r>
            <a:endParaRPr dirty="0"/>
          </a:p>
        </p:txBody>
      </p:sp>
      <p:sp>
        <p:nvSpPr>
          <p:cNvPr id="1085" name="Google Shape;1085;g2b9424a3ee5_0_7">
            <a:extLst>
              <a:ext uri="{FF2B5EF4-FFF2-40B4-BE49-F238E27FC236}">
                <a16:creationId xmlns:a16="http://schemas.microsoft.com/office/drawing/2014/main" id="{7FA4D4ED-DA95-BA95-5796-1FF143A849AE}"/>
              </a:ext>
            </a:extLst>
          </p:cNvPr>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126</a:t>
            </a:fld>
            <a:endParaRPr/>
          </a:p>
        </p:txBody>
      </p:sp>
    </p:spTree>
    <p:extLst>
      <p:ext uri="{BB962C8B-B14F-4D97-AF65-F5344CB8AC3E}">
        <p14:creationId xmlns:p14="http://schemas.microsoft.com/office/powerpoint/2010/main" val="34310542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2494C"/>
        </a:solidFill>
        <a:effectLst/>
      </p:bgPr>
    </p:bg>
    <p:spTree>
      <p:nvGrpSpPr>
        <p:cNvPr id="1" name="Shape 904"/>
        <p:cNvGrpSpPr/>
        <p:nvPr/>
      </p:nvGrpSpPr>
      <p:grpSpPr>
        <a:xfrm>
          <a:off x="0" y="0"/>
          <a:ext cx="0" cy="0"/>
          <a:chOff x="0" y="0"/>
          <a:chExt cx="0" cy="0"/>
        </a:xfrm>
      </p:grpSpPr>
      <p:sp>
        <p:nvSpPr>
          <p:cNvPr id="905" name="Google Shape;905;g2b790785aef_0_70"/>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Arial"/>
              <a:buNone/>
            </a:pPr>
            <a:r>
              <a:rPr lang="en-US" b="1" dirty="0">
                <a:solidFill>
                  <a:schemeClr val="lt1"/>
                </a:solidFill>
              </a:rPr>
              <a:t>Standard errors</a:t>
            </a:r>
            <a:endParaRPr b="1" i="1" dirty="0">
              <a:solidFill>
                <a:schemeClr val="lt1"/>
              </a:solidFill>
            </a:endParaRPr>
          </a:p>
        </p:txBody>
      </p:sp>
      <p:sp>
        <p:nvSpPr>
          <p:cNvPr id="906" name="Google Shape;906;g2b790785aef_0_70"/>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400"/>
              <a:buNone/>
            </a:pPr>
            <a:endParaRPr dirty="0"/>
          </a:p>
        </p:txBody>
      </p:sp>
      <p:sp>
        <p:nvSpPr>
          <p:cNvPr id="907" name="Google Shape;907;g2b790785aef_0_7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888888"/>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888888"/>
                </a:buClr>
                <a:buSzPts val="1200"/>
                <a:buFont typeface="Arial"/>
                <a:buNone/>
                <a:tabLst/>
                <a:defRPr/>
              </a:pPr>
              <a:t>127</a:t>
            </a:fld>
            <a:endParaRPr kumimoji="0" sz="1200" b="0" i="0" u="none" strike="noStrike" kern="0" cap="none" spc="0" normalizeH="0" baseline="0" noProof="0">
              <a:ln>
                <a:noFill/>
              </a:ln>
              <a:solidFill>
                <a:srgbClr val="888888"/>
              </a:solidFill>
              <a:effectLst/>
              <a:uLnTx/>
              <a:uFillTx/>
              <a:latin typeface="Arial"/>
              <a:ea typeface="Arial"/>
              <a:cs typeface="Arial"/>
              <a:sym typeface="Arial"/>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p9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Populations and samples</a:t>
            </a:r>
            <a:endParaRPr dirty="0"/>
          </a:p>
        </p:txBody>
      </p:sp>
      <p:sp>
        <p:nvSpPr>
          <p:cNvPr id="921" name="Google Shape;921;p9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128</a:t>
            </a:fld>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F2211FC-4150-55F4-8280-E7705C1031F2}"/>
                  </a:ext>
                </a:extLst>
              </p:cNvPr>
              <p:cNvSpPr txBox="1">
                <a:spLocks/>
              </p:cNvSpPr>
              <p:nvPr/>
            </p:nvSpPr>
            <p:spPr>
              <a:xfrm>
                <a:off x="838200" y="1702963"/>
                <a:ext cx="10515600" cy="460233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a:buSzPct val="100000"/>
                </a:pPr>
                <a:r>
                  <a:rPr lang="en-US" dirty="0">
                    <a:latin typeface="+mn-lt"/>
                  </a:rPr>
                  <a:t>Imagine that the following is the true model of the relationship between SBP and school years</a:t>
                </a:r>
              </a:p>
              <a:p>
                <a:pPr marL="114300" indent="0">
                  <a:buSzPct val="100000"/>
                  <a:buNone/>
                </a:pPr>
                <a:endParaRPr lang="en-US" dirty="0">
                  <a:latin typeface="+mn-lt"/>
                </a:endParaRPr>
              </a:p>
              <a:p>
                <a:pPr marL="114300" indent="0">
                  <a:buSzPct val="10000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𝑆𝐵</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r>
                        <a:rPr lang="en-US" i="1">
                          <a:latin typeface="Cambria Math" panose="02040503050406030204" pitchFamily="18" charset="0"/>
                        </a:rPr>
                        <m:t>𝑠𝑐h𝑙𝑦𝑟</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𝑖</m:t>
                          </m:r>
                        </m:sub>
                      </m:sSub>
                    </m:oMath>
                  </m:oMathPara>
                </a14:m>
                <a:endParaRPr lang="en-US" sz="4800" dirty="0"/>
              </a:p>
              <a:p>
                <a:pPr marL="114300" indent="0">
                  <a:buSzPct val="100000"/>
                  <a:buNone/>
                </a:pPr>
                <a:endParaRPr lang="en-US" dirty="0">
                  <a:latin typeface="+mn-lt"/>
                </a:endParaRPr>
              </a:p>
              <a:p>
                <a:pPr>
                  <a:buSzPct val="100000"/>
                </a:pPr>
                <a:r>
                  <a:rPr lang="en-US" dirty="0">
                    <a:latin typeface="+mn-lt"/>
                  </a:rPr>
                  <a:t>But we usually work with samples, so we end up estimating the parameters of this model</a:t>
                </a:r>
              </a:p>
              <a:p>
                <a:pPr marL="0" indent="0">
                  <a:buSzPct val="100000"/>
                  <a:buFont typeface="Arial"/>
                  <a:buNone/>
                </a:pPr>
                <a:endParaRPr lang="en-US" dirty="0">
                  <a:latin typeface="+mn-lt"/>
                </a:endParaRPr>
              </a:p>
              <a:p>
                <a:pPr marL="0" indent="0">
                  <a:buFont typeface="Arial"/>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𝑆𝐵</m:t>
                      </m:r>
                      <m:sSub>
                        <m:sSubPr>
                          <m:ctrlPr>
                            <a:rPr lang="en-US" i="1" smtClean="0">
                              <a:latin typeface="Cambria Math" panose="02040503050406030204" pitchFamily="18" charset="0"/>
                            </a:rPr>
                          </m:ctrlPr>
                        </m:sSubPr>
                        <m:e>
                          <m:r>
                            <a:rPr lang="en-US" i="1" smtClean="0">
                              <a:latin typeface="Cambria Math" panose="02040503050406030204" pitchFamily="18" charset="0"/>
                            </a:rPr>
                            <m:t>𝑃</m:t>
                          </m:r>
                        </m:e>
                        <m:sub>
                          <m:r>
                            <a:rPr lang="en-US" i="1" smtClean="0">
                              <a:latin typeface="Cambria Math" panose="02040503050406030204" pitchFamily="18" charset="0"/>
                            </a:rPr>
                            <m:t>𝑖</m:t>
                          </m:r>
                        </m:sub>
                      </m:sSub>
                      <m:r>
                        <a:rPr lang="en-US"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0</m:t>
                              </m:r>
                            </m:sub>
                          </m:sSub>
                        </m:e>
                      </m:acc>
                      <m:r>
                        <a:rPr lang="en-US"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1</m:t>
                              </m:r>
                            </m:sub>
                          </m:sSub>
                        </m:e>
                      </m:acc>
                      <m:r>
                        <a:rPr lang="en-US" i="1" smtClean="0">
                          <a:latin typeface="Cambria Math" panose="02040503050406030204" pitchFamily="18" charset="0"/>
                        </a:rPr>
                        <m:t>𝑠𝑐h𝑙𝑦𝑟</m:t>
                      </m:r>
                      <m:sSub>
                        <m:sSubPr>
                          <m:ctrlPr>
                            <a:rPr lang="en-US" i="1" smtClean="0">
                              <a:latin typeface="Cambria Math" panose="02040503050406030204" pitchFamily="18" charset="0"/>
                            </a:rPr>
                          </m:ctrlPr>
                        </m:sSubPr>
                        <m:e>
                          <m:r>
                            <a:rPr lang="en-US" i="1" smtClean="0">
                              <a:latin typeface="Cambria Math" panose="02040503050406030204" pitchFamily="18" charset="0"/>
                            </a:rPr>
                            <m:t>𝑠</m:t>
                          </m:r>
                        </m:e>
                        <m:sub>
                          <m:r>
                            <a:rPr lang="en-US" i="1" smtClean="0">
                              <a:latin typeface="Cambria Math" panose="02040503050406030204" pitchFamily="18" charset="0"/>
                            </a:rPr>
                            <m:t>𝑖</m:t>
                          </m:r>
                        </m:sub>
                      </m:sSub>
                      <m:r>
                        <a:rPr lang="en-US"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𝑖</m:t>
                              </m:r>
                            </m:sub>
                          </m:sSub>
                        </m:e>
                      </m:acc>
                    </m:oMath>
                  </m:oMathPara>
                </a14:m>
                <a:endParaRPr lang="en-US" dirty="0">
                  <a:latin typeface="+mn-lt"/>
                </a:endParaRPr>
              </a:p>
              <a:p>
                <a:pPr marL="0" indent="0">
                  <a:buFont typeface="Arial"/>
                  <a:buNone/>
                </a:pPr>
                <a:endParaRPr lang="en-US" dirty="0">
                  <a:latin typeface="+mn-lt"/>
                </a:endParaRPr>
              </a:p>
              <a:p>
                <a:pPr marL="0" indent="0">
                  <a:buFont typeface="Arial"/>
                  <a:buNone/>
                </a:pPr>
                <a:endParaRPr lang="en-US" dirty="0">
                  <a:latin typeface="+mn-lt"/>
                </a:endParaRPr>
              </a:p>
            </p:txBody>
          </p:sp>
        </mc:Choice>
        <mc:Fallback xmlns="">
          <p:sp>
            <p:nvSpPr>
              <p:cNvPr id="4" name="Content Placeholder 3">
                <a:extLst>
                  <a:ext uri="{FF2B5EF4-FFF2-40B4-BE49-F238E27FC236}">
                    <a16:creationId xmlns:a16="http://schemas.microsoft.com/office/drawing/2014/main" id="{EF2211FC-4150-55F4-8280-E7705C1031F2}"/>
                  </a:ext>
                </a:extLst>
              </p:cNvPr>
              <p:cNvSpPr txBox="1">
                <a:spLocks noRot="1" noChangeAspect="1" noMove="1" noResize="1" noEditPoints="1" noAdjustHandles="1" noChangeArrowheads="1" noChangeShapeType="1" noTextEdit="1"/>
              </p:cNvSpPr>
              <p:nvPr/>
            </p:nvSpPr>
            <p:spPr>
              <a:xfrm>
                <a:off x="838200" y="1702963"/>
                <a:ext cx="10515600" cy="4602335"/>
              </a:xfrm>
              <a:prstGeom prst="rect">
                <a:avLst/>
              </a:prstGeom>
              <a:blipFill>
                <a:blip r:embed="rId3"/>
                <a:stretch>
                  <a:fillRect r="-290"/>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4147412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351">
          <a:extLst>
            <a:ext uri="{FF2B5EF4-FFF2-40B4-BE49-F238E27FC236}">
              <a16:creationId xmlns:a16="http://schemas.microsoft.com/office/drawing/2014/main" id="{74272A04-C24A-2F7D-5BDD-5891EDCEAC2D}"/>
            </a:ext>
          </a:extLst>
        </p:cNvPr>
        <p:cNvGrpSpPr/>
        <p:nvPr/>
      </p:nvGrpSpPr>
      <p:grpSpPr>
        <a:xfrm>
          <a:off x="0" y="0"/>
          <a:ext cx="0" cy="0"/>
          <a:chOff x="0" y="0"/>
          <a:chExt cx="0" cy="0"/>
        </a:xfrm>
      </p:grpSpPr>
      <p:sp>
        <p:nvSpPr>
          <p:cNvPr id="352" name="Google Shape;352;p130">
            <a:extLst>
              <a:ext uri="{FF2B5EF4-FFF2-40B4-BE49-F238E27FC236}">
                <a16:creationId xmlns:a16="http://schemas.microsoft.com/office/drawing/2014/main" id="{36D68AF6-F8FA-B906-52AD-73931FCBCA3F}"/>
              </a:ext>
            </a:extLst>
          </p:cNvPr>
          <p:cNvSpPr txBox="1">
            <a:spLocks noGrp="1"/>
          </p:cNvSpPr>
          <p:nvPr>
            <p:ph type="title"/>
          </p:nvPr>
        </p:nvSpPr>
        <p:spPr>
          <a:xfrm>
            <a:off x="3567566" y="2904144"/>
            <a:ext cx="5056868" cy="104971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468C8A"/>
              </a:buClr>
              <a:buSzPts val="6000"/>
              <a:buFont typeface="Arial"/>
              <a:buNone/>
            </a:pPr>
            <a:r>
              <a:rPr lang="en-US" b="1" dirty="0">
                <a:solidFill>
                  <a:srgbClr val="FF9300"/>
                </a:solidFill>
              </a:rPr>
              <a:t>Poll Time!</a:t>
            </a:r>
            <a:endParaRPr dirty="0">
              <a:solidFill>
                <a:srgbClr val="FF9300"/>
              </a:solidFill>
            </a:endParaRPr>
          </a:p>
        </p:txBody>
      </p:sp>
      <p:sp>
        <p:nvSpPr>
          <p:cNvPr id="353" name="Google Shape;353;p130">
            <a:extLst>
              <a:ext uri="{FF2B5EF4-FFF2-40B4-BE49-F238E27FC236}">
                <a16:creationId xmlns:a16="http://schemas.microsoft.com/office/drawing/2014/main" id="{E2FF574B-3D0A-E4B1-F5B1-9470E01FC95F}"/>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129</a:t>
            </a:fld>
            <a:endParaRPr/>
          </a:p>
        </p:txBody>
      </p:sp>
    </p:spTree>
    <p:extLst>
      <p:ext uri="{BB962C8B-B14F-4D97-AF65-F5344CB8AC3E}">
        <p14:creationId xmlns:p14="http://schemas.microsoft.com/office/powerpoint/2010/main" val="91191389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p9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Populations and samples</a:t>
            </a:r>
            <a:endParaRPr dirty="0"/>
          </a:p>
        </p:txBody>
      </p:sp>
      <p:sp>
        <p:nvSpPr>
          <p:cNvPr id="921" name="Google Shape;921;p9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130</a:t>
            </a:fld>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F2211FC-4150-55F4-8280-E7705C1031F2}"/>
                  </a:ext>
                </a:extLst>
              </p:cNvPr>
              <p:cNvSpPr txBox="1">
                <a:spLocks/>
              </p:cNvSpPr>
              <p:nvPr/>
            </p:nvSpPr>
            <p:spPr>
              <a:xfrm>
                <a:off x="838200" y="1702963"/>
                <a:ext cx="10515600" cy="460233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a:buSzPct val="100000"/>
                </a:pPr>
                <a:r>
                  <a:rPr lang="en-US" dirty="0">
                    <a:latin typeface="+mn-lt"/>
                  </a:rPr>
                  <a:t>In theory, we could draw a sample from the population several times and estimate parameters of our model in each of them</a:t>
                </a:r>
              </a:p>
              <a:p>
                <a:pPr>
                  <a:buSzPct val="100000"/>
                </a:pPr>
                <a:endParaRPr lang="en-US" dirty="0">
                  <a:latin typeface="+mn-lt"/>
                </a:endParaRPr>
              </a:p>
              <a:p>
                <a:pPr marL="114300" indent="0">
                  <a:buSzPct val="10000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𝑆𝐵</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𝑖</m:t>
                          </m:r>
                        </m:sub>
                      </m:sSub>
                      <m:r>
                        <a:rPr lang="en-US" i="1">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0</m:t>
                              </m:r>
                            </m:sub>
                          </m:sSub>
                        </m:e>
                      </m:acc>
                      <m:r>
                        <a:rPr lang="en-US" i="1">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e>
                      </m:acc>
                      <m:r>
                        <a:rPr lang="en-US" i="1">
                          <a:latin typeface="Cambria Math" panose="02040503050406030204" pitchFamily="18" charset="0"/>
                        </a:rPr>
                        <m:t>𝑠𝑐h𝑙𝑦𝑟</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𝑖</m:t>
                          </m:r>
                        </m:sub>
                      </m:sSub>
                      <m:r>
                        <a:rPr lang="en-US" i="1">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𝑖</m:t>
                              </m:r>
                            </m:sub>
                          </m:sSub>
                        </m:e>
                      </m:acc>
                    </m:oMath>
                  </m:oMathPara>
                </a14:m>
                <a:endParaRPr lang="en-US" dirty="0">
                  <a:latin typeface="+mn-lt"/>
                </a:endParaRPr>
              </a:p>
              <a:p>
                <a:pPr>
                  <a:buSzPct val="100000"/>
                </a:pPr>
                <a:endParaRPr lang="en-US" dirty="0">
                  <a:latin typeface="+mn-lt"/>
                </a:endParaRPr>
              </a:p>
              <a:p>
                <a:pPr>
                  <a:buSzPct val="100000"/>
                </a:pPr>
                <a:r>
                  <a:rPr lang="en-US" dirty="0">
                    <a:latin typeface="+mn-lt"/>
                  </a:rPr>
                  <a:t>Standard deviation of the distribution of these estimates (i.e., variance of our estimator) is known as the standard error</a:t>
                </a:r>
              </a:p>
              <a:p>
                <a:pPr>
                  <a:buSzPct val="100000"/>
                </a:pPr>
                <a:endParaRPr lang="en-US" dirty="0">
                  <a:latin typeface="+mn-lt"/>
                </a:endParaRPr>
              </a:p>
              <a:p>
                <a:pPr marL="114300" indent="0" algn="ctr">
                  <a:buSzPct val="10000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𝑠𝑒</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𝛽</m:t>
                              </m:r>
                            </m:e>
                          </m:acc>
                        </m:e>
                      </m:d>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m:t>
                                  </m:r>
                                </m:sup>
                              </m:sSup>
                              <m:r>
                                <a:rPr lang="en-US" i="1">
                                  <a:latin typeface="Cambria Math" panose="02040503050406030204" pitchFamily="18" charset="0"/>
                                </a:rPr>
                                <m:t>𝑋</m:t>
                              </m:r>
                            </m:e>
                          </m:d>
                        </m:e>
                        <m:sup>
                          <m:r>
                            <a:rPr lang="en-US" i="1">
                              <a:latin typeface="Cambria Math" panose="02040503050406030204" pitchFamily="18" charset="0"/>
                            </a:rPr>
                            <m:t>−1</m:t>
                          </m:r>
                        </m:sup>
                      </m:sSup>
                    </m:oMath>
                  </m:oMathPara>
                </a14:m>
                <a:endParaRPr lang="en-US" dirty="0">
                  <a:latin typeface="+mn-lt"/>
                </a:endParaRPr>
              </a:p>
              <a:p>
                <a:pPr>
                  <a:buSzPct val="100000"/>
                </a:pPr>
                <a:endParaRPr lang="en-US" dirty="0">
                  <a:latin typeface="+mn-lt"/>
                </a:endParaRPr>
              </a:p>
              <a:p>
                <a:pPr marL="0" indent="0">
                  <a:buSzPct val="100000"/>
                  <a:buFont typeface="Arial"/>
                  <a:buNone/>
                </a:pPr>
                <a:endParaRPr lang="en-US" dirty="0">
                  <a:latin typeface="+mn-lt"/>
                </a:endParaRPr>
              </a:p>
              <a:p>
                <a:pPr marL="0" indent="0">
                  <a:buFont typeface="Arial"/>
                  <a:buNone/>
                </a:pPr>
                <a:endParaRPr lang="en-US" dirty="0">
                  <a:latin typeface="+mn-lt"/>
                </a:endParaRPr>
              </a:p>
              <a:p>
                <a:pPr marL="0" indent="0">
                  <a:buFont typeface="Arial"/>
                  <a:buNone/>
                </a:pPr>
                <a:endParaRPr lang="en-US" dirty="0">
                  <a:latin typeface="+mn-lt"/>
                </a:endParaRPr>
              </a:p>
              <a:p>
                <a:pPr marL="0" indent="0">
                  <a:buNone/>
                </a:pPr>
                <a:endParaRPr lang="en-US" dirty="0">
                  <a:latin typeface="+mn-lt"/>
                </a:endParaRPr>
              </a:p>
              <a:p>
                <a:pPr marL="0" indent="0">
                  <a:buFont typeface="Arial"/>
                  <a:buNone/>
                </a:pPr>
                <a:endParaRPr lang="en-US" dirty="0">
                  <a:latin typeface="+mn-lt"/>
                </a:endParaRPr>
              </a:p>
            </p:txBody>
          </p:sp>
        </mc:Choice>
        <mc:Fallback xmlns="">
          <p:sp>
            <p:nvSpPr>
              <p:cNvPr id="4" name="Content Placeholder 3">
                <a:extLst>
                  <a:ext uri="{FF2B5EF4-FFF2-40B4-BE49-F238E27FC236}">
                    <a16:creationId xmlns:a16="http://schemas.microsoft.com/office/drawing/2014/main" id="{EF2211FC-4150-55F4-8280-E7705C1031F2}"/>
                  </a:ext>
                </a:extLst>
              </p:cNvPr>
              <p:cNvSpPr txBox="1">
                <a:spLocks noRot="1" noChangeAspect="1" noMove="1" noResize="1" noEditPoints="1" noAdjustHandles="1" noChangeArrowheads="1" noChangeShapeType="1" noTextEdit="1"/>
              </p:cNvSpPr>
              <p:nvPr/>
            </p:nvSpPr>
            <p:spPr>
              <a:xfrm>
                <a:off x="838200" y="1702963"/>
                <a:ext cx="10515600" cy="4602335"/>
              </a:xfrm>
              <a:prstGeom prst="rect">
                <a:avLst/>
              </a:prstGeom>
              <a:blipFill>
                <a:blip r:embed="rId3"/>
                <a:stretch>
                  <a:fillRect r="-1448"/>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66951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sp>
        <p:nvSpPr>
          <p:cNvPr id="934" name="Google Shape;934;p9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Homoskedasticity</a:t>
            </a:r>
            <a:endParaRPr dirty="0"/>
          </a:p>
        </p:txBody>
      </p:sp>
      <p:sp>
        <p:nvSpPr>
          <p:cNvPr id="936" name="Google Shape;936;p9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131</a:t>
            </a:fld>
            <a:endParaRPr/>
          </a:p>
        </p:txBody>
      </p:sp>
      <mc:AlternateContent xmlns:mc="http://schemas.openxmlformats.org/markup-compatibility/2006" xmlns:a14="http://schemas.microsoft.com/office/drawing/2010/main">
        <mc:Choice Requires="a14">
          <p:sp>
            <p:nvSpPr>
              <p:cNvPr id="8" name="Content Placeholder 5">
                <a:extLst>
                  <a:ext uri="{FF2B5EF4-FFF2-40B4-BE49-F238E27FC236}">
                    <a16:creationId xmlns:a16="http://schemas.microsoft.com/office/drawing/2014/main" id="{FA843263-7CC9-21B0-3610-2497A3657A39}"/>
                  </a:ext>
                </a:extLst>
              </p:cNvPr>
              <p:cNvSpPr txBox="1">
                <a:spLocks/>
              </p:cNvSpPr>
              <p:nvPr/>
            </p:nvSpPr>
            <p:spPr>
              <a:xfrm>
                <a:off x="838200" y="1825624"/>
                <a:ext cx="10515600" cy="45307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114300" indent="0">
                  <a:buSzPct val="100000"/>
                  <a:buNone/>
                </a:pPr>
                <a:endParaRPr lang="en-US" i="1" dirty="0">
                  <a:latin typeface="Cambria Math" panose="02040503050406030204" pitchFamily="18" charset="0"/>
                </a:endParaRPr>
              </a:p>
              <a:p>
                <a:pPr marL="114300" indent="0">
                  <a:buSzPct val="10000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𝑉𝑎𝑟</m:t>
                      </m:r>
                      <m:d>
                        <m:dPr>
                          <m:ctrlPr>
                            <a:rPr lang="en-US" i="1">
                              <a:latin typeface="Cambria Math" panose="02040503050406030204" pitchFamily="18" charset="0"/>
                            </a:rPr>
                          </m:ctrlPr>
                        </m:dPr>
                        <m:e>
                          <m:r>
                            <a:rPr lang="en-US" i="1">
                              <a:latin typeface="Cambria Math" panose="02040503050406030204" pitchFamily="18" charset="0"/>
                            </a:rPr>
                            <m:t>𝜖</m:t>
                          </m:r>
                        </m:e>
                        <m:e>
                          <m:r>
                            <a:rPr lang="en-US" i="1">
                              <a:latin typeface="Cambria Math" panose="02040503050406030204" pitchFamily="18" charset="0"/>
                            </a:rPr>
                            <m:t>𝑋</m:t>
                          </m:r>
                        </m:e>
                      </m:d>
                      <m:r>
                        <a:rPr lang="en-US" i="1">
                          <a:latin typeface="Cambria Math" panose="02040503050406030204" pitchFamily="18" charset="0"/>
                        </a:rPr>
                        <m:t>=</m:t>
                      </m:r>
                      <m:r>
                        <a:rPr lang="en-US" i="1">
                          <a:latin typeface="Cambria Math" panose="02040503050406030204" pitchFamily="18" charset="0"/>
                        </a:rPr>
                        <m:t>𝑉𝑎𝑟</m:t>
                      </m:r>
                      <m:d>
                        <m:dPr>
                          <m:ctrlPr>
                            <a:rPr lang="en-US" i="1">
                              <a:latin typeface="Cambria Math" panose="02040503050406030204" pitchFamily="18" charset="0"/>
                            </a:rPr>
                          </m:ctrlPr>
                        </m:dPr>
                        <m:e>
                          <m:r>
                            <a:rPr lang="en-US" i="1">
                              <a:latin typeface="Cambria Math" panose="02040503050406030204" pitchFamily="18" charset="0"/>
                            </a:rPr>
                            <m:t>𝜖</m:t>
                          </m:r>
                        </m:e>
                      </m:d>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oMath>
                  </m:oMathPara>
                </a14:m>
                <a:endParaRPr lang="en-US" dirty="0"/>
              </a:p>
              <a:p>
                <a:pPr>
                  <a:buSzPct val="100000"/>
                </a:pPr>
                <a:endParaRPr lang="en-US" dirty="0"/>
              </a:p>
              <a:p>
                <a:pPr>
                  <a:buSzPct val="100000"/>
                </a:pPr>
                <a:r>
                  <a:rPr lang="en-US" dirty="0"/>
                  <a:t>Assumes that each sample from the population has the same error distribution</a:t>
                </a:r>
              </a:p>
              <a:p>
                <a:pPr lvl="1">
                  <a:buSzPct val="100000"/>
                </a:pPr>
                <a:r>
                  <a:rPr lang="en-US" dirty="0"/>
                  <a:t>Independent, identically distributed (iid)</a:t>
                </a:r>
              </a:p>
              <a:p>
                <a:pPr lvl="1">
                  <a:buSzPct val="100000"/>
                </a:pPr>
                <a:r>
                  <a:rPr lang="en-US" dirty="0"/>
                  <a:t>Normal distribution</a:t>
                </a:r>
              </a:p>
              <a:p>
                <a:pPr marL="114300" indent="0">
                  <a:buSzPct val="100000"/>
                  <a:buNone/>
                </a:pPr>
                <a:endParaRPr lang="en-US" dirty="0"/>
              </a:p>
            </p:txBody>
          </p:sp>
        </mc:Choice>
        <mc:Fallback xmlns="">
          <p:sp>
            <p:nvSpPr>
              <p:cNvPr id="8" name="Content Placeholder 5">
                <a:extLst>
                  <a:ext uri="{FF2B5EF4-FFF2-40B4-BE49-F238E27FC236}">
                    <a16:creationId xmlns:a16="http://schemas.microsoft.com/office/drawing/2014/main" id="{FA843263-7CC9-21B0-3610-2497A3657A39}"/>
                  </a:ext>
                </a:extLst>
              </p:cNvPr>
              <p:cNvSpPr txBox="1">
                <a:spLocks noRot="1" noChangeAspect="1" noMove="1" noResize="1" noEditPoints="1" noAdjustHandles="1" noChangeArrowheads="1" noChangeShapeType="1" noTextEdit="1"/>
              </p:cNvSpPr>
              <p:nvPr/>
            </p:nvSpPr>
            <p:spPr>
              <a:xfrm>
                <a:off x="838200" y="1825624"/>
                <a:ext cx="10515600" cy="4530725"/>
              </a:xfrm>
              <a:prstGeom prst="rect">
                <a:avLst/>
              </a:prstGeom>
              <a:blipFill>
                <a:blip r:embed="rId3"/>
                <a:stretch>
                  <a:fillRect/>
                </a:stretch>
              </a:blipFill>
              <a:ln>
                <a:noFill/>
              </a:ln>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animEffect transition="in" filter="dissolve">
                                      <p:cBhvr>
                                        <p:cTn id="7" dur="500"/>
                                        <p:tgtEl>
                                          <p:spTgt spid="8">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
                                            <p:txEl>
                                              <p:pRg st="5" end="5"/>
                                            </p:txEl>
                                          </p:spTgt>
                                        </p:tgtEl>
                                        <p:attrNameLst>
                                          <p:attrName>style.visibility</p:attrName>
                                        </p:attrNameLst>
                                      </p:cBhvr>
                                      <p:to>
                                        <p:strVal val="visible"/>
                                      </p:to>
                                    </p:set>
                                    <p:animEffect transition="in" filter="dissolve">
                                      <p:cBhvr>
                                        <p:cTn id="12"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sp>
        <p:nvSpPr>
          <p:cNvPr id="934" name="Google Shape;934;p9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Violations of homoskedasticity</a:t>
            </a:r>
            <a:endParaRPr dirty="0"/>
          </a:p>
        </p:txBody>
      </p:sp>
      <p:sp>
        <p:nvSpPr>
          <p:cNvPr id="936" name="Google Shape;936;p9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132</a:t>
            </a:fld>
            <a:endParaRPr/>
          </a:p>
        </p:txBody>
      </p:sp>
      <p:sp>
        <p:nvSpPr>
          <p:cNvPr id="8" name="Content Placeholder 5">
            <a:extLst>
              <a:ext uri="{FF2B5EF4-FFF2-40B4-BE49-F238E27FC236}">
                <a16:creationId xmlns:a16="http://schemas.microsoft.com/office/drawing/2014/main" id="{FA843263-7CC9-21B0-3610-2497A3657A39}"/>
              </a:ext>
            </a:extLst>
          </p:cNvPr>
          <p:cNvSpPr txBox="1">
            <a:spLocks/>
          </p:cNvSpPr>
          <p:nvPr/>
        </p:nvSpPr>
        <p:spPr>
          <a:xfrm>
            <a:off x="838200" y="1825624"/>
            <a:ext cx="10515600" cy="45307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a:buSzPct val="100000"/>
            </a:pPr>
            <a:r>
              <a:rPr lang="en-US" dirty="0"/>
              <a:t>Homoskedasticity is almost always violated in practice</a:t>
            </a:r>
          </a:p>
          <a:p>
            <a:pPr>
              <a:buSzPct val="100000"/>
            </a:pPr>
            <a:endParaRPr lang="en-US" dirty="0">
              <a:solidFill>
                <a:schemeClr val="tx1"/>
              </a:solidFill>
            </a:endParaRPr>
          </a:p>
          <a:p>
            <a:pPr>
              <a:buSzPct val="100000"/>
            </a:pPr>
            <a:r>
              <a:rPr lang="en-US" dirty="0">
                <a:solidFill>
                  <a:schemeClr val="tx1"/>
                </a:solidFill>
              </a:rPr>
              <a:t>Heteroskedasticity is more common</a:t>
            </a:r>
            <a:r>
              <a:rPr lang="en-US" dirty="0"/>
              <a:t> </a:t>
            </a:r>
          </a:p>
          <a:p>
            <a:pPr lvl="1">
              <a:buSzPct val="100000"/>
            </a:pPr>
            <a:r>
              <a:rPr lang="en-US" dirty="0"/>
              <a:t>Error variance depends on the covariates</a:t>
            </a:r>
          </a:p>
          <a:p>
            <a:pPr lvl="1">
              <a:buSzPct val="100000"/>
            </a:pPr>
            <a:r>
              <a:rPr lang="en-US" dirty="0"/>
              <a:t>Errors are independent but not identically distributed </a:t>
            </a:r>
          </a:p>
          <a:p>
            <a:pPr>
              <a:buSzPct val="100000"/>
            </a:pPr>
            <a:endParaRPr lang="en-US" dirty="0">
              <a:solidFill>
                <a:schemeClr val="tx1"/>
              </a:solidFill>
            </a:endParaRPr>
          </a:p>
          <a:p>
            <a:pPr>
              <a:buSzPct val="100000"/>
            </a:pPr>
            <a:r>
              <a:rPr lang="en-US" dirty="0">
                <a:solidFill>
                  <a:schemeClr val="tx1"/>
                </a:solidFill>
              </a:rPr>
              <a:t>Correlated outcomes</a:t>
            </a:r>
            <a:r>
              <a:rPr lang="en-US" dirty="0"/>
              <a:t> over time in longitudinal, survival, or time series data</a:t>
            </a:r>
          </a:p>
          <a:p>
            <a:pPr lvl="1">
              <a:buSzPct val="100000"/>
            </a:pPr>
            <a:r>
              <a:rPr lang="en-US" dirty="0"/>
              <a:t>Errors are not independent</a:t>
            </a:r>
          </a:p>
        </p:txBody>
      </p:sp>
    </p:spTree>
    <p:extLst>
      <p:ext uri="{BB962C8B-B14F-4D97-AF65-F5344CB8AC3E}">
        <p14:creationId xmlns:p14="http://schemas.microsoft.com/office/powerpoint/2010/main" val="2138531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223">
          <a:extLst>
            <a:ext uri="{FF2B5EF4-FFF2-40B4-BE49-F238E27FC236}">
              <a16:creationId xmlns:a16="http://schemas.microsoft.com/office/drawing/2014/main" id="{3085CA83-C860-9FD2-1C98-D6EC451D1B67}"/>
            </a:ext>
          </a:extLst>
        </p:cNvPr>
        <p:cNvGrpSpPr/>
        <p:nvPr/>
      </p:nvGrpSpPr>
      <p:grpSpPr>
        <a:xfrm>
          <a:off x="0" y="0"/>
          <a:ext cx="0" cy="0"/>
          <a:chOff x="0" y="0"/>
          <a:chExt cx="0" cy="0"/>
        </a:xfrm>
      </p:grpSpPr>
      <p:sp>
        <p:nvSpPr>
          <p:cNvPr id="224" name="Google Shape;224;p77">
            <a:extLst>
              <a:ext uri="{FF2B5EF4-FFF2-40B4-BE49-F238E27FC236}">
                <a16:creationId xmlns:a16="http://schemas.microsoft.com/office/drawing/2014/main" id="{7346818B-6379-052E-0C18-0748799B3DFB}"/>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Homoskedastic or heteroskedastic?</a:t>
            </a:r>
            <a:endParaRPr dirty="0"/>
          </a:p>
        </p:txBody>
      </p:sp>
      <p:pic>
        <p:nvPicPr>
          <p:cNvPr id="225" name="Google Shape;225;p77" descr="A picture containing text, screenshot, font, black and white&#10;&#10;Description automatically generated">
            <a:extLst>
              <a:ext uri="{FF2B5EF4-FFF2-40B4-BE49-F238E27FC236}">
                <a16:creationId xmlns:a16="http://schemas.microsoft.com/office/drawing/2014/main" id="{41277990-9060-1FD7-8356-A606B5E1CA5D}"/>
              </a:ext>
            </a:extLst>
          </p:cNvPr>
          <p:cNvPicPr preferRelativeResize="0"/>
          <p:nvPr/>
        </p:nvPicPr>
        <p:blipFill rotWithShape="1">
          <a:blip r:embed="rId3">
            <a:alphaModFix/>
          </a:blip>
          <a:srcRect/>
          <a:stretch/>
        </p:blipFill>
        <p:spPr>
          <a:xfrm>
            <a:off x="2209800" y="1504125"/>
            <a:ext cx="7772400" cy="5181599"/>
          </a:xfrm>
          <a:prstGeom prst="rect">
            <a:avLst/>
          </a:prstGeom>
          <a:noFill/>
          <a:ln>
            <a:noFill/>
          </a:ln>
        </p:spPr>
      </p:pic>
      <p:sp>
        <p:nvSpPr>
          <p:cNvPr id="226" name="Google Shape;226;p77">
            <a:extLst>
              <a:ext uri="{FF2B5EF4-FFF2-40B4-BE49-F238E27FC236}">
                <a16:creationId xmlns:a16="http://schemas.microsoft.com/office/drawing/2014/main" id="{A1591BE2-25C5-D084-BB2D-0E932C6F1526}"/>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133</a:t>
            </a:fld>
            <a:endParaRPr/>
          </a:p>
        </p:txBody>
      </p:sp>
      <p:sp>
        <p:nvSpPr>
          <p:cNvPr id="2" name="Rectangle 1">
            <a:extLst>
              <a:ext uri="{FF2B5EF4-FFF2-40B4-BE49-F238E27FC236}">
                <a16:creationId xmlns:a16="http://schemas.microsoft.com/office/drawing/2014/main" id="{687A9EB9-D3DB-6FE7-B638-B6D8BC30F0C9}"/>
              </a:ext>
            </a:extLst>
          </p:cNvPr>
          <p:cNvSpPr/>
          <p:nvPr/>
        </p:nvSpPr>
        <p:spPr>
          <a:xfrm>
            <a:off x="3995928" y="3146997"/>
            <a:ext cx="265176" cy="2368296"/>
          </a:xfrm>
          <a:prstGeom prst="rect">
            <a:avLst/>
          </a:prstGeom>
          <a:noFill/>
          <a:ln w="38100">
            <a:solidFill>
              <a:srgbClr val="F249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F74C4F9-ACD8-AE0C-43A8-BB4DDC20C917}"/>
              </a:ext>
            </a:extLst>
          </p:cNvPr>
          <p:cNvSpPr/>
          <p:nvPr/>
        </p:nvSpPr>
        <p:spPr>
          <a:xfrm>
            <a:off x="6723888" y="2003997"/>
            <a:ext cx="265176" cy="3675887"/>
          </a:xfrm>
          <a:prstGeom prst="rect">
            <a:avLst/>
          </a:prstGeom>
          <a:noFill/>
          <a:ln w="38100">
            <a:solidFill>
              <a:srgbClr val="468C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7942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p16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How can we estimate standard errors when assumptions are violated?</a:t>
            </a:r>
            <a:endParaRPr dirty="0"/>
          </a:p>
        </p:txBody>
      </p:sp>
      <p:sp>
        <p:nvSpPr>
          <p:cNvPr id="722" name="Google Shape;722;p165"/>
          <p:cNvSpPr txBox="1">
            <a:spLocks noGrp="1"/>
          </p:cNvSpPr>
          <p:nvPr>
            <p:ph type="body" idx="1"/>
          </p:nvPr>
        </p:nvSpPr>
        <p:spPr>
          <a:xfrm>
            <a:off x="838200" y="2386361"/>
            <a:ext cx="10515600" cy="379060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Sandwich estimator</a:t>
            </a:r>
          </a:p>
          <a:p>
            <a:pPr marL="228600" lvl="0" indent="-228600" algn="l" rtl="0">
              <a:lnSpc>
                <a:spcPct val="90000"/>
              </a:lnSpc>
              <a:spcBef>
                <a:spcPts val="0"/>
              </a:spcBef>
              <a:spcAft>
                <a:spcPts val="0"/>
              </a:spcAft>
              <a:buClr>
                <a:schemeClr val="dk1"/>
              </a:buClr>
              <a:buSzPts val="2800"/>
              <a:buChar char="•"/>
            </a:pPr>
            <a:endParaRPr lang="en-US" dirty="0"/>
          </a:p>
          <a:p>
            <a:pPr marL="228600" lvl="0" indent="-228600" algn="l" rtl="0">
              <a:lnSpc>
                <a:spcPct val="90000"/>
              </a:lnSpc>
              <a:spcBef>
                <a:spcPts val="0"/>
              </a:spcBef>
              <a:spcAft>
                <a:spcPts val="0"/>
              </a:spcAft>
              <a:buClr>
                <a:schemeClr val="dk1"/>
              </a:buClr>
              <a:buSzPts val="2800"/>
              <a:buChar char="•"/>
            </a:pPr>
            <a:endParaRPr lang="en-US" dirty="0"/>
          </a:p>
          <a:p>
            <a:pPr marL="228600" lvl="0" indent="-228600" algn="l" rtl="0">
              <a:lnSpc>
                <a:spcPct val="90000"/>
              </a:lnSpc>
              <a:spcBef>
                <a:spcPts val="0"/>
              </a:spcBef>
              <a:spcAft>
                <a:spcPts val="0"/>
              </a:spcAft>
              <a:buClr>
                <a:schemeClr val="dk1"/>
              </a:buClr>
              <a:buSzPts val="2800"/>
              <a:buChar char="•"/>
            </a:pPr>
            <a:r>
              <a:rPr lang="en-US" dirty="0"/>
              <a:t>Bootstrapping</a:t>
            </a:r>
          </a:p>
        </p:txBody>
      </p:sp>
      <p:sp>
        <p:nvSpPr>
          <p:cNvPr id="723" name="Google Shape;723;p1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134</a:t>
            </a:fld>
            <a:endParaRPr/>
          </a:p>
        </p:txBody>
      </p:sp>
    </p:spTree>
    <p:extLst>
      <p:ext uri="{BB962C8B-B14F-4D97-AF65-F5344CB8AC3E}">
        <p14:creationId xmlns:p14="http://schemas.microsoft.com/office/powerpoint/2010/main" val="1785899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1006"/>
        <p:cNvGrpSpPr/>
        <p:nvPr/>
      </p:nvGrpSpPr>
      <p:grpSpPr>
        <a:xfrm>
          <a:off x="0" y="0"/>
          <a:ext cx="0" cy="0"/>
          <a:chOff x="0" y="0"/>
          <a:chExt cx="0" cy="0"/>
        </a:xfrm>
      </p:grpSpPr>
      <p:sp>
        <p:nvSpPr>
          <p:cNvPr id="1007" name="Google Shape;1007;g2c03590cb7c_0_2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Heteroskedastic robust standard errors</a:t>
            </a:r>
            <a:endParaRPr dirty="0"/>
          </a:p>
        </p:txBody>
      </p:sp>
      <p:sp>
        <p:nvSpPr>
          <p:cNvPr id="1009" name="Google Shape;1009;g2c03590cb7c_0_2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135</a:t>
            </a:fld>
            <a:endParaRP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4FD56296-EA39-CB5A-14A3-F0FEB18D2F82}"/>
                  </a:ext>
                </a:extLst>
              </p:cNvPr>
              <p:cNvSpPr txBox="1">
                <a:spLocks/>
              </p:cNvSpPr>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a:buSzPct val="100000"/>
                </a:pPr>
                <a14:m>
                  <m:oMath xmlns:m="http://schemas.openxmlformats.org/officeDocument/2006/math">
                    <m:r>
                      <m:rPr>
                        <m:nor/>
                      </m:rPr>
                      <a:rPr lang="en-US" dirty="0" smtClean="0"/>
                      <m:t>Estimate</m:t>
                    </m:r>
                    <m:r>
                      <m:rPr>
                        <m:nor/>
                      </m:rPr>
                      <a:rPr lang="en-US" dirty="0" smtClean="0"/>
                      <m:t> </m:t>
                    </m:r>
                    <m:r>
                      <m:rPr>
                        <m:nor/>
                      </m:rPr>
                      <a:rPr lang="en-US" dirty="0" smtClean="0">
                        <a:solidFill>
                          <a:srgbClr val="FF9300"/>
                        </a:solidFill>
                      </a:rPr>
                      <m:t>heteroskedasticity</m:t>
                    </m:r>
                    <m:r>
                      <m:rPr>
                        <m:nor/>
                      </m:rPr>
                      <a:rPr lang="en-US" dirty="0" smtClean="0">
                        <a:solidFill>
                          <a:srgbClr val="FF9300"/>
                        </a:solidFill>
                      </a:rPr>
                      <m:t> </m:t>
                    </m:r>
                    <m:r>
                      <m:rPr>
                        <m:nor/>
                      </m:rPr>
                      <a:rPr lang="en-US" dirty="0" smtClean="0">
                        <a:solidFill>
                          <a:srgbClr val="FF9300"/>
                        </a:solidFill>
                      </a:rPr>
                      <m:t>robust</m:t>
                    </m:r>
                    <m:r>
                      <m:rPr>
                        <m:nor/>
                      </m:rPr>
                      <a:rPr lang="en-US" dirty="0" smtClean="0">
                        <a:solidFill>
                          <a:srgbClr val="FF9300"/>
                        </a:solidFill>
                      </a:rPr>
                      <m:t> </m:t>
                    </m:r>
                    <m:r>
                      <m:rPr>
                        <m:nor/>
                      </m:rPr>
                      <a:rPr lang="en-US" dirty="0" smtClean="0">
                        <a:solidFill>
                          <a:srgbClr val="FF9300"/>
                        </a:solidFill>
                      </a:rPr>
                      <m:t>standard</m:t>
                    </m:r>
                    <m:r>
                      <m:rPr>
                        <m:nor/>
                      </m:rPr>
                      <a:rPr lang="en-US" dirty="0" smtClean="0">
                        <a:solidFill>
                          <a:srgbClr val="FF9300"/>
                        </a:solidFill>
                      </a:rPr>
                      <m:t> </m:t>
                    </m:r>
                    <m:r>
                      <m:rPr>
                        <m:nor/>
                      </m:rPr>
                      <a:rPr lang="en-US" dirty="0" smtClean="0">
                        <a:solidFill>
                          <a:srgbClr val="FF9300"/>
                        </a:solidFill>
                      </a:rPr>
                      <m:t>errors</m:t>
                    </m:r>
                    <m:r>
                      <m:rPr>
                        <m:nor/>
                      </m:rPr>
                      <a:rPr lang="en-US" dirty="0" smtClean="0"/>
                      <m:t> </m:t>
                    </m:r>
                    <m:r>
                      <m:rPr>
                        <m:nor/>
                      </m:rPr>
                      <a:rPr lang="en-US" dirty="0" smtClean="0"/>
                      <m:t>of</m:t>
                    </m:r>
                    <m:r>
                      <m:rPr>
                        <m:nor/>
                      </m:rPr>
                      <a:rPr lang="en-US" dirty="0" smtClean="0"/>
                      <m:t> </m:t>
                    </m:r>
                    <m:r>
                      <m:rPr>
                        <m:nor/>
                      </m:rPr>
                      <a:rPr lang="en-US" dirty="0" smtClean="0"/>
                      <m:t>linear</m:t>
                    </m:r>
                    <m:r>
                      <m:rPr>
                        <m:nor/>
                      </m:rPr>
                      <a:rPr lang="en-US" dirty="0" smtClean="0"/>
                      <m:t> </m:t>
                    </m:r>
                    <m:r>
                      <m:rPr>
                        <m:nor/>
                      </m:rPr>
                      <a:rPr lang="en-US" dirty="0" smtClean="0"/>
                      <m:t>regression</m:t>
                    </m:r>
                    <m:r>
                      <m:rPr>
                        <m:nor/>
                      </m:rPr>
                      <a:rPr lang="en-US" dirty="0" smtClean="0"/>
                      <m:t> </m:t>
                    </m:r>
                    <m:r>
                      <m:rPr>
                        <m:nor/>
                      </m:rPr>
                      <a:rPr lang="en-US" dirty="0" smtClean="0"/>
                      <m:t>coefficients</m:t>
                    </m:r>
                    <m:r>
                      <m:rPr>
                        <m:nor/>
                      </m:rPr>
                      <a:rPr lang="en-US" dirty="0" smtClean="0"/>
                      <m:t> </m:t>
                    </m:r>
                    <m:r>
                      <m:rPr>
                        <m:nor/>
                      </m:rPr>
                      <a:rPr lang="en-US" dirty="0" smtClean="0"/>
                      <m:t>as</m:t>
                    </m:r>
                  </m:oMath>
                </a14:m>
                <a:endParaRPr lang="en-US" dirty="0"/>
              </a:p>
              <a:p>
                <a:pPr marL="0" indent="0">
                  <a:buFont typeface="Arial"/>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𝑠𝑒</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𝛽</m:t>
                              </m:r>
                            </m:e>
                          </m:acc>
                        </m:e>
                      </m:d>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m:t>
                                  </m:r>
                                </m:sup>
                              </m:sSup>
                              <m:r>
                                <a:rPr lang="en-US" i="1">
                                  <a:latin typeface="Cambria Math" panose="02040503050406030204" pitchFamily="18" charset="0"/>
                                </a:rPr>
                                <m:t>𝑋</m:t>
                              </m:r>
                            </m:e>
                          </m:d>
                        </m:e>
                        <m:sup>
                          <m:r>
                            <a:rPr lang="en-US" i="1">
                              <a:latin typeface="Cambria Math" panose="02040503050406030204" pitchFamily="18" charset="0"/>
                            </a:rPr>
                            <m:t>−1</m:t>
                          </m:r>
                        </m:sup>
                      </m:sSup>
                      <m:sSup>
                        <m:sSupPr>
                          <m:ctrlPr>
                            <a:rPr lang="en-US" i="1" smtClean="0">
                              <a:latin typeface="Cambria Math" panose="02040503050406030204" pitchFamily="18" charset="0"/>
                            </a:rPr>
                          </m:ctrlPr>
                        </m:sSupPr>
                        <m:e>
                          <m:r>
                            <a:rPr lang="en-US" i="1" smtClean="0">
                              <a:latin typeface="Cambria Math" panose="02040503050406030204" pitchFamily="18" charset="0"/>
                            </a:rPr>
                            <m:t>𝑋</m:t>
                          </m:r>
                        </m:e>
                        <m:sup>
                          <m:r>
                            <a:rPr lang="en-US" i="1" smtClean="0">
                              <a:latin typeface="Cambria Math" panose="02040503050406030204" pitchFamily="18" charset="0"/>
                            </a:rPr>
                            <m:t>′</m:t>
                          </m:r>
                          <m:r>
                            <a:rPr lang="en-US" b="0" i="1" smtClean="0">
                              <a:latin typeface="Cambria Math" panose="02040503050406030204" pitchFamily="18" charset="0"/>
                            </a:rPr>
                            <m:t> </m:t>
                          </m:r>
                        </m:sup>
                      </m:sSup>
                      <m:r>
                        <m:rPr>
                          <m:sty m:val="p"/>
                        </m:rPr>
                        <a:rPr lang="en-US">
                          <a:latin typeface="Cambria Math" panose="02040503050406030204" pitchFamily="18" charset="0"/>
                        </a:rPr>
                        <m:t>Ω</m:t>
                      </m:r>
                      <m:r>
                        <a:rPr lang="en-US" b="0" i="1" smtClean="0">
                          <a:latin typeface="Cambria Math" panose="02040503050406030204" pitchFamily="18" charset="0"/>
                        </a:rPr>
                        <m:t> </m:t>
                      </m:r>
                      <m:r>
                        <a:rPr lang="en-US" i="1" smtClean="0">
                          <a:latin typeface="Cambria Math" panose="02040503050406030204" pitchFamily="18" charset="0"/>
                        </a:rPr>
                        <m:t>𝑋</m:t>
                      </m:r>
                      <m:sSup>
                        <m:sSupPr>
                          <m:ctrlPr>
                            <a:rPr lang="en-US" i="1" smtClean="0">
                              <a:latin typeface="Cambria Math" panose="02040503050406030204" pitchFamily="18" charset="0"/>
                            </a:rPr>
                          </m:ctrlPr>
                        </m:sSupPr>
                        <m:e>
                          <m:d>
                            <m:dPr>
                              <m:ctrlPr>
                                <a:rPr lang="en-US" i="1" smtClean="0">
                                  <a:latin typeface="Cambria Math" panose="02040503050406030204" pitchFamily="18" charset="0"/>
                                </a:rPr>
                              </m:ctrlPr>
                            </m:dPr>
                            <m:e>
                              <m:sSup>
                                <m:sSupPr>
                                  <m:ctrlPr>
                                    <a:rPr lang="en-US" i="1" smtClean="0">
                                      <a:latin typeface="Cambria Math" panose="02040503050406030204" pitchFamily="18" charset="0"/>
                                    </a:rPr>
                                  </m:ctrlPr>
                                </m:sSupPr>
                                <m:e>
                                  <m:r>
                                    <a:rPr lang="en-US" i="1" smtClean="0">
                                      <a:latin typeface="Cambria Math" panose="02040503050406030204" pitchFamily="18" charset="0"/>
                                    </a:rPr>
                                    <m:t>𝑋</m:t>
                                  </m:r>
                                </m:e>
                                <m:sup>
                                  <m:r>
                                    <a:rPr lang="en-US" i="1" smtClean="0">
                                      <a:latin typeface="Cambria Math" panose="02040503050406030204" pitchFamily="18" charset="0"/>
                                    </a:rPr>
                                    <m:t>′</m:t>
                                  </m:r>
                                </m:sup>
                              </m:sSup>
                              <m:r>
                                <a:rPr lang="en-US" i="1" smtClean="0">
                                  <a:latin typeface="Cambria Math" panose="02040503050406030204" pitchFamily="18" charset="0"/>
                                </a:rPr>
                                <m:t>𝑋</m:t>
                              </m:r>
                            </m:e>
                          </m:d>
                        </m:e>
                        <m:sup>
                          <m:r>
                            <a:rPr lang="en-US" i="1" smtClean="0">
                              <a:latin typeface="Cambria Math" panose="02040503050406030204" pitchFamily="18" charset="0"/>
                            </a:rPr>
                            <m:t>−1</m:t>
                          </m:r>
                        </m:sup>
                      </m:sSup>
                    </m:oMath>
                  </m:oMathPara>
                </a14:m>
                <a:endParaRPr lang="en-US" dirty="0"/>
              </a:p>
              <a:p>
                <a:pPr marL="0" indent="0">
                  <a:buFont typeface="Arial"/>
                  <a:buNone/>
                </a:pPr>
                <a:endParaRPr lang="en-US" dirty="0"/>
              </a:p>
              <a:p>
                <a:pPr marL="0" indent="0">
                  <a:buNone/>
                </a:pPr>
                <a:r>
                  <a:rPr lang="en-US" dirty="0"/>
                  <a:t>Where </a:t>
                </a:r>
                <a14:m>
                  <m:oMath xmlns:m="http://schemas.openxmlformats.org/officeDocument/2006/math">
                    <m:r>
                      <m:rPr>
                        <m:sty m:val="p"/>
                      </m:rPr>
                      <a:rPr lang="en-US">
                        <a:latin typeface="Cambria Math" panose="02040503050406030204" pitchFamily="18" charset="0"/>
                      </a:rPr>
                      <m:t>Ω</m:t>
                    </m:r>
                    <m:r>
                      <a:rPr lang="en-US" i="1"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4"/>
                                  <m:mcJc m:val="center"/>
                                </m:mcPr>
                              </m:mc>
                            </m:mcs>
                            <m:ctrlPr>
                              <a:rPr lang="en-US" i="1">
                                <a:latin typeface="Cambria Math" panose="02040503050406030204" pitchFamily="18" charset="0"/>
                              </a:rPr>
                            </m:ctrlPr>
                          </m:mPr>
                          <m:mr>
                            <m:e>
                              <m:sSubSup>
                                <m:sSubSupPr>
                                  <m:ctrlPr>
                                    <a:rPr lang="en-US" i="1">
                                      <a:latin typeface="Cambria Math" panose="02040503050406030204" pitchFamily="18" charset="0"/>
                                    </a:rPr>
                                  </m:ctrlPr>
                                </m:sSubSupPr>
                                <m:e>
                                  <m:r>
                                    <a:rPr lang="en-US" i="1">
                                      <a:latin typeface="Cambria Math" panose="02040503050406030204" pitchFamily="18" charset="0"/>
                                    </a:rPr>
                                    <m:t>𝜎</m:t>
                                  </m:r>
                                </m:e>
                                <m:sub>
                                  <m:r>
                                    <a:rPr lang="en-US" i="1">
                                      <a:latin typeface="Cambria Math" panose="02040503050406030204" pitchFamily="18" charset="0"/>
                                    </a:rPr>
                                    <m:t>1</m:t>
                                  </m:r>
                                </m:sub>
                                <m:sup>
                                  <m:r>
                                    <a:rPr lang="en-US" i="1">
                                      <a:latin typeface="Cambria Math" panose="02040503050406030204" pitchFamily="18" charset="0"/>
                                    </a:rPr>
                                    <m:t>2</m:t>
                                  </m:r>
                                </m:sup>
                              </m:sSubSup>
                            </m:e>
                            <m:e>
                              <m:r>
                                <a:rPr lang="en-US" i="1">
                                  <a:latin typeface="Cambria Math" panose="02040503050406030204" pitchFamily="18" charset="0"/>
                                </a:rPr>
                                <m:t>0</m:t>
                              </m:r>
                            </m:e>
                            <m:e>
                              <m:r>
                                <a:rPr lang="en-US" i="1">
                                  <a:latin typeface="Cambria Math" panose="02040503050406030204" pitchFamily="18" charset="0"/>
                                  <a:ea typeface="Cambria Math" panose="02040503050406030204" pitchFamily="18" charset="0"/>
                                </a:rPr>
                                <m:t>⋯</m:t>
                              </m:r>
                            </m:e>
                            <m:e>
                              <m:r>
                                <a:rPr lang="en-US" i="1">
                                  <a:latin typeface="Cambria Math" panose="02040503050406030204" pitchFamily="18" charset="0"/>
                                </a:rPr>
                                <m:t>0</m:t>
                              </m:r>
                            </m:e>
                          </m:mr>
                          <m:mr>
                            <m:e>
                              <m:r>
                                <a:rPr lang="en-US" i="1">
                                  <a:latin typeface="Cambria Math" panose="02040503050406030204" pitchFamily="18" charset="0"/>
                                </a:rPr>
                                <m:t>0</m:t>
                              </m:r>
                            </m:e>
                            <m:e>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2</m:t>
                                  </m:r>
                                </m:sub>
                                <m:sup>
                                  <m:r>
                                    <a:rPr lang="en-US" i="1">
                                      <a:latin typeface="Cambria Math" panose="02040503050406030204" pitchFamily="18" charset="0"/>
                                      <a:ea typeface="Cambria Math" panose="02040503050406030204" pitchFamily="18" charset="0"/>
                                    </a:rPr>
                                    <m:t>2</m:t>
                                  </m:r>
                                </m:sup>
                              </m:sSubSup>
                            </m:e>
                            <m:e>
                              <m:r>
                                <a:rPr lang="en-US" i="1">
                                  <a:latin typeface="Cambria Math" panose="02040503050406030204" pitchFamily="18" charset="0"/>
                                  <a:ea typeface="Cambria Math" panose="02040503050406030204" pitchFamily="18" charset="0"/>
                                </a:rPr>
                                <m:t>⋯</m:t>
                              </m:r>
                            </m:e>
                            <m:e>
                              <m:r>
                                <a:rPr lang="en-US" i="1">
                                  <a:latin typeface="Cambria Math" panose="02040503050406030204" pitchFamily="18" charset="0"/>
                                </a:rPr>
                                <m:t>0</m:t>
                              </m:r>
                            </m:e>
                          </m:mr>
                          <m:mr>
                            <m:e>
                              <m:r>
                                <a:rPr lang="en-US" i="1">
                                  <a:latin typeface="Cambria Math" panose="02040503050406030204" pitchFamily="18" charset="0"/>
                                  <a:ea typeface="Cambria Math" panose="02040503050406030204" pitchFamily="18" charset="0"/>
                                </a:rPr>
                                <m:t>⋮</m:t>
                              </m:r>
                            </m:e>
                            <m:e>
                              <m:r>
                                <a:rPr lang="en-US" i="1">
                                  <a:latin typeface="Cambria Math" panose="02040503050406030204" pitchFamily="18" charset="0"/>
                                </a:rPr>
                                <m:t>0</m:t>
                              </m:r>
                            </m:e>
                            <m:e>
                              <m:r>
                                <a:rPr lang="en-US" i="1">
                                  <a:latin typeface="Cambria Math" panose="02040503050406030204" pitchFamily="18" charset="0"/>
                                  <a:ea typeface="Cambria Math" panose="02040503050406030204" pitchFamily="18" charset="0"/>
                                </a:rPr>
                                <m:t>⋱</m:t>
                              </m:r>
                            </m:e>
                            <m:e>
                              <m:r>
                                <a:rPr lang="en-US" i="1">
                                  <a:latin typeface="Cambria Math" panose="02040503050406030204" pitchFamily="18" charset="0"/>
                                  <a:ea typeface="Cambria Math" panose="02040503050406030204" pitchFamily="18" charset="0"/>
                                </a:rPr>
                                <m:t>⋮</m:t>
                              </m:r>
                            </m:e>
                          </m:mr>
                          <m:mr>
                            <m:e>
                              <m:r>
                                <a:rPr lang="en-US" i="1">
                                  <a:latin typeface="Cambria Math" panose="02040503050406030204" pitchFamily="18" charset="0"/>
                                </a:rPr>
                                <m:t>0</m:t>
                              </m:r>
                            </m:e>
                            <m:e>
                              <m:r>
                                <a:rPr lang="en-US" i="1">
                                  <a:latin typeface="Cambria Math" panose="02040503050406030204" pitchFamily="18" charset="0"/>
                                  <a:ea typeface="Cambria Math" panose="02040503050406030204" pitchFamily="18" charset="0"/>
                                </a:rPr>
                                <m:t>⋯</m:t>
                              </m:r>
                            </m:e>
                            <m:e>
                              <m:r>
                                <a:rPr lang="en-US" i="1">
                                  <a:latin typeface="Cambria Math" panose="02040503050406030204" pitchFamily="18" charset="0"/>
                                  <a:ea typeface="Cambria Math" panose="02040503050406030204" pitchFamily="18" charset="0"/>
                                </a:rPr>
                                <m:t>⋯</m:t>
                              </m:r>
                            </m:e>
                            <m:e>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𝑛</m:t>
                                  </m:r>
                                </m:sub>
                                <m:sup>
                                  <m:r>
                                    <a:rPr lang="en-US" i="1">
                                      <a:latin typeface="Cambria Math" panose="02040503050406030204" pitchFamily="18" charset="0"/>
                                      <a:ea typeface="Cambria Math" panose="02040503050406030204" pitchFamily="18" charset="0"/>
                                    </a:rPr>
                                    <m:t>2</m:t>
                                  </m:r>
                                </m:sup>
                              </m:sSubSup>
                            </m:e>
                          </m:mr>
                        </m:m>
                      </m:e>
                    </m:d>
                  </m:oMath>
                </a14:m>
                <a:r>
                  <a:rPr lang="en-US" dirty="0"/>
                  <a:t> </a:t>
                </a:r>
                <a14:m>
                  <m:oMath xmlns:m="http://schemas.openxmlformats.org/officeDocument/2006/math">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4"/>
                                  <m:mcJc m:val="center"/>
                                </m:mcPr>
                              </m:mc>
                            </m:mcs>
                            <m:ctrlPr>
                              <a:rPr lang="en-US" i="1">
                                <a:latin typeface="Cambria Math" panose="02040503050406030204" pitchFamily="18" charset="0"/>
                              </a:rPr>
                            </m:ctrlPr>
                          </m:mPr>
                          <m:mr>
                            <m:e>
                              <m:r>
                                <a:rPr lang="en-US" i="1" smtClean="0">
                                  <a:latin typeface="Cambria Math" panose="02040503050406030204" pitchFamily="18" charset="0"/>
                                </a:rPr>
                                <m:t>𝑉</m:t>
                              </m:r>
                              <m:r>
                                <a:rPr lang="en-US"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1</m:t>
                                  </m:r>
                                </m:sub>
                              </m:sSub>
                              <m:r>
                                <a:rPr lang="en-US" i="1" smtClean="0">
                                  <a:latin typeface="Cambria Math" panose="02040503050406030204" pitchFamily="18" charset="0"/>
                                </a:rPr>
                                <m:t>)</m:t>
                              </m:r>
                            </m:e>
                            <m:e>
                              <m:r>
                                <a:rPr lang="en-US" i="1">
                                  <a:latin typeface="Cambria Math" panose="02040503050406030204" pitchFamily="18" charset="0"/>
                                </a:rPr>
                                <m:t>0</m:t>
                              </m:r>
                            </m:e>
                            <m:e>
                              <m:r>
                                <a:rPr lang="en-US" i="1">
                                  <a:latin typeface="Cambria Math" panose="02040503050406030204" pitchFamily="18" charset="0"/>
                                  <a:ea typeface="Cambria Math" panose="02040503050406030204" pitchFamily="18" charset="0"/>
                                </a:rPr>
                                <m:t>⋯</m:t>
                              </m:r>
                            </m:e>
                            <m:e>
                              <m:r>
                                <a:rPr lang="en-US" i="1">
                                  <a:latin typeface="Cambria Math" panose="02040503050406030204" pitchFamily="18" charset="0"/>
                                </a:rPr>
                                <m:t>0</m:t>
                              </m:r>
                            </m:e>
                          </m:mr>
                          <m:mr>
                            <m:e>
                              <m:r>
                                <a:rPr lang="en-US" i="1">
                                  <a:latin typeface="Cambria Math" panose="02040503050406030204" pitchFamily="18" charset="0"/>
                                </a:rPr>
                                <m:t>0</m:t>
                              </m:r>
                            </m:e>
                            <m:e>
                              <m:r>
                                <a:rPr lang="en-US" i="1" smtClean="0">
                                  <a:latin typeface="Cambria Math" panose="02040503050406030204" pitchFamily="18" charset="0"/>
                                  <a:ea typeface="Cambria Math" panose="02040503050406030204" pitchFamily="18" charset="0"/>
                                </a:rPr>
                                <m:t>𝑉</m:t>
                              </m:r>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𝜖</m:t>
                                  </m:r>
                                </m:e>
                                <m:sub>
                                  <m:r>
                                    <a:rPr lang="en-US" i="1">
                                      <a:latin typeface="Cambria Math" panose="02040503050406030204" pitchFamily="18" charset="0"/>
                                      <a:ea typeface="Cambria Math" panose="02040503050406030204" pitchFamily="18" charset="0"/>
                                    </a:rPr>
                                    <m:t>2</m:t>
                                  </m:r>
                                </m:sub>
                              </m:sSub>
                              <m:r>
                                <a:rPr lang="en-US" i="1" smtClean="0">
                                  <a:latin typeface="Cambria Math" panose="02040503050406030204" pitchFamily="18" charset="0"/>
                                  <a:ea typeface="Cambria Math" panose="02040503050406030204" pitchFamily="18" charset="0"/>
                                </a:rPr>
                                <m:t>)</m:t>
                              </m:r>
                            </m:e>
                            <m:e>
                              <m:r>
                                <a:rPr lang="en-US" i="1">
                                  <a:latin typeface="Cambria Math" panose="02040503050406030204" pitchFamily="18" charset="0"/>
                                  <a:ea typeface="Cambria Math" panose="02040503050406030204" pitchFamily="18" charset="0"/>
                                </a:rPr>
                                <m:t>⋯</m:t>
                              </m:r>
                            </m:e>
                            <m:e>
                              <m:r>
                                <a:rPr lang="en-US" i="1">
                                  <a:latin typeface="Cambria Math" panose="02040503050406030204" pitchFamily="18" charset="0"/>
                                </a:rPr>
                                <m:t>0</m:t>
                              </m:r>
                            </m:e>
                          </m:mr>
                          <m:mr>
                            <m:e>
                              <m:r>
                                <a:rPr lang="en-US" i="1">
                                  <a:latin typeface="Cambria Math" panose="02040503050406030204" pitchFamily="18" charset="0"/>
                                  <a:ea typeface="Cambria Math" panose="02040503050406030204" pitchFamily="18" charset="0"/>
                                </a:rPr>
                                <m:t>⋮</m:t>
                              </m:r>
                            </m:e>
                            <m:e>
                              <m:r>
                                <a:rPr lang="en-US" i="1">
                                  <a:latin typeface="Cambria Math" panose="02040503050406030204" pitchFamily="18" charset="0"/>
                                </a:rPr>
                                <m:t>0</m:t>
                              </m:r>
                            </m:e>
                            <m:e>
                              <m:r>
                                <a:rPr lang="en-US" i="1">
                                  <a:latin typeface="Cambria Math" panose="02040503050406030204" pitchFamily="18" charset="0"/>
                                  <a:ea typeface="Cambria Math" panose="02040503050406030204" pitchFamily="18" charset="0"/>
                                </a:rPr>
                                <m:t>⋱</m:t>
                              </m:r>
                            </m:e>
                            <m:e>
                              <m:r>
                                <a:rPr lang="en-US" i="1">
                                  <a:latin typeface="Cambria Math" panose="02040503050406030204" pitchFamily="18" charset="0"/>
                                  <a:ea typeface="Cambria Math" panose="02040503050406030204" pitchFamily="18" charset="0"/>
                                </a:rPr>
                                <m:t>⋮</m:t>
                              </m:r>
                            </m:e>
                          </m:mr>
                          <m:mr>
                            <m:e>
                              <m:r>
                                <a:rPr lang="en-US" i="1">
                                  <a:latin typeface="Cambria Math" panose="02040503050406030204" pitchFamily="18" charset="0"/>
                                </a:rPr>
                                <m:t>0</m:t>
                              </m:r>
                            </m:e>
                            <m:e>
                              <m:r>
                                <a:rPr lang="en-US" i="1">
                                  <a:latin typeface="Cambria Math" panose="02040503050406030204" pitchFamily="18" charset="0"/>
                                  <a:ea typeface="Cambria Math" panose="02040503050406030204" pitchFamily="18" charset="0"/>
                                </a:rPr>
                                <m:t>⋯</m:t>
                              </m:r>
                            </m:e>
                            <m:e>
                              <m:r>
                                <a:rPr lang="en-US" i="1">
                                  <a:latin typeface="Cambria Math" panose="02040503050406030204" pitchFamily="18" charset="0"/>
                                  <a:ea typeface="Cambria Math" panose="02040503050406030204" pitchFamily="18" charset="0"/>
                                </a:rPr>
                                <m:t>⋯</m:t>
                              </m:r>
                            </m:e>
                            <m:e>
                              <m:r>
                                <a:rPr lang="en-US" i="1" smtClean="0">
                                  <a:latin typeface="Cambria Math" panose="02040503050406030204" pitchFamily="18" charset="0"/>
                                </a:rPr>
                                <m:t>𝑉</m:t>
                              </m:r>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a:latin typeface="Cambria Math" panose="02040503050406030204" pitchFamily="18" charset="0"/>
                                    </a:rPr>
                                    <m:t>𝜖</m:t>
                                  </m:r>
                                </m:e>
                                <m:sub>
                                  <m:r>
                                    <a:rPr lang="en-US" i="1">
                                      <a:latin typeface="Cambria Math" panose="02040503050406030204" pitchFamily="18" charset="0"/>
                                    </a:rPr>
                                    <m:t>𝑛</m:t>
                                  </m:r>
                                </m:sub>
                              </m:sSub>
                              <m:r>
                                <a:rPr lang="en-US" i="1" smtClean="0">
                                  <a:latin typeface="Cambria Math" panose="02040503050406030204" pitchFamily="18" charset="0"/>
                                </a:rPr>
                                <m:t>)</m:t>
                              </m:r>
                            </m:e>
                          </m:mr>
                        </m:m>
                      </m:e>
                    </m:d>
                  </m:oMath>
                </a14:m>
                <a:endParaRPr lang="en-US" dirty="0"/>
              </a:p>
              <a:p>
                <a:endParaRPr lang="en-US" dirty="0"/>
              </a:p>
            </p:txBody>
          </p:sp>
        </mc:Choice>
        <mc:Fallback xmlns="">
          <p:sp>
            <p:nvSpPr>
              <p:cNvPr id="5" name="Content Placeholder 2">
                <a:extLst>
                  <a:ext uri="{FF2B5EF4-FFF2-40B4-BE49-F238E27FC236}">
                    <a16:creationId xmlns:a16="http://schemas.microsoft.com/office/drawing/2014/main" id="{4FD56296-EA39-CB5A-14A3-F0FEB18D2F82}"/>
                  </a:ext>
                </a:extLst>
              </p:cNvPr>
              <p:cNvSpPr txBox="1">
                <a:spLocks noRot="1" noChangeAspect="1" noMove="1" noResize="1" noEditPoints="1" noAdjustHandles="1" noChangeArrowheads="1" noChangeShapeType="1" noTextEdit="1"/>
              </p:cNvSpPr>
              <p:nvPr/>
            </p:nvSpPr>
            <p:spPr>
              <a:xfrm>
                <a:off x="838200" y="1825625"/>
                <a:ext cx="10515600" cy="4351338"/>
              </a:xfrm>
              <a:prstGeom prst="rect">
                <a:avLst/>
              </a:prstGeom>
              <a:blipFill>
                <a:blip r:embed="rId3"/>
                <a:stretch>
                  <a:fillRect l="-1206"/>
                </a:stretch>
              </a:blipFill>
              <a:ln>
                <a:noFill/>
              </a:ln>
            </p:spPr>
            <p:txBody>
              <a:bodyPr/>
              <a:lstStyle/>
              <a:p>
                <a:r>
                  <a:rPr lang="en-US">
                    <a:noFill/>
                  </a:rPr>
                  <a:t> </a:t>
                </a:r>
              </a:p>
            </p:txBody>
          </p:sp>
        </mc:Fallback>
      </mc:AlternateContent>
      <p:sp>
        <p:nvSpPr>
          <p:cNvPr id="4" name="Rectangle 3">
            <a:extLst>
              <a:ext uri="{FF2B5EF4-FFF2-40B4-BE49-F238E27FC236}">
                <a16:creationId xmlns:a16="http://schemas.microsoft.com/office/drawing/2014/main" id="{76546BBE-CC50-8446-1EC3-FEB70010CAA1}"/>
              </a:ext>
            </a:extLst>
          </p:cNvPr>
          <p:cNvSpPr/>
          <p:nvPr/>
        </p:nvSpPr>
        <p:spPr>
          <a:xfrm>
            <a:off x="5042848" y="3237497"/>
            <a:ext cx="1624083" cy="465513"/>
          </a:xfrm>
          <a:prstGeom prst="rect">
            <a:avLst/>
          </a:prstGeom>
          <a:noFill/>
          <a:ln w="38100">
            <a:solidFill>
              <a:srgbClr val="FF9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27DD9F8-6368-51A1-FE79-CB7D3C8D81C6}"/>
              </a:ext>
            </a:extLst>
          </p:cNvPr>
          <p:cNvSpPr/>
          <p:nvPr/>
        </p:nvSpPr>
        <p:spPr>
          <a:xfrm>
            <a:off x="6976376" y="3241963"/>
            <a:ext cx="1519356" cy="461047"/>
          </a:xfrm>
          <a:prstGeom prst="rect">
            <a:avLst/>
          </a:prstGeom>
          <a:noFill/>
          <a:ln w="38100">
            <a:solidFill>
              <a:srgbClr val="FF9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17BED4C-2225-5F29-CC15-25E40157FF20}"/>
              </a:ext>
            </a:extLst>
          </p:cNvPr>
          <p:cNvSpPr/>
          <p:nvPr/>
        </p:nvSpPr>
        <p:spPr>
          <a:xfrm>
            <a:off x="6667719" y="3237497"/>
            <a:ext cx="308658" cy="461047"/>
          </a:xfrm>
          <a:prstGeom prst="rect">
            <a:avLst/>
          </a:prstGeom>
          <a:noFill/>
          <a:ln w="38100">
            <a:solidFill>
              <a:srgbClr val="F249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4"/>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6"/>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6" grpId="0" animBg="1"/>
      <p:bldP spid="6" grpId="1" animBg="1"/>
      <p:bldP spid="7"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1046">
          <a:extLst>
            <a:ext uri="{FF2B5EF4-FFF2-40B4-BE49-F238E27FC236}">
              <a16:creationId xmlns:a16="http://schemas.microsoft.com/office/drawing/2014/main" id="{508A7A3B-3ABE-ED95-6FE5-61907950605B}"/>
            </a:ext>
          </a:extLst>
        </p:cNvPr>
        <p:cNvGrpSpPr/>
        <p:nvPr/>
      </p:nvGrpSpPr>
      <p:grpSpPr>
        <a:xfrm>
          <a:off x="0" y="0"/>
          <a:ext cx="0" cy="0"/>
          <a:chOff x="0" y="0"/>
          <a:chExt cx="0" cy="0"/>
        </a:xfrm>
      </p:grpSpPr>
      <p:sp>
        <p:nvSpPr>
          <p:cNvPr id="1047" name="Google Shape;1047;p186">
            <a:extLst>
              <a:ext uri="{FF2B5EF4-FFF2-40B4-BE49-F238E27FC236}">
                <a16:creationId xmlns:a16="http://schemas.microsoft.com/office/drawing/2014/main" id="{2F017FE9-08E3-480C-38D2-B7B3BB46ABEA}"/>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Heteroskedastic robust standard errors for OLS and RIF-OLS coefficients</a:t>
            </a:r>
            <a:endParaRPr dirty="0"/>
          </a:p>
        </p:txBody>
      </p:sp>
      <p:sp>
        <p:nvSpPr>
          <p:cNvPr id="1049" name="Google Shape;1049;p186">
            <a:extLst>
              <a:ext uri="{FF2B5EF4-FFF2-40B4-BE49-F238E27FC236}">
                <a16:creationId xmlns:a16="http://schemas.microsoft.com/office/drawing/2014/main" id="{68CD559D-82C9-1BA8-C8D1-D41D7A26B557}"/>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136</a:t>
            </a:fld>
            <a:endParaRP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D11ECA95-1013-ADB5-F76E-6AF62855CC2C}"/>
                  </a:ext>
                </a:extLst>
              </p:cNvPr>
              <p:cNvSpPr txBox="1">
                <a:spLocks/>
              </p:cNvSpPr>
              <p:nvPr/>
            </p:nvSpPr>
            <p:spPr>
              <a:xfrm>
                <a:off x="838200" y="1763588"/>
                <a:ext cx="10515600" cy="4800719"/>
              </a:xfrm>
              <a:prstGeom prst="rect">
                <a:avLst/>
              </a:prstGeom>
              <a:noFill/>
              <a:ln>
                <a:noFill/>
              </a:ln>
            </p:spPr>
            <p:txBody>
              <a:bodyPr spcFirstLastPara="1" wrap="square" lIns="91425" tIns="45700" rIns="91425" bIns="45700" anchor="t" anchorCtr="0">
                <a:normAutofit fontScale="925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a:buSzPct val="100000"/>
                </a:pPr>
                <a:r>
                  <a:rPr lang="en-US" dirty="0"/>
                  <a:t>We can use residuals to estimate the variance-covariance matrix</a:t>
                </a:r>
              </a:p>
              <a:p>
                <a:pPr marL="0" indent="0">
                  <a:buFont typeface="Arial"/>
                  <a:buNone/>
                </a:pPr>
                <a:endParaRPr lang="en-US" i="1" dirty="0">
                  <a:latin typeface="Cambria Math" panose="02040503050406030204" pitchFamily="18" charset="0"/>
                </a:endParaRPr>
              </a:p>
              <a:p>
                <a:pPr marL="0" indent="0">
                  <a:buFont typeface="Arial"/>
                  <a:buNone/>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m:rPr>
                              <m:sty m:val="p"/>
                            </m:rPr>
                            <a:rPr lang="en-US" smtClean="0">
                              <a:latin typeface="Cambria Math" panose="02040503050406030204" pitchFamily="18" charset="0"/>
                            </a:rPr>
                            <m:t>Ω</m:t>
                          </m:r>
                        </m:e>
                      </m:acc>
                      <m:r>
                        <a:rPr lang="en-US" i="1" smtClean="0">
                          <a:latin typeface="Cambria Math" panose="02040503050406030204" pitchFamily="18" charset="0"/>
                        </a:rPr>
                        <m:t>=</m:t>
                      </m:r>
                      <m:d>
                        <m:dPr>
                          <m:begChr m:val="["/>
                          <m:endChr m:val="]"/>
                          <m:ctrlPr>
                            <a:rPr lang="en-US" i="1" smtClean="0">
                              <a:latin typeface="Cambria Math" panose="02040503050406030204" pitchFamily="18" charset="0"/>
                            </a:rPr>
                          </m:ctrlPr>
                        </m:dPr>
                        <m:e>
                          <m:m>
                            <m:mPr>
                              <m:mcs>
                                <m:mc>
                                  <m:mcPr>
                                    <m:count m:val="4"/>
                                    <m:mcJc m:val="center"/>
                                  </m:mcPr>
                                </m:mc>
                              </m:mcs>
                              <m:ctrlPr>
                                <a:rPr lang="en-US" i="1" smtClean="0">
                                  <a:latin typeface="Cambria Math" panose="02040503050406030204" pitchFamily="18" charset="0"/>
                                </a:rPr>
                              </m:ctrlPr>
                            </m:mPr>
                            <m:mr>
                              <m:e>
                                <m:sSup>
                                  <m:sSupPr>
                                    <m:ctrlPr>
                                      <a:rPr lang="en-US" i="1" dirty="0" smtClean="0">
                                        <a:latin typeface="Cambria Math" panose="02040503050406030204" pitchFamily="18" charset="0"/>
                                      </a:rPr>
                                    </m:ctrlPr>
                                  </m:sSupPr>
                                  <m:e>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i="1" smtClean="0">
                                                <a:latin typeface="Cambria Math" panose="02040503050406030204" pitchFamily="18" charset="0"/>
                                              </a:rPr>
                                              <m:t>𝜖</m:t>
                                            </m:r>
                                          </m:e>
                                          <m:sub>
                                            <m:r>
                                              <a:rPr lang="en-US" i="1" smtClean="0">
                                                <a:latin typeface="Cambria Math" panose="02040503050406030204" pitchFamily="18" charset="0"/>
                                              </a:rPr>
                                              <m:t>1</m:t>
                                            </m:r>
                                          </m:sub>
                                        </m:sSub>
                                      </m:e>
                                    </m:acc>
                                  </m:e>
                                  <m:sup>
                                    <m:r>
                                      <a:rPr lang="en-US" i="1" dirty="0" smtClean="0">
                                        <a:latin typeface="Cambria Math" panose="02040503050406030204" pitchFamily="18" charset="0"/>
                                      </a:rPr>
                                      <m:t>2</m:t>
                                    </m:r>
                                  </m:sup>
                                </m:sSup>
                              </m:e>
                              <m:e>
                                <m:r>
                                  <a:rPr lang="en-US" i="1" smtClean="0">
                                    <a:latin typeface="Cambria Math" panose="02040503050406030204" pitchFamily="18" charset="0"/>
                                  </a:rPr>
                                  <m:t>0</m:t>
                                </m:r>
                              </m:e>
                              <m:e>
                                <m:r>
                                  <a:rPr lang="en-US" i="1" smtClean="0">
                                    <a:latin typeface="Cambria Math" panose="02040503050406030204" pitchFamily="18" charset="0"/>
                                    <a:ea typeface="Cambria Math" panose="02040503050406030204" pitchFamily="18" charset="0"/>
                                  </a:rPr>
                                  <m:t>⋯</m:t>
                                </m:r>
                              </m:e>
                              <m:e>
                                <m:r>
                                  <a:rPr lang="en-US" i="1" smtClean="0">
                                    <a:latin typeface="Cambria Math" panose="02040503050406030204" pitchFamily="18" charset="0"/>
                                  </a:rPr>
                                  <m:t>0</m:t>
                                </m:r>
                              </m:e>
                            </m:mr>
                            <m:mr>
                              <m:e>
                                <m:r>
                                  <a:rPr lang="en-US" i="1" smtClean="0">
                                    <a:latin typeface="Cambria Math" panose="02040503050406030204" pitchFamily="18" charset="0"/>
                                  </a:rPr>
                                  <m:t>0</m:t>
                                </m:r>
                              </m:e>
                              <m:e>
                                <m:sSup>
                                  <m:sSupPr>
                                    <m:ctrlPr>
                                      <a:rPr lang="en-US" i="1" dirty="0">
                                        <a:latin typeface="Cambria Math" panose="02040503050406030204" pitchFamily="18" charset="0"/>
                                      </a:rPr>
                                    </m:ctrlPr>
                                  </m:sSupPr>
                                  <m:e>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smtClean="0">
                                                <a:latin typeface="Cambria Math" panose="02040503050406030204" pitchFamily="18" charset="0"/>
                                              </a:rPr>
                                              <m:t>2</m:t>
                                            </m:r>
                                          </m:sub>
                                        </m:sSub>
                                      </m:e>
                                    </m:acc>
                                  </m:e>
                                  <m:sup>
                                    <m:r>
                                      <a:rPr lang="en-US" i="1" dirty="0">
                                        <a:latin typeface="Cambria Math" panose="02040503050406030204" pitchFamily="18" charset="0"/>
                                      </a:rPr>
                                      <m:t>2</m:t>
                                    </m:r>
                                  </m:sup>
                                </m:sSup>
                              </m:e>
                              <m:e>
                                <m:r>
                                  <a:rPr lang="en-US" i="1" smtClean="0">
                                    <a:latin typeface="Cambria Math" panose="02040503050406030204" pitchFamily="18" charset="0"/>
                                    <a:ea typeface="Cambria Math" panose="02040503050406030204" pitchFamily="18" charset="0"/>
                                  </a:rPr>
                                  <m:t>⋯</m:t>
                                </m:r>
                              </m:e>
                              <m:e>
                                <m:r>
                                  <a:rPr lang="en-US" i="1" smtClean="0">
                                    <a:latin typeface="Cambria Math" panose="02040503050406030204" pitchFamily="18" charset="0"/>
                                  </a:rPr>
                                  <m:t>0</m:t>
                                </m:r>
                              </m:e>
                            </m:mr>
                            <m:mr>
                              <m:e>
                                <m:r>
                                  <a:rPr lang="en-US" i="1" smtClean="0">
                                    <a:latin typeface="Cambria Math" panose="02040503050406030204" pitchFamily="18" charset="0"/>
                                    <a:ea typeface="Cambria Math" panose="02040503050406030204" pitchFamily="18" charset="0"/>
                                  </a:rPr>
                                  <m:t>⋮</m:t>
                                </m:r>
                              </m:e>
                              <m:e>
                                <m:r>
                                  <a:rPr lang="en-US" i="1" smtClean="0">
                                    <a:latin typeface="Cambria Math" panose="02040503050406030204" pitchFamily="18" charset="0"/>
                                  </a:rPr>
                                  <m:t>0</m:t>
                                </m:r>
                              </m:e>
                              <m:e>
                                <m:r>
                                  <a:rPr lang="en-US" i="1" smtClean="0">
                                    <a:latin typeface="Cambria Math" panose="02040503050406030204" pitchFamily="18" charset="0"/>
                                    <a:ea typeface="Cambria Math" panose="02040503050406030204" pitchFamily="18" charset="0"/>
                                  </a:rPr>
                                  <m:t>⋱</m:t>
                                </m:r>
                              </m:e>
                              <m:e>
                                <m:r>
                                  <a:rPr lang="en-US" i="1" smtClean="0">
                                    <a:latin typeface="Cambria Math" panose="02040503050406030204" pitchFamily="18" charset="0"/>
                                    <a:ea typeface="Cambria Math" panose="02040503050406030204" pitchFamily="18" charset="0"/>
                                  </a:rPr>
                                  <m:t>⋮</m:t>
                                </m:r>
                              </m:e>
                            </m:mr>
                            <m:mr>
                              <m:e>
                                <m:r>
                                  <a:rPr lang="en-US" i="1" smtClean="0">
                                    <a:latin typeface="Cambria Math" panose="02040503050406030204" pitchFamily="18" charset="0"/>
                                  </a:rPr>
                                  <m:t>0</m:t>
                                </m:r>
                              </m:e>
                              <m:e>
                                <m:r>
                                  <a:rPr lang="en-US" i="1" smtClean="0">
                                    <a:latin typeface="Cambria Math" panose="02040503050406030204" pitchFamily="18" charset="0"/>
                                    <a:ea typeface="Cambria Math" panose="02040503050406030204" pitchFamily="18" charset="0"/>
                                  </a:rPr>
                                  <m:t>⋯</m:t>
                                </m:r>
                              </m:e>
                              <m:e>
                                <m:r>
                                  <a:rPr lang="en-US" i="1" smtClean="0">
                                    <a:latin typeface="Cambria Math" panose="02040503050406030204" pitchFamily="18" charset="0"/>
                                    <a:ea typeface="Cambria Math" panose="02040503050406030204" pitchFamily="18" charset="0"/>
                                  </a:rPr>
                                  <m:t>⋯</m:t>
                                </m:r>
                              </m:e>
                              <m:e>
                                <m:sSup>
                                  <m:sSupPr>
                                    <m:ctrlPr>
                                      <a:rPr lang="en-US" i="1" dirty="0">
                                        <a:latin typeface="Cambria Math" panose="02040503050406030204" pitchFamily="18" charset="0"/>
                                      </a:rPr>
                                    </m:ctrlPr>
                                  </m:sSupPr>
                                  <m:e>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𝜖</m:t>
                                            </m:r>
                                          </m:e>
                                          <m:sub>
                                            <m:r>
                                              <a:rPr lang="en-US" i="1" smtClean="0">
                                                <a:latin typeface="Cambria Math" panose="02040503050406030204" pitchFamily="18" charset="0"/>
                                              </a:rPr>
                                              <m:t>𝑛</m:t>
                                            </m:r>
                                          </m:sub>
                                        </m:sSub>
                                      </m:e>
                                    </m:acc>
                                  </m:e>
                                  <m:sup>
                                    <m:r>
                                      <a:rPr lang="en-US" i="1" dirty="0">
                                        <a:latin typeface="Cambria Math" panose="02040503050406030204" pitchFamily="18" charset="0"/>
                                      </a:rPr>
                                      <m:t>2</m:t>
                                    </m:r>
                                  </m:sup>
                                </m:sSup>
                              </m:e>
                            </m:mr>
                          </m:m>
                        </m:e>
                      </m:d>
                      <m:r>
                        <a:rPr lang="en-US" i="1"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4"/>
                                    <m:mcJc m:val="center"/>
                                  </m:mcPr>
                                </m:mc>
                              </m:mcs>
                              <m:ctrlPr>
                                <a:rPr lang="en-US" i="1">
                                  <a:latin typeface="Cambria Math" panose="02040503050406030204" pitchFamily="18" charset="0"/>
                                </a:rPr>
                              </m:ctrlPr>
                            </m:mPr>
                            <m:mr>
                              <m:e>
                                <m:sSup>
                                  <m:sSupPr>
                                    <m:ctrlPr>
                                      <a:rPr lang="en-US" i="1" smtClean="0">
                                        <a:latin typeface="Cambria Math" panose="02040503050406030204" pitchFamily="18" charset="0"/>
                                      </a:rPr>
                                    </m:ctrlPr>
                                  </m:sSupPr>
                                  <m:e>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m:rPr>
                                                <m:brk m:alnAt="7"/>
                                              </m:rPr>
                                              <a:rPr lang="en-US" i="1" smtClean="0">
                                                <a:latin typeface="Cambria Math" panose="02040503050406030204" pitchFamily="18" charset="0"/>
                                              </a:rPr>
                                              <m:t>𝑦</m:t>
                                            </m:r>
                                          </m:e>
                                          <m:sub>
                                            <m:r>
                                              <m:rPr>
                                                <m:brk m:alnAt="7"/>
                                              </m:rPr>
                                              <a:rPr lang="en-US" i="1" smtClean="0">
                                                <a:latin typeface="Cambria Math" panose="02040503050406030204" pitchFamily="18" charset="0"/>
                                              </a:rPr>
                                              <m:t>1</m:t>
                                            </m:r>
                                          </m:sub>
                                        </m:sSub>
                                        <m:r>
                                          <m:rPr>
                                            <m:brk m:alnAt="7"/>
                                          </m:rPr>
                                          <a:rPr lang="en-US" i="1" smtClean="0">
                                            <a:latin typeface="Cambria Math" panose="02040503050406030204" pitchFamily="18" charset="0"/>
                                          </a:rPr>
                                          <m:t>−</m:t>
                                        </m:r>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i="1" smtClean="0">
                                                    <a:latin typeface="Cambria Math" panose="02040503050406030204" pitchFamily="18" charset="0"/>
                                                  </a:rPr>
                                                  <m:t>𝑦</m:t>
                                                </m:r>
                                              </m:e>
                                              <m:sub>
                                                <m:r>
                                                  <a:rPr lang="en-US" i="1" smtClean="0">
                                                    <a:latin typeface="Cambria Math" panose="02040503050406030204" pitchFamily="18" charset="0"/>
                                                  </a:rPr>
                                                  <m:t>1</m:t>
                                                </m:r>
                                              </m:sub>
                                            </m:sSub>
                                          </m:e>
                                        </m:acc>
                                      </m:e>
                                    </m:d>
                                  </m:e>
                                  <m:sup>
                                    <m:r>
                                      <m:rPr>
                                        <m:brk m:alnAt="7"/>
                                      </m:rPr>
                                      <a:rPr lang="en-US" i="1" smtClean="0">
                                        <a:latin typeface="Cambria Math" panose="02040503050406030204" pitchFamily="18" charset="0"/>
                                      </a:rPr>
                                      <m:t>2</m:t>
                                    </m:r>
                                  </m:sup>
                                </m:sSup>
                              </m:e>
                              <m:e>
                                <m:r>
                                  <a:rPr lang="en-US" i="1">
                                    <a:latin typeface="Cambria Math" panose="02040503050406030204" pitchFamily="18" charset="0"/>
                                  </a:rPr>
                                  <m:t>0</m:t>
                                </m:r>
                              </m:e>
                              <m:e>
                                <m:r>
                                  <a:rPr lang="en-US" i="1">
                                    <a:latin typeface="Cambria Math" panose="02040503050406030204" pitchFamily="18" charset="0"/>
                                    <a:ea typeface="Cambria Math" panose="02040503050406030204" pitchFamily="18" charset="0"/>
                                  </a:rPr>
                                  <m:t>⋯</m:t>
                                </m:r>
                              </m:e>
                              <m:e>
                                <m:r>
                                  <a:rPr lang="en-US" i="1">
                                    <a:latin typeface="Cambria Math" panose="02040503050406030204" pitchFamily="18" charset="0"/>
                                  </a:rPr>
                                  <m:t>0</m:t>
                                </m:r>
                              </m:e>
                            </m:mr>
                            <m:mr>
                              <m:e>
                                <m:r>
                                  <a:rPr lang="en-US" i="1">
                                    <a:latin typeface="Cambria Math" panose="02040503050406030204" pitchFamily="18" charset="0"/>
                                  </a:rPr>
                                  <m:t>0</m:t>
                                </m:r>
                              </m:e>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smtClean="0">
                                                <a:latin typeface="Cambria Math" panose="02040503050406030204" pitchFamily="18" charset="0"/>
                                              </a:rPr>
                                            </m:ctrlPr>
                                          </m:sSubPr>
                                          <m:e>
                                            <m:r>
                                              <m:rPr>
                                                <m:brk m:alnAt="7"/>
                                              </m:rPr>
                                              <a:rPr lang="en-US" i="1">
                                                <a:latin typeface="Cambria Math" panose="02040503050406030204" pitchFamily="18" charset="0"/>
                                              </a:rPr>
                                              <m:t>𝑦</m:t>
                                            </m:r>
                                          </m:e>
                                          <m:sub>
                                            <m:r>
                                              <a:rPr lang="en-US" i="1" smtClean="0">
                                                <a:latin typeface="Cambria Math" panose="02040503050406030204" pitchFamily="18" charset="0"/>
                                              </a:rPr>
                                              <m:t>2</m:t>
                                            </m:r>
                                          </m:sub>
                                        </m:sSub>
                                        <m:r>
                                          <m:rPr>
                                            <m:brk m:alnAt="7"/>
                                          </m:rPr>
                                          <a:rPr lang="en-US" i="1">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smtClean="0">
                                                    <a:latin typeface="Cambria Math" panose="02040503050406030204" pitchFamily="18" charset="0"/>
                                                  </a:rPr>
                                                  <m:t>2</m:t>
                                                </m:r>
                                              </m:sub>
                                            </m:sSub>
                                          </m:e>
                                        </m:acc>
                                      </m:e>
                                    </m:d>
                                  </m:e>
                                  <m:sup>
                                    <m:r>
                                      <m:rPr>
                                        <m:brk m:alnAt="7"/>
                                      </m:rPr>
                                      <a:rPr lang="en-US" i="1">
                                        <a:latin typeface="Cambria Math" panose="02040503050406030204" pitchFamily="18" charset="0"/>
                                      </a:rPr>
                                      <m:t>2</m:t>
                                    </m:r>
                                  </m:sup>
                                </m:sSup>
                              </m:e>
                              <m:e>
                                <m:r>
                                  <a:rPr lang="en-US" i="1">
                                    <a:latin typeface="Cambria Math" panose="02040503050406030204" pitchFamily="18" charset="0"/>
                                    <a:ea typeface="Cambria Math" panose="02040503050406030204" pitchFamily="18" charset="0"/>
                                  </a:rPr>
                                  <m:t>⋯</m:t>
                                </m:r>
                              </m:e>
                              <m:e>
                                <m:r>
                                  <a:rPr lang="en-US" i="1">
                                    <a:latin typeface="Cambria Math" panose="02040503050406030204" pitchFamily="18" charset="0"/>
                                  </a:rPr>
                                  <m:t>0</m:t>
                                </m:r>
                              </m:e>
                            </m:mr>
                            <m:mr>
                              <m:e>
                                <m:r>
                                  <a:rPr lang="en-US" i="1">
                                    <a:latin typeface="Cambria Math" panose="02040503050406030204" pitchFamily="18" charset="0"/>
                                    <a:ea typeface="Cambria Math" panose="02040503050406030204" pitchFamily="18" charset="0"/>
                                  </a:rPr>
                                  <m:t>⋮</m:t>
                                </m:r>
                              </m:e>
                              <m:e>
                                <m:r>
                                  <a:rPr lang="en-US" i="1">
                                    <a:latin typeface="Cambria Math" panose="02040503050406030204" pitchFamily="18" charset="0"/>
                                  </a:rPr>
                                  <m:t>0</m:t>
                                </m:r>
                              </m:e>
                              <m:e>
                                <m:r>
                                  <a:rPr lang="en-US" i="1">
                                    <a:latin typeface="Cambria Math" panose="02040503050406030204" pitchFamily="18" charset="0"/>
                                    <a:ea typeface="Cambria Math" panose="02040503050406030204" pitchFamily="18" charset="0"/>
                                  </a:rPr>
                                  <m:t>⋱</m:t>
                                </m:r>
                              </m:e>
                              <m:e>
                                <m:r>
                                  <a:rPr lang="en-US" i="1">
                                    <a:latin typeface="Cambria Math" panose="02040503050406030204" pitchFamily="18" charset="0"/>
                                    <a:ea typeface="Cambria Math" panose="02040503050406030204" pitchFamily="18" charset="0"/>
                                  </a:rPr>
                                  <m:t>⋮</m:t>
                                </m:r>
                              </m:e>
                            </m:mr>
                            <m:mr>
                              <m:e>
                                <m:r>
                                  <a:rPr lang="en-US" i="1">
                                    <a:latin typeface="Cambria Math" panose="02040503050406030204" pitchFamily="18" charset="0"/>
                                  </a:rPr>
                                  <m:t>0</m:t>
                                </m:r>
                              </m:e>
                              <m:e>
                                <m:r>
                                  <a:rPr lang="en-US" i="1">
                                    <a:latin typeface="Cambria Math" panose="02040503050406030204" pitchFamily="18" charset="0"/>
                                    <a:ea typeface="Cambria Math" panose="02040503050406030204" pitchFamily="18" charset="0"/>
                                  </a:rPr>
                                  <m:t>⋯</m:t>
                                </m:r>
                              </m:e>
                              <m:e>
                                <m:r>
                                  <a:rPr lang="en-US" i="1">
                                    <a:latin typeface="Cambria Math" panose="02040503050406030204" pitchFamily="18" charset="0"/>
                                    <a:ea typeface="Cambria Math" panose="02040503050406030204" pitchFamily="18" charset="0"/>
                                  </a:rPr>
                                  <m:t>⋯</m:t>
                                </m:r>
                              </m:e>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m:rPr>
                                                <m:brk m:alnAt="7"/>
                                              </m:rPr>
                                              <a:rPr lang="en-US" i="1">
                                                <a:latin typeface="Cambria Math" panose="02040503050406030204" pitchFamily="18" charset="0"/>
                                              </a:rPr>
                                              <m:t>𝑦</m:t>
                                            </m:r>
                                          </m:e>
                                          <m:sub>
                                            <m:r>
                                              <a:rPr lang="en-US" i="1" smtClean="0">
                                                <a:latin typeface="Cambria Math" panose="02040503050406030204" pitchFamily="18" charset="0"/>
                                              </a:rPr>
                                              <m:t>𝑛</m:t>
                                            </m:r>
                                          </m:sub>
                                        </m:sSub>
                                        <m:r>
                                          <m:rPr>
                                            <m:brk m:alnAt="7"/>
                                          </m:rPr>
                                          <a:rPr lang="en-US" i="1">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smtClean="0">
                                                    <a:latin typeface="Cambria Math" panose="02040503050406030204" pitchFamily="18" charset="0"/>
                                                  </a:rPr>
                                                  <m:t>𝑛</m:t>
                                                </m:r>
                                              </m:sub>
                                            </m:sSub>
                                          </m:e>
                                        </m:acc>
                                      </m:e>
                                    </m:d>
                                  </m:e>
                                  <m:sup>
                                    <m:r>
                                      <m:rPr>
                                        <m:brk m:alnAt="7"/>
                                      </m:rPr>
                                      <a:rPr lang="en-US" i="1">
                                        <a:latin typeface="Cambria Math" panose="02040503050406030204" pitchFamily="18" charset="0"/>
                                      </a:rPr>
                                      <m:t>2</m:t>
                                    </m:r>
                                  </m:sup>
                                </m:sSup>
                              </m:e>
                            </m:mr>
                          </m:m>
                        </m:e>
                      </m:d>
                    </m:oMath>
                  </m:oMathPara>
                </a14:m>
                <a:endParaRPr lang="en-US" dirty="0"/>
              </a:p>
              <a:p>
                <a:endParaRPr lang="en-US" dirty="0"/>
              </a:p>
              <a:p>
                <a:pPr>
                  <a:buSzPct val="100000"/>
                </a:pPr>
                <a:r>
                  <a:rPr lang="en-US" dirty="0"/>
                  <a:t>Then we plug-and-chug</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𝑠𝑒</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𝛽</m:t>
                                  </m:r>
                                </m:e>
                              </m:acc>
                            </m:e>
                          </m:d>
                        </m:e>
                      </m:acc>
                      <m:r>
                        <a:rPr lang="en-US" i="1">
                          <a:latin typeface="Cambria Math" panose="02040503050406030204" pitchFamily="18" charset="0"/>
                        </a:rPr>
                        <m:t>=</m:t>
                      </m:r>
                      <m:f>
                        <m:fPr>
                          <m:ctrlPr>
                            <a:rPr lang="en-US" i="1">
                              <a:solidFill>
                                <a:srgbClr val="FF9300"/>
                              </a:solidFill>
                              <a:latin typeface="Cambria Math" panose="02040503050406030204" pitchFamily="18" charset="0"/>
                            </a:rPr>
                          </m:ctrlPr>
                        </m:fPr>
                        <m:num>
                          <m:r>
                            <a:rPr lang="en-US" i="1">
                              <a:solidFill>
                                <a:srgbClr val="FF9300"/>
                              </a:solidFill>
                              <a:latin typeface="Cambria Math" panose="02040503050406030204" pitchFamily="18" charset="0"/>
                            </a:rPr>
                            <m:t>𝑁</m:t>
                          </m:r>
                        </m:num>
                        <m:den>
                          <m:r>
                            <a:rPr lang="en-US" i="1">
                              <a:solidFill>
                                <a:srgbClr val="FF9300"/>
                              </a:solidFill>
                              <a:latin typeface="Cambria Math" panose="02040503050406030204" pitchFamily="18" charset="0"/>
                            </a:rPr>
                            <m:t>𝑁</m:t>
                          </m:r>
                          <m:r>
                            <a:rPr lang="en-US" i="1">
                              <a:solidFill>
                                <a:srgbClr val="FF9300"/>
                              </a:solidFill>
                              <a:latin typeface="Cambria Math" panose="02040503050406030204" pitchFamily="18" charset="0"/>
                            </a:rPr>
                            <m:t>−</m:t>
                          </m:r>
                          <m:r>
                            <a:rPr lang="en-US" i="1">
                              <a:solidFill>
                                <a:srgbClr val="FF9300"/>
                              </a:solidFill>
                              <a:latin typeface="Cambria Math" panose="02040503050406030204" pitchFamily="18" charset="0"/>
                            </a:rPr>
                            <m:t>𝑘</m:t>
                          </m:r>
                        </m:den>
                      </m:f>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m:t>
                                  </m:r>
                                </m:sup>
                              </m:sSup>
                              <m:r>
                                <a:rPr lang="en-US" i="1">
                                  <a:latin typeface="Cambria Math" panose="02040503050406030204" pitchFamily="18" charset="0"/>
                                </a:rPr>
                                <m:t>𝑋</m:t>
                              </m:r>
                            </m:e>
                          </m:d>
                        </m:e>
                        <m:sup>
                          <m:r>
                            <a:rPr lang="en-US" i="1">
                              <a:latin typeface="Cambria Math" panose="02040503050406030204" pitchFamily="18" charset="0"/>
                            </a:rPr>
                            <m:t>−1</m:t>
                          </m:r>
                        </m:sup>
                      </m:sSup>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m:t>
                          </m:r>
                        </m:sup>
                      </m:sSup>
                      <m:r>
                        <a:rPr lang="en-US">
                          <a:latin typeface="Cambria Math" panose="02040503050406030204" pitchFamily="18" charset="0"/>
                        </a:rPr>
                        <m:t> </m:t>
                      </m:r>
                      <m:acc>
                        <m:accPr>
                          <m:chr m:val="̂"/>
                          <m:ctrlPr>
                            <a:rPr lang="en-US" i="1">
                              <a:solidFill>
                                <a:srgbClr val="FF9300"/>
                              </a:solidFill>
                              <a:latin typeface="Cambria Math" panose="02040503050406030204" pitchFamily="18" charset="0"/>
                            </a:rPr>
                          </m:ctrlPr>
                        </m:accPr>
                        <m:e>
                          <m:r>
                            <m:rPr>
                              <m:sty m:val="p"/>
                            </m:rPr>
                            <a:rPr lang="en-US">
                              <a:solidFill>
                                <a:srgbClr val="FF9300"/>
                              </a:solidFill>
                              <a:latin typeface="Cambria Math" panose="02040503050406030204" pitchFamily="18" charset="0"/>
                            </a:rPr>
                            <m:t>Ω</m:t>
                          </m:r>
                        </m:e>
                      </m:acc>
                      <m:r>
                        <a:rPr lang="en-US">
                          <a:solidFill>
                            <a:srgbClr val="FF9300"/>
                          </a:solidFill>
                          <a:latin typeface="Cambria Math" panose="02040503050406030204" pitchFamily="18" charset="0"/>
                        </a:rPr>
                        <m:t> </m:t>
                      </m:r>
                      <m:r>
                        <a:rPr lang="en-US" i="1">
                          <a:latin typeface="Cambria Math" panose="02040503050406030204" pitchFamily="18" charset="0"/>
                        </a:rPr>
                        <m:t>𝑋</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𝑋</m:t>
                                  </m:r>
                                </m:e>
                                <m:sup>
                                  <m:r>
                                    <a:rPr lang="en-US" i="1">
                                      <a:latin typeface="Cambria Math" panose="02040503050406030204" pitchFamily="18" charset="0"/>
                                    </a:rPr>
                                    <m:t>′</m:t>
                                  </m:r>
                                </m:sup>
                              </m:sSup>
                              <m:r>
                                <a:rPr lang="en-US" i="1">
                                  <a:latin typeface="Cambria Math" panose="02040503050406030204" pitchFamily="18" charset="0"/>
                                </a:rPr>
                                <m:t>𝑋</m:t>
                              </m:r>
                            </m:e>
                          </m:d>
                        </m:e>
                        <m:sup>
                          <m:r>
                            <a:rPr lang="en-US" i="1">
                              <a:latin typeface="Cambria Math" panose="02040503050406030204" pitchFamily="18" charset="0"/>
                            </a:rPr>
                            <m:t>−1</m:t>
                          </m:r>
                        </m:sup>
                      </m:sSup>
                    </m:oMath>
                  </m:oMathPara>
                </a14:m>
                <a:endParaRPr lang="en-US" dirty="0"/>
              </a:p>
            </p:txBody>
          </p:sp>
        </mc:Choice>
        <mc:Fallback xmlns="">
          <p:sp>
            <p:nvSpPr>
              <p:cNvPr id="5" name="Content Placeholder 2">
                <a:extLst>
                  <a:ext uri="{FF2B5EF4-FFF2-40B4-BE49-F238E27FC236}">
                    <a16:creationId xmlns:a16="http://schemas.microsoft.com/office/drawing/2014/main" id="{D11ECA95-1013-ADB5-F76E-6AF62855CC2C}"/>
                  </a:ext>
                </a:extLst>
              </p:cNvPr>
              <p:cNvSpPr txBox="1">
                <a:spLocks noRot="1" noChangeAspect="1" noMove="1" noResize="1" noEditPoints="1" noAdjustHandles="1" noChangeArrowheads="1" noChangeShapeType="1" noTextEdit="1"/>
              </p:cNvSpPr>
              <p:nvPr/>
            </p:nvSpPr>
            <p:spPr>
              <a:xfrm>
                <a:off x="838200" y="1763588"/>
                <a:ext cx="10515600" cy="4800719"/>
              </a:xfrm>
              <a:prstGeom prst="rect">
                <a:avLst/>
              </a:prstGeom>
              <a:blipFill>
                <a:blip r:embed="rId3"/>
                <a:stretch>
                  <a:fillRect b="-528"/>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79061566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1024" name="Google Shape;1024;p1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lvl="0">
              <a:buClr>
                <a:srgbClr val="468C8A"/>
              </a:buClr>
              <a:buSzPts val="4400"/>
            </a:pPr>
            <a:r>
              <a:rPr lang="en-US" b="1" dirty="0">
                <a:solidFill>
                  <a:srgbClr val="468C8A"/>
                </a:solidFill>
              </a:rPr>
              <a:t>Heteroskedasticity robust standard errors for CQR coefficients</a:t>
            </a:r>
            <a:endParaRPr dirty="0"/>
          </a:p>
        </p:txBody>
      </p:sp>
      <p:sp>
        <p:nvSpPr>
          <p:cNvPr id="1026" name="Google Shape;1026;p1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137</a:t>
            </a:fld>
            <a:endParaRP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A4CBCD6D-CF7D-A812-6D23-9D6236DD2617}"/>
                  </a:ext>
                </a:extLst>
              </p:cNvPr>
              <p:cNvSpPr txBox="1">
                <a:spLocks/>
              </p:cNvSpPr>
              <p:nvPr/>
            </p:nvSpPr>
            <p:spPr>
              <a:xfrm>
                <a:off x="838200" y="1825625"/>
                <a:ext cx="10515600" cy="4667250"/>
              </a:xfrm>
              <a:prstGeom prst="rect">
                <a:avLst/>
              </a:prstGeom>
              <a:noFill/>
              <a:ln>
                <a:noFill/>
              </a:ln>
            </p:spPr>
            <p:txBody>
              <a:bodyPr spcFirstLastPara="1" wrap="square" lIns="91425" tIns="45700" rIns="91425" bIns="45700" anchor="t" anchorCtr="0">
                <a:normAutofit fontScale="92500" lnSpcReduction="1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a:buSzPct val="100000"/>
                </a:pPr>
                <a:r>
                  <a:rPr lang="en-US" dirty="0"/>
                  <a:t>When the errors are dependent on the covariates, we have a “robust” variance formula</a:t>
                </a:r>
              </a:p>
              <a:p>
                <a:pPr marL="0" indent="0">
                  <a:buSzPct val="100000"/>
                  <a:buFont typeface="Arial"/>
                  <a:buNone/>
                </a:pPr>
                <a:endParaRPr lang="en-US" dirty="0"/>
              </a:p>
              <a:p>
                <a:pPr marL="0" indent="0">
                  <a:buSzPct val="100000"/>
                  <a:buFont typeface="Arial"/>
                  <a:buNone/>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𝑉</m:t>
                      </m:r>
                      <m:d>
                        <m:dPr>
                          <m:ctrlPr>
                            <a:rPr lang="en-US" i="1" smtClean="0">
                              <a:solidFill>
                                <a:schemeClr val="tx1"/>
                              </a:solidFill>
                              <a:latin typeface="Cambria Math" panose="02040503050406030204" pitchFamily="18" charset="0"/>
                            </a:rPr>
                          </m:ctrlPr>
                        </m:dPr>
                        <m:e>
                          <m:sSub>
                            <m:sSubPr>
                              <m:ctrlPr>
                                <a:rPr lang="en-US" i="1" smtClean="0">
                                  <a:solidFill>
                                    <a:schemeClr val="tx1"/>
                                  </a:solidFill>
                                  <a:latin typeface="Cambria Math" panose="02040503050406030204" pitchFamily="18" charset="0"/>
                                </a:rPr>
                              </m:ctrlPr>
                            </m:sSubPr>
                            <m:e>
                              <m:acc>
                                <m:accPr>
                                  <m:chr m:val="̂"/>
                                  <m:ctrlPr>
                                    <a:rPr lang="en-US" i="1" smtClean="0">
                                      <a:solidFill>
                                        <a:schemeClr val="tx1"/>
                                      </a:solidFill>
                                      <a:latin typeface="Cambria Math" panose="02040503050406030204" pitchFamily="18" charset="0"/>
                                    </a:rPr>
                                  </m:ctrlPr>
                                </m:accPr>
                                <m:e>
                                  <m:r>
                                    <a:rPr lang="en-US" i="1" smtClean="0">
                                      <a:solidFill>
                                        <a:schemeClr val="tx1"/>
                                      </a:solidFill>
                                      <a:latin typeface="Cambria Math" panose="02040503050406030204" pitchFamily="18" charset="0"/>
                                    </a:rPr>
                                    <m:t>𝛽</m:t>
                                  </m:r>
                                </m:e>
                              </m:acc>
                            </m:e>
                            <m:sub>
                              <m:r>
                                <a:rPr lang="en-US" i="1" smtClean="0">
                                  <a:solidFill>
                                    <a:schemeClr val="tx1"/>
                                  </a:solidFill>
                                  <a:latin typeface="Cambria Math" panose="02040503050406030204" pitchFamily="18" charset="0"/>
                                </a:rPr>
                                <m:t>𝜏</m:t>
                              </m:r>
                            </m:sub>
                          </m:sSub>
                        </m:e>
                      </m:d>
                      <m:r>
                        <a:rPr lang="en-US" i="1" smtClean="0">
                          <a:solidFill>
                            <a:schemeClr val="tx1"/>
                          </a:solidFill>
                          <a:latin typeface="Cambria Math" panose="02040503050406030204" pitchFamily="18" charset="0"/>
                        </a:rPr>
                        <m:t>=</m:t>
                      </m:r>
                      <m:r>
                        <a:rPr lang="en-US" i="1" smtClean="0">
                          <a:solidFill>
                            <a:schemeClr val="tx1"/>
                          </a:solidFill>
                          <a:latin typeface="Cambria Math" panose="02040503050406030204" pitchFamily="18" charset="0"/>
                        </a:rPr>
                        <m:t>𝜏</m:t>
                      </m:r>
                      <m:d>
                        <m:dPr>
                          <m:ctrlPr>
                            <a:rPr lang="en-US" i="1" smtClean="0">
                              <a:solidFill>
                                <a:schemeClr val="tx1"/>
                              </a:solidFill>
                              <a:latin typeface="Cambria Math" panose="02040503050406030204" pitchFamily="18" charset="0"/>
                            </a:rPr>
                          </m:ctrlPr>
                        </m:dPr>
                        <m:e>
                          <m:r>
                            <a:rPr lang="en-US" i="1" smtClean="0">
                              <a:solidFill>
                                <a:schemeClr val="tx1"/>
                              </a:solidFill>
                              <a:latin typeface="Cambria Math" panose="02040503050406030204" pitchFamily="18" charset="0"/>
                            </a:rPr>
                            <m:t>1−</m:t>
                          </m:r>
                          <m:r>
                            <a:rPr lang="en-US" i="1" smtClean="0">
                              <a:solidFill>
                                <a:schemeClr val="tx1"/>
                              </a:solidFill>
                              <a:latin typeface="Cambria Math" panose="02040503050406030204" pitchFamily="18" charset="0"/>
                            </a:rPr>
                            <m:t>𝜏</m:t>
                          </m:r>
                        </m:e>
                      </m:d>
                      <m:sSubSup>
                        <m:sSubSupPr>
                          <m:ctrlPr>
                            <a:rPr lang="en-US" i="1" smtClean="0">
                              <a:solidFill>
                                <a:schemeClr val="tx1"/>
                              </a:solidFill>
                              <a:latin typeface="Cambria Math" panose="02040503050406030204" pitchFamily="18" charset="0"/>
                            </a:rPr>
                          </m:ctrlPr>
                        </m:sSubSupPr>
                        <m:e>
                          <m:r>
                            <a:rPr lang="en-US" i="1" smtClean="0">
                              <a:solidFill>
                                <a:schemeClr val="tx1"/>
                              </a:solidFill>
                              <a:latin typeface="Cambria Math" panose="02040503050406030204" pitchFamily="18" charset="0"/>
                            </a:rPr>
                            <m:t>𝑄</m:t>
                          </m:r>
                        </m:e>
                        <m:sub>
                          <m:r>
                            <a:rPr lang="en-US" i="1" smtClean="0">
                              <a:solidFill>
                                <a:schemeClr val="tx1"/>
                              </a:solidFill>
                              <a:latin typeface="Cambria Math" panose="02040503050406030204" pitchFamily="18" charset="0"/>
                            </a:rPr>
                            <m:t>𝜏</m:t>
                          </m:r>
                        </m:sub>
                        <m:sup>
                          <m:r>
                            <a:rPr lang="en-US" i="1" smtClean="0">
                              <a:solidFill>
                                <a:schemeClr val="tx1"/>
                              </a:solidFill>
                              <a:latin typeface="Cambria Math" panose="02040503050406030204" pitchFamily="18" charset="0"/>
                            </a:rPr>
                            <m:t>−1</m:t>
                          </m:r>
                        </m:sup>
                      </m:sSubSup>
                      <m:r>
                        <a:rPr lang="en-US" i="1" smtClean="0">
                          <a:solidFill>
                            <a:schemeClr val="tx1"/>
                          </a:solidFill>
                          <a:latin typeface="Cambria Math" panose="02040503050406030204" pitchFamily="18" charset="0"/>
                        </a:rPr>
                        <m:t>𝑄</m:t>
                      </m:r>
                      <m:sSubSup>
                        <m:sSubSupPr>
                          <m:ctrlPr>
                            <a:rPr lang="en-US" i="1" smtClean="0">
                              <a:solidFill>
                                <a:schemeClr val="tx1"/>
                              </a:solidFill>
                              <a:latin typeface="Cambria Math" panose="02040503050406030204" pitchFamily="18" charset="0"/>
                            </a:rPr>
                          </m:ctrlPr>
                        </m:sSubSupPr>
                        <m:e>
                          <m:r>
                            <a:rPr lang="en-US" i="1" smtClean="0">
                              <a:solidFill>
                                <a:schemeClr val="tx1"/>
                              </a:solidFill>
                              <a:latin typeface="Cambria Math" panose="02040503050406030204" pitchFamily="18" charset="0"/>
                            </a:rPr>
                            <m:t>𝑄</m:t>
                          </m:r>
                        </m:e>
                        <m:sub>
                          <m:r>
                            <a:rPr lang="en-US" i="1" smtClean="0">
                              <a:solidFill>
                                <a:schemeClr val="tx1"/>
                              </a:solidFill>
                              <a:latin typeface="Cambria Math" panose="02040503050406030204" pitchFamily="18" charset="0"/>
                            </a:rPr>
                            <m:t>𝜏</m:t>
                          </m:r>
                        </m:sub>
                        <m:sup>
                          <m:r>
                            <a:rPr lang="en-US" i="1" smtClean="0">
                              <a:solidFill>
                                <a:schemeClr val="tx1"/>
                              </a:solidFill>
                              <a:latin typeface="Cambria Math" panose="02040503050406030204" pitchFamily="18" charset="0"/>
                            </a:rPr>
                            <m:t>−1</m:t>
                          </m:r>
                        </m:sup>
                      </m:sSubSup>
                    </m:oMath>
                  </m:oMathPara>
                </a14:m>
                <a:endParaRPr lang="en-US" dirty="0">
                  <a:solidFill>
                    <a:srgbClr val="FF9300"/>
                  </a:solidFill>
                </a:endParaRPr>
              </a:p>
              <a:p>
                <a:pPr marL="0" indent="0">
                  <a:buSzPct val="100000"/>
                  <a:buFont typeface="Arial"/>
                  <a:buNone/>
                </a:pPr>
                <a:endParaRPr lang="en-US" dirty="0"/>
              </a:p>
              <a:p>
                <a:pPr>
                  <a:buSzPct val="100000"/>
                </a:pPr>
                <a:r>
                  <a:rPr lang="en-US" dirty="0"/>
                  <a:t>Where</a:t>
                </a:r>
              </a:p>
              <a:p>
                <a:pPr lvl="1">
                  <a:buSzPct val="100000"/>
                </a:pPr>
                <a:endParaRPr lang="en-US" dirty="0"/>
              </a:p>
              <a:p>
                <a:pPr lvl="1">
                  <a:buSzPct val="100000"/>
                </a:pPr>
                <a14:m>
                  <m:oMath xmlns:m="http://schemas.openxmlformats.org/officeDocument/2006/math">
                    <m:r>
                      <a:rPr lang="en-US" i="1" smtClean="0">
                        <a:latin typeface="Cambria Math" panose="02040503050406030204" pitchFamily="18" charset="0"/>
                      </a:rPr>
                      <m:t>𝜏</m:t>
                    </m:r>
                    <m:r>
                      <a:rPr lang="en-US" i="1" smtClean="0">
                        <a:latin typeface="Cambria Math" panose="02040503050406030204" pitchFamily="18" charset="0"/>
                      </a:rPr>
                      <m:t>(1−</m:t>
                    </m:r>
                    <m:r>
                      <a:rPr lang="en-US" i="1" smtClean="0">
                        <a:latin typeface="Cambria Math" panose="02040503050406030204" pitchFamily="18" charset="0"/>
                      </a:rPr>
                      <m:t>𝜏</m:t>
                    </m:r>
                    <m:r>
                      <a:rPr lang="en-US" i="1" smtClean="0">
                        <a:latin typeface="Cambria Math" panose="02040503050406030204" pitchFamily="18" charset="0"/>
                      </a:rPr>
                      <m:t>)</m:t>
                    </m:r>
                  </m:oMath>
                </a14:m>
                <a:r>
                  <a:rPr lang="en-US" dirty="0"/>
                  <a:t> is a constant for any given </a:t>
                </a:r>
                <a14:m>
                  <m:oMath xmlns:m="http://schemas.openxmlformats.org/officeDocument/2006/math">
                    <m:r>
                      <a:rPr lang="en-US" i="1" smtClean="0">
                        <a:latin typeface="Cambria Math" panose="02040503050406030204" pitchFamily="18" charset="0"/>
                      </a:rPr>
                      <m:t>𝜏</m:t>
                    </m:r>
                  </m:oMath>
                </a14:m>
                <a:endParaRPr lang="en-US" dirty="0"/>
              </a:p>
              <a:p>
                <a:pPr lvl="1">
                  <a:buSzPct val="100000"/>
                </a:pPr>
                <a:endParaRPr lang="en-US" dirty="0"/>
              </a:p>
              <a:p>
                <a:pPr lvl="1">
                  <a:buSzPct val="100000"/>
                </a:pPr>
                <a14:m>
                  <m:oMath xmlns:m="http://schemas.openxmlformats.org/officeDocument/2006/math">
                    <m:r>
                      <a:rPr lang="en-US" i="1" smtClean="0">
                        <a:latin typeface="Cambria Math" panose="02040503050406030204" pitchFamily="18" charset="0"/>
                      </a:rPr>
                      <m:t>𝑄</m:t>
                    </m:r>
                    <m:r>
                      <a:rPr lang="en-US" i="1" smtClean="0">
                        <a:latin typeface="Cambria Math" panose="02040503050406030204" pitchFamily="18" charset="0"/>
                      </a:rPr>
                      <m:t>=</m:t>
                    </m:r>
                    <m:r>
                      <a:rPr lang="en-US" i="1" smtClean="0">
                        <a:latin typeface="Cambria Math" panose="02040503050406030204" pitchFamily="18" charset="0"/>
                      </a:rPr>
                      <m:t>𝐸</m:t>
                    </m:r>
                    <m:d>
                      <m:dPr>
                        <m:begChr m:val="["/>
                        <m:endChr m:val="]"/>
                        <m:ctrlPr>
                          <a:rPr lang="en-US" i="1" smtClean="0">
                            <a:latin typeface="Cambria Math" panose="02040503050406030204" pitchFamily="18" charset="0"/>
                          </a:rPr>
                        </m:ctrlPr>
                      </m:dPr>
                      <m:e>
                        <m:sSup>
                          <m:sSupPr>
                            <m:ctrlPr>
                              <a:rPr lang="en-US" i="1" smtClean="0">
                                <a:latin typeface="Cambria Math" panose="02040503050406030204" pitchFamily="18" charset="0"/>
                              </a:rPr>
                            </m:ctrlPr>
                          </m:sSupPr>
                          <m:e>
                            <m:r>
                              <a:rPr lang="en-US" i="1" smtClean="0">
                                <a:latin typeface="Cambria Math" panose="02040503050406030204" pitchFamily="18" charset="0"/>
                              </a:rPr>
                              <m:t>𝑋</m:t>
                            </m:r>
                          </m:e>
                          <m:sup>
                            <m:r>
                              <a:rPr lang="en-US" i="1" smtClean="0">
                                <a:latin typeface="Cambria Math" panose="02040503050406030204" pitchFamily="18" charset="0"/>
                              </a:rPr>
                              <m:t>′</m:t>
                            </m:r>
                          </m:sup>
                        </m:sSup>
                        <m:r>
                          <a:rPr lang="en-US" i="1" smtClean="0">
                            <a:latin typeface="Cambria Math" panose="02040503050406030204" pitchFamily="18" charset="0"/>
                          </a:rPr>
                          <m:t>𝑋</m:t>
                        </m:r>
                      </m:e>
                    </m:d>
                  </m:oMath>
                </a14:m>
                <a:endParaRPr lang="en-US" dirty="0"/>
              </a:p>
              <a:p>
                <a:pPr lvl="1">
                  <a:buSzPct val="100000"/>
                </a:pPr>
                <a:endParaRPr lang="en-US" dirty="0"/>
              </a:p>
              <a:p>
                <a:pPr lvl="1">
                  <a:buSzPct val="100000"/>
                </a:pP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𝑄</m:t>
                        </m:r>
                      </m:e>
                      <m:sub>
                        <m:r>
                          <a:rPr lang="en-US" i="1" smtClean="0">
                            <a:latin typeface="Cambria Math" panose="02040503050406030204" pitchFamily="18" charset="0"/>
                          </a:rPr>
                          <m:t>𝜏</m:t>
                        </m:r>
                      </m:sub>
                    </m:sSub>
                    <m:r>
                      <a:rPr lang="en-US" i="1" smtClean="0">
                        <a:latin typeface="Cambria Math" panose="02040503050406030204" pitchFamily="18" charset="0"/>
                      </a:rPr>
                      <m:t>=</m:t>
                    </m:r>
                    <m:r>
                      <a:rPr lang="en-US" i="1" smtClean="0">
                        <a:latin typeface="Cambria Math" panose="02040503050406030204" pitchFamily="18" charset="0"/>
                      </a:rPr>
                      <m:t>𝐸</m:t>
                    </m:r>
                    <m:d>
                      <m:dPr>
                        <m:begChr m:val="["/>
                        <m:endChr m:val="]"/>
                        <m:ctrlPr>
                          <a:rPr lang="en-US" i="1" smtClean="0">
                            <a:latin typeface="Cambria Math" panose="02040503050406030204" pitchFamily="18" charset="0"/>
                          </a:rPr>
                        </m:ctrlPr>
                      </m:dPr>
                      <m:e>
                        <m:sSup>
                          <m:sSupPr>
                            <m:ctrlPr>
                              <a:rPr lang="en-US" i="1" smtClean="0">
                                <a:latin typeface="Cambria Math" panose="02040503050406030204" pitchFamily="18" charset="0"/>
                              </a:rPr>
                            </m:ctrlPr>
                          </m:sSupPr>
                          <m:e>
                            <m:r>
                              <a:rPr lang="en-US" i="1" smtClean="0">
                                <a:latin typeface="Cambria Math" panose="02040503050406030204" pitchFamily="18" charset="0"/>
                              </a:rPr>
                              <m:t>𝑋</m:t>
                            </m:r>
                          </m:e>
                          <m:sup>
                            <m:r>
                              <a:rPr lang="en-US" i="1" smtClean="0">
                                <a:latin typeface="Cambria Math" panose="02040503050406030204" pitchFamily="18" charset="0"/>
                              </a:rPr>
                              <m:t>′</m:t>
                            </m:r>
                          </m:sup>
                        </m:sSup>
                        <m:r>
                          <a:rPr lang="en-US" i="1" smtClean="0">
                            <a:latin typeface="Cambria Math" panose="02040503050406030204" pitchFamily="18" charset="0"/>
                          </a:rPr>
                          <m:t>𝑋</m:t>
                        </m:r>
                      </m:e>
                    </m:d>
                    <m:sSub>
                      <m:sSubPr>
                        <m:ctrlPr>
                          <a:rPr lang="en-US" i="1" smtClean="0">
                            <a:latin typeface="Cambria Math" panose="02040503050406030204" pitchFamily="18" charset="0"/>
                          </a:rPr>
                        </m:ctrlPr>
                      </m:sSubPr>
                      <m:e>
                        <m:r>
                          <a:rPr lang="en-US" i="1" smtClean="0">
                            <a:latin typeface="Cambria Math" panose="02040503050406030204" pitchFamily="18" charset="0"/>
                          </a:rPr>
                          <m:t>𝑓</m:t>
                        </m:r>
                      </m:e>
                      <m:sub>
                        <m:r>
                          <a:rPr lang="en-US" i="1" smtClean="0">
                            <a:latin typeface="Cambria Math" panose="02040503050406030204" pitchFamily="18" charset="0"/>
                          </a:rPr>
                          <m:t>𝜏</m:t>
                        </m:r>
                      </m:sub>
                    </m:sSub>
                    <m:r>
                      <a:rPr lang="en-US" i="1" smtClean="0">
                        <a:latin typeface="Cambria Math" panose="02040503050406030204" pitchFamily="18" charset="0"/>
                      </a:rPr>
                      <m:t>(0)</m:t>
                    </m:r>
                  </m:oMath>
                </a14:m>
                <a:endParaRPr lang="en-US" dirty="0"/>
              </a:p>
            </p:txBody>
          </p:sp>
        </mc:Choice>
        <mc:Fallback xmlns="">
          <p:sp>
            <p:nvSpPr>
              <p:cNvPr id="4" name="Content Placeholder 2">
                <a:extLst>
                  <a:ext uri="{FF2B5EF4-FFF2-40B4-BE49-F238E27FC236}">
                    <a16:creationId xmlns:a16="http://schemas.microsoft.com/office/drawing/2014/main" id="{A4CBCD6D-CF7D-A812-6D23-9D6236DD2617}"/>
                  </a:ext>
                </a:extLst>
              </p:cNvPr>
              <p:cNvSpPr txBox="1">
                <a:spLocks noRot="1" noChangeAspect="1" noMove="1" noResize="1" noEditPoints="1" noAdjustHandles="1" noChangeArrowheads="1" noChangeShapeType="1" noTextEdit="1"/>
              </p:cNvSpPr>
              <p:nvPr/>
            </p:nvSpPr>
            <p:spPr>
              <a:xfrm>
                <a:off x="838200" y="1825625"/>
                <a:ext cx="10515600" cy="4667250"/>
              </a:xfrm>
              <a:prstGeom prst="rect">
                <a:avLst/>
              </a:prstGeom>
              <a:blipFill>
                <a:blip r:embed="rId3"/>
                <a:stretch>
                  <a:fillRect b="-1897"/>
                </a:stretch>
              </a:blipFill>
              <a:ln>
                <a:noFill/>
              </a:ln>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039" name="Google Shape;1039;p146"/>
          <p:cNvSpPr txBox="1">
            <a:spLocks noGrp="1"/>
          </p:cNvSpPr>
          <p:nvPr>
            <p:ph type="title"/>
          </p:nvPr>
        </p:nvSpPr>
        <p:spPr>
          <a:xfrm>
            <a:off x="690789" y="1125416"/>
            <a:ext cx="10810421" cy="4633946"/>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rgbClr val="F2494C"/>
              </a:buClr>
              <a:buSzPct val="100000"/>
              <a:buFont typeface="Arial"/>
              <a:buNone/>
            </a:pPr>
            <a:r>
              <a:rPr lang="en-US" b="1" dirty="0">
                <a:solidFill>
                  <a:srgbClr val="F2494C"/>
                </a:solidFill>
              </a:rPr>
              <a:t>Key criticism of quantile regression is that statistical power is usually a problem at the tails of the outcome distribution, which is substantively of interest</a:t>
            </a:r>
            <a:endParaRPr dirty="0"/>
          </a:p>
        </p:txBody>
      </p:sp>
      <p:sp>
        <p:nvSpPr>
          <p:cNvPr id="1040" name="Google Shape;1040;p1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138</a:t>
            </a:fld>
            <a:endParaRPr/>
          </a:p>
        </p:txBody>
      </p:sp>
      <p:sp>
        <p:nvSpPr>
          <p:cNvPr id="1041" name="Google Shape;1041;p146"/>
          <p:cNvSpPr/>
          <p:nvPr/>
        </p:nvSpPr>
        <p:spPr>
          <a:xfrm>
            <a:off x="11307535" y="157655"/>
            <a:ext cx="669470" cy="654269"/>
          </a:xfrm>
          <a:prstGeom prst="star5">
            <a:avLst>
              <a:gd name="adj" fmla="val 19098"/>
              <a:gd name="hf" fmla="val 105146"/>
              <a:gd name="vf" fmla="val 110557"/>
            </a:avLst>
          </a:prstGeom>
          <a:solidFill>
            <a:srgbClr val="FF9300"/>
          </a:solidFill>
          <a:ln w="12700" cap="flat" cmpd="sng">
            <a:solidFill>
              <a:srgbClr val="FF93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1061"/>
        <p:cNvGrpSpPr/>
        <p:nvPr/>
      </p:nvGrpSpPr>
      <p:grpSpPr>
        <a:xfrm>
          <a:off x="0" y="0"/>
          <a:ext cx="0" cy="0"/>
          <a:chOff x="0" y="0"/>
          <a:chExt cx="0" cy="0"/>
        </a:xfrm>
      </p:grpSpPr>
      <p:sp>
        <p:nvSpPr>
          <p:cNvPr id="1062" name="Google Shape;1062;p14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Recommended practice for estimating standard errors is bootstrapping</a:t>
            </a:r>
            <a:endParaRPr dirty="0"/>
          </a:p>
        </p:txBody>
      </p:sp>
      <p:sp>
        <p:nvSpPr>
          <p:cNvPr id="1063" name="Google Shape;1063;p147"/>
          <p:cNvSpPr txBox="1">
            <a:spLocks noGrp="1"/>
          </p:cNvSpPr>
          <p:nvPr>
            <p:ph type="body" idx="1"/>
          </p:nvPr>
        </p:nvSpPr>
        <p:spPr>
          <a:xfrm>
            <a:off x="838200" y="1825625"/>
            <a:ext cx="10515600" cy="466725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1000"/>
              </a:spcBef>
              <a:spcAft>
                <a:spcPts val="0"/>
              </a:spcAft>
              <a:buClr>
                <a:schemeClr val="dk1"/>
              </a:buClr>
              <a:buSzPts val="2800"/>
              <a:buChar char="•"/>
            </a:pPr>
            <a:r>
              <a:rPr lang="en-US" dirty="0"/>
              <a:t>In general, bootstrap relies on random resampling with replacement of the observed data and fitting a model in each sample</a:t>
            </a:r>
          </a:p>
          <a:p>
            <a:pPr marL="228600" lvl="0" indent="-228600" algn="l" rtl="0">
              <a:lnSpc>
                <a:spcPct val="90000"/>
              </a:lnSpc>
              <a:spcBef>
                <a:spcPts val="1000"/>
              </a:spcBef>
              <a:spcAft>
                <a:spcPts val="0"/>
              </a:spcAft>
              <a:buClr>
                <a:schemeClr val="dk1"/>
              </a:buClr>
              <a:buSzPts val="2800"/>
              <a:buChar char="•"/>
            </a:pPr>
            <a:endParaRPr lang="en-US" dirty="0"/>
          </a:p>
          <a:p>
            <a:pPr marL="228600" lvl="0" indent="-228600" algn="l" rtl="0">
              <a:lnSpc>
                <a:spcPct val="90000"/>
              </a:lnSpc>
              <a:spcBef>
                <a:spcPts val="1000"/>
              </a:spcBef>
              <a:spcAft>
                <a:spcPts val="0"/>
              </a:spcAft>
              <a:buClr>
                <a:schemeClr val="dk1"/>
              </a:buClr>
              <a:buSzPts val="2800"/>
              <a:buChar char="•"/>
            </a:pPr>
            <a:r>
              <a:rPr lang="en-US" dirty="0"/>
              <a:t>Can be done “by hand”</a:t>
            </a:r>
          </a:p>
          <a:p>
            <a:pPr marL="228600" lvl="0" indent="-228600" algn="l" rtl="0">
              <a:lnSpc>
                <a:spcPct val="90000"/>
              </a:lnSpc>
              <a:spcBef>
                <a:spcPts val="1000"/>
              </a:spcBef>
              <a:spcAft>
                <a:spcPts val="0"/>
              </a:spcAft>
              <a:buClr>
                <a:schemeClr val="dk1"/>
              </a:buClr>
              <a:buSzPts val="2800"/>
              <a:buChar char="•"/>
            </a:pPr>
            <a:endParaRPr lang="en-US" dirty="0"/>
          </a:p>
          <a:p>
            <a:pPr marL="228600" lvl="0" indent="-228600" algn="l" rtl="0">
              <a:lnSpc>
                <a:spcPct val="90000"/>
              </a:lnSpc>
              <a:spcBef>
                <a:spcPts val="1000"/>
              </a:spcBef>
              <a:spcAft>
                <a:spcPts val="0"/>
              </a:spcAft>
              <a:buClr>
                <a:schemeClr val="dk1"/>
              </a:buClr>
              <a:buSzPts val="2800"/>
              <a:buChar char="•"/>
            </a:pPr>
            <a:r>
              <a:rPr lang="en-US" dirty="0"/>
              <a:t>Program packages</a:t>
            </a:r>
            <a:endParaRPr dirty="0"/>
          </a:p>
        </p:txBody>
      </p:sp>
      <p:sp>
        <p:nvSpPr>
          <p:cNvPr id="1064" name="Google Shape;1064;p1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139</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63">
                                            <p:txEl>
                                              <p:pRg st="2" end="2"/>
                                            </p:txEl>
                                          </p:spTgt>
                                        </p:tgtEl>
                                        <p:attrNameLst>
                                          <p:attrName>style.visibility</p:attrName>
                                        </p:attrNameLst>
                                      </p:cBhvr>
                                      <p:to>
                                        <p:strVal val="visible"/>
                                      </p:to>
                                    </p:set>
                                    <p:animEffect transition="in" filter="dissolve">
                                      <p:cBhvr>
                                        <p:cTn id="7" dur="500"/>
                                        <p:tgtEl>
                                          <p:spTgt spid="106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63">
                                            <p:txEl>
                                              <p:pRg st="4" end="4"/>
                                            </p:txEl>
                                          </p:spTgt>
                                        </p:tgtEl>
                                        <p:attrNameLst>
                                          <p:attrName>style.visibility</p:attrName>
                                        </p:attrNameLst>
                                      </p:cBhvr>
                                      <p:to>
                                        <p:strVal val="visible"/>
                                      </p:to>
                                    </p:set>
                                    <p:animEffect transition="in" filter="dissolve">
                                      <p:cBhvr>
                                        <p:cTn id="12" dur="500"/>
                                        <p:tgtEl>
                                          <p:spTgt spid="10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1069">
          <a:extLst>
            <a:ext uri="{FF2B5EF4-FFF2-40B4-BE49-F238E27FC236}">
              <a16:creationId xmlns:a16="http://schemas.microsoft.com/office/drawing/2014/main" id="{C4D3E19B-EC54-7AE1-F206-CAA618640686}"/>
            </a:ext>
          </a:extLst>
        </p:cNvPr>
        <p:cNvGrpSpPr/>
        <p:nvPr/>
      </p:nvGrpSpPr>
      <p:grpSpPr>
        <a:xfrm>
          <a:off x="0" y="0"/>
          <a:ext cx="0" cy="0"/>
          <a:chOff x="0" y="0"/>
          <a:chExt cx="0" cy="0"/>
        </a:xfrm>
      </p:grpSpPr>
      <p:sp>
        <p:nvSpPr>
          <p:cNvPr id="1070" name="Google Shape;1070;p104">
            <a:extLst>
              <a:ext uri="{FF2B5EF4-FFF2-40B4-BE49-F238E27FC236}">
                <a16:creationId xmlns:a16="http://schemas.microsoft.com/office/drawing/2014/main" id="{C4FECEE8-A0EA-442C-B320-7089B6E947FA}"/>
              </a:ext>
            </a:extLst>
          </p:cNvPr>
          <p:cNvSpPr txBox="1">
            <a:spLocks noGrp="1"/>
          </p:cNvSpPr>
          <p:nvPr>
            <p:ph type="title"/>
          </p:nvPr>
        </p:nvSpPr>
        <p:spPr>
          <a:xfrm>
            <a:off x="838200" y="2950185"/>
            <a:ext cx="10515600" cy="957629"/>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9300"/>
              </a:buClr>
              <a:buSzPts val="6000"/>
              <a:buFont typeface="Arial"/>
              <a:buNone/>
            </a:pPr>
            <a:r>
              <a:rPr lang="en-US" b="1" dirty="0">
                <a:solidFill>
                  <a:srgbClr val="FF9300"/>
                </a:solidFill>
              </a:rPr>
              <a:t>Time for R</a:t>
            </a:r>
            <a:endParaRPr dirty="0"/>
          </a:p>
        </p:txBody>
      </p:sp>
      <p:sp>
        <p:nvSpPr>
          <p:cNvPr id="1071" name="Google Shape;1071;p104">
            <a:extLst>
              <a:ext uri="{FF2B5EF4-FFF2-40B4-BE49-F238E27FC236}">
                <a16:creationId xmlns:a16="http://schemas.microsoft.com/office/drawing/2014/main" id="{1A7C63D4-C620-B5EF-00B6-4199EC37B22D}"/>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140</a:t>
            </a:fld>
            <a:endParaRPr/>
          </a:p>
        </p:txBody>
      </p:sp>
    </p:spTree>
    <p:extLst>
      <p:ext uri="{BB962C8B-B14F-4D97-AF65-F5344CB8AC3E}">
        <p14:creationId xmlns:p14="http://schemas.microsoft.com/office/powerpoint/2010/main" val="807064971"/>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2494C"/>
        </a:solidFill>
        <a:effectLst/>
      </p:bgPr>
    </p:bg>
    <p:spTree>
      <p:nvGrpSpPr>
        <p:cNvPr id="1" name="Shape 1089"/>
        <p:cNvGrpSpPr/>
        <p:nvPr/>
      </p:nvGrpSpPr>
      <p:grpSpPr>
        <a:xfrm>
          <a:off x="0" y="0"/>
          <a:ext cx="0" cy="0"/>
          <a:chOff x="0" y="0"/>
          <a:chExt cx="0" cy="0"/>
        </a:xfrm>
      </p:grpSpPr>
      <p:sp>
        <p:nvSpPr>
          <p:cNvPr id="1090" name="Google Shape;1090;p18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Arial"/>
              <a:buNone/>
            </a:pPr>
            <a:r>
              <a:rPr lang="en-US" b="1" dirty="0">
                <a:solidFill>
                  <a:schemeClr val="lt1"/>
                </a:solidFill>
              </a:rPr>
              <a:t>Visualizations</a:t>
            </a:r>
            <a:endParaRPr b="1" i="1" dirty="0">
              <a:solidFill>
                <a:schemeClr val="lt1"/>
              </a:solidFill>
            </a:endParaRPr>
          </a:p>
        </p:txBody>
      </p:sp>
      <p:sp>
        <p:nvSpPr>
          <p:cNvPr id="1091" name="Google Shape;1091;p18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400"/>
              <a:buNone/>
            </a:pPr>
            <a:endParaRPr/>
          </a:p>
        </p:txBody>
      </p:sp>
      <p:sp>
        <p:nvSpPr>
          <p:cNvPr id="1092" name="Google Shape;1092;p18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88888"/>
              </a:buClr>
              <a:buSzPts val="1200"/>
              <a:buFont typeface="Arial"/>
              <a:buNone/>
            </a:pPr>
            <a:fld id="{00000000-1234-1234-1234-123412341234}" type="slidenum">
              <a:rPr lang="en-US" sz="1200" b="0" i="0" u="none" strike="noStrike" cap="none">
                <a:solidFill>
                  <a:srgbClr val="888888"/>
                </a:solidFill>
                <a:latin typeface="Arial"/>
                <a:ea typeface="Arial"/>
                <a:cs typeface="Arial"/>
                <a:sym typeface="Arial"/>
              </a:rPr>
              <a:t>141</a:t>
            </a:fld>
            <a:endParaRPr sz="1200" b="0" i="0" u="none" strike="noStrike" cap="none">
              <a:solidFill>
                <a:srgbClr val="888888"/>
              </a:solidFill>
              <a:latin typeface="Arial"/>
              <a:ea typeface="Arial"/>
              <a:cs typeface="Arial"/>
              <a:sym typeface="Arial"/>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1105"/>
        <p:cNvGrpSpPr/>
        <p:nvPr/>
      </p:nvGrpSpPr>
      <p:grpSpPr>
        <a:xfrm>
          <a:off x="0" y="0"/>
          <a:ext cx="0" cy="0"/>
          <a:chOff x="0" y="0"/>
          <a:chExt cx="0" cy="0"/>
        </a:xfrm>
      </p:grpSpPr>
      <p:sp>
        <p:nvSpPr>
          <p:cNvPr id="1108" name="Google Shape;1108;g2c2858bf369_0_3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142</a:t>
            </a:fld>
            <a:endParaRPr/>
          </a:p>
        </p:txBody>
      </p:sp>
      <p:sp>
        <p:nvSpPr>
          <p:cNvPr id="5" name="Google Shape;721;p165">
            <a:extLst>
              <a:ext uri="{FF2B5EF4-FFF2-40B4-BE49-F238E27FC236}">
                <a16:creationId xmlns:a16="http://schemas.microsoft.com/office/drawing/2014/main" id="{D570653A-2F1F-D1C0-A414-AA224FB197CD}"/>
              </a:ext>
            </a:extLst>
          </p:cNvPr>
          <p:cNvSpPr txBox="1">
            <a:spLocks noGrp="1"/>
          </p:cNvSpPr>
          <p:nvPr>
            <p:ph type="title"/>
          </p:nvPr>
        </p:nvSpPr>
        <p:spPr>
          <a:xfrm>
            <a:off x="838200"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CQR results plot</a:t>
            </a:r>
            <a:endParaRPr dirty="0"/>
          </a:p>
        </p:txBody>
      </p:sp>
      <p:pic>
        <p:nvPicPr>
          <p:cNvPr id="2" name="Picture 1">
            <a:extLst>
              <a:ext uri="{FF2B5EF4-FFF2-40B4-BE49-F238E27FC236}">
                <a16:creationId xmlns:a16="http://schemas.microsoft.com/office/drawing/2014/main" id="{E65583AA-D277-D810-0E4B-338B953AF27A}"/>
              </a:ext>
            </a:extLst>
          </p:cNvPr>
          <p:cNvPicPr>
            <a:picLocks noChangeAspect="1"/>
          </p:cNvPicPr>
          <p:nvPr/>
        </p:nvPicPr>
        <p:blipFill>
          <a:blip r:embed="rId3"/>
          <a:stretch>
            <a:fillRect/>
          </a:stretch>
        </p:blipFill>
        <p:spPr>
          <a:xfrm>
            <a:off x="1484423" y="1012874"/>
            <a:ext cx="9223153" cy="5845126"/>
          </a:xfrm>
          <a:prstGeom prst="rect">
            <a:avLst/>
          </a:prstGeom>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1105">
          <a:extLst>
            <a:ext uri="{FF2B5EF4-FFF2-40B4-BE49-F238E27FC236}">
              <a16:creationId xmlns:a16="http://schemas.microsoft.com/office/drawing/2014/main" id="{8B3D62B1-E2A4-86D2-EBF6-09FD1895D6A4}"/>
            </a:ext>
          </a:extLst>
        </p:cNvPr>
        <p:cNvGrpSpPr/>
        <p:nvPr/>
      </p:nvGrpSpPr>
      <p:grpSpPr>
        <a:xfrm>
          <a:off x="0" y="0"/>
          <a:ext cx="0" cy="0"/>
          <a:chOff x="0" y="0"/>
          <a:chExt cx="0" cy="0"/>
        </a:xfrm>
      </p:grpSpPr>
      <p:sp>
        <p:nvSpPr>
          <p:cNvPr id="1108" name="Google Shape;1108;g2c2858bf369_0_30">
            <a:extLst>
              <a:ext uri="{FF2B5EF4-FFF2-40B4-BE49-F238E27FC236}">
                <a16:creationId xmlns:a16="http://schemas.microsoft.com/office/drawing/2014/main" id="{AEF58D7B-F202-EE79-11B5-60DE17EF89A8}"/>
              </a:ext>
            </a:extLst>
          </p:cNvPr>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143</a:t>
            </a:fld>
            <a:endParaRPr/>
          </a:p>
        </p:txBody>
      </p:sp>
      <p:sp>
        <p:nvSpPr>
          <p:cNvPr id="5" name="Google Shape;721;p165">
            <a:extLst>
              <a:ext uri="{FF2B5EF4-FFF2-40B4-BE49-F238E27FC236}">
                <a16:creationId xmlns:a16="http://schemas.microsoft.com/office/drawing/2014/main" id="{9DD10FFB-B57A-A674-8441-90695B04A888}"/>
              </a:ext>
            </a:extLst>
          </p:cNvPr>
          <p:cNvSpPr txBox="1">
            <a:spLocks noGrp="1"/>
          </p:cNvSpPr>
          <p:nvPr>
            <p:ph type="title"/>
          </p:nvPr>
        </p:nvSpPr>
        <p:spPr>
          <a:xfrm>
            <a:off x="838200"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UQR results plot</a:t>
            </a:r>
            <a:endParaRPr dirty="0"/>
          </a:p>
        </p:txBody>
      </p:sp>
      <p:pic>
        <p:nvPicPr>
          <p:cNvPr id="3" name="Picture 2">
            <a:extLst>
              <a:ext uri="{FF2B5EF4-FFF2-40B4-BE49-F238E27FC236}">
                <a16:creationId xmlns:a16="http://schemas.microsoft.com/office/drawing/2014/main" id="{899F91CE-CE32-8D51-C620-826437E467CE}"/>
              </a:ext>
            </a:extLst>
          </p:cNvPr>
          <p:cNvPicPr>
            <a:picLocks noChangeAspect="1"/>
          </p:cNvPicPr>
          <p:nvPr/>
        </p:nvPicPr>
        <p:blipFill>
          <a:blip r:embed="rId3"/>
          <a:stretch>
            <a:fillRect/>
          </a:stretch>
        </p:blipFill>
        <p:spPr>
          <a:xfrm>
            <a:off x="1482852" y="1010883"/>
            <a:ext cx="9226296" cy="5847117"/>
          </a:xfrm>
          <a:prstGeom prst="rect">
            <a:avLst/>
          </a:prstGeom>
        </p:spPr>
      </p:pic>
    </p:spTree>
    <p:extLst>
      <p:ext uri="{BB962C8B-B14F-4D97-AF65-F5344CB8AC3E}">
        <p14:creationId xmlns:p14="http://schemas.microsoft.com/office/powerpoint/2010/main" val="13673434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1173"/>
        <p:cNvGrpSpPr/>
        <p:nvPr/>
      </p:nvGrpSpPr>
      <p:grpSpPr>
        <a:xfrm>
          <a:off x="0" y="0"/>
          <a:ext cx="0" cy="0"/>
          <a:chOff x="0" y="0"/>
          <a:chExt cx="0" cy="0"/>
        </a:xfrm>
      </p:grpSpPr>
      <p:sp>
        <p:nvSpPr>
          <p:cNvPr id="1174" name="Google Shape;1174;g2c03590cb7c_0_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b="1" dirty="0">
                <a:solidFill>
                  <a:srgbClr val="468C8A"/>
                </a:solidFill>
              </a:rPr>
              <a:t>UQR counterfactual plot </a:t>
            </a:r>
            <a:endParaRPr b="1" dirty="0">
              <a:solidFill>
                <a:srgbClr val="468C8A"/>
              </a:solidFill>
            </a:endParaRPr>
          </a:p>
        </p:txBody>
      </p:sp>
      <p:sp>
        <p:nvSpPr>
          <p:cNvPr id="1176" name="Google Shape;1176;g2c03590cb7c_0_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144</a:t>
            </a:fld>
            <a:endParaRPr/>
          </a:p>
        </p:txBody>
      </p:sp>
      <p:pic>
        <p:nvPicPr>
          <p:cNvPr id="3" name="Picture 2" descr="A graph of a normal distribution&#10;&#10;Description automatically generated">
            <a:extLst>
              <a:ext uri="{FF2B5EF4-FFF2-40B4-BE49-F238E27FC236}">
                <a16:creationId xmlns:a16="http://schemas.microsoft.com/office/drawing/2014/main" id="{BAF4AD38-89E9-1AE4-9941-9741BD0B44E9}"/>
              </a:ext>
            </a:extLst>
          </p:cNvPr>
          <p:cNvPicPr>
            <a:picLocks noChangeAspect="1"/>
          </p:cNvPicPr>
          <p:nvPr/>
        </p:nvPicPr>
        <p:blipFill>
          <a:blip r:embed="rId3"/>
          <a:stretch>
            <a:fillRect/>
          </a:stretch>
        </p:blipFill>
        <p:spPr>
          <a:xfrm>
            <a:off x="1596440" y="1586151"/>
            <a:ext cx="8999120" cy="5135299"/>
          </a:xfrm>
          <a:prstGeom prst="rect">
            <a:avLst/>
          </a:prstGeom>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1069"/>
        <p:cNvGrpSpPr/>
        <p:nvPr/>
      </p:nvGrpSpPr>
      <p:grpSpPr>
        <a:xfrm>
          <a:off x="0" y="0"/>
          <a:ext cx="0" cy="0"/>
          <a:chOff x="0" y="0"/>
          <a:chExt cx="0" cy="0"/>
        </a:xfrm>
      </p:grpSpPr>
      <p:sp>
        <p:nvSpPr>
          <p:cNvPr id="1070" name="Google Shape;1070;p104"/>
          <p:cNvSpPr txBox="1">
            <a:spLocks noGrp="1"/>
          </p:cNvSpPr>
          <p:nvPr>
            <p:ph type="title"/>
          </p:nvPr>
        </p:nvSpPr>
        <p:spPr>
          <a:xfrm>
            <a:off x="838200" y="2950185"/>
            <a:ext cx="10515600" cy="957629"/>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9300"/>
              </a:buClr>
              <a:buSzPts val="6000"/>
              <a:buFont typeface="Arial"/>
              <a:buNone/>
            </a:pPr>
            <a:r>
              <a:rPr lang="en-US" b="1" dirty="0">
                <a:solidFill>
                  <a:srgbClr val="FF9300"/>
                </a:solidFill>
              </a:rPr>
              <a:t>Time for R</a:t>
            </a:r>
            <a:endParaRPr dirty="0"/>
          </a:p>
        </p:txBody>
      </p:sp>
      <p:sp>
        <p:nvSpPr>
          <p:cNvPr id="1071" name="Google Shape;1071;p10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145</a:t>
            </a:fld>
            <a:endParaRPr/>
          </a:p>
        </p:txBody>
      </p:sp>
    </p:spTree>
    <p:extLst>
      <p:ext uri="{BB962C8B-B14F-4D97-AF65-F5344CB8AC3E}">
        <p14:creationId xmlns:p14="http://schemas.microsoft.com/office/powerpoint/2010/main" val="243719737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2494C"/>
        </a:solidFill>
        <a:effectLst/>
      </p:bgPr>
    </p:bg>
    <p:spTree>
      <p:nvGrpSpPr>
        <p:cNvPr id="1" name="Shape 1230"/>
        <p:cNvGrpSpPr/>
        <p:nvPr/>
      </p:nvGrpSpPr>
      <p:grpSpPr>
        <a:xfrm>
          <a:off x="0" y="0"/>
          <a:ext cx="0" cy="0"/>
          <a:chOff x="0" y="0"/>
          <a:chExt cx="0" cy="0"/>
        </a:xfrm>
      </p:grpSpPr>
      <p:sp>
        <p:nvSpPr>
          <p:cNvPr id="1231" name="Google Shape;1231;p20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5400"/>
              <a:buFont typeface="Arial"/>
              <a:buNone/>
            </a:pPr>
            <a:r>
              <a:rPr lang="en-US" sz="5400" b="1" dirty="0">
                <a:solidFill>
                  <a:schemeClr val="lt1"/>
                </a:solidFill>
              </a:rPr>
              <a:t>Extensions</a:t>
            </a:r>
            <a:endParaRPr dirty="0"/>
          </a:p>
        </p:txBody>
      </p:sp>
      <p:sp>
        <p:nvSpPr>
          <p:cNvPr id="1232" name="Google Shape;1232;p20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endParaRPr>
              <a:solidFill>
                <a:schemeClr val="lt1"/>
              </a:solidFill>
            </a:endParaRPr>
          </a:p>
        </p:txBody>
      </p:sp>
      <p:sp>
        <p:nvSpPr>
          <p:cNvPr id="1233" name="Google Shape;1233;p20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146</a:t>
            </a:fld>
            <a:endParaRPr/>
          </a:p>
        </p:txBody>
      </p:sp>
    </p:spTree>
    <p:extLst>
      <p:ext uri="{BB962C8B-B14F-4D97-AF65-F5344CB8AC3E}">
        <p14:creationId xmlns:p14="http://schemas.microsoft.com/office/powerpoint/2010/main" val="44332895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FB472-7649-D9E9-C0B4-1BBFFB06D1AF}"/>
              </a:ext>
            </a:extLst>
          </p:cNvPr>
          <p:cNvSpPr>
            <a:spLocks noGrp="1"/>
          </p:cNvSpPr>
          <p:nvPr>
            <p:ph type="title"/>
          </p:nvPr>
        </p:nvSpPr>
        <p:spPr/>
        <p:txBody>
          <a:bodyPr/>
          <a:lstStyle/>
          <a:p>
            <a:r>
              <a:rPr lang="en-US" b="1" dirty="0">
                <a:solidFill>
                  <a:srgbClr val="468C8A"/>
                </a:solidFill>
              </a:rPr>
              <a:t>Quantile crossing</a:t>
            </a:r>
            <a:endParaRPr lang="en-US" dirty="0"/>
          </a:p>
        </p:txBody>
      </p:sp>
      <p:sp>
        <p:nvSpPr>
          <p:cNvPr id="3" name="Text Placeholder 2">
            <a:extLst>
              <a:ext uri="{FF2B5EF4-FFF2-40B4-BE49-F238E27FC236}">
                <a16:creationId xmlns:a16="http://schemas.microsoft.com/office/drawing/2014/main" id="{9C950C50-3FD9-ED5A-FEBC-AEE213D066DE}"/>
              </a:ext>
            </a:extLst>
          </p:cNvPr>
          <p:cNvSpPr>
            <a:spLocks noGrp="1"/>
          </p:cNvSpPr>
          <p:nvPr>
            <p:ph type="body" idx="1"/>
          </p:nvPr>
        </p:nvSpPr>
        <p:spPr/>
        <p:txBody>
          <a:bodyPr/>
          <a:lstStyle/>
          <a:p>
            <a:pPr marL="228600" lvl="0" indent="-228600" algn="l" rtl="0">
              <a:lnSpc>
                <a:spcPct val="90000"/>
              </a:lnSpc>
              <a:spcBef>
                <a:spcPts val="0"/>
              </a:spcBef>
              <a:spcAft>
                <a:spcPts val="0"/>
              </a:spcAft>
              <a:buClr>
                <a:schemeClr val="dk1"/>
              </a:buClr>
              <a:buSzPts val="2800"/>
              <a:buChar char="•"/>
            </a:pPr>
            <a:r>
              <a:rPr lang="en-US" dirty="0"/>
              <a:t>Important practical problem with conditional quantile regression estimates</a:t>
            </a:r>
          </a:p>
          <a:p>
            <a:pPr marL="685800" lvl="1" indent="-228600">
              <a:spcBef>
                <a:spcPts val="0"/>
              </a:spcBef>
              <a:buSzPts val="2800"/>
            </a:pPr>
            <a:r>
              <a:rPr lang="en-US" dirty="0"/>
              <a:t>Predicted quantiles can sometimes “cross”, e.g., predicted 75</a:t>
            </a:r>
            <a:r>
              <a:rPr lang="en-US" baseline="30000" dirty="0"/>
              <a:t>th</a:t>
            </a:r>
            <a:r>
              <a:rPr lang="en-US" dirty="0"/>
              <a:t> quantile &gt; predicted 80</a:t>
            </a:r>
            <a:r>
              <a:rPr lang="en-US" baseline="30000" dirty="0"/>
              <a:t>th</a:t>
            </a:r>
            <a:r>
              <a:rPr lang="en-US" dirty="0"/>
              <a:t> quantile</a:t>
            </a:r>
          </a:p>
          <a:p>
            <a:pPr marL="228600" lvl="0" indent="-228600" algn="l" rtl="0">
              <a:lnSpc>
                <a:spcPct val="90000"/>
              </a:lnSpc>
              <a:spcBef>
                <a:spcPts val="0"/>
              </a:spcBef>
              <a:spcAft>
                <a:spcPts val="0"/>
              </a:spcAft>
              <a:buClr>
                <a:schemeClr val="dk1"/>
              </a:buClr>
              <a:buSzPts val="2800"/>
              <a:buChar char="•"/>
            </a:pPr>
            <a:endParaRPr lang="en-US" dirty="0"/>
          </a:p>
          <a:p>
            <a:pPr marL="228600" lvl="0" indent="-228600" algn="l" rtl="0">
              <a:lnSpc>
                <a:spcPct val="90000"/>
              </a:lnSpc>
              <a:spcBef>
                <a:spcPts val="0"/>
              </a:spcBef>
              <a:spcAft>
                <a:spcPts val="0"/>
              </a:spcAft>
              <a:buClr>
                <a:schemeClr val="dk1"/>
              </a:buClr>
              <a:buSzPts val="2800"/>
              <a:buChar char="•"/>
            </a:pPr>
            <a:r>
              <a:rPr lang="en-US" dirty="0"/>
              <a:t>Several approaches have been developed to address this</a:t>
            </a:r>
          </a:p>
          <a:p>
            <a:pPr marL="685800" lvl="1" indent="-228600">
              <a:spcBef>
                <a:spcPts val="0"/>
              </a:spcBef>
              <a:buSzPts val="2800"/>
            </a:pPr>
            <a:r>
              <a:rPr lang="en-US" dirty="0"/>
              <a:t>E.g., constructing a “continuous check function” (Saleh et. al., 2023)</a:t>
            </a:r>
          </a:p>
          <a:p>
            <a:pPr marL="228600" lvl="0" indent="-228600" algn="l" rtl="0">
              <a:lnSpc>
                <a:spcPct val="90000"/>
              </a:lnSpc>
              <a:spcBef>
                <a:spcPts val="0"/>
              </a:spcBef>
              <a:spcAft>
                <a:spcPts val="0"/>
              </a:spcAft>
              <a:buClr>
                <a:schemeClr val="dk1"/>
              </a:buClr>
              <a:buSzPts val="2800"/>
              <a:buChar char="•"/>
            </a:pPr>
            <a:endParaRPr lang="en-US" dirty="0"/>
          </a:p>
          <a:p>
            <a:pPr marL="228600" lvl="0" indent="-228600" algn="l" rtl="0">
              <a:lnSpc>
                <a:spcPct val="90000"/>
              </a:lnSpc>
              <a:spcBef>
                <a:spcPts val="0"/>
              </a:spcBef>
              <a:spcAft>
                <a:spcPts val="0"/>
              </a:spcAft>
              <a:buClr>
                <a:schemeClr val="dk1"/>
              </a:buClr>
              <a:buSzPts val="2800"/>
              <a:buChar char="•"/>
            </a:pPr>
            <a:r>
              <a:rPr lang="en-US" dirty="0"/>
              <a:t>Consider checking for quantile crossing if you’re interested in predicting quantile values</a:t>
            </a:r>
          </a:p>
          <a:p>
            <a:pPr marL="0" lvl="0" indent="0" algn="l" rtl="0">
              <a:lnSpc>
                <a:spcPct val="90000"/>
              </a:lnSpc>
              <a:spcBef>
                <a:spcPts val="0"/>
              </a:spcBef>
              <a:spcAft>
                <a:spcPts val="0"/>
              </a:spcAft>
              <a:buClr>
                <a:schemeClr val="dk1"/>
              </a:buClr>
              <a:buSzPts val="2800"/>
              <a:buNone/>
            </a:pPr>
            <a:endParaRPr lang="en-US" dirty="0"/>
          </a:p>
          <a:p>
            <a:pPr marL="685800" lvl="1" indent="-228600">
              <a:spcBef>
                <a:spcPts val="0"/>
              </a:spcBef>
              <a:buSzPts val="2800"/>
            </a:pPr>
            <a:endParaRPr lang="en-US" dirty="0"/>
          </a:p>
          <a:p>
            <a:pPr marL="114300" indent="0">
              <a:buNone/>
            </a:pPr>
            <a:endParaRPr lang="en-US" dirty="0"/>
          </a:p>
        </p:txBody>
      </p:sp>
      <p:sp>
        <p:nvSpPr>
          <p:cNvPr id="4" name="Slide Number Placeholder 3">
            <a:extLst>
              <a:ext uri="{FF2B5EF4-FFF2-40B4-BE49-F238E27FC236}">
                <a16:creationId xmlns:a16="http://schemas.microsoft.com/office/drawing/2014/main" id="{19F0679E-DB81-5F8A-96A1-E16697872D0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147</a:t>
            </a:fld>
            <a:endParaRPr lang="en-US"/>
          </a:p>
        </p:txBody>
      </p:sp>
    </p:spTree>
    <p:extLst>
      <p:ext uri="{BB962C8B-B14F-4D97-AF65-F5344CB8AC3E}">
        <p14:creationId xmlns:p14="http://schemas.microsoft.com/office/powerpoint/2010/main" val="331768496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Shape 1150"/>
        <p:cNvGrpSpPr/>
        <p:nvPr/>
      </p:nvGrpSpPr>
      <p:grpSpPr>
        <a:xfrm>
          <a:off x="0" y="0"/>
          <a:ext cx="0" cy="0"/>
          <a:chOff x="0" y="0"/>
          <a:chExt cx="0" cy="0"/>
        </a:xfrm>
      </p:grpSpPr>
      <p:sp>
        <p:nvSpPr>
          <p:cNvPr id="1151" name="Google Shape;1151;p19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Longitudinal Data</a:t>
            </a:r>
            <a:endParaRPr dirty="0"/>
          </a:p>
        </p:txBody>
      </p:sp>
      <p:sp>
        <p:nvSpPr>
          <p:cNvPr id="1152" name="Google Shape;1152;p19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Linear quantile mixed models</a:t>
            </a:r>
          </a:p>
          <a:p>
            <a:pPr marL="685800" lvl="1" indent="-228600">
              <a:spcBef>
                <a:spcPts val="0"/>
              </a:spcBef>
              <a:buSzPts val="2800"/>
            </a:pPr>
            <a:r>
              <a:rPr lang="en-US" dirty="0"/>
              <a:t>Geraci and </a:t>
            </a:r>
            <a:r>
              <a:rPr lang="en-US" dirty="0" err="1"/>
              <a:t>Bottai</a:t>
            </a:r>
            <a:r>
              <a:rPr lang="en-US" dirty="0"/>
              <a:t> (2007); Geraci (2014)</a:t>
            </a:r>
          </a:p>
          <a:p>
            <a:pPr marL="685800" lvl="1" indent="-228600">
              <a:spcBef>
                <a:spcPts val="0"/>
              </a:spcBef>
              <a:buSzPts val="2800"/>
            </a:pPr>
            <a:r>
              <a:rPr lang="en-US" dirty="0"/>
              <a:t>Allows random intercepts and random slopes</a:t>
            </a:r>
          </a:p>
          <a:p>
            <a:pPr marL="685800" lvl="1" indent="-228600">
              <a:spcBef>
                <a:spcPts val="0"/>
              </a:spcBef>
              <a:buSzPts val="2800"/>
            </a:pPr>
            <a:r>
              <a:rPr lang="en-US" dirty="0"/>
              <a:t>Maximum-likelihood based estimation strategy</a:t>
            </a:r>
          </a:p>
          <a:p>
            <a:pPr marL="685800" lvl="1" indent="-228600">
              <a:spcBef>
                <a:spcPts val="0"/>
              </a:spcBef>
              <a:buSzPts val="2800"/>
            </a:pPr>
            <a:r>
              <a:rPr lang="en-US" dirty="0"/>
              <a:t>R package: </a:t>
            </a:r>
            <a:r>
              <a:rPr lang="en-US" dirty="0" err="1"/>
              <a:t>lqmm</a:t>
            </a:r>
            <a:endParaRPr lang="en-US" dirty="0"/>
          </a:p>
          <a:p>
            <a:pPr marL="228600" lvl="0" indent="-228600" algn="l" rtl="0">
              <a:lnSpc>
                <a:spcPct val="90000"/>
              </a:lnSpc>
              <a:spcBef>
                <a:spcPts val="0"/>
              </a:spcBef>
              <a:spcAft>
                <a:spcPts val="0"/>
              </a:spcAft>
              <a:buClr>
                <a:schemeClr val="dk1"/>
              </a:buClr>
              <a:buSzPts val="2800"/>
              <a:buChar char="•"/>
            </a:pPr>
            <a:endParaRPr lang="en-US" dirty="0"/>
          </a:p>
          <a:p>
            <a:pPr marL="228600" lvl="0" indent="-228600" algn="l" rtl="0">
              <a:lnSpc>
                <a:spcPct val="90000"/>
              </a:lnSpc>
              <a:spcBef>
                <a:spcPts val="0"/>
              </a:spcBef>
              <a:spcAft>
                <a:spcPts val="0"/>
              </a:spcAft>
              <a:buClr>
                <a:schemeClr val="dk1"/>
              </a:buClr>
              <a:buSzPts val="2800"/>
              <a:buChar char="•"/>
            </a:pPr>
            <a:r>
              <a:rPr lang="en-US" dirty="0"/>
              <a:t>Quantile regressions with fixed effects</a:t>
            </a:r>
          </a:p>
          <a:p>
            <a:pPr marL="685800" lvl="1" indent="-228600">
              <a:spcBef>
                <a:spcPts val="0"/>
              </a:spcBef>
              <a:buSzPts val="2800"/>
            </a:pPr>
            <a:r>
              <a:rPr lang="en-US" dirty="0">
                <a:sym typeface="Wingdings" panose="05000000000000000000" pitchFamily="2" charset="2"/>
              </a:rPr>
              <a:t>Machado and Santos Silva (2019), “quantile via moments”</a:t>
            </a:r>
          </a:p>
          <a:p>
            <a:pPr marL="685800" lvl="1" indent="-228600">
              <a:spcBef>
                <a:spcPts val="0"/>
              </a:spcBef>
              <a:buSzPts val="2800"/>
            </a:pPr>
            <a:r>
              <a:rPr lang="en-US" dirty="0">
                <a:sym typeface="Wingdings" panose="05000000000000000000" pitchFamily="2" charset="2"/>
              </a:rPr>
              <a:t>Estimated using two fixed effects regressions</a:t>
            </a:r>
          </a:p>
          <a:p>
            <a:pPr marL="685800" lvl="1" indent="-228600">
              <a:spcBef>
                <a:spcPts val="0"/>
              </a:spcBef>
              <a:buSzPts val="2800"/>
            </a:pPr>
            <a:r>
              <a:rPr lang="en-US" dirty="0">
                <a:sym typeface="Wingdings" panose="05000000000000000000" pitchFamily="2" charset="2"/>
              </a:rPr>
              <a:t>Stata package: </a:t>
            </a:r>
            <a:r>
              <a:rPr lang="en-US" dirty="0" err="1">
                <a:sym typeface="Wingdings" panose="05000000000000000000" pitchFamily="2" charset="2"/>
              </a:rPr>
              <a:t>xtqreg</a:t>
            </a:r>
            <a:endParaRPr dirty="0"/>
          </a:p>
        </p:txBody>
      </p:sp>
      <p:sp>
        <p:nvSpPr>
          <p:cNvPr id="1153" name="Google Shape;1153;p19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148</a:t>
            </a:fld>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2494C"/>
        </a:solidFill>
        <a:effectLst/>
      </p:bgPr>
    </p:bg>
    <p:spTree>
      <p:nvGrpSpPr>
        <p:cNvPr id="1" name="Shape 1230"/>
        <p:cNvGrpSpPr/>
        <p:nvPr/>
      </p:nvGrpSpPr>
      <p:grpSpPr>
        <a:xfrm>
          <a:off x="0" y="0"/>
          <a:ext cx="0" cy="0"/>
          <a:chOff x="0" y="0"/>
          <a:chExt cx="0" cy="0"/>
        </a:xfrm>
      </p:grpSpPr>
      <p:sp>
        <p:nvSpPr>
          <p:cNvPr id="1231" name="Google Shape;1231;p20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5400"/>
              <a:buFont typeface="Arial"/>
              <a:buNone/>
            </a:pPr>
            <a:r>
              <a:rPr lang="en-US" sz="5400" b="1">
                <a:solidFill>
                  <a:schemeClr val="lt1"/>
                </a:solidFill>
              </a:rPr>
              <a:t>Conclusion</a:t>
            </a:r>
            <a:endParaRPr/>
          </a:p>
        </p:txBody>
      </p:sp>
      <p:sp>
        <p:nvSpPr>
          <p:cNvPr id="1232" name="Google Shape;1232;p20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endParaRPr>
              <a:solidFill>
                <a:schemeClr val="lt1"/>
              </a:solidFill>
            </a:endParaRPr>
          </a:p>
        </p:txBody>
      </p:sp>
      <p:sp>
        <p:nvSpPr>
          <p:cNvPr id="1233" name="Google Shape;1233;p20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149</a:t>
            </a:fld>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Shape 1143"/>
        <p:cNvGrpSpPr/>
        <p:nvPr/>
      </p:nvGrpSpPr>
      <p:grpSpPr>
        <a:xfrm>
          <a:off x="0" y="0"/>
          <a:ext cx="0" cy="0"/>
          <a:chOff x="0" y="0"/>
          <a:chExt cx="0" cy="0"/>
        </a:xfrm>
      </p:grpSpPr>
      <p:sp>
        <p:nvSpPr>
          <p:cNvPr id="1144" name="Google Shape;1144;p196"/>
          <p:cNvSpPr txBox="1">
            <a:spLocks noGrp="1"/>
          </p:cNvSpPr>
          <p:nvPr>
            <p:ph type="title"/>
          </p:nvPr>
        </p:nvSpPr>
        <p:spPr>
          <a:xfrm>
            <a:off x="838200" y="1464778"/>
            <a:ext cx="10515600" cy="3928443"/>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rgbClr val="F2494C"/>
              </a:buClr>
              <a:buSzPct val="100000"/>
              <a:buFont typeface="Arial"/>
              <a:buNone/>
            </a:pPr>
            <a:r>
              <a:rPr lang="en-US" b="1" dirty="0">
                <a:solidFill>
                  <a:srgbClr val="F2494C"/>
                </a:solidFill>
              </a:rPr>
              <a:t>CQR and UQR estimates may be different, but even when they are similar, remember that they are estimating quite different </a:t>
            </a:r>
            <a:r>
              <a:rPr lang="en-US" b="1" dirty="0" err="1">
                <a:solidFill>
                  <a:srgbClr val="F2494C"/>
                </a:solidFill>
              </a:rPr>
              <a:t>estimands</a:t>
            </a:r>
            <a:endParaRPr b="1" dirty="0">
              <a:solidFill>
                <a:srgbClr val="F2494C"/>
              </a:solidFill>
            </a:endParaRPr>
          </a:p>
        </p:txBody>
      </p:sp>
      <p:sp>
        <p:nvSpPr>
          <p:cNvPr id="1145" name="Google Shape;1145;p19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150</a:t>
            </a:fld>
            <a:endParaRPr/>
          </a:p>
        </p:txBody>
      </p:sp>
      <p:sp>
        <p:nvSpPr>
          <p:cNvPr id="1146" name="Google Shape;1146;p196"/>
          <p:cNvSpPr/>
          <p:nvPr/>
        </p:nvSpPr>
        <p:spPr>
          <a:xfrm>
            <a:off x="11307535" y="157655"/>
            <a:ext cx="669470" cy="654269"/>
          </a:xfrm>
          <a:prstGeom prst="star5">
            <a:avLst>
              <a:gd name="adj" fmla="val 19098"/>
              <a:gd name="hf" fmla="val 105146"/>
              <a:gd name="vf" fmla="val 110557"/>
            </a:avLst>
          </a:prstGeom>
          <a:solidFill>
            <a:srgbClr val="FF9300"/>
          </a:solidFill>
          <a:ln w="12700" cap="flat" cmpd="sng">
            <a:solidFill>
              <a:srgbClr val="FF93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Shape 1150"/>
        <p:cNvGrpSpPr/>
        <p:nvPr/>
      </p:nvGrpSpPr>
      <p:grpSpPr>
        <a:xfrm>
          <a:off x="0" y="0"/>
          <a:ext cx="0" cy="0"/>
          <a:chOff x="0" y="0"/>
          <a:chExt cx="0" cy="0"/>
        </a:xfrm>
      </p:grpSpPr>
      <p:sp>
        <p:nvSpPr>
          <p:cNvPr id="1151" name="Google Shape;1151;p19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Choosing between CQR and UQR</a:t>
            </a:r>
            <a:endParaRPr/>
          </a:p>
        </p:txBody>
      </p:sp>
      <p:sp>
        <p:nvSpPr>
          <p:cNvPr id="1152" name="Google Shape;1152;p19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What are the aims of your study?</a:t>
            </a:r>
            <a:endParaRPr dirty="0"/>
          </a:p>
          <a:p>
            <a:pPr marL="685800" lvl="1" indent="-228600" algn="l" rtl="0">
              <a:lnSpc>
                <a:spcPct val="90000"/>
              </a:lnSpc>
              <a:spcBef>
                <a:spcPts val="500"/>
              </a:spcBef>
              <a:spcAft>
                <a:spcPts val="0"/>
              </a:spcAft>
              <a:buClr>
                <a:schemeClr val="dk1"/>
              </a:buClr>
              <a:buSzPts val="2400"/>
              <a:buChar char="•"/>
            </a:pPr>
            <a:r>
              <a:rPr lang="en-US" dirty="0"/>
              <a:t>Are you interested in evaluating the how the outcome distribution changes among study participants with different values of the exposure but the same covariate values? If so, </a:t>
            </a:r>
            <a:r>
              <a:rPr lang="en-US" dirty="0">
                <a:solidFill>
                  <a:srgbClr val="FF9300"/>
                </a:solidFill>
              </a:rPr>
              <a:t>conditional quantiles</a:t>
            </a:r>
            <a:r>
              <a:rPr lang="en-US" dirty="0"/>
              <a:t> may be of interest</a:t>
            </a:r>
            <a:endParaRPr dirty="0"/>
          </a:p>
          <a:p>
            <a:pPr marL="685800" lvl="1" indent="-228600" algn="l" rtl="0">
              <a:lnSpc>
                <a:spcPct val="90000"/>
              </a:lnSpc>
              <a:spcBef>
                <a:spcPts val="500"/>
              </a:spcBef>
              <a:spcAft>
                <a:spcPts val="0"/>
              </a:spcAft>
              <a:buClr>
                <a:schemeClr val="dk1"/>
              </a:buClr>
              <a:buSzPts val="2400"/>
              <a:buChar char="•"/>
            </a:pPr>
            <a:endParaRPr lang="en-US" dirty="0"/>
          </a:p>
          <a:p>
            <a:pPr marL="685800" lvl="1" indent="-228600" algn="l" rtl="0">
              <a:lnSpc>
                <a:spcPct val="90000"/>
              </a:lnSpc>
              <a:spcBef>
                <a:spcPts val="500"/>
              </a:spcBef>
              <a:spcAft>
                <a:spcPts val="0"/>
              </a:spcAft>
              <a:buClr>
                <a:schemeClr val="dk1"/>
              </a:buClr>
              <a:buSzPts val="2400"/>
              <a:buChar char="•"/>
            </a:pPr>
            <a:r>
              <a:rPr lang="en-US" dirty="0"/>
              <a:t>Are you interested in understanding what would happen to the population outcome distribution if everyone had been exposed versus unexposed? If so, </a:t>
            </a:r>
            <a:r>
              <a:rPr lang="en-US" dirty="0">
                <a:solidFill>
                  <a:srgbClr val="FF9300"/>
                </a:solidFill>
              </a:rPr>
              <a:t>unconditional quantiles </a:t>
            </a:r>
            <a:r>
              <a:rPr lang="en-US" dirty="0"/>
              <a:t>may be of interest</a:t>
            </a:r>
            <a:endParaRPr dirty="0"/>
          </a:p>
        </p:txBody>
      </p:sp>
      <p:sp>
        <p:nvSpPr>
          <p:cNvPr id="1153" name="Google Shape;1153;p19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151</a:t>
            </a:fld>
            <a:endParaRPr/>
          </a:p>
        </p:txBody>
      </p:sp>
    </p:spTree>
    <p:extLst>
      <p:ext uri="{BB962C8B-B14F-4D97-AF65-F5344CB8AC3E}">
        <p14:creationId xmlns:p14="http://schemas.microsoft.com/office/powerpoint/2010/main" val="2316989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5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5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9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a:solidFill>
                  <a:srgbClr val="468C8A"/>
                </a:solidFill>
              </a:rPr>
              <a:t>Choosing between CQR and UQR</a:t>
            </a:r>
            <a:endParaRPr/>
          </a:p>
        </p:txBody>
      </p:sp>
      <p:sp>
        <p:nvSpPr>
          <p:cNvPr id="1159" name="Google Shape;1159;p19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1000"/>
              </a:spcBef>
              <a:spcAft>
                <a:spcPts val="0"/>
              </a:spcAft>
              <a:buClr>
                <a:schemeClr val="dk1"/>
              </a:buClr>
              <a:buSzPts val="2800"/>
              <a:buNone/>
            </a:pPr>
            <a:endParaRPr dirty="0"/>
          </a:p>
          <a:p>
            <a:pPr marL="228600" lvl="0" indent="-228600" algn="l" rtl="0">
              <a:lnSpc>
                <a:spcPct val="90000"/>
              </a:lnSpc>
              <a:spcBef>
                <a:spcPts val="1000"/>
              </a:spcBef>
              <a:spcAft>
                <a:spcPts val="0"/>
              </a:spcAft>
              <a:buClr>
                <a:schemeClr val="dk1"/>
              </a:buClr>
              <a:buSzPts val="2800"/>
              <a:buChar char="•"/>
            </a:pPr>
            <a:r>
              <a:rPr lang="en-US" dirty="0"/>
              <a:t>What is your data structure/identification strategy like?</a:t>
            </a:r>
            <a:endParaRPr dirty="0"/>
          </a:p>
          <a:p>
            <a:pPr marL="685800" lvl="1" indent="-228600" algn="l" rtl="0">
              <a:lnSpc>
                <a:spcPct val="90000"/>
              </a:lnSpc>
              <a:spcBef>
                <a:spcPts val="500"/>
              </a:spcBef>
              <a:spcAft>
                <a:spcPts val="0"/>
              </a:spcAft>
              <a:buClr>
                <a:schemeClr val="dk1"/>
              </a:buClr>
              <a:buSzPts val="2400"/>
              <a:buChar char="•"/>
            </a:pPr>
            <a:r>
              <a:rPr lang="en-US" dirty="0"/>
              <a:t>More tools developed for using CQR with different data structures, study designs, and data measured with error</a:t>
            </a:r>
            <a:endParaRPr dirty="0"/>
          </a:p>
        </p:txBody>
      </p:sp>
      <p:sp>
        <p:nvSpPr>
          <p:cNvPr id="1160" name="Google Shape;1160;p19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152</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9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What did we learn? (Hopefully)</a:t>
            </a:r>
            <a:endParaRPr dirty="0"/>
          </a:p>
        </p:txBody>
      </p:sp>
      <p:sp>
        <p:nvSpPr>
          <p:cNvPr id="1159" name="Google Shape;1159;p198"/>
          <p:cNvSpPr txBox="1">
            <a:spLocks noGrp="1"/>
          </p:cNvSpPr>
          <p:nvPr>
            <p:ph type="body" idx="1"/>
          </p:nvPr>
        </p:nvSpPr>
        <p:spPr>
          <a:xfrm>
            <a:off x="838200" y="1825624"/>
            <a:ext cx="10515600" cy="4530725"/>
          </a:xfrm>
          <a:prstGeom prst="rect">
            <a:avLst/>
          </a:prstGeom>
          <a:noFill/>
          <a:ln>
            <a:noFill/>
          </a:ln>
        </p:spPr>
        <p:txBody>
          <a:bodyPr spcFirstLastPara="1" wrap="square" lIns="91425" tIns="45700" rIns="91425" bIns="45700" anchor="t" anchorCtr="0">
            <a:normAutofit fontScale="92500" lnSpcReduction="10000"/>
          </a:bodyPr>
          <a:lstStyle/>
          <a:p>
            <a:pPr marL="514350" lvl="0" indent="-514350" algn="l" rtl="0">
              <a:lnSpc>
                <a:spcPct val="90000"/>
              </a:lnSpc>
              <a:spcBef>
                <a:spcPts val="0"/>
              </a:spcBef>
              <a:spcAft>
                <a:spcPts val="0"/>
              </a:spcAft>
              <a:buClr>
                <a:schemeClr val="dk1"/>
              </a:buClr>
              <a:buSzPts val="2800"/>
              <a:buFont typeface="+mj-lt"/>
              <a:buAutoNum type="arabicPeriod"/>
            </a:pPr>
            <a:r>
              <a:rPr lang="en-US" dirty="0"/>
              <a:t>Why investigating the effect of an exposure across the entire outcome distribution is substantively important </a:t>
            </a:r>
          </a:p>
          <a:p>
            <a:pPr marL="514350" lvl="0" indent="-514350" algn="l" rtl="0">
              <a:lnSpc>
                <a:spcPct val="90000"/>
              </a:lnSpc>
              <a:spcBef>
                <a:spcPts val="0"/>
              </a:spcBef>
              <a:spcAft>
                <a:spcPts val="0"/>
              </a:spcAft>
              <a:buClr>
                <a:schemeClr val="dk1"/>
              </a:buClr>
              <a:buSzPts val="2800"/>
              <a:buFont typeface="+mj-lt"/>
              <a:buAutoNum type="arabicPeriod"/>
            </a:pPr>
            <a:endParaRPr lang="en-US" dirty="0"/>
          </a:p>
          <a:p>
            <a:pPr marL="514350" lvl="0" indent="-514350" algn="l" rtl="0">
              <a:lnSpc>
                <a:spcPct val="90000"/>
              </a:lnSpc>
              <a:spcBef>
                <a:spcPts val="0"/>
              </a:spcBef>
              <a:spcAft>
                <a:spcPts val="0"/>
              </a:spcAft>
              <a:buClr>
                <a:schemeClr val="dk1"/>
              </a:buClr>
              <a:buSzPts val="2800"/>
              <a:buFont typeface="+mj-lt"/>
              <a:buAutoNum type="arabicPeriod"/>
            </a:pPr>
            <a:r>
              <a:rPr lang="en-US" dirty="0"/>
              <a:t>Quantile regression allows us to quantify the relationship of an exposure with the conditional or unconditional outcome distribution</a:t>
            </a:r>
          </a:p>
          <a:p>
            <a:pPr marL="514350" lvl="0" indent="-514350" algn="l" rtl="0">
              <a:lnSpc>
                <a:spcPct val="90000"/>
              </a:lnSpc>
              <a:spcBef>
                <a:spcPts val="0"/>
              </a:spcBef>
              <a:spcAft>
                <a:spcPts val="0"/>
              </a:spcAft>
              <a:buClr>
                <a:schemeClr val="dk1"/>
              </a:buClr>
              <a:buSzPts val="2800"/>
              <a:buFont typeface="+mj-lt"/>
              <a:buAutoNum type="arabicPeriod"/>
            </a:pPr>
            <a:endParaRPr lang="en-US" dirty="0"/>
          </a:p>
          <a:p>
            <a:pPr marL="514350" lvl="0" indent="-514350" algn="l" rtl="0">
              <a:lnSpc>
                <a:spcPct val="90000"/>
              </a:lnSpc>
              <a:spcBef>
                <a:spcPts val="0"/>
              </a:spcBef>
              <a:spcAft>
                <a:spcPts val="0"/>
              </a:spcAft>
              <a:buClr>
                <a:schemeClr val="dk1"/>
              </a:buClr>
              <a:buSzPts val="2800"/>
              <a:buFont typeface="+mj-lt"/>
              <a:buAutoNum type="arabicPeriod"/>
            </a:pPr>
            <a:r>
              <a:rPr lang="en-US" dirty="0"/>
              <a:t>How to model associations between an exposure and the conditional or unconditional outcome distribution</a:t>
            </a:r>
          </a:p>
          <a:p>
            <a:pPr marL="514350" lvl="0" indent="-514350" algn="l" rtl="0">
              <a:lnSpc>
                <a:spcPct val="90000"/>
              </a:lnSpc>
              <a:spcBef>
                <a:spcPts val="0"/>
              </a:spcBef>
              <a:spcAft>
                <a:spcPts val="0"/>
              </a:spcAft>
              <a:buClr>
                <a:schemeClr val="dk1"/>
              </a:buClr>
              <a:buSzPts val="2800"/>
              <a:buFont typeface="+mj-lt"/>
              <a:buAutoNum type="arabicPeriod"/>
            </a:pPr>
            <a:endParaRPr lang="en-US" dirty="0"/>
          </a:p>
          <a:p>
            <a:pPr marL="514350" lvl="0" indent="-514350" algn="l" rtl="0">
              <a:lnSpc>
                <a:spcPct val="90000"/>
              </a:lnSpc>
              <a:spcBef>
                <a:spcPts val="0"/>
              </a:spcBef>
              <a:spcAft>
                <a:spcPts val="0"/>
              </a:spcAft>
              <a:buClr>
                <a:schemeClr val="dk1"/>
              </a:buClr>
              <a:buSzPts val="2800"/>
              <a:buFont typeface="+mj-lt"/>
              <a:buAutoNum type="arabicPeriod"/>
            </a:pPr>
            <a:r>
              <a:rPr lang="en-US" dirty="0"/>
              <a:t>How to appropriately adjust standard errors, and subsequently confidence intervals</a:t>
            </a:r>
          </a:p>
          <a:p>
            <a:pPr marL="514350" lvl="0" indent="-514350" algn="l" rtl="0">
              <a:lnSpc>
                <a:spcPct val="90000"/>
              </a:lnSpc>
              <a:spcBef>
                <a:spcPts val="0"/>
              </a:spcBef>
              <a:spcAft>
                <a:spcPts val="0"/>
              </a:spcAft>
              <a:buClr>
                <a:schemeClr val="dk1"/>
              </a:buClr>
              <a:buSzPts val="2800"/>
              <a:buFont typeface="+mj-lt"/>
              <a:buAutoNum type="arabicPeriod"/>
            </a:pPr>
            <a:endParaRPr lang="en-US" dirty="0"/>
          </a:p>
          <a:p>
            <a:pPr marL="514350" lvl="0" indent="-514350" algn="l" rtl="0">
              <a:lnSpc>
                <a:spcPct val="90000"/>
              </a:lnSpc>
              <a:spcBef>
                <a:spcPts val="0"/>
              </a:spcBef>
              <a:spcAft>
                <a:spcPts val="0"/>
              </a:spcAft>
              <a:buClr>
                <a:schemeClr val="dk1"/>
              </a:buClr>
              <a:buSzPts val="2800"/>
              <a:buFont typeface="+mj-lt"/>
              <a:buAutoNum type="arabicPeriod"/>
            </a:pPr>
            <a:r>
              <a:rPr lang="en-US" dirty="0"/>
              <a:t>How to visualize quantile regression estimates, and potential counterfactual distributions associated with those estimates</a:t>
            </a:r>
            <a:endParaRPr dirty="0"/>
          </a:p>
        </p:txBody>
      </p:sp>
      <p:sp>
        <p:nvSpPr>
          <p:cNvPr id="1160" name="Google Shape;1160;p19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153</a:t>
            </a:fld>
            <a:endParaRPr/>
          </a:p>
        </p:txBody>
      </p:sp>
    </p:spTree>
    <p:extLst>
      <p:ext uri="{BB962C8B-B14F-4D97-AF65-F5344CB8AC3E}">
        <p14:creationId xmlns:p14="http://schemas.microsoft.com/office/powerpoint/2010/main" val="2404823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5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5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59">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5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19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468C8A"/>
              </a:buClr>
              <a:buSzPts val="4400"/>
              <a:buFont typeface="Arial"/>
              <a:buNone/>
            </a:pPr>
            <a:r>
              <a:rPr lang="en-US" b="1" dirty="0">
                <a:solidFill>
                  <a:srgbClr val="468C8A"/>
                </a:solidFill>
              </a:rPr>
              <a:t>Where can you find more resources?</a:t>
            </a:r>
            <a:endParaRPr dirty="0"/>
          </a:p>
        </p:txBody>
      </p:sp>
      <p:sp>
        <p:nvSpPr>
          <p:cNvPr id="1159" name="Google Shape;1159;p19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514350" lvl="0" indent="-514350" algn="l" rtl="0">
              <a:lnSpc>
                <a:spcPct val="90000"/>
              </a:lnSpc>
              <a:spcBef>
                <a:spcPts val="0"/>
              </a:spcBef>
              <a:spcAft>
                <a:spcPts val="0"/>
              </a:spcAft>
              <a:buClr>
                <a:schemeClr val="dk1"/>
              </a:buClr>
              <a:buSzPts val="2800"/>
              <a:buFont typeface="+mj-lt"/>
              <a:buAutoNum type="arabicPeriod"/>
            </a:pPr>
            <a:r>
              <a:rPr lang="en-US" dirty="0"/>
              <a:t>Github</a:t>
            </a:r>
          </a:p>
          <a:p>
            <a:pPr marL="971550" lvl="1" indent="-514350">
              <a:spcBef>
                <a:spcPts val="0"/>
              </a:spcBef>
              <a:buSzPts val="2800"/>
            </a:pPr>
            <a:r>
              <a:rPr lang="en-US" dirty="0"/>
              <a:t>Power point code, R and STATA functions, handout code</a:t>
            </a:r>
          </a:p>
          <a:p>
            <a:pPr marL="514350" lvl="0" indent="-514350" algn="l" rtl="0">
              <a:lnSpc>
                <a:spcPct val="90000"/>
              </a:lnSpc>
              <a:spcBef>
                <a:spcPts val="0"/>
              </a:spcBef>
              <a:spcAft>
                <a:spcPts val="0"/>
              </a:spcAft>
              <a:buClr>
                <a:schemeClr val="dk1"/>
              </a:buClr>
              <a:buSzPts val="2800"/>
              <a:buFont typeface="+mj-lt"/>
              <a:buAutoNum type="arabicPeriod"/>
            </a:pPr>
            <a:endParaRPr lang="en-US" dirty="0"/>
          </a:p>
          <a:p>
            <a:pPr marL="514350" lvl="0" indent="-514350" algn="l" rtl="0">
              <a:lnSpc>
                <a:spcPct val="90000"/>
              </a:lnSpc>
              <a:spcBef>
                <a:spcPts val="0"/>
              </a:spcBef>
              <a:spcAft>
                <a:spcPts val="0"/>
              </a:spcAft>
              <a:buClr>
                <a:schemeClr val="dk1"/>
              </a:buClr>
              <a:buSzPts val="2800"/>
              <a:buFont typeface="+mj-lt"/>
              <a:buAutoNum type="arabicPeriod"/>
            </a:pPr>
            <a:r>
              <a:rPr lang="en-US" dirty="0"/>
              <a:t>Our methods paper published in AJE</a:t>
            </a:r>
          </a:p>
          <a:p>
            <a:pPr marL="971550" lvl="1" indent="-514350">
              <a:spcBef>
                <a:spcPts val="0"/>
              </a:spcBef>
              <a:buSzPts val="2800"/>
            </a:pPr>
            <a:r>
              <a:rPr lang="en-US" dirty="0"/>
              <a:t>In depth explanations plus more details on the applied example</a:t>
            </a:r>
          </a:p>
          <a:p>
            <a:pPr marL="514350" lvl="0" indent="-514350" algn="l" rtl="0">
              <a:lnSpc>
                <a:spcPct val="90000"/>
              </a:lnSpc>
              <a:spcBef>
                <a:spcPts val="0"/>
              </a:spcBef>
              <a:spcAft>
                <a:spcPts val="0"/>
              </a:spcAft>
              <a:buClr>
                <a:schemeClr val="dk1"/>
              </a:buClr>
              <a:buSzPts val="2800"/>
              <a:buFont typeface="+mj-lt"/>
              <a:buAutoNum type="arabicPeriod"/>
            </a:pPr>
            <a:endParaRPr lang="en-US" dirty="0"/>
          </a:p>
          <a:p>
            <a:pPr marL="514350" lvl="0" indent="-514350" algn="l" rtl="0">
              <a:lnSpc>
                <a:spcPct val="90000"/>
              </a:lnSpc>
              <a:spcBef>
                <a:spcPts val="0"/>
              </a:spcBef>
              <a:spcAft>
                <a:spcPts val="0"/>
              </a:spcAft>
              <a:buClr>
                <a:schemeClr val="dk1"/>
              </a:buClr>
              <a:buSzPts val="2800"/>
              <a:buFont typeface="+mj-lt"/>
              <a:buAutoNum type="arabicPeriod"/>
            </a:pPr>
            <a:r>
              <a:rPr lang="en-US" dirty="0"/>
              <a:t>Cited papers</a:t>
            </a:r>
          </a:p>
          <a:p>
            <a:pPr marL="514350" lvl="0" indent="-514350" algn="l" rtl="0">
              <a:lnSpc>
                <a:spcPct val="90000"/>
              </a:lnSpc>
              <a:spcBef>
                <a:spcPts val="0"/>
              </a:spcBef>
              <a:spcAft>
                <a:spcPts val="0"/>
              </a:spcAft>
              <a:buClr>
                <a:schemeClr val="dk1"/>
              </a:buClr>
              <a:buSzPts val="2800"/>
              <a:buFont typeface="+mj-lt"/>
              <a:buAutoNum type="arabicPeriod"/>
            </a:pPr>
            <a:endParaRPr lang="en-US" dirty="0"/>
          </a:p>
          <a:p>
            <a:pPr marL="514350" lvl="0" indent="-514350" algn="l" rtl="0">
              <a:lnSpc>
                <a:spcPct val="90000"/>
              </a:lnSpc>
              <a:spcBef>
                <a:spcPts val="0"/>
              </a:spcBef>
              <a:spcAft>
                <a:spcPts val="0"/>
              </a:spcAft>
              <a:buClr>
                <a:schemeClr val="dk1"/>
              </a:buClr>
              <a:buSzPts val="2800"/>
              <a:buFont typeface="+mj-lt"/>
              <a:buAutoNum type="arabicPeriod"/>
            </a:pPr>
            <a:r>
              <a:rPr lang="en-US" dirty="0"/>
              <a:t>Us!</a:t>
            </a:r>
          </a:p>
          <a:p>
            <a:pPr marL="514350" lvl="0" indent="-514350" algn="l" rtl="0">
              <a:lnSpc>
                <a:spcPct val="90000"/>
              </a:lnSpc>
              <a:spcBef>
                <a:spcPts val="0"/>
              </a:spcBef>
              <a:spcAft>
                <a:spcPts val="0"/>
              </a:spcAft>
              <a:buClr>
                <a:schemeClr val="dk1"/>
              </a:buClr>
              <a:buSzPts val="2800"/>
              <a:buFont typeface="+mj-lt"/>
              <a:buAutoNum type="arabicPeriod"/>
            </a:pPr>
            <a:endParaRPr lang="en-US" dirty="0"/>
          </a:p>
        </p:txBody>
      </p:sp>
      <p:sp>
        <p:nvSpPr>
          <p:cNvPr id="1160" name="Google Shape;1160;p19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154</a:t>
            </a:fld>
            <a:endParaRPr/>
          </a:p>
        </p:txBody>
      </p:sp>
    </p:spTree>
    <p:extLst>
      <p:ext uri="{BB962C8B-B14F-4D97-AF65-F5344CB8AC3E}">
        <p14:creationId xmlns:p14="http://schemas.microsoft.com/office/powerpoint/2010/main" val="116048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5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5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59">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5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Shape 1283"/>
        <p:cNvGrpSpPr/>
        <p:nvPr/>
      </p:nvGrpSpPr>
      <p:grpSpPr>
        <a:xfrm>
          <a:off x="0" y="0"/>
          <a:ext cx="0" cy="0"/>
          <a:chOff x="0" y="0"/>
          <a:chExt cx="0" cy="0"/>
        </a:xfrm>
      </p:grpSpPr>
      <p:sp>
        <p:nvSpPr>
          <p:cNvPr id="1284" name="Google Shape;1284;p208"/>
          <p:cNvSpPr txBox="1">
            <a:spLocks noGrp="1"/>
          </p:cNvSpPr>
          <p:nvPr>
            <p:ph type="title"/>
          </p:nvPr>
        </p:nvSpPr>
        <p:spPr>
          <a:xfrm>
            <a:off x="838200" y="2268537"/>
            <a:ext cx="10515600" cy="100761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2494C"/>
              </a:buClr>
              <a:buSzPts val="6000"/>
              <a:buFont typeface="Arial"/>
              <a:buNone/>
            </a:pPr>
            <a:r>
              <a:rPr lang="en-US" b="1" dirty="0">
                <a:solidFill>
                  <a:srgbClr val="F2494C"/>
                </a:solidFill>
              </a:rPr>
              <a:t>Thank you!</a:t>
            </a:r>
            <a:endParaRPr dirty="0"/>
          </a:p>
        </p:txBody>
      </p:sp>
      <p:sp>
        <p:nvSpPr>
          <p:cNvPr id="1285" name="Google Shape;1285;p208"/>
          <p:cNvSpPr txBox="1">
            <a:spLocks noGrp="1"/>
          </p:cNvSpPr>
          <p:nvPr>
            <p:ph type="body" idx="1"/>
          </p:nvPr>
        </p:nvSpPr>
        <p:spPr>
          <a:xfrm>
            <a:off x="838200" y="4066158"/>
            <a:ext cx="10515600" cy="1500187"/>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Clr>
                <a:srgbClr val="468C8A"/>
              </a:buClr>
              <a:buSzPts val="2400"/>
              <a:buNone/>
            </a:pPr>
            <a:r>
              <a:rPr lang="en-US" dirty="0">
                <a:solidFill>
                  <a:srgbClr val="468C8A"/>
                </a:solidFill>
              </a:rPr>
              <a:t>Jilly Hebert: </a:t>
            </a:r>
            <a:r>
              <a:rPr lang="en-US" dirty="0">
                <a:solidFill>
                  <a:srgbClr val="FF9300"/>
                </a:solidFill>
              </a:rPr>
              <a:t>jilly.hebert@ucsf.edu</a:t>
            </a:r>
            <a:endParaRPr dirty="0">
              <a:solidFill>
                <a:srgbClr val="FF9300"/>
              </a:solidFill>
            </a:endParaRPr>
          </a:p>
          <a:p>
            <a:pPr marL="0" lvl="0" indent="0" algn="ctr" rtl="0">
              <a:spcBef>
                <a:spcPts val="1000"/>
              </a:spcBef>
              <a:spcAft>
                <a:spcPts val="0"/>
              </a:spcAft>
              <a:buClr>
                <a:srgbClr val="468C8A"/>
              </a:buClr>
              <a:buSzPts val="2400"/>
              <a:buNone/>
            </a:pPr>
            <a:r>
              <a:rPr lang="en-US" dirty="0">
                <a:solidFill>
                  <a:srgbClr val="468C8A"/>
                </a:solidFill>
              </a:rPr>
              <a:t>Amanda Irish: </a:t>
            </a:r>
            <a:r>
              <a:rPr lang="en-US" dirty="0" err="1">
                <a:solidFill>
                  <a:srgbClr val="FF9300"/>
                </a:solidFill>
              </a:rPr>
              <a:t>amanda.irish@ucsf.edu</a:t>
            </a:r>
            <a:endParaRPr dirty="0">
              <a:solidFill>
                <a:srgbClr val="FF9300"/>
              </a:solidFill>
            </a:endParaRPr>
          </a:p>
          <a:p>
            <a:pPr marL="0" lvl="0" indent="0" algn="ctr" rtl="0">
              <a:lnSpc>
                <a:spcPct val="90000"/>
              </a:lnSpc>
              <a:spcBef>
                <a:spcPts val="1000"/>
              </a:spcBef>
              <a:spcAft>
                <a:spcPts val="0"/>
              </a:spcAft>
              <a:buClr>
                <a:srgbClr val="468C8A"/>
              </a:buClr>
              <a:buSzPts val="2400"/>
              <a:buNone/>
            </a:pPr>
            <a:r>
              <a:rPr lang="en-US" dirty="0">
                <a:solidFill>
                  <a:srgbClr val="468C8A"/>
                </a:solidFill>
              </a:rPr>
              <a:t>Anusha M. Vable: </a:t>
            </a:r>
            <a:r>
              <a:rPr lang="en-US" dirty="0" err="1">
                <a:solidFill>
                  <a:srgbClr val="FF9300"/>
                </a:solidFill>
              </a:rPr>
              <a:t>anusha.vable@ucsf.edu</a:t>
            </a:r>
            <a:r>
              <a:rPr lang="en-US" dirty="0">
                <a:solidFill>
                  <a:srgbClr val="FF9300"/>
                </a:solidFill>
              </a:rPr>
              <a:t> </a:t>
            </a:r>
            <a:endParaRPr dirty="0"/>
          </a:p>
        </p:txBody>
      </p:sp>
      <p:sp>
        <p:nvSpPr>
          <p:cNvPr id="1286" name="Google Shape;1286;p20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88888"/>
              </a:buClr>
              <a:buSzPts val="1200"/>
              <a:buFont typeface="Arial"/>
              <a:buNone/>
            </a:pPr>
            <a:fld id="{00000000-1234-1234-1234-123412341234}" type="slidenum">
              <a:rPr lang="en-US" sz="1200" b="0" i="0" u="none" strike="noStrike" cap="none">
                <a:solidFill>
                  <a:srgbClr val="888888"/>
                </a:solidFill>
                <a:latin typeface="Arial"/>
                <a:ea typeface="Arial"/>
                <a:cs typeface="Arial"/>
                <a:sym typeface="Arial"/>
              </a:rPr>
              <a:t>155</a:t>
            </a:fld>
            <a:endParaRPr sz="1200" b="0" i="0" u="none" strike="noStrike" cap="none">
              <a:solidFill>
                <a:srgbClr val="888888"/>
              </a:solidFill>
              <a:latin typeface="Arial"/>
              <a:ea typeface="Arial"/>
              <a:cs typeface="Arial"/>
              <a:sym typeface="Arial"/>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F35DE2-4894-2FBF-D316-428FF823A98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156</a:t>
            </a:fld>
            <a:endParaRPr lang="en-US"/>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99DD0E60-1FCA-F0BC-90D5-0E85DE213A05}"/>
                  </a:ext>
                </a:extLst>
              </p:cNvPr>
              <p:cNvGraphicFramePr>
                <a:graphicFrameLocks noGrp="1"/>
              </p:cNvGraphicFramePr>
              <p:nvPr/>
            </p:nvGraphicFramePr>
            <p:xfrm>
              <a:off x="222202" y="379952"/>
              <a:ext cx="11747596" cy="6098096"/>
            </p:xfrm>
            <a:graphic>
              <a:graphicData uri="http://schemas.openxmlformats.org/drawingml/2006/table">
                <a:tbl>
                  <a:tblPr firstRow="1" bandRow="1">
                    <a:tableStyleId>{2D5ABB26-0587-4C30-8999-92F81FD0307C}</a:tableStyleId>
                  </a:tblPr>
                  <a:tblGrid>
                    <a:gridCol w="2633083">
                      <a:extLst>
                        <a:ext uri="{9D8B030D-6E8A-4147-A177-3AD203B41FA5}">
                          <a16:colId xmlns:a16="http://schemas.microsoft.com/office/drawing/2014/main" val="2485563793"/>
                        </a:ext>
                      </a:extLst>
                    </a:gridCol>
                    <a:gridCol w="3038171">
                      <a:extLst>
                        <a:ext uri="{9D8B030D-6E8A-4147-A177-3AD203B41FA5}">
                          <a16:colId xmlns:a16="http://schemas.microsoft.com/office/drawing/2014/main" val="1972392090"/>
                        </a:ext>
                      </a:extLst>
                    </a:gridCol>
                    <a:gridCol w="3038171">
                      <a:extLst>
                        <a:ext uri="{9D8B030D-6E8A-4147-A177-3AD203B41FA5}">
                          <a16:colId xmlns:a16="http://schemas.microsoft.com/office/drawing/2014/main" val="2831166234"/>
                        </a:ext>
                      </a:extLst>
                    </a:gridCol>
                    <a:gridCol w="3038171">
                      <a:extLst>
                        <a:ext uri="{9D8B030D-6E8A-4147-A177-3AD203B41FA5}">
                          <a16:colId xmlns:a16="http://schemas.microsoft.com/office/drawing/2014/main" val="1146948457"/>
                        </a:ext>
                      </a:extLst>
                    </a:gridCol>
                  </a:tblGrid>
                  <a:tr h="548640">
                    <a:tc>
                      <a:txBody>
                        <a:bodyPr/>
                        <a:lstStyle/>
                        <a:p>
                          <a:endParaRPr lang="en-US" sz="16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rgbClr val="468C8A"/>
                              </a:solidFill>
                            </a:rPr>
                            <a:t>Linear Regression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rgbClr val="468C8A"/>
                              </a:solidFill>
                            </a:rPr>
                            <a:t>Conditional Quantile Regression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rgbClr val="468C8A"/>
                              </a:solidFill>
                            </a:rPr>
                            <a:t>Unconditional Quantile Regression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6389442"/>
                      </a:ext>
                    </a:extLst>
                  </a:tr>
                  <a:tr h="640080">
                    <a:tc>
                      <a:txBody>
                        <a:bodyPr/>
                        <a:lstStyle/>
                        <a:p>
                          <a:r>
                            <a:rPr lang="en-US" sz="1600" dirty="0"/>
                            <a:t>Model</a:t>
                          </a:r>
                        </a:p>
                      </a:txBody>
                      <a:tcPr anchor="ct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rPr>
                                  <m:t>𝐸</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𝑌</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𝑋</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𝑋</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𝛽</m:t>
                                </m:r>
                              </m:oMath>
                            </m:oMathPara>
                          </a14:m>
                          <a:endParaRPr lang="en-US" sz="1600"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𝑄</m:t>
                                    </m:r>
                                  </m:e>
                                  <m:sub>
                                    <m:r>
                                      <a:rPr lang="en-US" sz="1600" b="0" i="1" smtClean="0">
                                        <a:solidFill>
                                          <a:schemeClr val="tx1"/>
                                        </a:solidFill>
                                        <a:latin typeface="Cambria Math" panose="02040503050406030204" pitchFamily="18" charset="0"/>
                                      </a:rPr>
                                      <m:t>𝜏</m:t>
                                    </m:r>
                                  </m:sub>
                                </m:sSub>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𝑌</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𝑋</m:t>
                                </m:r>
                                <m:r>
                                  <a:rPr lang="en-US" sz="1600" b="0" i="1" smtClean="0">
                                    <a:solidFill>
                                      <a:schemeClr val="tx1"/>
                                    </a:solidFill>
                                    <a:latin typeface="Cambria Math" panose="02040503050406030204" pitchFamily="18" charset="0"/>
                                  </a:rPr>
                                  <m:t>)=</m:t>
                                </m:r>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𝑋</m:t>
                                    </m:r>
                                  </m:e>
                                  <m:sup>
                                    <m:r>
                                      <a:rPr lang="en-US" sz="1600" b="0" i="1" smtClean="0">
                                        <a:solidFill>
                                          <a:schemeClr val="tx1"/>
                                        </a:solidFill>
                                        <a:latin typeface="Cambria Math" panose="02040503050406030204" pitchFamily="18" charset="0"/>
                                      </a:rPr>
                                      <m:t>′</m:t>
                                    </m:r>
                                  </m:sup>
                                </m:sSup>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𝛽</m:t>
                                    </m:r>
                                  </m:e>
                                  <m:sub>
                                    <m:r>
                                      <a:rPr lang="en-US" sz="1600" b="0" i="1" smtClean="0">
                                        <a:solidFill>
                                          <a:schemeClr val="tx1"/>
                                        </a:solidFill>
                                        <a:latin typeface="Cambria Math" panose="02040503050406030204" pitchFamily="18" charset="0"/>
                                      </a:rPr>
                                      <m:t>𝜏</m:t>
                                    </m:r>
                                  </m:sub>
                                </m:sSub>
                                <m:r>
                                  <a:rPr lang="en-US" sz="1600" b="0" i="1" smtClean="0">
                                    <a:solidFill>
                                      <a:schemeClr val="tx1"/>
                                    </a:solidFill>
                                    <a:latin typeface="Cambria Math" panose="02040503050406030204" pitchFamily="18" charset="0"/>
                                  </a:rPr>
                                  <m:t>,  </m:t>
                                </m:r>
                              </m:oMath>
                              <m:oMath xmlns:m="http://schemas.openxmlformats.org/officeDocument/2006/math">
                                <m:r>
                                  <a:rPr lang="en-US" sz="1600" b="0" i="1" smtClean="0">
                                    <a:solidFill>
                                      <a:schemeClr val="tx1"/>
                                    </a:solidFill>
                                    <a:latin typeface="Cambria Math" panose="02040503050406030204" pitchFamily="18" charset="0"/>
                                  </a:rPr>
                                  <m:t>𝜏</m:t>
                                </m:r>
                                <m:r>
                                  <a:rPr lang="en-US" sz="1600" b="0" i="1" smtClean="0">
                                    <a:solidFill>
                                      <a:schemeClr val="tx1"/>
                                    </a:solidFill>
                                    <a:latin typeface="Cambria Math" panose="02040503050406030204" pitchFamily="18" charset="0"/>
                                  </a:rPr>
                                  <m:t>=(0,1)</m:t>
                                </m:r>
                              </m:oMath>
                            </m:oMathPara>
                          </a14:m>
                          <a:endParaRPr lang="en-US" sz="1600"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rPr>
                                  <m:t>𝐸</m:t>
                                </m:r>
                                <m:d>
                                  <m:dPr>
                                    <m:begChr m:val="["/>
                                    <m:endChr m:val="]"/>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𝑅𝐼𝐹</m:t>
                                    </m:r>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𝑌</m:t>
                                        </m:r>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𝑞</m:t>
                                            </m:r>
                                          </m:e>
                                          <m:sub>
                                            <m:r>
                                              <a:rPr lang="en-US" sz="1600" b="0" i="1" smtClean="0">
                                                <a:solidFill>
                                                  <a:schemeClr val="tx1"/>
                                                </a:solidFill>
                                                <a:latin typeface="Cambria Math" panose="02040503050406030204" pitchFamily="18" charset="0"/>
                                              </a:rPr>
                                              <m:t>𝜏</m:t>
                                            </m:r>
                                          </m:sub>
                                        </m:sSub>
                                      </m:e>
                                    </m:d>
                                  </m:e>
                                  <m:e>
                                    <m:r>
                                      <a:rPr lang="en-US" sz="1600" b="0" i="1" smtClean="0">
                                        <a:solidFill>
                                          <a:schemeClr val="tx1"/>
                                        </a:solidFill>
                                        <a:latin typeface="Cambria Math" panose="02040503050406030204" pitchFamily="18" charset="0"/>
                                      </a:rPr>
                                      <m:t>𝑋</m:t>
                                    </m:r>
                                  </m:e>
                                </m:d>
                                <m:r>
                                  <a:rPr lang="en-US" sz="1600" b="0" i="1" smtClean="0">
                                    <a:solidFill>
                                      <a:schemeClr val="tx1"/>
                                    </a:solidFill>
                                    <a:latin typeface="Cambria Math" panose="02040503050406030204" pitchFamily="18" charset="0"/>
                                  </a:rPr>
                                  <m:t>=</m:t>
                                </m:r>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𝑋</m:t>
                                    </m:r>
                                  </m:e>
                                  <m:sup>
                                    <m:r>
                                      <a:rPr lang="en-US" sz="1600" b="0" i="1" smtClean="0">
                                        <a:solidFill>
                                          <a:schemeClr val="tx1"/>
                                        </a:solidFill>
                                        <a:latin typeface="Cambria Math" panose="02040503050406030204" pitchFamily="18" charset="0"/>
                                      </a:rPr>
                                      <m:t>′</m:t>
                                    </m:r>
                                  </m:sup>
                                </m:sSup>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𝛽</m:t>
                                    </m:r>
                                  </m:e>
                                  <m:sub>
                                    <m:r>
                                      <a:rPr lang="en-US" sz="1600" b="0" i="1" smtClean="0">
                                        <a:solidFill>
                                          <a:schemeClr val="tx1"/>
                                        </a:solidFill>
                                        <a:latin typeface="Cambria Math" panose="02040503050406030204" pitchFamily="18" charset="0"/>
                                      </a:rPr>
                                      <m:t>𝜏</m:t>
                                    </m:r>
                                  </m:sub>
                                </m:sSub>
                                <m:r>
                                  <a:rPr lang="en-US" sz="1600" b="0" i="1" smtClean="0">
                                    <a:solidFill>
                                      <a:schemeClr val="tx1"/>
                                    </a:solidFill>
                                    <a:latin typeface="Cambria Math" panose="02040503050406030204" pitchFamily="18" charset="0"/>
                                  </a:rPr>
                                  <m:t>,     </m:t>
                                </m:r>
                              </m:oMath>
                              <m:oMath xmlns:m="http://schemas.openxmlformats.org/officeDocument/2006/math">
                                <m:r>
                                  <a:rPr lang="en-US" sz="1600" b="0" i="1" smtClean="0">
                                    <a:solidFill>
                                      <a:schemeClr val="tx1"/>
                                    </a:solidFill>
                                    <a:latin typeface="Cambria Math" panose="02040503050406030204" pitchFamily="18" charset="0"/>
                                  </a:rPr>
                                  <m:t>𝜏</m:t>
                                </m:r>
                                <m:r>
                                  <a:rPr lang="en-US" sz="1600" b="0" i="1" smtClean="0">
                                    <a:solidFill>
                                      <a:schemeClr val="tx1"/>
                                    </a:solidFill>
                                    <a:latin typeface="Cambria Math" panose="02040503050406030204" pitchFamily="18" charset="0"/>
                                  </a:rPr>
                                  <m:t>=(0,1)</m:t>
                                </m:r>
                              </m:oMath>
                            </m:oMathPara>
                          </a14:m>
                          <a:endParaRPr lang="en-US" sz="1600" dirty="0">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364835753"/>
                      </a:ext>
                    </a:extLst>
                  </a:tr>
                  <a:tr h="640080">
                    <a:tc>
                      <a:txBody>
                        <a:bodyPr/>
                        <a:lstStyle/>
                        <a:p>
                          <a:r>
                            <a:rPr lang="en-US" sz="1600" dirty="0"/>
                            <a:t>Error</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Standard assumptions about the error term (</a:t>
                          </a:r>
                          <a:r>
                            <a:rPr lang="en-US" sz="1600" dirty="0" err="1">
                              <a:solidFill>
                                <a:schemeClr val="tx1"/>
                              </a:solidFill>
                            </a:rPr>
                            <a:t>iid</a:t>
                          </a:r>
                          <a:r>
                            <a:rPr lang="en-US" sz="1600" dirty="0">
                              <a:solidFill>
                                <a:schemeClr val="tx1"/>
                              </a:solidFill>
                            </a:rPr>
                            <a:t>, Normal distribution) are usually violated</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No distributional assumption is made about the error</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No explicit assumption, but likely the same assumptions as the estimation strategy used</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643586111"/>
                      </a:ext>
                    </a:extLst>
                  </a:tr>
                  <a:tr h="370840">
                    <a:tc>
                      <a:txBody>
                        <a:bodyPr/>
                        <a:lstStyle/>
                        <a:p>
                          <a:r>
                            <a:rPr lang="en-US" sz="1600" dirty="0"/>
                            <a:t>Estimating coefficients</a:t>
                          </a:r>
                        </a:p>
                      </a:txBody>
                      <a:tcPr anchor="ctr">
                        <a:lnT w="12700" cap="flat" cmpd="sng" algn="ctr">
                          <a:solidFill>
                            <a:schemeClr val="bg1">
                              <a:lumMod val="85000"/>
                            </a:schemeClr>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unc>
                                  <m:funcPr>
                                    <m:ctrlPr>
                                      <a:rPr lang="en-US" sz="1600" i="1" smtClean="0">
                                        <a:solidFill>
                                          <a:schemeClr val="tx1"/>
                                        </a:solidFill>
                                        <a:latin typeface="Cambria Math" panose="02040503050406030204" pitchFamily="18" charset="0"/>
                                      </a:rPr>
                                    </m:ctrlPr>
                                  </m:funcPr>
                                  <m:fName>
                                    <m:limLow>
                                      <m:limLowPr>
                                        <m:ctrlPr>
                                          <a:rPr lang="en-US" sz="1600" i="1" smtClean="0">
                                            <a:solidFill>
                                              <a:schemeClr val="tx1"/>
                                            </a:solidFill>
                                            <a:latin typeface="Cambria Math" panose="02040503050406030204" pitchFamily="18" charset="0"/>
                                          </a:rPr>
                                        </m:ctrlPr>
                                      </m:limLowPr>
                                      <m:e>
                                        <m:r>
                                          <m:rPr>
                                            <m:sty m:val="p"/>
                                          </m:rPr>
                                          <a:rPr lang="en-US" sz="1600" i="0" smtClean="0">
                                            <a:solidFill>
                                              <a:schemeClr val="tx1"/>
                                            </a:solidFill>
                                            <a:latin typeface="Cambria Math" panose="02040503050406030204" pitchFamily="18" charset="0"/>
                                          </a:rPr>
                                          <m:t>min</m:t>
                                        </m:r>
                                      </m:e>
                                      <m:lim>
                                        <m:acc>
                                          <m:accPr>
                                            <m:chr m:val="̂"/>
                                            <m:ctrlPr>
                                              <a:rPr lang="en-US" sz="1600" b="0" i="1" smtClean="0">
                                                <a:solidFill>
                                                  <a:schemeClr val="tx1"/>
                                                </a:solidFill>
                                                <a:latin typeface="Cambria Math" panose="02040503050406030204" pitchFamily="18" charset="0"/>
                                              </a:rPr>
                                            </m:ctrlPr>
                                          </m:accPr>
                                          <m:e>
                                            <m:r>
                                              <a:rPr lang="en-US" sz="1600" b="0" i="1" smtClean="0">
                                                <a:solidFill>
                                                  <a:schemeClr val="tx1"/>
                                                </a:solidFill>
                                                <a:latin typeface="Cambria Math" panose="02040503050406030204" pitchFamily="18" charset="0"/>
                                              </a:rPr>
                                              <m:t>𝛽</m:t>
                                            </m:r>
                                          </m:e>
                                        </m:acc>
                                      </m:lim>
                                    </m:limLow>
                                  </m:fName>
                                  <m:e>
                                    <m:nary>
                                      <m:naryPr>
                                        <m:chr m:val="∑"/>
                                        <m:ctrlPr>
                                          <a:rPr lang="en-US" sz="1600" i="1" smtClean="0">
                                            <a:solidFill>
                                              <a:schemeClr val="tx1"/>
                                            </a:solidFill>
                                            <a:latin typeface="Cambria Math" panose="02040503050406030204" pitchFamily="18" charset="0"/>
                                          </a:rPr>
                                        </m:ctrlPr>
                                      </m:naryPr>
                                      <m:sub>
                                        <m:r>
                                          <m:rPr>
                                            <m:brk m:alnAt="23"/>
                                          </m:rPr>
                                          <a:rPr lang="en-US" sz="1600" b="0" i="1" smtClean="0">
                                            <a:solidFill>
                                              <a:schemeClr val="tx1"/>
                                            </a:solidFill>
                                            <a:latin typeface="Cambria Math" panose="02040503050406030204" pitchFamily="18" charset="0"/>
                                          </a:rPr>
                                          <m:t>𝑖</m:t>
                                        </m:r>
                                        <m:r>
                                          <a:rPr lang="en-US" sz="1600" b="0" i="1" smtClean="0">
                                            <a:solidFill>
                                              <a:schemeClr val="tx1"/>
                                            </a:solidFill>
                                            <a:latin typeface="Cambria Math" panose="02040503050406030204" pitchFamily="18" charset="0"/>
                                          </a:rPr>
                                          <m:t>=1</m:t>
                                        </m:r>
                                      </m:sub>
                                      <m:sup>
                                        <m:r>
                                          <a:rPr lang="en-US" sz="1600" b="0" i="1" smtClean="0">
                                            <a:solidFill>
                                              <a:schemeClr val="tx1"/>
                                            </a:solidFill>
                                            <a:latin typeface="Cambria Math" panose="02040503050406030204" pitchFamily="18" charset="0"/>
                                          </a:rPr>
                                          <m:t>𝑁</m:t>
                                        </m:r>
                                      </m:sup>
                                      <m:e>
                                        <m:sSup>
                                          <m:sSupPr>
                                            <m:ctrlPr>
                                              <a:rPr lang="en-US" sz="1600" b="0" i="1" smtClean="0">
                                                <a:solidFill>
                                                  <a:schemeClr val="tx1"/>
                                                </a:solidFill>
                                                <a:latin typeface="Cambria Math" panose="02040503050406030204" pitchFamily="18" charset="0"/>
                                              </a:rPr>
                                            </m:ctrlPr>
                                          </m:sSupPr>
                                          <m:e>
                                            <m:d>
                                              <m:dPr>
                                                <m:ctrlPr>
                                                  <a:rPr lang="en-US" sz="1600" b="0" i="1" smtClean="0">
                                                    <a:solidFill>
                                                      <a:schemeClr val="tx1"/>
                                                    </a:solidFill>
                                                    <a:latin typeface="Cambria Math" panose="02040503050406030204" pitchFamily="18" charset="0"/>
                                                  </a:rPr>
                                                </m:ctrlPr>
                                              </m:dPr>
                                              <m:e>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𝑦</m:t>
                                                    </m:r>
                                                  </m:e>
                                                  <m:sub>
                                                    <m:r>
                                                      <a:rPr lang="en-US" sz="1600" b="0" i="1" smtClean="0">
                                                        <a:solidFill>
                                                          <a:schemeClr val="tx1"/>
                                                        </a:solidFill>
                                                        <a:latin typeface="Cambria Math" panose="02040503050406030204" pitchFamily="18" charset="0"/>
                                                      </a:rPr>
                                                      <m:t>𝑖</m:t>
                                                    </m:r>
                                                  </m:sub>
                                                </m:sSub>
                                                <m:r>
                                                  <a:rPr lang="en-US" sz="1600" b="0" i="1" smtClean="0">
                                                    <a:solidFill>
                                                      <a:schemeClr val="tx1"/>
                                                    </a:solidFill>
                                                    <a:latin typeface="Cambria Math" panose="02040503050406030204" pitchFamily="18" charset="0"/>
                                                  </a:rPr>
                                                  <m:t>−</m:t>
                                                </m:r>
                                                <m:sSubSup>
                                                  <m:sSubSupPr>
                                                    <m:ctrlPr>
                                                      <a:rPr lang="en-US" sz="1600" b="0" i="1" smtClean="0">
                                                        <a:solidFill>
                                                          <a:schemeClr val="tx1"/>
                                                        </a:solidFill>
                                                        <a:latin typeface="Cambria Math" panose="02040503050406030204" pitchFamily="18" charset="0"/>
                                                      </a:rPr>
                                                    </m:ctrlPr>
                                                  </m:sSubSupPr>
                                                  <m:e>
                                                    <m:r>
                                                      <a:rPr lang="en-US" sz="1600" b="0" i="1" smtClean="0">
                                                        <a:solidFill>
                                                          <a:schemeClr val="tx1"/>
                                                        </a:solidFill>
                                                        <a:latin typeface="Cambria Math" panose="02040503050406030204" pitchFamily="18" charset="0"/>
                                                      </a:rPr>
                                                      <m:t>𝑥</m:t>
                                                    </m:r>
                                                  </m:e>
                                                  <m:sub>
                                                    <m:r>
                                                      <a:rPr lang="en-US" sz="1600" b="0" i="1" smtClean="0">
                                                        <a:solidFill>
                                                          <a:schemeClr val="tx1"/>
                                                        </a:solidFill>
                                                        <a:latin typeface="Cambria Math" panose="02040503050406030204" pitchFamily="18" charset="0"/>
                                                      </a:rPr>
                                                      <m:t>𝑖</m:t>
                                                    </m:r>
                                                  </m:sub>
                                                  <m:sup>
                                                    <m:r>
                                                      <a:rPr lang="en-US" sz="1600" b="0" i="1" smtClean="0">
                                                        <a:solidFill>
                                                          <a:schemeClr val="tx1"/>
                                                        </a:solidFill>
                                                        <a:latin typeface="Cambria Math" panose="02040503050406030204" pitchFamily="18" charset="0"/>
                                                      </a:rPr>
                                                      <m:t>′</m:t>
                                                    </m:r>
                                                  </m:sup>
                                                </m:sSubSup>
                                                <m:acc>
                                                  <m:accPr>
                                                    <m:chr m:val="̂"/>
                                                    <m:ctrlPr>
                                                      <a:rPr lang="en-US" sz="1600" b="0" i="1" smtClean="0">
                                                        <a:solidFill>
                                                          <a:schemeClr val="tx1"/>
                                                        </a:solidFill>
                                                        <a:latin typeface="Cambria Math" panose="02040503050406030204" pitchFamily="18" charset="0"/>
                                                      </a:rPr>
                                                    </m:ctrlPr>
                                                  </m:accPr>
                                                  <m:e>
                                                    <m:r>
                                                      <a:rPr lang="en-US" sz="1600" b="0" i="1" smtClean="0">
                                                        <a:solidFill>
                                                          <a:schemeClr val="tx1"/>
                                                        </a:solidFill>
                                                        <a:latin typeface="Cambria Math" panose="02040503050406030204" pitchFamily="18" charset="0"/>
                                                      </a:rPr>
                                                      <m:t>𝛽</m:t>
                                                    </m:r>
                                                  </m:e>
                                                </m:acc>
                                              </m:e>
                                            </m:d>
                                          </m:e>
                                          <m:sup>
                                            <m:r>
                                              <a:rPr lang="en-US" sz="1600" b="0" i="1" smtClean="0">
                                                <a:solidFill>
                                                  <a:schemeClr val="tx1"/>
                                                </a:solidFill>
                                                <a:latin typeface="Cambria Math" panose="02040503050406030204" pitchFamily="18" charset="0"/>
                                              </a:rPr>
                                              <m:t>2</m:t>
                                            </m:r>
                                          </m:sup>
                                        </m:sSup>
                                      </m:e>
                                    </m:nary>
                                  </m:e>
                                </m:func>
                              </m:oMath>
                            </m:oMathPara>
                          </a14:m>
                          <a:endParaRPr lang="en-US" sz="1600" dirty="0">
                            <a:solidFill>
                              <a:schemeClr val="tx1"/>
                            </a:solidFill>
                          </a:endParaRPr>
                        </a:p>
                      </a:txBody>
                      <a:tcPr anchor="ctr">
                        <a:lnT w="12700" cap="flat" cmpd="sng" algn="ctr">
                          <a:solidFill>
                            <a:schemeClr val="bg1">
                              <a:lumMod val="85000"/>
                            </a:schemeClr>
                          </a:solidFill>
                          <a:prstDash val="solid"/>
                          <a:round/>
                          <a:headEnd type="none" w="med" len="med"/>
                          <a:tailEnd type="none" w="med" len="med"/>
                        </a:lnT>
                      </a:tcPr>
                    </a:tc>
                    <a:tc>
                      <a:txBody>
                        <a:bodyPr/>
                        <a:lstStyle/>
                        <a:p>
                          <a:pPr/>
                          <a14:m>
                            <m:oMathPara xmlns:m="http://schemas.openxmlformats.org/officeDocument/2006/math">
                              <m:oMathParaPr>
                                <m:jc m:val="centerGroup"/>
                              </m:oMathParaPr>
                              <m:oMath xmlns:m="http://schemas.openxmlformats.org/officeDocument/2006/math">
                                <m:func>
                                  <m:funcPr>
                                    <m:ctrlPr>
                                      <a:rPr lang="en-US" sz="1600" i="1" smtClean="0">
                                        <a:solidFill>
                                          <a:schemeClr val="tx1"/>
                                        </a:solidFill>
                                        <a:latin typeface="Cambria Math" panose="02040503050406030204" pitchFamily="18" charset="0"/>
                                      </a:rPr>
                                    </m:ctrlPr>
                                  </m:funcPr>
                                  <m:fName>
                                    <m:limLow>
                                      <m:limLowPr>
                                        <m:ctrlPr>
                                          <a:rPr lang="en-US" sz="1600" i="1" smtClean="0">
                                            <a:solidFill>
                                              <a:schemeClr val="tx1"/>
                                            </a:solidFill>
                                            <a:latin typeface="Cambria Math" panose="02040503050406030204" pitchFamily="18" charset="0"/>
                                          </a:rPr>
                                        </m:ctrlPr>
                                      </m:limLowPr>
                                      <m:e>
                                        <m:r>
                                          <m:rPr>
                                            <m:sty m:val="p"/>
                                          </m:rPr>
                                          <a:rPr lang="en-US" sz="1600" i="0" smtClean="0">
                                            <a:solidFill>
                                              <a:schemeClr val="tx1"/>
                                            </a:solidFill>
                                            <a:latin typeface="Cambria Math" panose="02040503050406030204" pitchFamily="18" charset="0"/>
                                          </a:rPr>
                                          <m:t>min</m:t>
                                        </m:r>
                                      </m:e>
                                      <m:lim>
                                        <m:acc>
                                          <m:accPr>
                                            <m:chr m:val="̂"/>
                                            <m:ctrlPr>
                                              <a:rPr lang="en-US" sz="1600" b="0" i="1" smtClean="0">
                                                <a:solidFill>
                                                  <a:schemeClr val="tx1"/>
                                                </a:solidFill>
                                                <a:latin typeface="Cambria Math" panose="02040503050406030204" pitchFamily="18" charset="0"/>
                                              </a:rPr>
                                            </m:ctrlPr>
                                          </m:accPr>
                                          <m:e>
                                            <m:r>
                                              <a:rPr lang="en-US" sz="1600" b="0" i="1" smtClean="0">
                                                <a:solidFill>
                                                  <a:schemeClr val="tx1"/>
                                                </a:solidFill>
                                                <a:latin typeface="Cambria Math" panose="02040503050406030204" pitchFamily="18" charset="0"/>
                                              </a:rPr>
                                              <m:t>𝛽</m:t>
                                            </m:r>
                                          </m:e>
                                        </m:acc>
                                      </m:lim>
                                    </m:limLow>
                                  </m:fName>
                                  <m:e>
                                    <m:nary>
                                      <m:naryPr>
                                        <m:chr m:val="∑"/>
                                        <m:ctrlPr>
                                          <a:rPr lang="en-US" sz="1600" i="1" smtClean="0">
                                            <a:solidFill>
                                              <a:schemeClr val="tx1"/>
                                            </a:solidFill>
                                            <a:latin typeface="Cambria Math" panose="02040503050406030204" pitchFamily="18" charset="0"/>
                                          </a:rPr>
                                        </m:ctrlPr>
                                      </m:naryPr>
                                      <m:sub>
                                        <m:r>
                                          <m:rPr>
                                            <m:brk m:alnAt="23"/>
                                          </m:rPr>
                                          <a:rPr lang="en-US" sz="1600" b="0" i="1" smtClean="0">
                                            <a:solidFill>
                                              <a:schemeClr val="tx1"/>
                                            </a:solidFill>
                                            <a:latin typeface="Cambria Math" panose="02040503050406030204" pitchFamily="18" charset="0"/>
                                          </a:rPr>
                                          <m:t>𝑖</m:t>
                                        </m:r>
                                        <m:r>
                                          <a:rPr lang="en-US" sz="1600" b="0" i="1" smtClean="0">
                                            <a:solidFill>
                                              <a:schemeClr val="tx1"/>
                                            </a:solidFill>
                                            <a:latin typeface="Cambria Math" panose="02040503050406030204" pitchFamily="18" charset="0"/>
                                          </a:rPr>
                                          <m:t>=1</m:t>
                                        </m:r>
                                      </m:sub>
                                      <m:sup>
                                        <m:r>
                                          <a:rPr lang="en-US" sz="1600" b="0" i="1" smtClean="0">
                                            <a:solidFill>
                                              <a:schemeClr val="tx1"/>
                                            </a:solidFill>
                                            <a:latin typeface="Cambria Math" panose="02040503050406030204" pitchFamily="18" charset="0"/>
                                          </a:rPr>
                                          <m:t>𝑁</m:t>
                                        </m:r>
                                      </m:sup>
                                      <m:e>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𝜌</m:t>
                                            </m:r>
                                          </m:e>
                                          <m:sub>
                                            <m:r>
                                              <a:rPr lang="en-US" sz="1600" b="0" i="1" smtClean="0">
                                                <a:solidFill>
                                                  <a:schemeClr val="tx1"/>
                                                </a:solidFill>
                                                <a:latin typeface="Cambria Math" panose="02040503050406030204" pitchFamily="18" charset="0"/>
                                              </a:rPr>
                                              <m:t>𝜏</m:t>
                                            </m:r>
                                          </m:sub>
                                        </m:sSub>
                                        <m:d>
                                          <m:dPr>
                                            <m:ctrlPr>
                                              <a:rPr lang="en-US" sz="1600" b="0" i="1" smtClean="0">
                                                <a:solidFill>
                                                  <a:schemeClr val="tx1"/>
                                                </a:solidFill>
                                                <a:latin typeface="Cambria Math" panose="02040503050406030204" pitchFamily="18" charset="0"/>
                                              </a:rPr>
                                            </m:ctrlPr>
                                          </m:dPr>
                                          <m:e>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𝑦</m:t>
                                                </m:r>
                                              </m:e>
                                              <m:sub>
                                                <m:r>
                                                  <a:rPr lang="en-US" sz="1600" b="0" i="1" smtClean="0">
                                                    <a:solidFill>
                                                      <a:schemeClr val="tx1"/>
                                                    </a:solidFill>
                                                    <a:latin typeface="Cambria Math" panose="02040503050406030204" pitchFamily="18" charset="0"/>
                                                  </a:rPr>
                                                  <m:t>𝑖</m:t>
                                                </m:r>
                                              </m:sub>
                                            </m:sSub>
                                            <m:r>
                                              <a:rPr lang="en-US" sz="1600" b="0" i="1" smtClean="0">
                                                <a:solidFill>
                                                  <a:schemeClr val="tx1"/>
                                                </a:solidFill>
                                                <a:latin typeface="Cambria Math" panose="02040503050406030204" pitchFamily="18" charset="0"/>
                                              </a:rPr>
                                              <m:t>−</m:t>
                                            </m:r>
                                            <m:sSubSup>
                                              <m:sSubSupPr>
                                                <m:ctrlPr>
                                                  <a:rPr lang="en-US" sz="1600" b="0" i="1" smtClean="0">
                                                    <a:solidFill>
                                                      <a:schemeClr val="tx1"/>
                                                    </a:solidFill>
                                                    <a:latin typeface="Cambria Math" panose="02040503050406030204" pitchFamily="18" charset="0"/>
                                                  </a:rPr>
                                                </m:ctrlPr>
                                              </m:sSubSupPr>
                                              <m:e>
                                                <m:r>
                                                  <a:rPr lang="en-US" sz="1600" b="0" i="1" smtClean="0">
                                                    <a:solidFill>
                                                      <a:schemeClr val="tx1"/>
                                                    </a:solidFill>
                                                    <a:latin typeface="Cambria Math" panose="02040503050406030204" pitchFamily="18" charset="0"/>
                                                  </a:rPr>
                                                  <m:t>𝑥</m:t>
                                                </m:r>
                                              </m:e>
                                              <m:sub>
                                                <m:r>
                                                  <a:rPr lang="en-US" sz="1600" b="0" i="1" smtClean="0">
                                                    <a:solidFill>
                                                      <a:schemeClr val="tx1"/>
                                                    </a:solidFill>
                                                    <a:latin typeface="Cambria Math" panose="02040503050406030204" pitchFamily="18" charset="0"/>
                                                  </a:rPr>
                                                  <m:t>𝑖</m:t>
                                                </m:r>
                                              </m:sub>
                                              <m:sup>
                                                <m:r>
                                                  <a:rPr lang="en-US" sz="1600" b="0" i="1" smtClean="0">
                                                    <a:solidFill>
                                                      <a:schemeClr val="tx1"/>
                                                    </a:solidFill>
                                                    <a:latin typeface="Cambria Math" panose="02040503050406030204" pitchFamily="18" charset="0"/>
                                                  </a:rPr>
                                                  <m:t>′</m:t>
                                                </m:r>
                                              </m:sup>
                                            </m:sSubSup>
                                            <m:acc>
                                              <m:accPr>
                                                <m:chr m:val="̂"/>
                                                <m:ctrlPr>
                                                  <a:rPr lang="en-US" sz="1600" b="0" i="1" smtClean="0">
                                                    <a:solidFill>
                                                      <a:schemeClr val="tx1"/>
                                                    </a:solidFill>
                                                    <a:latin typeface="Cambria Math" panose="02040503050406030204" pitchFamily="18" charset="0"/>
                                                  </a:rPr>
                                                </m:ctrlPr>
                                              </m:accPr>
                                              <m:e>
                                                <m:r>
                                                  <a:rPr lang="en-US" sz="1600" b="0" i="1" smtClean="0">
                                                    <a:solidFill>
                                                      <a:schemeClr val="tx1"/>
                                                    </a:solidFill>
                                                    <a:latin typeface="Cambria Math" panose="02040503050406030204" pitchFamily="18" charset="0"/>
                                                  </a:rPr>
                                                  <m:t>𝛽</m:t>
                                                </m:r>
                                              </m:e>
                                            </m:acc>
                                          </m:e>
                                        </m:d>
                                      </m:e>
                                    </m:nary>
                                  </m:e>
                                </m:func>
                              </m:oMath>
                            </m:oMathPara>
                          </a14:m>
                          <a:endParaRPr lang="en-US" sz="1600" dirty="0">
                            <a:solidFill>
                              <a:schemeClr val="tx1"/>
                            </a:solidFill>
                          </a:endParaRPr>
                        </a:p>
                      </a:txBody>
                      <a:tcPr anchor="ctr">
                        <a:lnT w="12700" cap="flat" cmpd="sng" algn="ctr">
                          <a:solidFill>
                            <a:schemeClr val="bg1">
                              <a:lumMod val="85000"/>
                            </a:schemeClr>
                          </a:solidFill>
                          <a:prstDash val="solid"/>
                          <a:round/>
                          <a:headEnd type="none" w="med" len="med"/>
                          <a:tailEnd type="none" w="med" len="med"/>
                        </a:lnT>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Method of estimation depends on the estimator used </a:t>
                          </a:r>
                          <a:br>
                            <a:rPr lang="en-US" sz="1600" dirty="0">
                              <a:solidFill>
                                <a:schemeClr val="tx1"/>
                              </a:solidFill>
                            </a:rPr>
                          </a:br>
                          <a:r>
                            <a:rPr lang="en-US" sz="1600" dirty="0">
                              <a:solidFill>
                                <a:schemeClr val="tx1"/>
                              </a:solidFill>
                            </a:rPr>
                            <a:t>(e.g., RIF-OLS, RIF-Logit)</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31978337"/>
                      </a:ext>
                    </a:extLst>
                  </a:tr>
                  <a:tr h="640080">
                    <a:tc>
                      <a:txBody>
                        <a:bodyPr/>
                        <a:lstStyle/>
                        <a:p>
                          <a:pPr algn="r"/>
                          <a:r>
                            <a:rPr lang="en-US" sz="1600" dirty="0"/>
                            <a:t>Solution</a:t>
                          </a:r>
                        </a:p>
                      </a:txBody>
                      <a:tcPr anchor="ctr">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Analytic solution</a:t>
                          </a:r>
                        </a:p>
                      </a:txBody>
                      <a:tcPr anchor="ctr">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Linear programming methods</a:t>
                          </a:r>
                        </a:p>
                      </a:txBody>
                      <a:tcPr anchor="ctr">
                        <a:lnB w="12700" cap="flat" cmpd="sng" algn="ctr">
                          <a:solidFill>
                            <a:schemeClr val="bg1">
                              <a:lumMod val="85000"/>
                            </a:schemeClr>
                          </a:solidFill>
                          <a:prstDash val="solid"/>
                          <a:round/>
                          <a:headEnd type="none" w="med" len="med"/>
                          <a:tailEnd type="none" w="med" len="med"/>
                        </a:lnB>
                      </a:tcPr>
                    </a:tc>
                    <a:tc vMerge="1">
                      <a:txBody>
                        <a:bodyPr/>
                        <a:lstStyle/>
                        <a:p>
                          <a:pPr algn="ctr"/>
                          <a:r>
                            <a:rPr lang="en-US" dirty="0">
                              <a:solidFill>
                                <a:schemeClr val="tx1"/>
                              </a:solidFill>
                            </a:rPr>
                            <a:t>Many, including OLS</a:t>
                          </a:r>
                        </a:p>
                      </a:txBody>
                      <a:tcPr anchor="ctr">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20005246"/>
                      </a:ext>
                    </a:extLst>
                  </a:tr>
                  <a:tr h="370840">
                    <a:tc>
                      <a:txBody>
                        <a:bodyPr/>
                        <a:lstStyle/>
                        <a:p>
                          <a:r>
                            <a:rPr lang="en-US" sz="1600" dirty="0">
                              <a:solidFill>
                                <a:schemeClr val="tx1"/>
                              </a:solidFill>
                            </a:rPr>
                            <a:t>Estimating standard errors</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Several estimators are available + bootstrap</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Several estimators are available and key point is that we need to estimate the error density + bootstrap</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Same estimators available as would be for the choice of estimator</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7421977"/>
                      </a:ext>
                    </a:extLst>
                  </a:tr>
                  <a:tr h="548640">
                    <a:tc>
                      <a:txBody>
                        <a:bodyPr/>
                        <a:lstStyle/>
                        <a:p>
                          <a:r>
                            <a:rPr lang="en-US" sz="1600" dirty="0"/>
                            <a:t>Interpretation</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One unit increase in the independent variable of interest is associated with a </a:t>
                          </a:r>
                          <a14:m>
                            <m:oMath xmlns:m="http://schemas.openxmlformats.org/officeDocument/2006/math">
                              <m:acc>
                                <m:accPr>
                                  <m:chr m:val="̂"/>
                                  <m:ctrlPr>
                                    <a:rPr lang="en-US" sz="1600" b="0" i="1" smtClean="0">
                                      <a:solidFill>
                                        <a:schemeClr val="tx1"/>
                                      </a:solidFill>
                                      <a:latin typeface="Cambria Math" panose="02040503050406030204" pitchFamily="18" charset="0"/>
                                    </a:rPr>
                                  </m:ctrlPr>
                                </m:accPr>
                                <m:e>
                                  <m:r>
                                    <a:rPr lang="en-US" sz="1600" b="0" i="1" smtClean="0">
                                      <a:solidFill>
                                        <a:schemeClr val="tx1"/>
                                      </a:solidFill>
                                      <a:latin typeface="Cambria Math" panose="02040503050406030204" pitchFamily="18" charset="0"/>
                                    </a:rPr>
                                    <m:t>𝛽</m:t>
                                  </m:r>
                                </m:e>
                              </m:acc>
                            </m:oMath>
                          </a14:m>
                          <a:r>
                            <a:rPr lang="en-US" sz="1600" dirty="0">
                              <a:solidFill>
                                <a:schemeClr val="tx1"/>
                              </a:solidFill>
                            </a:rPr>
                            <a:t> unit</a:t>
                          </a:r>
                          <a:r>
                            <a:rPr lang="en-US" sz="1600" baseline="0" dirty="0">
                              <a:solidFill>
                                <a:schemeClr val="tx1"/>
                              </a:solidFill>
                            </a:rPr>
                            <a:t> change</a:t>
                          </a:r>
                          <a:r>
                            <a:rPr lang="en-US" sz="1600" dirty="0">
                              <a:solidFill>
                                <a:schemeClr val="tx1"/>
                              </a:solidFill>
                            </a:rPr>
                            <a:t> in the conditional</a:t>
                          </a:r>
                          <a:r>
                            <a:rPr lang="en-US" sz="1600" baseline="0" dirty="0">
                              <a:solidFill>
                                <a:schemeClr val="tx1"/>
                              </a:solidFill>
                            </a:rPr>
                            <a:t> mean of the outcome</a:t>
                          </a:r>
                          <a:endParaRPr lang="en-US" sz="1600" dirty="0">
                            <a:solidFill>
                              <a:schemeClr val="tx1"/>
                            </a:solidFill>
                          </a:endParaRP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One unit increase in the independent</a:t>
                          </a:r>
                          <a:r>
                            <a:rPr lang="en-US" sz="1600" baseline="0" dirty="0">
                              <a:solidFill>
                                <a:schemeClr val="tx1"/>
                              </a:solidFill>
                            </a:rPr>
                            <a:t> variable of interest is associated with a </a:t>
                          </a:r>
                          <a14:m>
                            <m:oMath xmlns:m="http://schemas.openxmlformats.org/officeDocument/2006/math">
                              <m:acc>
                                <m:accPr>
                                  <m:chr m:val="̂"/>
                                  <m:ctrlPr>
                                    <a:rPr lang="en-US" sz="1600" b="0" i="1" smtClean="0">
                                      <a:solidFill>
                                        <a:schemeClr val="tx1"/>
                                      </a:solidFill>
                                      <a:latin typeface="Cambria Math" panose="02040503050406030204" pitchFamily="18" charset="0"/>
                                    </a:rPr>
                                  </m:ctrlPr>
                                </m:accPr>
                                <m:e>
                                  <m:r>
                                    <a:rPr lang="en-US" sz="1600" b="0" i="1" smtClean="0">
                                      <a:solidFill>
                                        <a:schemeClr val="tx1"/>
                                      </a:solidFill>
                                      <a:latin typeface="Cambria Math" panose="02040503050406030204" pitchFamily="18" charset="0"/>
                                    </a:rPr>
                                    <m:t>𝛽</m:t>
                                  </m:r>
                                </m:e>
                              </m:acc>
                            </m:oMath>
                          </a14:m>
                          <a:r>
                            <a:rPr lang="en-US" sz="1600" dirty="0">
                              <a:solidFill>
                                <a:schemeClr val="tx1"/>
                              </a:solidFill>
                            </a:rPr>
                            <a:t> unit change</a:t>
                          </a:r>
                          <a:r>
                            <a:rPr lang="en-US" sz="1600" baseline="0" dirty="0">
                              <a:solidFill>
                                <a:schemeClr val="tx1"/>
                              </a:solidFill>
                            </a:rPr>
                            <a:t> in </a:t>
                          </a:r>
                          <a:r>
                            <a:rPr lang="en-US" sz="1600" dirty="0">
                              <a:solidFill>
                                <a:schemeClr val="tx1"/>
                              </a:solidFill>
                            </a:rPr>
                            <a:t>the </a:t>
                          </a:r>
                          <a14:m>
                            <m:oMath xmlns:m="http://schemas.openxmlformats.org/officeDocument/2006/math">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𝜏</m:t>
                                  </m:r>
                                </m:e>
                                <m:sup>
                                  <m:r>
                                    <a:rPr lang="en-US" sz="1600" b="0" i="1" smtClean="0">
                                      <a:solidFill>
                                        <a:schemeClr val="tx1"/>
                                      </a:solidFill>
                                      <a:latin typeface="Cambria Math" panose="02040503050406030204" pitchFamily="18" charset="0"/>
                                    </a:rPr>
                                    <m:t>𝑡h</m:t>
                                  </m:r>
                                </m:sup>
                              </m:sSup>
                            </m:oMath>
                          </a14:m>
                          <a:r>
                            <a:rPr lang="en-US" sz="1600" dirty="0">
                              <a:solidFill>
                                <a:schemeClr val="tx1"/>
                              </a:solidFill>
                            </a:rPr>
                            <a:t> quantile of the conditional outcome distribution</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One unit increase in the mean of the independent variable of interest is associated</a:t>
                          </a:r>
                          <a:r>
                            <a:rPr lang="en-US" sz="1600" baseline="0" dirty="0">
                              <a:solidFill>
                                <a:schemeClr val="tx1"/>
                              </a:solidFill>
                            </a:rPr>
                            <a:t> with a </a:t>
                          </a:r>
                          <a14:m>
                            <m:oMath xmlns:m="http://schemas.openxmlformats.org/officeDocument/2006/math">
                              <m:acc>
                                <m:accPr>
                                  <m:chr m:val="̂"/>
                                  <m:ctrlPr>
                                    <a:rPr lang="en-US" sz="1600" b="0" i="1" smtClean="0">
                                      <a:solidFill>
                                        <a:schemeClr val="tx1"/>
                                      </a:solidFill>
                                      <a:latin typeface="Cambria Math" panose="02040503050406030204" pitchFamily="18" charset="0"/>
                                    </a:rPr>
                                  </m:ctrlPr>
                                </m:accPr>
                                <m:e>
                                  <m:r>
                                    <a:rPr lang="en-US" sz="1600" b="0" i="1" smtClean="0">
                                      <a:solidFill>
                                        <a:schemeClr val="tx1"/>
                                      </a:solidFill>
                                      <a:latin typeface="Cambria Math" panose="02040503050406030204" pitchFamily="18" charset="0"/>
                                    </a:rPr>
                                    <m:t>𝛽</m:t>
                                  </m:r>
                                </m:e>
                              </m:acc>
                            </m:oMath>
                          </a14:m>
                          <a:r>
                            <a:rPr lang="en-US" sz="1600" dirty="0">
                              <a:solidFill>
                                <a:schemeClr val="tx1"/>
                              </a:solidFill>
                            </a:rPr>
                            <a:t> unit change</a:t>
                          </a:r>
                          <a:r>
                            <a:rPr lang="en-US" sz="1600" baseline="0" dirty="0">
                              <a:solidFill>
                                <a:schemeClr val="tx1"/>
                              </a:solidFill>
                            </a:rPr>
                            <a:t> in</a:t>
                          </a:r>
                          <a:r>
                            <a:rPr lang="en-US" sz="1600" dirty="0">
                              <a:solidFill>
                                <a:schemeClr val="tx1"/>
                              </a:solidFill>
                            </a:rPr>
                            <a:t> the </a:t>
                          </a:r>
                          <a14:m>
                            <m:oMath xmlns:m="http://schemas.openxmlformats.org/officeDocument/2006/math">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𝜏</m:t>
                                  </m:r>
                                </m:e>
                                <m:sup>
                                  <m:r>
                                    <a:rPr lang="en-US" sz="1600" b="0" i="1" smtClean="0">
                                      <a:solidFill>
                                        <a:schemeClr val="tx1"/>
                                      </a:solidFill>
                                      <a:latin typeface="Cambria Math" panose="02040503050406030204" pitchFamily="18" charset="0"/>
                                    </a:rPr>
                                    <m:t>𝑡h</m:t>
                                  </m:r>
                                </m:sup>
                              </m:sSup>
                            </m:oMath>
                          </a14:m>
                          <a:r>
                            <a:rPr lang="en-US" sz="1600" dirty="0">
                              <a:solidFill>
                                <a:schemeClr val="tx1"/>
                              </a:solidFill>
                            </a:rPr>
                            <a:t> quantile of the unconditional outcome distribution</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5207593"/>
                      </a:ext>
                    </a:extLst>
                  </a:tr>
                </a:tbl>
              </a:graphicData>
            </a:graphic>
          </p:graphicFrame>
        </mc:Choice>
        <mc:Fallback xmlns="">
          <p:graphicFrame>
            <p:nvGraphicFramePr>
              <p:cNvPr id="3" name="Table 2">
                <a:extLst>
                  <a:ext uri="{FF2B5EF4-FFF2-40B4-BE49-F238E27FC236}">
                    <a16:creationId xmlns:a16="http://schemas.microsoft.com/office/drawing/2014/main" id="{99DD0E60-1FCA-F0BC-90D5-0E85DE213A05}"/>
                  </a:ext>
                </a:extLst>
              </p:cNvPr>
              <p:cNvGraphicFramePr>
                <a:graphicFrameLocks noGrp="1"/>
              </p:cNvGraphicFramePr>
              <p:nvPr>
                <p:extLst>
                  <p:ext uri="{D42A27DB-BD31-4B8C-83A1-F6EECF244321}">
                    <p14:modId xmlns:p14="http://schemas.microsoft.com/office/powerpoint/2010/main" val="1127749703"/>
                  </p:ext>
                </p:extLst>
              </p:nvPr>
            </p:nvGraphicFramePr>
            <p:xfrm>
              <a:off x="222202" y="379952"/>
              <a:ext cx="11747596" cy="6098096"/>
            </p:xfrm>
            <a:graphic>
              <a:graphicData uri="http://schemas.openxmlformats.org/drawingml/2006/table">
                <a:tbl>
                  <a:tblPr firstRow="1" bandRow="1">
                    <a:tableStyleId>{2D5ABB26-0587-4C30-8999-92F81FD0307C}</a:tableStyleId>
                  </a:tblPr>
                  <a:tblGrid>
                    <a:gridCol w="2633083">
                      <a:extLst>
                        <a:ext uri="{9D8B030D-6E8A-4147-A177-3AD203B41FA5}">
                          <a16:colId xmlns:a16="http://schemas.microsoft.com/office/drawing/2014/main" val="2485563793"/>
                        </a:ext>
                      </a:extLst>
                    </a:gridCol>
                    <a:gridCol w="3038171">
                      <a:extLst>
                        <a:ext uri="{9D8B030D-6E8A-4147-A177-3AD203B41FA5}">
                          <a16:colId xmlns:a16="http://schemas.microsoft.com/office/drawing/2014/main" val="1972392090"/>
                        </a:ext>
                      </a:extLst>
                    </a:gridCol>
                    <a:gridCol w="3038171">
                      <a:extLst>
                        <a:ext uri="{9D8B030D-6E8A-4147-A177-3AD203B41FA5}">
                          <a16:colId xmlns:a16="http://schemas.microsoft.com/office/drawing/2014/main" val="2831166234"/>
                        </a:ext>
                      </a:extLst>
                    </a:gridCol>
                    <a:gridCol w="3038171">
                      <a:extLst>
                        <a:ext uri="{9D8B030D-6E8A-4147-A177-3AD203B41FA5}">
                          <a16:colId xmlns:a16="http://schemas.microsoft.com/office/drawing/2014/main" val="1146948457"/>
                        </a:ext>
                      </a:extLst>
                    </a:gridCol>
                  </a:tblGrid>
                  <a:tr h="579120">
                    <a:tc>
                      <a:txBody>
                        <a:bodyPr/>
                        <a:lstStyle/>
                        <a:p>
                          <a:endParaRPr lang="en-US" sz="16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rgbClr val="468C8A"/>
                              </a:solidFill>
                            </a:rPr>
                            <a:t>Linear Regression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rgbClr val="468C8A"/>
                              </a:solidFill>
                            </a:rPr>
                            <a:t>Conditional Quantile Regression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solidFill>
                                <a:srgbClr val="468C8A"/>
                              </a:solidFill>
                            </a:rPr>
                            <a:t>Unconditional Quantile Regression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6389442"/>
                      </a:ext>
                    </a:extLst>
                  </a:tr>
                  <a:tr h="640080">
                    <a:tc>
                      <a:txBody>
                        <a:bodyPr/>
                        <a:lstStyle/>
                        <a:p>
                          <a:r>
                            <a:rPr lang="en-US" sz="1600" dirty="0"/>
                            <a:t>Model</a:t>
                          </a:r>
                        </a:p>
                      </a:txBody>
                      <a:tcPr anchor="ct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endParaRPr lang="en-US"/>
                        </a:p>
                      </a:txBody>
                      <a:tcPr anchor="ct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blipFill>
                          <a:blip r:embed="rId2"/>
                          <a:stretch>
                            <a:fillRect l="-87029" t="-94000" r="-200837" b="-784000"/>
                          </a:stretch>
                        </a:blipFill>
                      </a:tcPr>
                    </a:tc>
                    <a:tc>
                      <a:txBody>
                        <a:bodyPr/>
                        <a:lstStyle/>
                        <a:p>
                          <a:endParaRPr lang="en-US"/>
                        </a:p>
                      </a:txBody>
                      <a:tcPr anchor="ct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blipFill>
                          <a:blip r:embed="rId2"/>
                          <a:stretch>
                            <a:fillRect l="-186250" t="-94000" r="-100000" b="-784000"/>
                          </a:stretch>
                        </a:blipFill>
                      </a:tcPr>
                    </a:tc>
                    <a:tc>
                      <a:txBody>
                        <a:bodyPr/>
                        <a:lstStyle/>
                        <a:p>
                          <a:endParaRPr lang="en-US"/>
                        </a:p>
                      </a:txBody>
                      <a:tcPr anchor="ct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blipFill>
                          <a:blip r:embed="rId2"/>
                          <a:stretch>
                            <a:fillRect l="-287448" t="-94000" r="-418" b="-784000"/>
                          </a:stretch>
                        </a:blipFill>
                      </a:tcPr>
                    </a:tc>
                    <a:extLst>
                      <a:ext uri="{0D108BD9-81ED-4DB2-BD59-A6C34878D82A}">
                        <a16:rowId xmlns:a16="http://schemas.microsoft.com/office/drawing/2014/main" val="3364835753"/>
                      </a:ext>
                    </a:extLst>
                  </a:tr>
                  <a:tr h="822960">
                    <a:tc>
                      <a:txBody>
                        <a:bodyPr/>
                        <a:lstStyle/>
                        <a:p>
                          <a:r>
                            <a:rPr lang="en-US" sz="1600" dirty="0"/>
                            <a:t>Error</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Standard assumptions about the error term (</a:t>
                          </a:r>
                          <a:r>
                            <a:rPr lang="en-US" sz="1600" dirty="0" err="1">
                              <a:solidFill>
                                <a:schemeClr val="tx1"/>
                              </a:solidFill>
                            </a:rPr>
                            <a:t>iid</a:t>
                          </a:r>
                          <a:r>
                            <a:rPr lang="en-US" sz="1600" dirty="0">
                              <a:solidFill>
                                <a:schemeClr val="tx1"/>
                              </a:solidFill>
                            </a:rPr>
                            <a:t>, Normal distribution) are usually violated</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No distributional assumption is made about the error</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No explicit assumption, but likely the same assumptions as the estimation strategy used</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643586111"/>
                      </a:ext>
                    </a:extLst>
                  </a:tr>
                  <a:tr h="777050">
                    <a:tc>
                      <a:txBody>
                        <a:bodyPr/>
                        <a:lstStyle/>
                        <a:p>
                          <a:r>
                            <a:rPr lang="en-US" sz="1600" dirty="0"/>
                            <a:t>Estimating coefficients</a:t>
                          </a:r>
                        </a:p>
                      </a:txBody>
                      <a:tcPr anchor="ctr">
                        <a:lnT w="12700" cap="flat" cmpd="sng" algn="ctr">
                          <a:solidFill>
                            <a:schemeClr val="bg1">
                              <a:lumMod val="85000"/>
                            </a:schemeClr>
                          </a:solidFill>
                          <a:prstDash val="solid"/>
                          <a:round/>
                          <a:headEnd type="none" w="med" len="med"/>
                          <a:tailEnd type="none" w="med" len="med"/>
                        </a:lnT>
                      </a:tcPr>
                    </a:tc>
                    <a:tc>
                      <a:txBody>
                        <a:bodyPr/>
                        <a:lstStyle/>
                        <a:p>
                          <a:endParaRPr lang="en-US"/>
                        </a:p>
                      </a:txBody>
                      <a:tcPr anchor="ctr">
                        <a:lnT w="12700" cap="flat" cmpd="sng" algn="ctr">
                          <a:solidFill>
                            <a:schemeClr val="bg1">
                              <a:lumMod val="85000"/>
                            </a:schemeClr>
                          </a:solidFill>
                          <a:prstDash val="solid"/>
                          <a:round/>
                          <a:headEnd type="none" w="med" len="med"/>
                          <a:tailEnd type="none" w="med" len="med"/>
                        </a:lnT>
                        <a:blipFill>
                          <a:blip r:embed="rId2"/>
                          <a:stretch>
                            <a:fillRect l="-87029" t="-261290" r="-200837" b="-427419"/>
                          </a:stretch>
                        </a:blipFill>
                      </a:tcPr>
                    </a:tc>
                    <a:tc>
                      <a:txBody>
                        <a:bodyPr/>
                        <a:lstStyle/>
                        <a:p>
                          <a:endParaRPr lang="en-US"/>
                        </a:p>
                      </a:txBody>
                      <a:tcPr anchor="ctr">
                        <a:lnT w="12700" cap="flat" cmpd="sng" algn="ctr">
                          <a:solidFill>
                            <a:schemeClr val="bg1">
                              <a:lumMod val="85000"/>
                            </a:schemeClr>
                          </a:solidFill>
                          <a:prstDash val="solid"/>
                          <a:round/>
                          <a:headEnd type="none" w="med" len="med"/>
                          <a:tailEnd type="none" w="med" len="med"/>
                        </a:lnT>
                        <a:blipFill>
                          <a:blip r:embed="rId2"/>
                          <a:stretch>
                            <a:fillRect l="-186250" t="-261290" r="-100000" b="-427419"/>
                          </a:stretch>
                        </a:blip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Method of estimation depends on the estimator used </a:t>
                          </a:r>
                          <a:br>
                            <a:rPr lang="en-US" sz="1600" dirty="0">
                              <a:solidFill>
                                <a:schemeClr val="tx1"/>
                              </a:solidFill>
                            </a:rPr>
                          </a:br>
                          <a:r>
                            <a:rPr lang="en-US" sz="1600" dirty="0">
                              <a:solidFill>
                                <a:schemeClr val="tx1"/>
                              </a:solidFill>
                            </a:rPr>
                            <a:t>(e.g., RIF-OLS, RIF-Logit)</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31978337"/>
                      </a:ext>
                    </a:extLst>
                  </a:tr>
                  <a:tr h="640080">
                    <a:tc>
                      <a:txBody>
                        <a:bodyPr/>
                        <a:lstStyle/>
                        <a:p>
                          <a:pPr algn="r"/>
                          <a:r>
                            <a:rPr lang="en-US" sz="1600" dirty="0"/>
                            <a:t>Solution</a:t>
                          </a:r>
                        </a:p>
                      </a:txBody>
                      <a:tcPr anchor="ctr">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Analytic solution</a:t>
                          </a:r>
                        </a:p>
                      </a:txBody>
                      <a:tcPr anchor="ctr">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Linear programming methods</a:t>
                          </a:r>
                        </a:p>
                      </a:txBody>
                      <a:tcPr anchor="ctr">
                        <a:lnB w="12700" cap="flat" cmpd="sng" algn="ctr">
                          <a:solidFill>
                            <a:schemeClr val="bg1">
                              <a:lumMod val="85000"/>
                            </a:schemeClr>
                          </a:solidFill>
                          <a:prstDash val="solid"/>
                          <a:round/>
                          <a:headEnd type="none" w="med" len="med"/>
                          <a:tailEnd type="none" w="med" len="med"/>
                        </a:lnB>
                      </a:tcPr>
                    </a:tc>
                    <a:tc vMerge="1">
                      <a:txBody>
                        <a:bodyPr/>
                        <a:lstStyle/>
                        <a:p>
                          <a:pPr algn="ctr"/>
                          <a:r>
                            <a:rPr lang="en-US" dirty="0">
                              <a:solidFill>
                                <a:schemeClr val="tx1"/>
                              </a:solidFill>
                            </a:rPr>
                            <a:t>Many, including OLS</a:t>
                          </a:r>
                        </a:p>
                      </a:txBody>
                      <a:tcPr anchor="ctr">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20005246"/>
                      </a:ext>
                    </a:extLst>
                  </a:tr>
                  <a:tr h="1066800">
                    <a:tc>
                      <a:txBody>
                        <a:bodyPr/>
                        <a:lstStyle/>
                        <a:p>
                          <a:r>
                            <a:rPr lang="en-US" sz="1600" dirty="0">
                              <a:solidFill>
                                <a:schemeClr val="tx1"/>
                              </a:solidFill>
                            </a:rPr>
                            <a:t>Estimating standard errors</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Several estimators are available + bootstrap</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tx1"/>
                              </a:solidFill>
                            </a:rPr>
                            <a:t>Several estimators are available and key point is that we need to estimate the error density + bootstrap</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Same estimators available as would be for the choice of estimator</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7421977"/>
                      </a:ext>
                    </a:extLst>
                  </a:tr>
                  <a:tr h="1572006">
                    <a:tc>
                      <a:txBody>
                        <a:bodyPr/>
                        <a:lstStyle/>
                        <a:p>
                          <a:r>
                            <a:rPr lang="en-US" sz="1600" dirty="0"/>
                            <a:t>Interpretation</a:t>
                          </a:r>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029" t="-289516" r="-200837" b="-4839"/>
                          </a:stretch>
                        </a:blipFill>
                      </a:tcPr>
                    </a:tc>
                    <a:tc>
                      <a:txBody>
                        <a:bodyPr/>
                        <a:lstStyle/>
                        <a:p>
                          <a:endParaRPr lang="en-US"/>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6250" t="-289516" r="-100000" b="-4839"/>
                          </a:stretch>
                        </a:blipFill>
                      </a:tcPr>
                    </a:tc>
                    <a:tc>
                      <a:txBody>
                        <a:bodyPr/>
                        <a:lstStyle/>
                        <a:p>
                          <a:endParaRPr lang="en-US"/>
                        </a:p>
                      </a:txBody>
                      <a:tcPr anchor="ct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87448" t="-289516" r="-418" b="-4839"/>
                          </a:stretch>
                        </a:blipFill>
                      </a:tcPr>
                    </a:tc>
                    <a:extLst>
                      <a:ext uri="{0D108BD9-81ED-4DB2-BD59-A6C34878D82A}">
                        <a16:rowId xmlns:a16="http://schemas.microsoft.com/office/drawing/2014/main" val="2715207593"/>
                      </a:ext>
                    </a:extLst>
                  </a:tr>
                </a:tbl>
              </a:graphicData>
            </a:graphic>
          </p:graphicFrame>
        </mc:Fallback>
      </mc:AlternateContent>
    </p:spTree>
    <p:extLst>
      <p:ext uri="{BB962C8B-B14F-4D97-AF65-F5344CB8AC3E}">
        <p14:creationId xmlns:p14="http://schemas.microsoft.com/office/powerpoint/2010/main" val="4178999990"/>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51040</TotalTime>
  <Words>6908</Words>
  <Application>Microsoft Macintosh PowerPoint</Application>
  <PresentationFormat>Widescreen</PresentationFormat>
  <Paragraphs>970</Paragraphs>
  <Slides>156</Slides>
  <Notes>150</Notes>
  <HiddenSlides>7</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156</vt:i4>
      </vt:variant>
    </vt:vector>
  </HeadingPairs>
  <TitlesOfParts>
    <vt:vector size="162" baseType="lpstr">
      <vt:lpstr>Cambria Math</vt:lpstr>
      <vt:lpstr>Calibri</vt:lpstr>
      <vt:lpstr>Wingdings</vt:lpstr>
      <vt:lpstr>Courier New</vt:lpstr>
      <vt:lpstr>Arial</vt:lpstr>
      <vt:lpstr>Office Theme</vt:lpstr>
      <vt:lpstr>Have you registered with the HRS?</vt:lpstr>
      <vt:lpstr>A Primer on Quantile Regression for Epidemiologists</vt:lpstr>
      <vt:lpstr>Funding and acknowledgements</vt:lpstr>
      <vt:lpstr>PowerPoint Presentation</vt:lpstr>
      <vt:lpstr>Teaching resources</vt:lpstr>
      <vt:lpstr>Overall learning aims</vt:lpstr>
      <vt:lpstr>Overall learning aims</vt:lpstr>
      <vt:lpstr>Overall learning aims</vt:lpstr>
      <vt:lpstr>Quantile regressions at work</vt:lpstr>
      <vt:lpstr>Breastfeeding and childhood obesity Beyerlein et. al. (2012)</vt:lpstr>
      <vt:lpstr>Breastfeeding reduced BMI values at high levels and increased BMI values at low levels</vt:lpstr>
      <vt:lpstr>Linear regression results suggest no association between breastfeeding and BMI</vt:lpstr>
      <vt:lpstr>A potential resolution of the inconsistency in the meta-analysis results</vt:lpstr>
      <vt:lpstr>Previewing our practical example </vt:lpstr>
      <vt:lpstr>The tails matter too: case of blood pressure</vt:lpstr>
      <vt:lpstr>Previewing our practical example</vt:lpstr>
      <vt:lpstr>Terminology we use interchangeably</vt:lpstr>
      <vt:lpstr>Terminology we use interchangeably</vt:lpstr>
      <vt:lpstr>Terminology we use interchangeably</vt:lpstr>
      <vt:lpstr>Terminology we use interchangeably</vt:lpstr>
      <vt:lpstr>Terminology we use interchangeably</vt:lpstr>
      <vt:lpstr>Abbreviations</vt:lpstr>
      <vt:lpstr>Outline of the workshop</vt:lpstr>
      <vt:lpstr>Key takeaways from this workshop</vt:lpstr>
      <vt:lpstr>Linear regression and Conditional quantile regressions (CQR)</vt:lpstr>
      <vt:lpstr>Objective: Quantify the association of education with SBP</vt:lpstr>
      <vt:lpstr>Calculate mean SBP by education level (i.e., the conditional expectation)</vt:lpstr>
      <vt:lpstr>Conditional expectation function (CEF) links the conditional means</vt:lpstr>
      <vt:lpstr>Linear regression line ≈ CEF</vt:lpstr>
      <vt:lpstr>E[SBP│schlyrs]=β_0+β_1 schlyrs_i</vt:lpstr>
      <vt:lpstr>Let’s try this in R lm(sbp ~ schlyrs)</vt:lpstr>
      <vt:lpstr>Poll Time!</vt:lpstr>
      <vt:lpstr>Interpreting coefficients of a simple linear regression</vt:lpstr>
      <vt:lpstr>Since it is a model of the conditional expectation function, linear regression estimates how the mean of the outcome changes as we change the exposure by one unit</vt:lpstr>
      <vt:lpstr>What if we want to calculate estimates for how other parts of the distribution change as we change the exposure by one unit?</vt:lpstr>
      <vt:lpstr>PowerPoint Presentation</vt:lpstr>
      <vt:lpstr>Poll Time!</vt:lpstr>
      <vt:lpstr>Interpreting CQR results follows the same framework as interpreting linear regression results, except estimates are now about how the quantile of interest of the outcome changes  (as opposed to the mean)</vt:lpstr>
      <vt:lpstr>Imagine that we calculated the conditional 25th quantile instead</vt:lpstr>
      <vt:lpstr>Conditional quantile function (CQF) at the 25th quantile</vt:lpstr>
      <vt:lpstr>Conditional quantile regression line ≈ CQF</vt:lpstr>
      <vt:lpstr>Q_τ (SBP|schlyrs)=α_(0, τ)+α_(1, τ) schlyrs_i</vt:lpstr>
      <vt:lpstr>Q_(0.25) (SBP|schlyrs)=α_(0, 0.25)+α_(1, 0.25) schlyrs_i</vt:lpstr>
      <vt:lpstr>Interpreting coefficients of a univariate conditional quantile regression line</vt:lpstr>
      <vt:lpstr>Just as linear regression models the conditional expectation function, conditional quantile regression models the conditional quantile function</vt:lpstr>
      <vt:lpstr>PowerPoint Presentation</vt:lpstr>
      <vt:lpstr>Regression lines ≈ Conditional functions </vt:lpstr>
      <vt:lpstr>Coefficients of the population linear regression line</vt:lpstr>
      <vt:lpstr>Estimating linear regression coefficients in our sample</vt:lpstr>
      <vt:lpstr>Ordinary Least Squares (OLS)</vt:lpstr>
      <vt:lpstr>How do we estimate coefficients of a conditional quantile regression?</vt:lpstr>
      <vt:lpstr>PowerPoint Presentation</vt:lpstr>
      <vt:lpstr>Coefficients of the population conditional quantile regression line</vt:lpstr>
      <vt:lpstr>The rho function</vt:lpstr>
      <vt:lpstr>Contextualizing rho (the special case)</vt:lpstr>
      <vt:lpstr>Contextualizing rho (all other cases)</vt:lpstr>
      <vt:lpstr>Estimating conditional quantile regression coefficients in our sample</vt:lpstr>
      <vt:lpstr>PowerPoint Presentation</vt:lpstr>
      <vt:lpstr>Why is the mean model one of the most common choices of method for analyses? </vt:lpstr>
      <vt:lpstr>What about heterogeneous effects?</vt:lpstr>
      <vt:lpstr>Linear regression results suggest no association between breastfeeding and BMI</vt:lpstr>
      <vt:lpstr>Breastfeeding increased BMI values at low levels and reduced BMI values at high levels </vt:lpstr>
      <vt:lpstr>Imagine that a treatment shifts the outcome distribution uniformly</vt:lpstr>
      <vt:lpstr>Difference in means </vt:lpstr>
      <vt:lpstr>Difference in means = difference in 75th percentiles</vt:lpstr>
      <vt:lpstr>Imagine that a treatment affects the outcome distribution’s scale only</vt:lpstr>
      <vt:lpstr>Difference in means </vt:lpstr>
      <vt:lpstr>Difference in means ≠ difference in 75th percentiles</vt:lpstr>
      <vt:lpstr>Means may tell tall tales about tails (repeat that 5 times fast)</vt:lpstr>
      <vt:lpstr>But in reality, the changes might not be so dramatic</vt:lpstr>
      <vt:lpstr>Distribution for participants with 12 years of education</vt:lpstr>
      <vt:lpstr>Linear Regression Counterfactual Distribution (12 years)</vt:lpstr>
      <vt:lpstr>CQR Counterfactual Distribution  (12 years)</vt:lpstr>
      <vt:lpstr>Why do we care about distributions?</vt:lpstr>
      <vt:lpstr>The tails matter too: case of blood pressure</vt:lpstr>
      <vt:lpstr>“Geoffrey Rose’s big idea”*</vt:lpstr>
      <vt:lpstr>Illustrating Rose’s big idea</vt:lpstr>
      <vt:lpstr>High risk approach for prevention</vt:lpstr>
      <vt:lpstr>Population approach for prevention</vt:lpstr>
      <vt:lpstr>Prevention approaches</vt:lpstr>
      <vt:lpstr>Equity in Epidemiology  (and Research)</vt:lpstr>
      <vt:lpstr>Any other reasons to use quantile regressions?</vt:lpstr>
      <vt:lpstr>Quantile regressions are robust</vt:lpstr>
      <vt:lpstr>PowerPoint Presentation</vt:lpstr>
      <vt:lpstr>Distribution of SBP in our sample</vt:lpstr>
      <vt:lpstr>Robust quantiles: Most quantiles unaffected by top/bottom coding</vt:lpstr>
      <vt:lpstr>Robust quantiles: Most quantiles unaffected by top/bottom coding  </vt:lpstr>
      <vt:lpstr>Robust quantiles: Equivariance to monotonic transformations</vt:lpstr>
      <vt:lpstr>10-minute break</vt:lpstr>
      <vt:lpstr>Poll Time!</vt:lpstr>
      <vt:lpstr>Why can(’t) we use CQR estimates to to get estimates for the unconditional distribution?</vt:lpstr>
      <vt:lpstr>According to Borah and Basu (2013)</vt:lpstr>
      <vt:lpstr>Controversy about the motherhood wage penalty for low-wage women</vt:lpstr>
      <vt:lpstr>Variation in motherhood wage penalty Budig et. al. (2010)</vt:lpstr>
      <vt:lpstr>“Mothers who can least afford to lose wages are the ones incurring the largest proportionate penalties”</vt:lpstr>
      <vt:lpstr>A combative commentary on the Budig et. al. paper</vt:lpstr>
      <vt:lpstr>Killewald’s key critique</vt:lpstr>
      <vt:lpstr>More appropriate method changes the main results!</vt:lpstr>
      <vt:lpstr>Implications of new results using appropriate methods</vt:lpstr>
      <vt:lpstr>Unconditional quantile regressions (UQR)</vt:lpstr>
      <vt:lpstr>PowerPoint Presentation</vt:lpstr>
      <vt:lpstr>Firpo’s unconditional quantile regression method quantifies the change in the τ^th quantile of the unconditional outcome distribution for a small change in the exposure distribution</vt:lpstr>
      <vt:lpstr>How does the Firpo et. al. (2009) method work?</vt:lpstr>
      <vt:lpstr>PowerPoint Presentation</vt:lpstr>
      <vt:lpstr>PowerPoint Presentation</vt:lpstr>
      <vt:lpstr>Step 1: Estimate the RIF in the unconditional outcome distribution</vt:lpstr>
      <vt:lpstr>Influence Function for quantiles</vt:lpstr>
      <vt:lpstr>What’s the RIF?</vt:lpstr>
      <vt:lpstr>Choose the quantile of interest in the unconditional outcome distribution</vt:lpstr>
      <vt:lpstr>Estimate the RIF at the quantile of interest</vt:lpstr>
      <vt:lpstr>Moving from the unconditional distribution to the RIF</vt:lpstr>
      <vt:lpstr>The magic of the RIF!</vt:lpstr>
      <vt:lpstr>The magic of the RIF! </vt:lpstr>
      <vt:lpstr>Firpo’s method “tricks” a regression model into modeling quantiles of the unconditional outcome distribution by using the recentered influence function as the outcome</vt:lpstr>
      <vt:lpstr>PowerPoint Presentation</vt:lpstr>
      <vt:lpstr>Estimated RIF at the 25th, 50th, and 75th quantiles of SBP</vt:lpstr>
      <vt:lpstr>PowerPoint Presentation</vt:lpstr>
      <vt:lpstr>Step 2: Regression of the RIF on the exposure &amp; covariates of interest</vt:lpstr>
      <vt:lpstr>Three ways to regress RIF on the exposure &amp; covariates</vt:lpstr>
      <vt:lpstr>Fitting the RIF-OLS regression for SBP at the 25th quantile</vt:lpstr>
      <vt:lpstr>Poll Time!</vt:lpstr>
      <vt:lpstr>Interpreting coefficients of the RIF-OLS model</vt:lpstr>
      <vt:lpstr>PowerPoint Presentation</vt:lpstr>
      <vt:lpstr>Time for R</vt:lpstr>
      <vt:lpstr>PowerPoint Presentation</vt:lpstr>
      <vt:lpstr>10-minute break</vt:lpstr>
      <vt:lpstr>Standard errors</vt:lpstr>
      <vt:lpstr>Populations and samples</vt:lpstr>
      <vt:lpstr>Poll Time!</vt:lpstr>
      <vt:lpstr>Populations and samples</vt:lpstr>
      <vt:lpstr>Homoskedasticity</vt:lpstr>
      <vt:lpstr>Violations of homoskedasticity</vt:lpstr>
      <vt:lpstr>Homoskedastic or heteroskedastic?</vt:lpstr>
      <vt:lpstr>How can we estimate standard errors when assumptions are violated?</vt:lpstr>
      <vt:lpstr>Heteroskedastic robust standard errors</vt:lpstr>
      <vt:lpstr>Heteroskedastic robust standard errors for OLS and RIF-OLS coefficients</vt:lpstr>
      <vt:lpstr>Heteroskedasticity robust standard errors for CQR coefficients</vt:lpstr>
      <vt:lpstr>Key criticism of quantile regression is that statistical power is usually a problem at the tails of the outcome distribution, which is substantively of interest</vt:lpstr>
      <vt:lpstr>Recommended practice for estimating standard errors is bootstrapping</vt:lpstr>
      <vt:lpstr>Time for R</vt:lpstr>
      <vt:lpstr>Visualizations</vt:lpstr>
      <vt:lpstr>CQR results plot</vt:lpstr>
      <vt:lpstr>UQR results plot</vt:lpstr>
      <vt:lpstr>UQR counterfactual plot </vt:lpstr>
      <vt:lpstr>Time for R</vt:lpstr>
      <vt:lpstr>Extensions</vt:lpstr>
      <vt:lpstr>Quantile crossing</vt:lpstr>
      <vt:lpstr>Longitudinal Data</vt:lpstr>
      <vt:lpstr>Conclusion</vt:lpstr>
      <vt:lpstr>CQR and UQR estimates may be different, but even when they are similar, remember that they are estimating quite different estimands</vt:lpstr>
      <vt:lpstr>Choosing between CQR and UQR</vt:lpstr>
      <vt:lpstr>Choosing between CQR and UQR</vt:lpstr>
      <vt:lpstr>What did we learn? (Hopefully)</vt:lpstr>
      <vt:lpstr>Where can you find more resources?</vt:lpstr>
      <vt:lpstr>Thank you!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Primer on Quantile Regression for Epidemiologists</dc:title>
  <dc:creator>Khadka, Aayush</dc:creator>
  <cp:lastModifiedBy>Hebert, Jilly</cp:lastModifiedBy>
  <cp:revision>286</cp:revision>
  <dcterms:created xsi:type="dcterms:W3CDTF">2023-05-08T16:29:34Z</dcterms:created>
  <dcterms:modified xsi:type="dcterms:W3CDTF">2025-06-10T00:29:17Z</dcterms:modified>
</cp:coreProperties>
</file>